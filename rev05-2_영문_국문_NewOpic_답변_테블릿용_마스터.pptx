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8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44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7F09-DA5D-467F-BCE0-ED8562CA6AE2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BD61-52C1-4C76-87E1-100409C6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86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7F09-DA5D-467F-BCE0-ED8562CA6AE2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BD61-52C1-4C76-87E1-100409C6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572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7F09-DA5D-467F-BCE0-ED8562CA6AE2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BD61-52C1-4C76-87E1-100409C6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46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7F09-DA5D-467F-BCE0-ED8562CA6AE2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BD61-52C1-4C76-87E1-100409C6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247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7F09-DA5D-467F-BCE0-ED8562CA6AE2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BD61-52C1-4C76-87E1-100409C6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313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7F09-DA5D-467F-BCE0-ED8562CA6AE2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BD61-52C1-4C76-87E1-100409C6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13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7F09-DA5D-467F-BCE0-ED8562CA6AE2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BD61-52C1-4C76-87E1-100409C6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311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7F09-DA5D-467F-BCE0-ED8562CA6AE2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BD61-52C1-4C76-87E1-100409C6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919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7F09-DA5D-467F-BCE0-ED8562CA6AE2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BD61-52C1-4C76-87E1-100409C6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910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7F09-DA5D-467F-BCE0-ED8562CA6AE2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BD61-52C1-4C76-87E1-100409C6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63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7F09-DA5D-467F-BCE0-ED8562CA6AE2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BD61-52C1-4C76-87E1-100409C6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108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E7F09-DA5D-467F-BCE0-ED8562CA6AE2}" type="datetimeFigureOut">
              <a:rPr lang="ko-KR" altLang="en-US" smtClean="0"/>
              <a:t>2022-10-24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5BD61-52C1-4C76-87E1-100409C6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90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CCEBDD5-025D-FF42-0AF3-A994794F1ACA}"/>
              </a:ext>
            </a:extLst>
          </p:cNvPr>
          <p:cNvSpPr txBox="1"/>
          <p:nvPr/>
        </p:nvSpPr>
        <p:spPr>
          <a:xfrm>
            <a:off x="2009" y="0"/>
            <a:ext cx="6090980" cy="6200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ko-KR" altLang="en-US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인터뷰를 시작하겠습니다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>
              <a:lnSpc>
                <a:spcPct val="100000"/>
              </a:lnSpc>
            </a:pPr>
            <a:r>
              <a:rPr lang="ko-KR" altLang="en-US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자신에 대해 소개해 주십시오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내 이름은 피터이고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나는 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40</a:t>
            </a: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대 중반입니다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나는 평균적인 키이고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안경을 씁니다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나는 대학교 때 전자과를 전공하였습니다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나는 결혼 했으며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아들과 딸이 있습니다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나의 아들은 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16</a:t>
            </a: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살이고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나의 딸은 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19</a:t>
            </a: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살입니다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나의 성격에 대해서 말하자면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나는 외향적이고 긍정적인 태도를 가진 사람입니다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여유시간에는 나는 영화 보기를 좋아합니다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그래서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 나는 영화를 위한 특별한 방이 있습니다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이 장소는 또한 나의 가족 엔터테인먼트 공간입니다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그리고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나는 오토바이를 운전하는 것을 좋아합니다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때때로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좋은 날 때 나는 오토바이를 시외로 드라이브 합니다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비록 나는 일 때문에 많은 여유시간은 없지만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 나는 지금 만족합니다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DA49F9-C2D8-67FB-4174-89B421D3E036}"/>
              </a:ext>
            </a:extLst>
          </p:cNvPr>
          <p:cNvSpPr txBox="1"/>
          <p:nvPr/>
        </p:nvSpPr>
        <p:spPr>
          <a:xfrm>
            <a:off x="6109145" y="11912"/>
            <a:ext cx="6076838" cy="6576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Let’s get started with the interview.</a:t>
            </a:r>
          </a:p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Can you tell me about yourself?</a:t>
            </a:r>
            <a:endParaRPr lang="ko-KR" altLang="en-US" sz="16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600" spc="-40" dirty="0">
                <a:latin typeface="맑은 고딕" pitchFamily="50" charset="-127"/>
                <a:ea typeface="맑은 고딕" pitchFamily="50" charset="-127"/>
              </a:rPr>
              <a:t>My name is Peter and I am in my mid  forties.</a:t>
            </a:r>
          </a:p>
          <a:p>
            <a:pPr latinLnBrk="1">
              <a:lnSpc>
                <a:spcPct val="150000"/>
              </a:lnSpc>
            </a:pP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I am average height and wear glasses.</a:t>
            </a:r>
          </a:p>
          <a:p>
            <a:pPr latinLnBrk="1">
              <a:lnSpc>
                <a:spcPct val="150000"/>
              </a:lnSpc>
            </a:pPr>
            <a:r>
              <a:rPr lang="en-US" altLang="ko-KR" sz="1600" spc="-70" dirty="0">
                <a:latin typeface="맑은 고딕" pitchFamily="50" charset="-127"/>
                <a:ea typeface="맑은 고딕" pitchFamily="50" charset="-127"/>
              </a:rPr>
              <a:t>I majored in electrical engineering when I was in university.</a:t>
            </a:r>
          </a:p>
          <a:p>
            <a:pPr latinLnBrk="1">
              <a:lnSpc>
                <a:spcPct val="150000"/>
              </a:lnSpc>
            </a:pP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I am married and have son and daughter.</a:t>
            </a:r>
          </a:p>
          <a:p>
            <a:pPr latinLnBrk="1">
              <a:lnSpc>
                <a:spcPct val="150000"/>
              </a:lnSpc>
            </a:pPr>
            <a:r>
              <a:rPr lang="en-US" altLang="ko-KR" sz="1600" spc="-80" dirty="0">
                <a:latin typeface="맑은 고딕" pitchFamily="50" charset="-127"/>
                <a:ea typeface="맑은 고딕" pitchFamily="50" charset="-127"/>
              </a:rPr>
              <a:t>My son is sixteen years old and my daughter is nineteen years old.</a:t>
            </a:r>
          </a:p>
          <a:p>
            <a:pPr latinLnBrk="1">
              <a:lnSpc>
                <a:spcPct val="150000"/>
              </a:lnSpc>
            </a:pP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As for my personality, I’m an outgoing person who has a positive attitude.</a:t>
            </a:r>
          </a:p>
          <a:p>
            <a:pPr latinLnBrk="1">
              <a:lnSpc>
                <a:spcPct val="150000"/>
              </a:lnSpc>
            </a:pP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In my free time, I like to watch movies.</a:t>
            </a:r>
          </a:p>
          <a:p>
            <a:pPr latinLnBrk="1">
              <a:lnSpc>
                <a:spcPct val="150000"/>
              </a:lnSpc>
            </a:pP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So, I have special room for movies.</a:t>
            </a:r>
          </a:p>
          <a:p>
            <a:pPr latinLnBrk="1">
              <a:lnSpc>
                <a:spcPct val="150000"/>
              </a:lnSpc>
            </a:pP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This place is also my family entertainment space.</a:t>
            </a:r>
          </a:p>
          <a:p>
            <a:pPr latinLnBrk="1">
              <a:lnSpc>
                <a:spcPct val="150000"/>
              </a:lnSpc>
            </a:pP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And I like to drive motorcycle.</a:t>
            </a:r>
          </a:p>
          <a:p>
            <a:pPr latinLnBrk="1">
              <a:lnSpc>
                <a:spcPct val="150000"/>
              </a:lnSpc>
            </a:pP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Sometimes, when it’s fine day, I drive the motorcycle in the countryside.</a:t>
            </a:r>
          </a:p>
          <a:p>
            <a:pPr latinLnBrk="1">
              <a:lnSpc>
                <a:spcPct val="150000"/>
              </a:lnSpc>
            </a:pP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Although I  don’t have a lot of free times due to work, but I am satisfied now.</a:t>
            </a:r>
            <a:endParaRPr lang="ko-KR" altLang="en-US" sz="16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378870-3C0A-5F97-ECA6-208DEF7AA305}"/>
              </a:ext>
            </a:extLst>
          </p:cNvPr>
          <p:cNvSpPr/>
          <p:nvPr/>
        </p:nvSpPr>
        <p:spPr>
          <a:xfrm>
            <a:off x="6103129" y="1143000"/>
            <a:ext cx="6082852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919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ED8971F-9784-2868-33E2-BD0061E2D520}"/>
              </a:ext>
            </a:extLst>
          </p:cNvPr>
          <p:cNvSpPr txBox="1"/>
          <p:nvPr/>
        </p:nvSpPr>
        <p:spPr>
          <a:xfrm>
            <a:off x="1" y="0"/>
            <a:ext cx="6096000" cy="5092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 </a:t>
            </a:r>
            <a:r>
              <a:rPr lang="ko-KR" altLang="en-US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최근에</a:t>
            </a:r>
            <a:r>
              <a:rPr lang="en-US" altLang="ko-KR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음식점에 갔었던 경험 묘사        </a:t>
            </a:r>
            <a:r>
              <a:rPr lang="en-US" altLang="ko-KR" sz="1600" b="1" dirty="0">
                <a:solidFill>
                  <a:schemeClr val="tx2"/>
                </a:solidFill>
              </a:rPr>
              <a:t>♣</a:t>
            </a:r>
            <a:endParaRPr lang="en-US" altLang="ko-KR" sz="16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1600" dirty="0">
                <a:solidFill>
                  <a:srgbClr val="0070C0"/>
                </a:solidFill>
              </a:rPr>
              <a:t>최근에 먹었던 레스토랑에 대해 말해주세요</a:t>
            </a:r>
            <a:r>
              <a:rPr lang="en-US" altLang="ko-KR" sz="1600" dirty="0">
                <a:solidFill>
                  <a:srgbClr val="0070C0"/>
                </a:solidFill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dirty="0">
                <a:solidFill>
                  <a:srgbClr val="0070C0"/>
                </a:solidFill>
              </a:rPr>
              <a:t>어떤 종류의 레스토랑이었나요</a:t>
            </a:r>
            <a:r>
              <a:rPr lang="en-US" altLang="ko-KR" sz="1600" dirty="0">
                <a:solidFill>
                  <a:srgbClr val="0070C0"/>
                </a:solidFill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spc="-50" dirty="0">
                <a:solidFill>
                  <a:srgbClr val="0070C0"/>
                </a:solidFill>
              </a:rPr>
              <a:t>당신은 그곳에서 무엇을 먹었고 누구와 함께 갔습니까</a:t>
            </a:r>
            <a:r>
              <a:rPr lang="en-US" altLang="ko-KR" sz="1600" spc="-50" dirty="0">
                <a:solidFill>
                  <a:srgbClr val="0070C0"/>
                </a:solidFill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dirty="0">
                <a:solidFill>
                  <a:srgbClr val="0070C0"/>
                </a:solidFill>
              </a:rPr>
              <a:t>음식 맛이 </a:t>
            </a:r>
            <a:r>
              <a:rPr lang="ko-KR" altLang="en-US" sz="1600" dirty="0" err="1">
                <a:solidFill>
                  <a:srgbClr val="0070C0"/>
                </a:solidFill>
              </a:rPr>
              <a:t>어땠어요</a:t>
            </a:r>
            <a:r>
              <a:rPr lang="en-US" altLang="ko-KR" sz="1600" dirty="0">
                <a:solidFill>
                  <a:srgbClr val="0070C0"/>
                </a:solidFill>
              </a:rPr>
              <a:t>?</a:t>
            </a:r>
            <a:endParaRPr lang="ko-KR" altLang="en-US" sz="16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나의 가족과 나는 지난 주말에 저녁을 먹었습니다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우리는 굉장한 멕시칸 레스토랑에 갔습니다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그들은 타운에서 베스트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타코를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가졌습니다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 음식은 맛있었습니다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나는 배가 너무 고팠기 때문에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내가 주문한 새우는 즙이 많고 부드러웠습니다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게다가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우리는 식사와 함께 맥주를 마셨습니다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돌이켜 보면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그것은 매우 기억에 남는 저녁 식사였습니다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C43DD6-695E-909D-852C-10316E259111}"/>
              </a:ext>
            </a:extLst>
          </p:cNvPr>
          <p:cNvSpPr txBox="1"/>
          <p:nvPr/>
        </p:nvSpPr>
        <p:spPr>
          <a:xfrm>
            <a:off x="6089233" y="0"/>
            <a:ext cx="6096000" cy="5092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 </a:t>
            </a:r>
            <a:r>
              <a:rPr lang="ko-KR" altLang="en-US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최근에</a:t>
            </a:r>
            <a:r>
              <a:rPr lang="en-US" altLang="ko-KR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음식점에 갔었던 경험 묘사        </a:t>
            </a:r>
            <a:r>
              <a:rPr lang="en-US" altLang="ko-KR" sz="1600" b="1" dirty="0">
                <a:solidFill>
                  <a:schemeClr val="tx2"/>
                </a:solidFill>
              </a:rPr>
              <a:t>♣</a:t>
            </a:r>
            <a:endParaRPr lang="en-US" altLang="ko-KR" sz="16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600" dirty="0">
                <a:solidFill>
                  <a:srgbClr val="FF0000"/>
                </a:solidFill>
              </a:rPr>
              <a:t>Tell me about a restaurant you ate at recently.</a:t>
            </a:r>
          </a:p>
          <a:p>
            <a:pPr>
              <a:lnSpc>
                <a:spcPct val="100000"/>
              </a:lnSpc>
            </a:pPr>
            <a:r>
              <a:rPr lang="en-US" altLang="ko-KR" sz="1600" dirty="0">
                <a:solidFill>
                  <a:srgbClr val="FF0000"/>
                </a:solidFill>
              </a:rPr>
              <a:t>What kind of restaurant was it?</a:t>
            </a:r>
          </a:p>
          <a:p>
            <a:pPr>
              <a:lnSpc>
                <a:spcPct val="100000"/>
              </a:lnSpc>
            </a:pPr>
            <a:r>
              <a:rPr lang="en-US" altLang="ko-KR" sz="1600" dirty="0">
                <a:solidFill>
                  <a:srgbClr val="FF0000"/>
                </a:solidFill>
              </a:rPr>
              <a:t>What did you eat there and who did you go with?</a:t>
            </a:r>
          </a:p>
          <a:p>
            <a:pPr>
              <a:lnSpc>
                <a:spcPct val="100000"/>
              </a:lnSpc>
            </a:pPr>
            <a:r>
              <a:rPr lang="en-US" altLang="ko-KR" sz="1600" dirty="0">
                <a:solidFill>
                  <a:srgbClr val="FF0000"/>
                </a:solidFill>
              </a:rPr>
              <a:t>Did you like how the food tasted?</a:t>
            </a:r>
            <a:endParaRPr lang="ko-KR" altLang="en-US" sz="16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My family and I had dinner last weekend.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We went to a great Mexican restaurant.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They had the best tacos in town.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The food tasted good because I was so hungry.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The shrimp I ordered was very juicy and tender.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Plus, we had some beer with the meal.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Looking back, it was a very memorable dinner.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76DABA3-33CB-BEEB-725F-D12038879B9C}"/>
              </a:ext>
            </a:extLst>
          </p:cNvPr>
          <p:cNvSpPr/>
          <p:nvPr/>
        </p:nvSpPr>
        <p:spPr>
          <a:xfrm>
            <a:off x="6104078" y="1840832"/>
            <a:ext cx="6082852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437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0C1BB51-7839-3EDC-F276-3B50E6F0FD60}"/>
              </a:ext>
            </a:extLst>
          </p:cNvPr>
          <p:cNvSpPr txBox="1"/>
          <p:nvPr/>
        </p:nvSpPr>
        <p:spPr>
          <a:xfrm>
            <a:off x="-1" y="1700"/>
            <a:ext cx="6092993" cy="5584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갔던 음식점 묘사  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이제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네가 어렸을 때 가던 식당에 대해 말해주세요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b="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그거 </a:t>
            </a:r>
            <a:r>
              <a:rPr lang="ko-KR" altLang="en-US" sz="16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어땠어요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장소에 대해 가장 기억에 남는 것은 무엇입니까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b="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식당에 대해 가능한 한 자세히 알려주세요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600" b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내가 어렸을 때 나의 집 근처 맥도날드에 갔던 기억이 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치즈 버거 콤보를 시켰습니다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또한 치킨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너겟과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치킨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텐더도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시켰습니다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버거는 맛이 놀아왔습니다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프랜치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프라이는 매우 바삭하고 아삭하였습니다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다른 사이드 음식들 또한 정말 맛있었습니다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4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아직도 그 음식이 얼마나 맛있었는지 기억합니다</a:t>
            </a:r>
            <a:r>
              <a:rPr lang="en-US" altLang="ko-KR" sz="1600" b="0" i="0" u="none" strike="noStrike" kern="1200" spc="-4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돌이켜 보면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매우 기억에 남는 레스토랑이었습니다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3A3C2B-174E-D79C-AEE9-6FEBCC67D873}"/>
              </a:ext>
            </a:extLst>
          </p:cNvPr>
          <p:cNvSpPr txBox="1"/>
          <p:nvPr/>
        </p:nvSpPr>
        <p:spPr>
          <a:xfrm>
            <a:off x="6107140" y="13730"/>
            <a:ext cx="6084860" cy="5584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갔던 음식점 묘사  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spc="-9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Now, tell me about a restaurant you used to go to as a child.</a:t>
            </a:r>
          </a:p>
          <a:p>
            <a:r>
              <a:rPr lang="en-US" altLang="ko-KR" sz="16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was it like? What do you remember most about that place?</a:t>
            </a:r>
          </a:p>
          <a:p>
            <a:r>
              <a:rPr lang="en-US" altLang="ko-KR" sz="1600" b="0" i="0" u="none" strike="noStrike" kern="1200" spc="-7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that restaurant in as much detail as possible.</a:t>
            </a:r>
            <a:endParaRPr lang="ko-KR" altLang="en-US" sz="1600" b="0" spc="-7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going to McDonald’s near my house when I was a kid.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got a cheese burger combo.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also got chicken nuggets and chicken tenders.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burger tasted amazing.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</a:t>
            </a:r>
            <a:r>
              <a:rPr lang="en-US" altLang="ko-KR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french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fries were very crispy and crunchy.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Other side dishes were really tasty as well.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still remember how good the food was.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Looking back, it was a very memorable restaurant.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1351493-2F8F-8407-56AD-A9FF8B1DA905}"/>
              </a:ext>
            </a:extLst>
          </p:cNvPr>
          <p:cNvSpPr/>
          <p:nvPr/>
        </p:nvSpPr>
        <p:spPr>
          <a:xfrm>
            <a:off x="6093995" y="1576137"/>
            <a:ext cx="6106082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798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816F903-6CB1-1999-CC3E-F1795635A0C9}"/>
              </a:ext>
            </a:extLst>
          </p:cNvPr>
          <p:cNvSpPr txBox="1"/>
          <p:nvPr/>
        </p:nvSpPr>
        <p:spPr>
          <a:xfrm>
            <a:off x="6016" y="12916"/>
            <a:ext cx="6080951" cy="7431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본인이 즐겨 가는 술집 묘사                </a:t>
            </a:r>
            <a:r>
              <a:rPr lang="en-US" altLang="ko-KR" sz="16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6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본인이 자주 가는 </a:t>
            </a:r>
            <a:r>
              <a:rPr lang="ko-KR" altLang="en-US" sz="1600" b="1" baseline="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맥주집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묘사</a:t>
            </a:r>
            <a:endParaRPr lang="en-US" altLang="ko-KR" sz="1600" b="1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당신은 술집에 간다고 지시했습니다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당신이 가장 자주 가는 바에 대해 설명하세요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그곳에 대한 모든 것을 자세히 말해 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br>
              <a:rPr lang="ko-KR" altLang="en-US" sz="1600" spc="-7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600" b="0" i="0" kern="1200" spc="-8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당신이 가고 싶은 가장 좋아하는 </a:t>
            </a:r>
            <a:r>
              <a:rPr lang="en-US" altLang="ko-KR" sz="1600" b="0" i="0" kern="1200" spc="-8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Pub</a:t>
            </a:r>
            <a:r>
              <a:rPr lang="ko-KR" altLang="en-US" sz="1600" b="0" i="0" kern="1200" spc="-8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대해 말해주세요</a:t>
            </a:r>
            <a:r>
              <a:rPr lang="en-US" altLang="ko-KR" sz="1600" b="0" i="0" kern="1200" spc="-8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600" b="0" i="0" u="none" strike="noStrike" kern="1200" spc="-80" baseline="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한국에는 많은 술집이 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그들의 많은 수는 복잡한 거리에 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그들은 찾기 쉽습니다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그들이 어디에나 있기 때문에</a:t>
            </a:r>
            <a:endParaRPr lang="en-US" altLang="ko-KR" sz="1600" b="0" i="0" u="none" strike="noStrike" kern="1200" spc="-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7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개인적으로</a:t>
            </a:r>
            <a:r>
              <a:rPr lang="en-US" altLang="ko-KR" sz="1600" b="0" i="0" u="none" strike="noStrike" kern="1200" spc="-7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0" i="0" u="none" strike="noStrike" kern="1200" spc="-7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나는 나의 사무실 근처 술집에 종종 갑니다</a:t>
            </a:r>
            <a:r>
              <a:rPr lang="en-US" altLang="ko-KR" sz="1600" b="0" i="0" u="none" strike="noStrike" kern="1200" spc="-7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그것은 다양한 타입의 맥주를 제공하는 멋진 술집입니다</a:t>
            </a:r>
            <a:r>
              <a:rPr lang="en-US" altLang="ko-KR" sz="16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나는 그 장소를 좋아합니다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나는 분위기가 좋아서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또한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그들의 음식은 매우 맛있습니다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게다가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나의 사무실과 가깝습니다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또한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직원들은 매우 친절합니다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나는 그곳 단골입니다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나는 한달에 한번은 거기에 간다고 생각합니다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이것은 내가 가장 좋아하는 바입니다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1B709-E1D8-FEB9-61AE-CCDC15C435FD}"/>
              </a:ext>
            </a:extLst>
          </p:cNvPr>
          <p:cNvSpPr txBox="1"/>
          <p:nvPr/>
        </p:nvSpPr>
        <p:spPr>
          <a:xfrm>
            <a:off x="6096000" y="19423"/>
            <a:ext cx="6096000" cy="7431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 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즐겨 가는 술집 묘사  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자주 가는 </a:t>
            </a:r>
            <a:r>
              <a:rPr lang="ko-KR" altLang="en-US" sz="1600" b="1" baseline="0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맥주집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묘사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You indicated that you go to bars.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Describe the bar you go to most often.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everything about that place in detail.</a:t>
            </a:r>
          </a:p>
          <a:p>
            <a:endParaRPr lang="en-US" altLang="ko-KR" sz="16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600" b="0" i="0" u="none" strike="noStrike" kern="1200" spc="-4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your favorite pub that you like to go to.</a:t>
            </a:r>
            <a:endParaRPr lang="en-US" altLang="ko-KR" sz="1600" b="0" spc="-4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There are many bars in Korea.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Many of them are on busy streets.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are easy to find because they are everywhere.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Personally, I often go to a pub near my office.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is a nice pub that serves various types of beer.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like that place because I like the mood.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their food is very tasty.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it is close to my office.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the staff are very friendly.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am a regular there. I think I go there once a month on average.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this is what my favorite bar is like.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1351493-2F8F-8407-56AD-A9FF8B1DA905}"/>
              </a:ext>
            </a:extLst>
          </p:cNvPr>
          <p:cNvSpPr/>
          <p:nvPr/>
        </p:nvSpPr>
        <p:spPr>
          <a:xfrm>
            <a:off x="6096000" y="2316079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619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A4068B9-431D-63BD-C404-2553EFE09835}"/>
              </a:ext>
            </a:extLst>
          </p:cNvPr>
          <p:cNvSpPr txBox="1"/>
          <p:nvPr/>
        </p:nvSpPr>
        <p:spPr>
          <a:xfrm>
            <a:off x="2768" y="-3677"/>
            <a:ext cx="6081195" cy="6621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[Int]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술집에 주로 언제 가고 무엇을 하는지 묘사    </a:t>
            </a:r>
            <a:r>
              <a:rPr lang="en-US" altLang="ko-KR" sz="14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4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[Int]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맥주집에서 하는 일들 묘사</a:t>
            </a:r>
            <a:endParaRPr lang="en-US" altLang="ko-KR" sz="14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술집에서 주로 하는 일에 대해 말해주세요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보통 누구와 함께 갑니까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술집에 간 경험에 대해 모두 말해 주세요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400" dirty="0">
                <a:solidFill>
                  <a:srgbClr val="0070C0"/>
                </a:solidFill>
              </a:rPr>
            </a:b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술집에서 모임이 있을 때 보통 무엇을 하나요</a:t>
            </a:r>
            <a:r>
              <a:rPr lang="en-US" altLang="ko-KR" sz="14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친구에게 먼저 전화를 합니까 아니면 현금을 가지러 은행에 갑니까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en-US" altLang="ko-KR" sz="14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Pub</a:t>
            </a:r>
            <a:r>
              <a:rPr lang="ko-KR" altLang="en-US" sz="14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에서 친구들과 모였을 때 무엇을 하는지 이야기하세요</a:t>
            </a:r>
            <a:r>
              <a:rPr lang="en-US" altLang="ko-KR" sz="14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400" b="0" i="0" u="none" strike="noStrike" kern="1200" spc="-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종종 사회 모임을 위해 술집에 갑니다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나의 친구들과 함께 술을 조금 마십니다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술은 서먹한 분위기를 없애고</a:t>
            </a:r>
            <a:r>
              <a:rPr lang="en-US" altLang="ko-KR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분위기를 더 좋게 만듭니다</a:t>
            </a:r>
            <a:r>
              <a:rPr lang="en-US" altLang="ko-KR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때때로 술 마시기 게임을 합니다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때때로 여러 라운드를 합니다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때때로 직원 저녁식사를 위해 술집에 갑니다</a:t>
            </a:r>
            <a:r>
              <a:rPr lang="en-US" altLang="ko-KR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나의 동료들과 친해질 수 있는 좋은 기회입니다</a:t>
            </a:r>
            <a:r>
              <a:rPr lang="en-US" altLang="ko-KR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다음</a:t>
            </a:r>
            <a:r>
              <a:rPr lang="en-US" altLang="ko-KR" sz="1400" b="0" i="0" u="none" strike="noStrike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때때로 생일파티와 같은 특별한 행사를 위해 술집에 갑니다</a:t>
            </a:r>
            <a:r>
              <a:rPr lang="en-US" altLang="ko-KR" sz="1400" b="0" i="0" u="none" strike="noStrike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보통 나의 친구들이나 회사동료들과 어울리기 위해 술집에 갑니다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7E425A-484C-9D23-CE78-C4A14A1F62D8}"/>
              </a:ext>
            </a:extLst>
          </p:cNvPr>
          <p:cNvSpPr txBox="1"/>
          <p:nvPr/>
        </p:nvSpPr>
        <p:spPr>
          <a:xfrm>
            <a:off x="6092992" y="14785"/>
            <a:ext cx="6101775" cy="6837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[Int]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술집에 주로 언제 가고 무엇을 하는지 묘사    </a:t>
            </a:r>
            <a:r>
              <a:rPr lang="en-US" altLang="ko-KR" sz="14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4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[Int]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맥주집에서 하는 일들 묘사</a:t>
            </a:r>
            <a:endParaRPr lang="en-US" altLang="ko-KR" sz="14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what you normally do at bars.</a:t>
            </a: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Who do you normally go with?</a:t>
            </a:r>
          </a:p>
          <a:p>
            <a:r>
              <a:rPr lang="en-US" altLang="ko-KR" sz="1400" b="0" i="0" u="none" strike="noStrike" kern="1200" spc="-3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everything about your experience of going to bars.</a:t>
            </a:r>
          </a:p>
          <a:p>
            <a:endParaRPr lang="en-US" altLang="ko-KR" sz="14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4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do you normally do when you have gatherings at pubs?</a:t>
            </a:r>
          </a:p>
          <a:p>
            <a:r>
              <a:rPr lang="en-US" altLang="ko-KR" sz="1400" b="0" i="0" u="none" strike="noStrike" kern="1200" spc="-3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Do you call your friends first or go to the bank to get cash?</a:t>
            </a: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Talk about what you do when you get together with your friends at pubs.</a:t>
            </a: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often go to bars for social gatherings.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have some drinks with my friends.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Drinks break the ice and make the mood better.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We sometimes play drinking games.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We sometimes do several rounds.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sometimes go to bars for staff dinners.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is a good chance to bond with my co-workers.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Next, I sometimes go to bars for special occasions such as birthday parties.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I usually go to bars to hang out with my friends or co-workers.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1351493-2F8F-8407-56AD-A9FF8B1DA905}"/>
              </a:ext>
            </a:extLst>
          </p:cNvPr>
          <p:cNvSpPr/>
          <p:nvPr/>
        </p:nvSpPr>
        <p:spPr>
          <a:xfrm>
            <a:off x="6102017" y="1606216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790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A6D33DC-F40B-784A-6EC9-2615DB527648}"/>
              </a:ext>
            </a:extLst>
          </p:cNvPr>
          <p:cNvSpPr txBox="1"/>
          <p:nvPr/>
        </p:nvSpPr>
        <p:spPr>
          <a:xfrm>
            <a:off x="-1" y="2878"/>
            <a:ext cx="6092987" cy="6944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술집에 있었던 에피소드 묘사                    </a:t>
            </a:r>
            <a:r>
              <a:rPr lang="en-US" altLang="ko-KR" sz="14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4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[Adv]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최근 술집에서 한 기억에 남는 모임 묘사</a:t>
            </a:r>
            <a:endParaRPr lang="en-US" altLang="ko-KR" sz="14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술집에서 일어났던 기억에 남는 사건에 대해 말해주세요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정확히 무슨 일이 일어났고 왜 그것이 특별했나요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spc="-9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술집에서 있었던 그 잊을 수 없는 사건에 대해 전부 말해 주세요</a:t>
            </a:r>
            <a:r>
              <a:rPr lang="en-US" altLang="ko-KR" sz="1400" b="0" i="0" kern="1200" spc="-9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400" dirty="0">
                <a:solidFill>
                  <a:srgbClr val="0070C0"/>
                </a:solidFill>
              </a:rPr>
            </a:b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술집이나 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Pub</a:t>
            </a: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에 대한 특별한 방문에 대해 말해주세요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아마도 당신은 그곳에서 당신의 생일을 축하했을 것입니다</a:t>
            </a:r>
            <a:r>
              <a:rPr lang="en-US" altLang="ko-KR" sz="14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바에서 어떻게 시간을 보냈나요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400" b="0" i="0" u="none" strike="noStrike" kern="1200" baseline="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최근에 모임에 간 것을 기억합니다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spc="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한국 술집에서 열렸고</a:t>
            </a:r>
            <a:r>
              <a:rPr lang="en-US" altLang="ko-KR" sz="1400" b="0" i="0" u="none" strike="noStrike" kern="1200" spc="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거기에서 맥주를 마셨습니다</a:t>
            </a:r>
            <a:r>
              <a:rPr lang="en-US" altLang="ko-KR" sz="1400" b="0" i="0" u="none" strike="noStrike" kern="1200" spc="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하지만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그날 술을 많이 마셨습니다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매우 취했습니다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너무 많이 마셔서</a:t>
            </a: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토할 것 같았습니다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4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현기증이 났고</a:t>
            </a:r>
            <a:r>
              <a:rPr lang="en-US" altLang="ko-KR" sz="14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똑바로 걸을 수가 없었습니다</a:t>
            </a:r>
            <a:r>
              <a:rPr lang="en-US" altLang="ko-KR" sz="14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만취 상태이고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필름이 끊겼습니다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기억이 나지 않았습니다</a:t>
            </a:r>
            <a:r>
              <a:rPr lang="en-US" altLang="ko-KR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어떻게 집에 갔는지 </a:t>
            </a:r>
            <a:endParaRPr lang="en-US" altLang="ko-KR" sz="1400" b="0" i="0" u="none" strike="noStrike" kern="1200" spc="-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다음날 숙취가 있었습니다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내가 술을 깨는데 오랜 시간이 걸렸습니다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그후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좀 더 조심하려고 노력합니다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8B8783-4EF5-1F33-653F-E454CD6BA29C}"/>
              </a:ext>
            </a:extLst>
          </p:cNvPr>
          <p:cNvSpPr txBox="1"/>
          <p:nvPr/>
        </p:nvSpPr>
        <p:spPr>
          <a:xfrm>
            <a:off x="6092992" y="0"/>
            <a:ext cx="6099007" cy="6621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술집에 있었던 에피소드 묘사                    </a:t>
            </a:r>
            <a:r>
              <a:rPr lang="en-US" altLang="ko-KR" sz="14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4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[Adv]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최근 술집에서 한 기억에 남는 모임 묘사</a:t>
            </a:r>
            <a:endParaRPr lang="en-US" altLang="ko-KR" sz="14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4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 memorable incident that happened at a bar.</a:t>
            </a: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exactly happened and why was it special?</a:t>
            </a:r>
          </a:p>
          <a:p>
            <a:r>
              <a:rPr lang="en-US" altLang="ko-KR" sz="14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everything about that unforgettable incident at a bar.</a:t>
            </a:r>
          </a:p>
          <a:p>
            <a:endParaRPr lang="en-US" altLang="ko-KR" sz="14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 special visit to a bar or a pub.</a:t>
            </a: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Maybe you celebrated your birthday there.</a:t>
            </a: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 did you spent your time at the bar?</a:t>
            </a: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going to a gathering recently.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was held at a Korean bar and we drank beer there.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However, I drank a lot that day.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got very drunk because I drank too much.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felt like throwing up.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felt dizzy and I could NOT walk straight.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got wasted and blacked out.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I do NOT even remember how I got home.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had a hangover the next day. It took me a long time to sober up.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Since then, I try to be more careful.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3241BF-BAEA-36B8-2B9C-7DC5271A0D73}"/>
              </a:ext>
            </a:extLst>
          </p:cNvPr>
          <p:cNvSpPr/>
          <p:nvPr/>
        </p:nvSpPr>
        <p:spPr>
          <a:xfrm>
            <a:off x="6102017" y="2478506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476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4954B16-D9AB-58F4-4D51-E25B94FE099F}"/>
              </a:ext>
            </a:extLst>
          </p:cNvPr>
          <p:cNvSpPr txBox="1"/>
          <p:nvPr/>
        </p:nvSpPr>
        <p:spPr>
          <a:xfrm>
            <a:off x="0" y="1700"/>
            <a:ext cx="6099008" cy="5954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커피숍에서 있었던 기억에 남는 에피소드 묘사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커피숍에서 일어났던 기억에 남는 사건에 대해 말해주세요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무슨 일입니까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누가 연루되었습니까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spc="-6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사건에 대한 모든 것을 처음부터 끝까지 말해 주세요</a:t>
            </a:r>
            <a:r>
              <a:rPr lang="en-US" altLang="ko-KR" sz="1600" b="0" i="0" kern="1200" spc="-6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600" b="0" spc="-6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커피솝에서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친구를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우연찮게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만난 것을 기억합니다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나의 친구와 함께 채팅을 하고 있었습니다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나의 주문을 하려고 줄을 서 있었습니다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갑자기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그곳에서 나의 친구를 보았습니다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그에게 갔고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hi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라고 말했습니다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그를 만나서 매우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기뼜습니다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서로 어떻게 지냈는지 물어 보고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밀린 이야기를 조금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이것은 내가 기억하는 사건이었습니다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B8D870-FEAD-70BF-E8C4-3A213E802A88}"/>
              </a:ext>
            </a:extLst>
          </p:cNvPr>
          <p:cNvSpPr txBox="1"/>
          <p:nvPr/>
        </p:nvSpPr>
        <p:spPr>
          <a:xfrm>
            <a:off x="6089982" y="0"/>
            <a:ext cx="6102017" cy="5954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커피숍에서 있었던 기억에 남는 에피소드 묘사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spc="-6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 memorable incident that happened at a coffee shop.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happened? Who was involved?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everything about that incident from beginning to end.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bumping into my friend at a coffee shop.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was chatting with my friend.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was standing in line to make my order.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Suddenly, I saw my friend there. 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went to him and said hi.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was very happy to see him.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We asked how each other was doing and did some catching up.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this was the incident I remember.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E5E1A1-30D1-8F8D-A2AB-F41D873A57EA}"/>
              </a:ext>
            </a:extLst>
          </p:cNvPr>
          <p:cNvSpPr/>
          <p:nvPr/>
        </p:nvSpPr>
        <p:spPr>
          <a:xfrm>
            <a:off x="6096004" y="1515979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112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689DD66-A575-FB53-EBB3-4249AC0363BE}"/>
              </a:ext>
            </a:extLst>
          </p:cNvPr>
          <p:cNvSpPr txBox="1"/>
          <p:nvPr/>
        </p:nvSpPr>
        <p:spPr>
          <a:xfrm>
            <a:off x="6016" y="0"/>
            <a:ext cx="6092991" cy="6446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건강식을 최근에 먹어 본 경험 묘사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</a:t>
            </a: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우리나라 대표음식 묘사</a:t>
            </a:r>
            <a:endParaRPr lang="en-US" altLang="ko-KR" sz="16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마지막으로 건강에 좋은 음식을 먹은 게 </a:t>
            </a:r>
            <a:r>
              <a:rPr lang="ko-KR" altLang="en-US" sz="16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언제죠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누구와 함께 있었고 기분이 어땠나요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경험에서 무엇이 특별했나요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당신의 나라에서 인기 있는 음식은 무엇입니까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요리의 특별한 점은 무엇입니까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요리에 대해 자세히 설명해 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한국에서 가장 흔한 음식은 김치입니다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김치는 그것 안에 많은 건강에 좋은 영양분을 가집니다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우리의 건강에 매우 좋습니다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우리의 면역 시스템을 강화 시킵니다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매일 김치를 먹습니다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음식을 먹을 때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사실 어제 조금 먹었습니다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저녁식사동안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김치는 건강에 좋은 음식입니다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매일 먹는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9FE526-81A2-D8B4-EA6C-B6A1111C714D}"/>
              </a:ext>
            </a:extLst>
          </p:cNvPr>
          <p:cNvSpPr txBox="1"/>
          <p:nvPr/>
        </p:nvSpPr>
        <p:spPr>
          <a:xfrm>
            <a:off x="6089982" y="0"/>
            <a:ext cx="6102017" cy="6446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건강식을 최근에 먹어 본 경험 묘사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</a:t>
            </a: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우리나라 대표음식 묘사</a:t>
            </a:r>
            <a:endParaRPr lang="en-US" altLang="ko-KR" sz="16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was the last time you had some healthy food?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Who were you with and how did you feel?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was special about that experience?</a:t>
            </a:r>
          </a:p>
          <a:p>
            <a:endParaRPr lang="en-US" altLang="ko-KR" sz="16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is a popular dish in your country?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is special about the dish?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Please describe that dish in detail.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most common food in Korea is kimchi.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Kimchi has a lot healthy nutrients in it.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is very good for our health.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it strengthens our immune system.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have kimchi every day when I have meals.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actually had some yesterday during dinner.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kimchi is a healthy dish I have every day.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AC60E5B-30CF-10A6-C94D-CF4805E8F5E4}"/>
              </a:ext>
            </a:extLst>
          </p:cNvPr>
          <p:cNvSpPr/>
          <p:nvPr/>
        </p:nvSpPr>
        <p:spPr>
          <a:xfrm>
            <a:off x="6095998" y="2731169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896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16511E-E5ED-310B-D54C-26AFD95C9592}"/>
              </a:ext>
            </a:extLst>
          </p:cNvPr>
          <p:cNvSpPr txBox="1"/>
          <p:nvPr/>
        </p:nvSpPr>
        <p:spPr>
          <a:xfrm>
            <a:off x="2768" y="8198"/>
            <a:ext cx="6090217" cy="6084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먹는 일상음식 소개   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평소에 무엇을 먹습니까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먹는 모든 것을 자세히 말해 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요즈음 건강하게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먹을려고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노력합니다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첫째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야채와 과일을 자주 </a:t>
            </a:r>
            <a:r>
              <a:rPr lang="ko-KR" altLang="en-US" sz="1600" b="0" i="0" u="none" strike="noStrike" kern="1200" spc="-5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먹을려고</a:t>
            </a: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노력합니다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그들안에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많은 비타민을 가집니다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다음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콩과 두부를 자주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먹을려고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노력합니다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그들안에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많은 건강한 단백질을 가집니다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유기농 음식을 </a:t>
            </a:r>
            <a:r>
              <a:rPr lang="ko-KR" altLang="en-US" sz="1600" b="0" i="0" u="none" strike="noStrike" kern="1200" spc="-6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먹을려고</a:t>
            </a: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노력합니다</a:t>
            </a:r>
            <a:r>
              <a:rPr lang="en-US" altLang="ko-KR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</a:t>
            </a:r>
            <a:r>
              <a:rPr lang="ko-KR" altLang="en-US" sz="1600" b="0" i="0" u="none" strike="noStrike" kern="1200" spc="-6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가능할때</a:t>
            </a: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마다</a:t>
            </a:r>
            <a:endParaRPr lang="en-US" altLang="ko-KR" sz="1600" b="0" i="0" u="none" strike="noStrike" kern="1200" spc="-6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훨씬 더 건강합니다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그것안에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어떤 화학물질도 가지고 있지 않기 때문에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이것들이 건강에 좋은 음식 종류입니다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E209C4-DC64-6A01-BF50-6F91E9E32FE9}"/>
              </a:ext>
            </a:extLst>
          </p:cNvPr>
          <p:cNvSpPr txBox="1"/>
          <p:nvPr/>
        </p:nvSpPr>
        <p:spPr>
          <a:xfrm>
            <a:off x="6092992" y="8198"/>
            <a:ext cx="6101769" cy="5715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먹는 일상음식 소개   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do you eat on a regular day?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everything that you eat in detail.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try to eat healthy these days.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First, I try to eat vegetables and fruits often.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 have a lot of vitamins in them.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Next, I try to eat beans and tofu often.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 have a lot of healthy protein in them.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Also, I try to have organic food whenever I can.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much healthier because it does NOT have any chemicals in it.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these are the types of food that are healthy.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33B72E-6B90-4CE3-2FA7-C0290EEFDE9D}"/>
              </a:ext>
            </a:extLst>
          </p:cNvPr>
          <p:cNvSpPr/>
          <p:nvPr/>
        </p:nvSpPr>
        <p:spPr>
          <a:xfrm>
            <a:off x="6095995" y="1341522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564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83FBEFE-1073-F239-5E13-3EFFB8CCF08B}"/>
              </a:ext>
            </a:extLst>
          </p:cNvPr>
          <p:cNvSpPr txBox="1"/>
          <p:nvPr/>
        </p:nvSpPr>
        <p:spPr>
          <a:xfrm>
            <a:off x="-1" y="6016"/>
            <a:ext cx="6092985" cy="4730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05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음식 관련 기억에 남는 에피소드 묘사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무언가를 먹으면서 기억에 남는 경험에 대해 말해주세요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좋을 수도 있고 나쁠 수도 있다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무슨 일입니까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왜 그것이 그렇게 기억에 남거나 특별했을까요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모든 것을 자세히 말해 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최근에 상한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어떤것을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먹은것을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기억합니다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식중독에 걸렸고 그것은 매우 나빴습니다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속이 뒤집혔습니다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나아지기 위해 조금의 약을 먹었습니다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안에 머물고 많은 휴식을 취해야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 이후로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더 조심하려고 노력했습니다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8691FE-A901-FEEA-2429-94B8730A31E8}"/>
              </a:ext>
            </a:extLst>
          </p:cNvPr>
          <p:cNvSpPr txBox="1"/>
          <p:nvPr/>
        </p:nvSpPr>
        <p:spPr>
          <a:xfrm>
            <a:off x="6092992" y="6016"/>
            <a:ext cx="6099007" cy="4730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05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음식 관련 기억에 남는 에피소드 </a:t>
            </a:r>
            <a:r>
              <a:rPr lang="ko-KR" altLang="en-US" sz="1600" b="1" dirty="0">
                <a:solidFill>
                  <a:srgbClr val="FF0000"/>
                </a:solidFill>
                <a:latin typeface="맑은 고딕" pitchFamily="50" charset="-127"/>
              </a:rPr>
              <a:t>묘사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a memorable experience you had while eating something.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It could be good or bad. What happened?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Why was it so memorable or special?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everything with lots of details.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remember eating something that went bad recently.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got food poisoning and it was pretty bad.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had an upset stomach.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took some medicine to get better.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had to stay inside and get a lot of rest.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Since then, I try to be more careful.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C087AB9-E91F-B089-7BC9-DF9B551C2798}"/>
              </a:ext>
            </a:extLst>
          </p:cNvPr>
          <p:cNvSpPr/>
          <p:nvPr/>
        </p:nvSpPr>
        <p:spPr>
          <a:xfrm>
            <a:off x="6106527" y="1780675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673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E0D43BE-C486-69A4-6A53-138C25511258}"/>
              </a:ext>
            </a:extLst>
          </p:cNvPr>
          <p:cNvSpPr txBox="1"/>
          <p:nvPr/>
        </p:nvSpPr>
        <p:spPr>
          <a:xfrm>
            <a:off x="-1" y="1700"/>
            <a:ext cx="6092987" cy="6861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건강을 위해 생활 방식에 변화를 준 경험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당신의 건강을 위해 습관이나 특정한 생활방식을 바꾼 적이 있습니까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아마 운동을 시작했거나 건강하게 먹기 시작했을 거예요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한 변화에 대해 말해 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건강을 유지하기 위해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내가 할 수 있을 때마다 운동을 하려고 노력했습니다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헬스장에서 운동을 하려고 노력했습니다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공원에서 뛰기 위해 가려고 노력했습니다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잘 먹고 제대로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먹을려고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노력했습니다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균형 잡힌 음식을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먹을려고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노력했습니다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너무 많이 또는 너무 늦게 먹지 않았습니다</a:t>
            </a:r>
            <a:r>
              <a:rPr lang="en-US" altLang="ko-KR" sz="1600" b="0" i="0" u="none" strike="noStrike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긍정적인 마인드를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가질려고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노력했습니다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사물의 밝은 면을 보려고 노력했습니다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 방법은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스트레스를 덜 받게 할 수 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이것들은 내가 건강하게 유지하려고 노력했던 것들입니다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98E966-D3C7-BCB4-81D7-B573F2B6B37E}"/>
              </a:ext>
            </a:extLst>
          </p:cNvPr>
          <p:cNvSpPr txBox="1"/>
          <p:nvPr/>
        </p:nvSpPr>
        <p:spPr>
          <a:xfrm>
            <a:off x="6092992" y="0"/>
            <a:ext cx="6099007" cy="5954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건강을 위해 생활 방식에 변화를 준 경험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Have you ever changed a habit or a certain lifestyle for your health?</a:t>
            </a:r>
          </a:p>
          <a:p>
            <a:r>
              <a:rPr lang="en-US" altLang="ko-KR" sz="1600" b="0" i="0" u="none" strike="noStrike" kern="1200" spc="-5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Maybe you started to work out or started to eat healthy.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that change you made.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To stay healthy, I tried to work out whenever I could.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tried to get some exercise at the gym.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tried to go for runs at the park.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tried to eat well and properly.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tried to have balanced meals.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did not 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eat too much or too late.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I tried to have a positive mindset.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tried to look on the bright side of things.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This way, I was able to get less stress.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these are the things I have tried to stay healthy.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E951AF-A1E6-D618-38CD-33F545A3BD4D}"/>
              </a:ext>
            </a:extLst>
          </p:cNvPr>
          <p:cNvSpPr/>
          <p:nvPr/>
        </p:nvSpPr>
        <p:spPr>
          <a:xfrm>
            <a:off x="6102017" y="1503949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9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3DCF1BB-E354-4D07-3C7E-0147B1BBCE37}"/>
              </a:ext>
            </a:extLst>
          </p:cNvPr>
          <p:cNvSpPr txBox="1"/>
          <p:nvPr/>
        </p:nvSpPr>
        <p:spPr>
          <a:xfrm>
            <a:off x="-1" y="0"/>
            <a:ext cx="6092985" cy="522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 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즐겨 가는 해변 묘사  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해변에 가는 것을 좋아한다고 표시했습니다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가고 싶은 해변에 대해 말해주세요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이곳은 어떻게 생겼나요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한국에는 많은 해변이 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해변에 갈수 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내가 원할 때마다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나의 가장 좋아하는 해변의 하나는 한국의 남해안에 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그것은 매우 잘 알려진 해변입니다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그것은 사람들 사이에 인기있는 휴양지입니다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그것은 매우 붐빕니다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피크시즌 동안에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해변 근처에 할 일이 많이 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나의 가장 좋아하는 해변은 이렇습니다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49D5CF-76F9-B46D-2D3E-8A0D258A8D61}"/>
              </a:ext>
            </a:extLst>
          </p:cNvPr>
          <p:cNvSpPr txBox="1"/>
          <p:nvPr/>
        </p:nvSpPr>
        <p:spPr>
          <a:xfrm>
            <a:off x="6092992" y="0"/>
            <a:ext cx="6099007" cy="522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 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즐겨 가는 해변 묘사  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You indicated that you like to go to the beach.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 beach that you like to go to.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does this place look like?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are many beaches in Korea.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 go to the beach whenever I want to.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of my favorite beaches is on the south coast of Korea.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a very well-known beach.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a popular vacation spot among people.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gets very crowded during the peak season.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are a lot of things to do near the beach.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this is what my favorite beach is like.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B2E29E-40BF-F3A1-B18A-0369760AB30E}"/>
              </a:ext>
            </a:extLst>
          </p:cNvPr>
          <p:cNvSpPr/>
          <p:nvPr/>
        </p:nvSpPr>
        <p:spPr>
          <a:xfrm>
            <a:off x="6102017" y="1503949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054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16858D8-08CA-05B5-4A6A-CECE641D58FE}"/>
              </a:ext>
            </a:extLst>
          </p:cNvPr>
          <p:cNvSpPr txBox="1"/>
          <p:nvPr/>
        </p:nvSpPr>
        <p:spPr>
          <a:xfrm>
            <a:off x="2769" y="8198"/>
            <a:ext cx="6090224" cy="694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특별히 기억에 남는 해변 여행 설명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특히 기억에 남는 해변 여행에 대해 말해주세요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너는 누구와 함께 있었습니까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거기서 뭐 했어요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이 해변 여행이 다른 여행보다 더 기억에 남는 이유는 무엇인가요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이 해변 여행에 대한 모든 것을 말해 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최근에 나의 가족과 함께 해변에 갔는 것을 기억합니다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낮 동안은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해변을 따라 산책을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해변 근처에서 많은 사진을 찍었습니다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점심을 위해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해산물을 먹으러 나갔습니다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생선회와 새우를 먹었습니다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저녁을 위해</a:t>
            </a:r>
            <a:r>
              <a:rPr lang="en-US" altLang="ko-KR" sz="1600" b="0" i="0" u="none" strike="noStrike" kern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우리의 속소에서 바비큐를 먹었습니다</a:t>
            </a:r>
            <a:r>
              <a:rPr lang="en-US" altLang="ko-KR" sz="1600" b="0" i="0" u="none" strike="noStrike" kern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음식은 매우 맛있었습니다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배가 몹시 </a:t>
            </a:r>
            <a:r>
              <a:rPr lang="ko-KR" altLang="en-US" sz="1600" b="0" i="0" u="none" strike="noStrike" kern="1200" spc="-5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곱았기</a:t>
            </a: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때문에</a:t>
            </a:r>
            <a:endParaRPr lang="en-US" altLang="ko-KR" sz="1600" b="0" i="0" u="none" strike="noStrike" kern="1200" spc="-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음식과 함께 술을 마셨습니다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저녁식사 후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밤새 파티를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돌이켜보면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매우 기억에 남는 여행이었습니다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C6FCB8-AA65-A2CB-ACAA-6D71138F888F}"/>
              </a:ext>
            </a:extLst>
          </p:cNvPr>
          <p:cNvSpPr txBox="1"/>
          <p:nvPr/>
        </p:nvSpPr>
        <p:spPr>
          <a:xfrm>
            <a:off x="6095762" y="0"/>
            <a:ext cx="6096238" cy="694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특별히 기억에 남는 해변 여행 설명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spc="-5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a particularly memorable trip to the beach.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Who were you with? What did you do there?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made this trip to the beach more memorable that others?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everything about this trip to the beach.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remember going to the beach with my family recently.</a:t>
            </a:r>
          </a:p>
          <a:p>
            <a:pPr>
              <a:lnSpc>
                <a:spcPct val="150000"/>
              </a:lnSpc>
            </a:pPr>
            <a:endParaRPr lang="en-US" altLang="ko-KR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During the day, we took a walk along the beach.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Plus, we took a lot of pictures near the beach.</a:t>
            </a:r>
          </a:p>
          <a:p>
            <a:pPr>
              <a:lnSpc>
                <a:spcPct val="150000"/>
              </a:lnSpc>
            </a:pPr>
            <a:endParaRPr lang="en-US" altLang="ko-KR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lunch, we went out for some seafood.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had some raw fish and shrimp.</a:t>
            </a:r>
          </a:p>
          <a:p>
            <a:pPr>
              <a:lnSpc>
                <a:spcPct val="150000"/>
              </a:lnSpc>
            </a:pPr>
            <a:endParaRPr lang="en-US" altLang="ko-KR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dinner, we had a barbeque at our cabin.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food tasted good because I was so hungry.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had some drinks with the meal.</a:t>
            </a:r>
          </a:p>
          <a:p>
            <a:pPr>
              <a:lnSpc>
                <a:spcPct val="150000"/>
              </a:lnSpc>
            </a:pPr>
            <a:endParaRPr lang="en-US" altLang="ko-KR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After having dinner, we partied all night long.</a:t>
            </a:r>
          </a:p>
          <a:p>
            <a:pPr>
              <a:lnSpc>
                <a:spcPct val="150000"/>
              </a:lnSpc>
            </a:pPr>
            <a:endParaRPr lang="en-US" altLang="ko-KR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Looking back, it was a very memorable trip.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D5425F4-647A-8A13-59D0-EC3CD63320DB}"/>
              </a:ext>
            </a:extLst>
          </p:cNvPr>
          <p:cNvSpPr/>
          <p:nvPr/>
        </p:nvSpPr>
        <p:spPr>
          <a:xfrm>
            <a:off x="6102017" y="1822786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615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FEB9863-79E8-D077-436A-4450FA427164}"/>
              </a:ext>
            </a:extLst>
          </p:cNvPr>
          <p:cNvSpPr txBox="1"/>
          <p:nvPr/>
        </p:nvSpPr>
        <p:spPr>
          <a:xfrm>
            <a:off x="-1" y="0"/>
            <a:ext cx="6092989" cy="5584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이웃국가 모습과 그 나라 사람들 성향</a:t>
            </a: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전통 묘사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당신의 나라와 가까운 나라에 대해 알려주세요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나라가 어떤 나라인지 말해보세요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그리고 나서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그곳의 사람들과 전통에 대해 말해보세요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일본은 우리의 가장 가까운 이웃 나라들 중 하나입니다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일본에는 많은 산이 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사실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일본의 절반은 산들입니다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또한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일본에는 많은 해변들이 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몇몇 해변들은 인기 있는 휴양지입니다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해안선은 매우 아름답습니다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한편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일본 사람들은 매우 친절합니다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인상입니다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그들로부터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받은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7DDAC7-EB62-38A1-77FD-026DAAE14ED6}"/>
              </a:ext>
            </a:extLst>
          </p:cNvPr>
          <p:cNvSpPr txBox="1"/>
          <p:nvPr/>
        </p:nvSpPr>
        <p:spPr>
          <a:xfrm>
            <a:off x="6092992" y="0"/>
            <a:ext cx="6099007" cy="5592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이웃국가 모습과 그 나라 사람들 성향</a:t>
            </a: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전통 묘사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a country close to your country.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Talk about what the country is like.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And then, tell me about its people and some of its traditions.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Japan is one of our closest neighboring countries.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are many mountains in Japan.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fact, half of Japan is mountains.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Also, there are many beaches in Japan.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 beaches are popular vacation spots.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coastline is very scenic.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Meanwhile, Japanese people are very friendly.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is the impression I got from them.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32E07C-6D46-1207-5225-1CFA1D69133E}"/>
              </a:ext>
            </a:extLst>
          </p:cNvPr>
          <p:cNvSpPr/>
          <p:nvPr/>
        </p:nvSpPr>
        <p:spPr>
          <a:xfrm>
            <a:off x="6106527" y="1546060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975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7CF5068-0F1A-6F05-00A5-0B5BC8E8994E}"/>
              </a:ext>
            </a:extLst>
          </p:cNvPr>
          <p:cNvSpPr txBox="1"/>
          <p:nvPr/>
        </p:nvSpPr>
        <p:spPr>
          <a:xfrm>
            <a:off x="-1" y="1700"/>
            <a:ext cx="6092985" cy="706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갔었던 여행들 설명     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젊었을 때 갔던 여행에 대해 말해주세요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어디 갔다 왔어요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6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누구랑</a:t>
            </a: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 같이 </a:t>
            </a:r>
            <a:r>
              <a:rPr lang="ko-KR" altLang="en-US" sz="16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갔었어요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spc="-6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그리고 그 초기 여행 동안 무엇을 하거나 무엇을 보았습니까</a:t>
            </a:r>
            <a:r>
              <a:rPr lang="en-US" altLang="ko-KR" sz="1600" b="0" i="0" kern="1200" spc="-6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en-US" altLang="ko-KR" sz="1600" b="0" i="0" kern="1200" spc="-6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600" b="0" spc="-6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종종 해변에 가는 것을 기억합니다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내가 어렸을 때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해변가의 호텔에 묵곤 했습니다</a:t>
            </a:r>
            <a:r>
              <a:rPr lang="en-US" altLang="ko-KR" sz="1600" b="0" i="0" u="none" strike="noStrike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ko-KR" altLang="en-US" sz="1600" b="0" i="0" u="none" strike="noStrike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굉장한 해변 경치를 가지는</a:t>
            </a:r>
            <a:endParaRPr lang="en-US" altLang="ko-KR" sz="1600" b="0" i="0" u="none" strike="noStrike" kern="1200" spc="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낮 동안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바다에서 수영을 하곤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또한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해변위의 모래에서 놀곤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게다가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바닷가에서 조개껍질을 줍곤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점식 혹은 저녁으로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조금의 음식을 위해 나가곤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스테이크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피자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햄버거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그리고 파스타를 먹은 기억이 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때때로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우리의 숙소에서 바비큐를 먹곤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음식은 항상 맛있었습니다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.. </a:t>
            </a: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배가 몹시 </a:t>
            </a:r>
            <a:r>
              <a:rPr lang="ko-KR" altLang="en-US" sz="1600" b="0" i="0" u="none" strike="noStrike" kern="1200" spc="-5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곱았기</a:t>
            </a: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때문에</a:t>
            </a:r>
            <a:endParaRPr lang="en-US" altLang="ko-KR" sz="1600" b="0" i="0" u="none" strike="noStrike" kern="1200" spc="-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저녁에</a:t>
            </a:r>
            <a:r>
              <a:rPr lang="en-US" altLang="ko-KR" sz="1600" b="0" i="0" u="none" strike="noStrike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해변에서 조금의 폭죽을 가지고 놀곤 했습니다</a:t>
            </a:r>
            <a:r>
              <a:rPr lang="en-US" altLang="ko-KR" sz="1600" b="0" i="0" u="none" strike="noStrike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뒤돌아 보면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이것들은 매우 기억에 남는 여행이었습니다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E03F70-5364-C8A2-79F1-3D412EC12757}"/>
              </a:ext>
            </a:extLst>
          </p:cNvPr>
          <p:cNvSpPr txBox="1"/>
          <p:nvPr/>
        </p:nvSpPr>
        <p:spPr>
          <a:xfrm>
            <a:off x="6092992" y="0"/>
            <a:ext cx="6092977" cy="706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갔었던 여행들 설명     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spc="-5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some of the trips that you took in your youth.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Where did you go? Who did you go with?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And what did you do or see during those early trips?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remember going to the beach often when I was a kid.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used to stay at a beachside hotel that had a great ocean view.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During the day, we used to swim in the ocean.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Also, we used to play in the sand on the beach.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Plus, we used to pick up seashells on the seashore.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lunch or dinner, we used to go out for some food.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remember having steak, pizza, hamburgers and pasta.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Sometimes, we used to have a barbeque at our cabin.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food always tasted good because I was so hungry.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night, we used to play with some firecrackers on the beach.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Looking back, these were very memorable trips.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405D08-408A-6BB9-F84D-0E7FAA19EF9D}"/>
              </a:ext>
            </a:extLst>
          </p:cNvPr>
          <p:cNvSpPr/>
          <p:nvPr/>
        </p:nvSpPr>
        <p:spPr>
          <a:xfrm>
            <a:off x="6106527" y="1546060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937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BB4D19A-AB8B-F9E5-5BE4-1AFCB3CE8345}"/>
              </a:ext>
            </a:extLst>
          </p:cNvPr>
          <p:cNvSpPr txBox="1"/>
          <p:nvPr/>
        </p:nvSpPr>
        <p:spPr>
          <a:xfrm>
            <a:off x="-1" y="0"/>
            <a:ext cx="6092985" cy="619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처음으로 가본 해외 국가나 도시 묘사     </a:t>
            </a:r>
            <a:r>
              <a:rPr lang="en-US" altLang="ko-KR" sz="14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4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   [Adv]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어렸을 때 가보았던 해외 국가 묘사</a:t>
            </a:r>
            <a:endParaRPr lang="en-US" altLang="ko-KR" sz="14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ko-KR" altLang="en-US" sz="14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당신의 첫 번째 다른 나라나 도시 여행에 대해 말해주세요</a:t>
            </a:r>
            <a:r>
              <a:rPr lang="en-US" altLang="ko-KR" sz="14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언제 갔습니까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어디를 방문했나요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거기서 뭐 했어요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4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누구랑</a:t>
            </a: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 같이 </a:t>
            </a:r>
            <a:r>
              <a:rPr lang="ko-KR" altLang="en-US" sz="14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갔었어요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여행에 대해 자세히 말해 주세요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400" dirty="0">
                <a:solidFill>
                  <a:srgbClr val="0070C0"/>
                </a:solidFill>
              </a:rPr>
            </a:b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어렸을 때 방문했던 다른 나라를 생각해보세요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나라가 어땠는지 자세히 묘사해 보세요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장소에 대한 당신의 인상은 어땠나요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4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태국에 간 것을 기억합니다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</a:t>
            </a: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나의 첫번째 해외여행입니다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매우 재미있었습니다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우리가 도착했을 때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체크인을 하기위해 호텔로 </a:t>
            </a:r>
            <a:r>
              <a:rPr lang="ko-KR" altLang="en-US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곧바로 갔습니다</a:t>
            </a:r>
            <a:r>
              <a:rPr lang="en-US" altLang="ko-KR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나서</a:t>
            </a:r>
            <a:r>
              <a:rPr lang="en-US" altLang="ko-KR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투어 하러 갔습니다</a:t>
            </a:r>
            <a:r>
              <a:rPr lang="en-US" altLang="ko-KR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내가 거기서 본 것에 대해 매우 재미있었습니다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또한 다양한 종류의 레스토랑에서 식사를 했던 것을 기억합니다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현지 음식은 이국적인 맛이 났습니다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뒤돌아 보면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매우 기억에 남는 여행이었습니다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en-US" altLang="ko-KR" sz="14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B0C54-A530-B76B-223D-D33AEBC56443}"/>
              </a:ext>
            </a:extLst>
          </p:cNvPr>
          <p:cNvSpPr txBox="1"/>
          <p:nvPr/>
        </p:nvSpPr>
        <p:spPr>
          <a:xfrm>
            <a:off x="6092992" y="0"/>
            <a:ext cx="6092979" cy="6190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처음으로 가본 해외 국가나 도시 묘사     </a:t>
            </a:r>
            <a:r>
              <a:rPr lang="en-US" altLang="ko-KR" sz="14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4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   [Adv]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어렸을 때 가보았던 해외 국가 묘사</a:t>
            </a:r>
            <a:endParaRPr lang="en-US" altLang="ko-KR" sz="14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your first trip to another country or city.</a:t>
            </a: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When did you go? Where did you visit?</a:t>
            </a: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did you do there? Who did you go with?</a:t>
            </a: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that trip with lots of details.</a:t>
            </a:r>
          </a:p>
          <a:p>
            <a:endParaRPr lang="en-US" altLang="ko-KR" sz="1400" b="0" i="0" u="none" strike="noStrike" kern="1200" baseline="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Think about another country that you visited when you were young.</a:t>
            </a: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Describe what that country was like with lots of details.</a:t>
            </a: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was your impression of the place?</a:t>
            </a:r>
            <a:endParaRPr lang="en-US" altLang="ko-KR" sz="14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going to Thailand when I was a kid.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was my first trip overseas, and I was very excited.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we arrived, we went straight to the hotel to check in.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And then, we went on a tour.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was very amused by the things that I saw there.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also remember dining at various types of restaurants.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local food tasted exotic.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Looking back, it was a very memorable trip.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9303A6-D417-CCD7-CED3-AECA85B87ED4}"/>
              </a:ext>
            </a:extLst>
          </p:cNvPr>
          <p:cNvSpPr/>
          <p:nvPr/>
        </p:nvSpPr>
        <p:spPr>
          <a:xfrm>
            <a:off x="6103514" y="2634918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596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1476BC7-6558-42A7-99CE-20F817F234AF}"/>
              </a:ext>
            </a:extLst>
          </p:cNvPr>
          <p:cNvSpPr txBox="1"/>
          <p:nvPr/>
        </p:nvSpPr>
        <p:spPr>
          <a:xfrm>
            <a:off x="-1" y="1700"/>
            <a:ext cx="6086973" cy="6084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 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집에서 보내는 휴가 중 만나고 싶은 사람 묘사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집에서 휴가를 보낸다고 표시했습니다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휴가 때 만나고 함께 시간을 보내는 사람들은 누구입니까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집에서 나의 휴가 동안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종종 나의 친한 친구들을 만납니다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서로 어떻게 지내는지 물어보고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조금의  밀렸던 얘기를 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게다가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우리의 일 혹은 경력에 관하여 이야기 합니다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또한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우리의 가족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맴버들이나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아이들에 관하여 이야기를 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게다가</a:t>
            </a:r>
            <a:r>
              <a:rPr lang="en-US" altLang="ko-KR" sz="1600" b="0" i="0" u="none" strike="noStrike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우리의 같이 알고 지내는 친구를 이야기 합니다</a:t>
            </a:r>
            <a:r>
              <a:rPr lang="en-US" altLang="ko-KR" sz="1600" b="0" i="0" u="none" strike="noStrike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게다가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최근에 우리가 보았는 영화에 관하여 이야기 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다음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우리가 갔던 모임들에 관하여 이야기 합니다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이것들은 내가 나의 친구들과 함께 한 일입니다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86442C-041C-0A9B-DB60-DB5B05B3D90B}"/>
              </a:ext>
            </a:extLst>
          </p:cNvPr>
          <p:cNvSpPr txBox="1"/>
          <p:nvPr/>
        </p:nvSpPr>
        <p:spPr>
          <a:xfrm>
            <a:off x="6092992" y="0"/>
            <a:ext cx="6092993" cy="4976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 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집에서 보내는 휴가 중 만나고 싶은 사람 묘사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You indicated that you take vacations at home.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Who are the people you meet and spend time with on your vacations?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During my vacations at home, I often meet my close friends.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ask how each other is doing and do some catching up.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Plus, we talk about our work or careers.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Also, we talk about our family members or children.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Plus, we talk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about our mutual friends.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Plus, we talk about movies we watched recently.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Next, we talk about gatherings we went to.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these are the things I do with my friends.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DD3B0F-819A-8CCD-0EAF-487E169509B6}"/>
              </a:ext>
            </a:extLst>
          </p:cNvPr>
          <p:cNvSpPr/>
          <p:nvPr/>
        </p:nvSpPr>
        <p:spPr>
          <a:xfrm>
            <a:off x="6096002" y="1329491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159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7682E6B-B434-0820-0E1D-1A1C32DDD81A}"/>
              </a:ext>
            </a:extLst>
          </p:cNvPr>
          <p:cNvSpPr txBox="1"/>
          <p:nvPr/>
        </p:nvSpPr>
        <p:spPr>
          <a:xfrm>
            <a:off x="-1" y="0"/>
            <a:ext cx="6092987" cy="6729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살았던 집과 지금 집 비교           </a:t>
            </a:r>
            <a:r>
              <a:rPr lang="en-US" altLang="ko-KR" sz="14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4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[Adv]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살았던 동네 묘사</a:t>
            </a:r>
            <a:endParaRPr lang="en-US" altLang="ko-KR" sz="14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어렸을 때 살았던 집을 묘사하세요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지금 살고 있는 집과 어떻게 달랐나요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400" dirty="0">
                <a:solidFill>
                  <a:srgbClr val="0070C0"/>
                </a:solidFill>
              </a:rPr>
            </a:b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어렸을 때 살았던 장소와 주변 지역에 대해 이야기하세요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그 장소에 대해 무엇을 기억하나요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어렸을 때 부터의 당신을 자세히 묘사하세요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400" b="0" baseline="0" dirty="0">
              <a:solidFill>
                <a:srgbClr val="0070C0"/>
              </a:solidFill>
              <a:latin typeface="맑은 고딕" pitchFamily="50" charset="-127"/>
              <a:ea typeface="+mn-ea"/>
            </a:endParaRP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작은 아파트에서 살았던 것을 기억합니다</a:t>
            </a:r>
            <a:r>
              <a:rPr lang="en-US" altLang="ko-KR" sz="14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4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</a:t>
            </a:r>
            <a:endParaRPr lang="en-US" altLang="ko-KR" sz="1400" b="0" i="0" u="none" strike="noStrike" kern="1200" spc="-8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근처에 운동장이 있었습니다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거기에서 항상 나의 친구들과 놀곤 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지금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좀 더 넓은 아파트에서 삽니다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근처에 작은 공원이 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거기에서 산책 혹은 조금의 운동을 할 수 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몇몇 식당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커피숍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슈퍼마켓이 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4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우체국</a:t>
            </a:r>
            <a:r>
              <a:rPr lang="en-US" altLang="ko-KR" sz="14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경찰서</a:t>
            </a:r>
            <a:r>
              <a:rPr lang="en-US" altLang="ko-KR" sz="14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소방서</a:t>
            </a:r>
            <a:r>
              <a:rPr lang="en-US" altLang="ko-KR" sz="14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은행</a:t>
            </a:r>
            <a:r>
              <a:rPr lang="en-US" altLang="ko-KR" sz="14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빵집이 있습니다</a:t>
            </a:r>
            <a:r>
              <a:rPr lang="en-US" altLang="ko-KR" sz="14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4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지하철역</a:t>
            </a:r>
            <a:r>
              <a:rPr lang="en-US" altLang="ko-KR" sz="14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버스 정류장</a:t>
            </a:r>
            <a:r>
              <a:rPr lang="en-US" altLang="ko-KR" sz="14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헬스장</a:t>
            </a:r>
            <a:r>
              <a:rPr lang="en-US" altLang="ko-KR" sz="14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도서관이 있습니다</a:t>
            </a:r>
            <a:r>
              <a:rPr lang="en-US" altLang="ko-KR" sz="14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다음</a:t>
            </a:r>
            <a:r>
              <a:rPr lang="en-US" altLang="ko-KR" sz="14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편의점</a:t>
            </a:r>
            <a:r>
              <a:rPr lang="en-US" altLang="ko-KR" sz="14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세탁소</a:t>
            </a:r>
            <a:r>
              <a:rPr lang="en-US" altLang="ko-KR" sz="14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서점이 있습니다</a:t>
            </a:r>
            <a:r>
              <a:rPr lang="en-US" altLang="ko-KR" sz="14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spc="-6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4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이웃은 이렇습니다</a:t>
            </a:r>
            <a:r>
              <a:rPr lang="en-US" altLang="ko-KR" sz="14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AA07F6-32D1-D986-713A-C67493C46886}"/>
              </a:ext>
            </a:extLst>
          </p:cNvPr>
          <p:cNvSpPr txBox="1"/>
          <p:nvPr/>
        </p:nvSpPr>
        <p:spPr>
          <a:xfrm>
            <a:off x="6092992" y="0"/>
            <a:ext cx="6099007" cy="6729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살았던 집과 지금 집 비교           </a:t>
            </a:r>
            <a:r>
              <a:rPr lang="en-US" altLang="ko-KR" sz="14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4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[Adv]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살았던 동네 묘사</a:t>
            </a:r>
            <a:endParaRPr lang="en-US" altLang="ko-KR" sz="14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Describe the home you lived in as a child.</a:t>
            </a: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 was it different from the home you live in now?</a:t>
            </a:r>
          </a:p>
          <a:p>
            <a:endParaRPr lang="en-US" altLang="ko-KR" sz="14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400" b="0" i="0" u="none" strike="noStrike" kern="1200" spc="-7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Talk about the place you lived and the surrounding area </a:t>
            </a:r>
            <a:r>
              <a:rPr lang="en-US" altLang="ko-KR" sz="1400" b="0" i="0" u="none" strike="noStrike" kern="1200" spc="-7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when you were a child. What do you remember about that place?</a:t>
            </a: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Describe you from your early childhood in detail.</a:t>
            </a:r>
            <a:endParaRPr lang="en-US" altLang="ko-KR" sz="14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14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living in a small apartment when I was a kid.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There was a playground nearby.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used to play there all the time with my friends.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But now, I live in a more spacious apartment.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There is a small park nearby.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can take walks or get some exercise there.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spc="-7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there are some restaurants, coffee shops and supermarkets.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there is a post office, a police station, a fire station, a bank and a bakery.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there is a subway station, a bus stop, a gym and a library.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spc="-7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Next, there is a convenience store, dry cleaner's and a bookstore.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this is what my neighborhood is like.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4EA0D3-EDC3-4A21-FFE4-B9D8382F034C}"/>
              </a:ext>
            </a:extLst>
          </p:cNvPr>
          <p:cNvSpPr/>
          <p:nvPr/>
        </p:nvSpPr>
        <p:spPr>
          <a:xfrm>
            <a:off x="6106527" y="2207796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911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85761AD-DB16-A6B5-A141-D4FAD84F9D01}"/>
              </a:ext>
            </a:extLst>
          </p:cNvPr>
          <p:cNvSpPr txBox="1"/>
          <p:nvPr/>
        </p:nvSpPr>
        <p:spPr>
          <a:xfrm>
            <a:off x="-1" y="1700"/>
            <a:ext cx="6092985" cy="5099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05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집에서 가족들과 있었던 추억 묘사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spc="-80" baseline="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가족과 함께 집에서 가졌던 특별한 추억에 대해 이야기해 보세요</a:t>
            </a:r>
            <a:r>
              <a:rPr lang="en-US" altLang="ko-KR" sz="1600" b="0" i="0" kern="1200" spc="-80" baseline="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아마도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손님들을 초대했거나 일종의 파티를 열었을 것입니다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경험에 대해 자세히 말해 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집에서 나의 아들의 생일 파티를 가진 것을 기억 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그것은 그의 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번째 생일이었습니다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파티를 위해 조금의 음식을 요리하였습니다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게다가</a:t>
            </a:r>
            <a:r>
              <a:rPr lang="en-US" altLang="ko-KR" sz="1600" b="0" i="0" u="none" strike="noStrike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조금의 프라이드 치킨을 주문하였습니다</a:t>
            </a:r>
            <a:r>
              <a:rPr lang="en-US" altLang="ko-KR" sz="1600" b="0" i="0" u="none" strike="noStrike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음식은 매우 맛있었습니다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배가 몹시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곱았기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때문에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파티 후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청소를 도왔습니다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뒤돌아 보면</a:t>
            </a:r>
            <a:r>
              <a:rPr lang="en-US" altLang="ko-KR" sz="1600" b="0" i="0" u="none" strike="noStrike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그것은 매우 기억에 남는 생일파티입니다</a:t>
            </a:r>
            <a:r>
              <a:rPr lang="en-US" altLang="ko-KR" sz="1600" b="0" i="0" u="none" strike="noStrike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348FD-873C-26E6-4401-57CD3F47B432}"/>
              </a:ext>
            </a:extLst>
          </p:cNvPr>
          <p:cNvSpPr txBox="1"/>
          <p:nvPr/>
        </p:nvSpPr>
        <p:spPr>
          <a:xfrm>
            <a:off x="6092992" y="0"/>
            <a:ext cx="6092981" cy="5099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05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집에서 가족들과 있었던 추억 묘사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Talk about a special memory you had at home with your family members.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Perhaps, you had guests over or had a party of some sort.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that experience in detail.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remember having my son’s birthday party at home.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was his 7th birthday.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cooked some food for the party.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Plus, we ordered some fried chicken.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food tasted good because I was so hungry.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After the party, I helped clean up.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Looking back, it was a very memorable birthday.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E086AD-1080-BE80-7644-CC3EBCF3958E}"/>
              </a:ext>
            </a:extLst>
          </p:cNvPr>
          <p:cNvSpPr/>
          <p:nvPr/>
        </p:nvSpPr>
        <p:spPr>
          <a:xfrm>
            <a:off x="6103515" y="1816770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770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35252FA-EF8C-F174-6875-995135B6FBA4}"/>
              </a:ext>
            </a:extLst>
          </p:cNvPr>
          <p:cNvSpPr txBox="1"/>
          <p:nvPr/>
        </p:nvSpPr>
        <p:spPr>
          <a:xfrm>
            <a:off x="-1" y="0"/>
            <a:ext cx="6092989" cy="5830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06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집에 준 변화 중 하나 자세히 묘사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때때로 우리는 집에서 무언가를 바꾸고 싶어합니다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아마도 우리는 새 가구를 얻거나 페인트칠이나 장식을 할 것이다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spc="-50" baseline="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당신의 집에 한 가지 변화를 준 것에 대해 이야기하세요</a:t>
            </a:r>
            <a:r>
              <a:rPr lang="en-US" altLang="ko-KR" sz="1600" b="0" i="0" kern="1200" spc="-50" baseline="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왜 그렇게 바꾸기로 결심했는지 말해주세요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집에서 거실을 다시 한 것을 기억합니다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그것을 한 후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거실은 완전히 새롭게 보였습니다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새로운 모습에 매우 행복했습니다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몇몇 새로운 가구를 산 것을 기억합니다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새로운 책상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새로운 소파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새로운 책장을 샀습니다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가구들을 재배치하였습니다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아파트를 위한 몇몇 화초를 샀습니다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새로운 텔레비전과 새로운 에어컨을 샀습니다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이것들은 내가 기억하는 변화들입니다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C93BAC-2D80-369E-8C4D-C9426FC74EC4}"/>
              </a:ext>
            </a:extLst>
          </p:cNvPr>
          <p:cNvSpPr txBox="1"/>
          <p:nvPr/>
        </p:nvSpPr>
        <p:spPr>
          <a:xfrm>
            <a:off x="6092992" y="0"/>
            <a:ext cx="6092989" cy="5830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06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집에 준 변화 중 하나 자세히 묘사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spc="-5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Sometimes we want to change something in our home.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Perhaps we get new furniture or do some painting or decorating.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Talk about one change that you have made to your home.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why you decided to make that change.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redoing the living room at my place.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After it was done, the living room looked brand new.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was very happy with the new look.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remember getting some new furniture.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got a new desk, a new sofa and a new bookshelf.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And then, I rearranged the furniture.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I got some plants for the apartment.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got a new TV and a new air-conditioner.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these are the changes I remember.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C7DA3A-6C3C-B5C9-A32B-8932CFD3F317}"/>
              </a:ext>
            </a:extLst>
          </p:cNvPr>
          <p:cNvSpPr/>
          <p:nvPr/>
        </p:nvSpPr>
        <p:spPr>
          <a:xfrm>
            <a:off x="6103519" y="1786691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265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DCD23FC-CE3B-9B40-C38C-EF7D07A4A8AA}"/>
              </a:ext>
            </a:extLst>
          </p:cNvPr>
          <p:cNvSpPr txBox="1"/>
          <p:nvPr/>
        </p:nvSpPr>
        <p:spPr>
          <a:xfrm>
            <a:off x="-1" y="1700"/>
            <a:ext cx="6092987" cy="6569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</a:rPr>
              <a:t>07 [</a:t>
            </a:r>
            <a:r>
              <a:rPr lang="en-US" altLang="ko-KR" sz="1600" b="1" dirty="0" err="1">
                <a:solidFill>
                  <a:schemeClr val="tx2"/>
                </a:solidFill>
                <a:latin typeface="맑은 고딕" pitchFamily="50" charset="-127"/>
              </a:rPr>
              <a:t>Adv</a:t>
            </a: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</a:rPr>
              <a:t>] </a:t>
            </a:r>
            <a:r>
              <a:rPr lang="ko-KR" altLang="en-US" sz="1600" b="1" dirty="0">
                <a:solidFill>
                  <a:srgbClr val="FF0000"/>
                </a:solidFill>
                <a:latin typeface="맑은 고딕" pitchFamily="50" charset="-127"/>
              </a:rPr>
              <a:t>본인 집에 생겼던 여러 문제점들 묘사         </a:t>
            </a:r>
            <a:r>
              <a:rPr lang="en-US" altLang="ko-KR" sz="1600" b="1" dirty="0">
                <a:solidFill>
                  <a:schemeClr val="tx2"/>
                </a:solidFill>
              </a:rPr>
              <a:t>♣</a:t>
            </a:r>
            <a:endParaRPr lang="en-US" altLang="ko-KR" sz="1600" b="1" dirty="0">
              <a:solidFill>
                <a:srgbClr val="FF0000"/>
              </a:solidFill>
              <a:latin typeface="맑은 고딕" pitchFamily="50" charset="-127"/>
            </a:endParaRPr>
          </a:p>
          <a:p>
            <a:r>
              <a:rPr lang="ko-KR" altLang="en-US" sz="1600" dirty="0">
                <a:solidFill>
                  <a:srgbClr val="0070C0"/>
                </a:solidFill>
              </a:rPr>
              <a:t>어떤 가정에서도 항상 발생하는 문제들이 있습니다</a:t>
            </a:r>
            <a:r>
              <a:rPr lang="en-US" altLang="ko-KR" sz="1600" dirty="0">
                <a:solidFill>
                  <a:srgbClr val="0070C0"/>
                </a:solidFill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dirty="0">
                <a:solidFill>
                  <a:srgbClr val="0070C0"/>
                </a:solidFill>
              </a:rPr>
              <a:t>일이 터지고</a:t>
            </a:r>
            <a:r>
              <a:rPr lang="en-US" altLang="ko-KR" sz="1600" dirty="0">
                <a:solidFill>
                  <a:srgbClr val="0070C0"/>
                </a:solidFill>
              </a:rPr>
              <a:t>, </a:t>
            </a:r>
            <a:r>
              <a:rPr lang="ko-KR" altLang="en-US" sz="1600" dirty="0">
                <a:solidFill>
                  <a:srgbClr val="0070C0"/>
                </a:solidFill>
              </a:rPr>
              <a:t>프로젝트가 계획대로 진행되지 않고</a:t>
            </a:r>
            <a:r>
              <a:rPr lang="en-US" altLang="ko-KR" sz="1600" dirty="0">
                <a:solidFill>
                  <a:srgbClr val="0070C0"/>
                </a:solidFill>
              </a:rPr>
              <a:t>,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dirty="0">
                <a:solidFill>
                  <a:srgbClr val="0070C0"/>
                </a:solidFill>
              </a:rPr>
              <a:t>아니면 같이 사는 사람들이 협조하지 않는 거죠</a:t>
            </a:r>
            <a:r>
              <a:rPr lang="en-US" altLang="ko-KR" sz="1600" dirty="0">
                <a:solidFill>
                  <a:srgbClr val="0070C0"/>
                </a:solidFill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dirty="0">
                <a:solidFill>
                  <a:srgbClr val="0070C0"/>
                </a:solidFill>
              </a:rPr>
              <a:t>당신이 집에서 겪었던 몇 가지 문제나 문제들에 대해 말해보세요</a:t>
            </a:r>
            <a:r>
              <a:rPr lang="en-US" altLang="ko-KR" sz="1600" dirty="0">
                <a:solidFill>
                  <a:srgbClr val="0070C0"/>
                </a:solidFill>
              </a:rPr>
              <a:t>.</a:t>
            </a:r>
            <a:endParaRPr lang="en-US" altLang="ko-KR" sz="1600" dirty="0">
              <a:solidFill>
                <a:srgbClr val="0070C0"/>
              </a:solidFill>
              <a:latin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몇 년 전 텔레비전이 고장 났을 때가 기억 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텔레비전을 볼 수 없었습니다</a:t>
            </a:r>
            <a:r>
              <a:rPr lang="en-US" altLang="ko-KR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동작하지 않았기 때문에</a:t>
            </a:r>
            <a:endParaRPr lang="en-US" altLang="ko-KR" sz="1600" b="0" i="0" u="none" strike="noStrike" kern="1200" spc="-6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그 문제를 고치기 위해 사람을 불렸습니다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시계가 잘 작동하지 않았던 때가 기억 납니다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시계를 위해 건전지를 교체 해야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물냉각기로부터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물이 새던 때가 기억 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바닥에서 물을 닦아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내어야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실수로 컵을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깨드린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것이 기억 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이것들은 내가 집에서 가졌던 문제들이었습니다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B4DC5B-0F13-CCA0-70A5-FD375BF5EE4E}"/>
              </a:ext>
            </a:extLst>
          </p:cNvPr>
          <p:cNvSpPr txBox="1"/>
          <p:nvPr/>
        </p:nvSpPr>
        <p:spPr>
          <a:xfrm>
            <a:off x="6092992" y="0"/>
            <a:ext cx="6092987" cy="6815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07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 집에 생겼던 여러 문제점들 묘사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There are always problems that happen in any home.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Things break, projects do not go as planned,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or people you live with do not cooperate.</a:t>
            </a:r>
          </a:p>
          <a:p>
            <a:r>
              <a:rPr lang="en-US" altLang="ko-KR" sz="16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some problems or issues that you had at your home.</a:t>
            </a:r>
            <a:endParaRPr lang="en-US" altLang="ko-KR" sz="1600" b="0" spc="-5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when the TV broke down a few years ago.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could NOT watch TV because it was NOT working.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called a person to fix the problem.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remember when the clock did NOT work well.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had to replace the batteries for the clock.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I remember when water leaked from the water cooler.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had to wipe off the water from the floor.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remember breaking a cup by mistake.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these were the problems I had at home.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6F5976F-57BD-9612-5B47-0A8A9D732016}"/>
              </a:ext>
            </a:extLst>
          </p:cNvPr>
          <p:cNvSpPr/>
          <p:nvPr/>
        </p:nvSpPr>
        <p:spPr>
          <a:xfrm>
            <a:off x="6103518" y="1756612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137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68BEE8C-46BB-C00A-C7D0-4396B542836E}"/>
              </a:ext>
            </a:extLst>
          </p:cNvPr>
          <p:cNvSpPr txBox="1"/>
          <p:nvPr/>
        </p:nvSpPr>
        <p:spPr>
          <a:xfrm>
            <a:off x="-1" y="1700"/>
            <a:ext cx="6092987" cy="447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했던 재활용 방법 묘사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네가 어렸을 때 재활용이 어땠는지 내게 말해주세요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재활용품을 꺼낸 장소가 따로 있었나요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어떤 느낌인지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어떤 행동을 했는지 자세히 설명해 주세요</a:t>
            </a:r>
            <a:r>
              <a:rPr lang="en-US" altLang="ko-KR" sz="1600" b="0" i="0" kern="12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사람들은 그들의 집에서 재활용을 하지 않았습니다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대신에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학교에서 재활용하는 날들이 있곤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학생들은 학교에 폐휴지를 가지고 가곤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나 자신도 그것을 한 것을 기억 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요즈음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재활용은 사람들의 집에서 흔한 관행입니다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사람들의 삶에서 일상적인 루틴입니다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012D31-D432-FA7B-D1E3-C9F3C7635727}"/>
              </a:ext>
            </a:extLst>
          </p:cNvPr>
          <p:cNvSpPr txBox="1"/>
          <p:nvPr/>
        </p:nvSpPr>
        <p:spPr>
          <a:xfrm>
            <a:off x="6092992" y="0"/>
            <a:ext cx="6092987" cy="447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했던 재활용 방법 묘사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what recycling was like when you were a child.</a:t>
            </a:r>
          </a:p>
          <a:p>
            <a:r>
              <a:rPr lang="en-US" altLang="ko-KR" sz="16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Was there a particular place to which you took out the recyclables?</a:t>
            </a:r>
          </a:p>
          <a:p>
            <a:r>
              <a:rPr lang="en-US" altLang="ko-KR" sz="16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Describe what it was like and what you did in detail.</a:t>
            </a:r>
            <a:endParaRPr lang="en-US" altLang="ko-KR" sz="1600" b="0" spc="-5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I was a kid, people did NOT recycle at their homes.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Instead, there used to be recycling days at schools.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Students used to take scrap paper to school.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doing that myself when I was a kid.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But these days, recycling is a common practice at people’s homes.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is a daily routine in people’s lives.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1AF1989-B32D-359A-0A5E-CD86B2171EE3}"/>
              </a:ext>
            </a:extLst>
          </p:cNvPr>
          <p:cNvSpPr/>
          <p:nvPr/>
        </p:nvSpPr>
        <p:spPr>
          <a:xfrm>
            <a:off x="6103518" y="1491917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484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B4F7953-AD1F-CD24-A44D-A88C2CFBE172}"/>
              </a:ext>
            </a:extLst>
          </p:cNvPr>
          <p:cNvSpPr txBox="1"/>
          <p:nvPr/>
        </p:nvSpPr>
        <p:spPr>
          <a:xfrm>
            <a:off x="2768" y="-3677"/>
            <a:ext cx="6090219" cy="4722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spc="-7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spc="-70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spc="-7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재활용 관련된 예기치 않았던 에피소드 묘사      </a:t>
            </a:r>
            <a:r>
              <a:rPr lang="en-US" altLang="ko-KR" sz="1600" b="1" spc="-70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</a:p>
          <a:p>
            <a:pPr latinLnBrk="1">
              <a:lnSpc>
                <a:spcPct val="100000"/>
              </a:lnSpc>
            </a:pP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재활용하는 동안 때때로 문제가 발생합니다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아마도 픽업 서비스가 예정대로 오지 않았을 것입니다</a:t>
            </a:r>
            <a:r>
              <a:rPr lang="en-US" altLang="ko-KR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아니면</a:t>
            </a:r>
            <a:r>
              <a:rPr lang="en-US" altLang="ko-KR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물건들이 컨테이너에 비해 너무 컸습니다</a:t>
            </a:r>
            <a:r>
              <a:rPr lang="en-US" altLang="ko-KR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재활용과 관련하여 기억에 남는 경험에 대해 말해주세요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최근에 재활용품을 꺼내 놓은 것을 기억 납니다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몇몇 캔으로부터 남은 맥주가 새어 나왔습니다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손은 끈적거리고 더러워졌습니다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또한 꽤 나쁜 냄새를 풍겼습니다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나의 손을 씻어야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이후로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더 조심하려고 노력합니다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1CC9C7-1A59-0770-0172-53837EDDEB59}"/>
              </a:ext>
            </a:extLst>
          </p:cNvPr>
          <p:cNvSpPr txBox="1"/>
          <p:nvPr/>
        </p:nvSpPr>
        <p:spPr>
          <a:xfrm>
            <a:off x="6095761" y="0"/>
            <a:ext cx="6090219" cy="4969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spc="-7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spc="-70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spc="-7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재활용 관련된 예기치 않았던 에피소드 묘사      </a:t>
            </a:r>
            <a:r>
              <a:rPr lang="en-US" altLang="ko-KR" sz="1600" b="1" spc="-70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Problems sometimes occur while recycling.</a:t>
            </a:r>
          </a:p>
          <a:p>
            <a:r>
              <a:rPr lang="en-US" altLang="ko-KR" sz="16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Perhaps, the pick-up service did not come as planned.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Or, the items were too big for the containers.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 memorable experience you have had related to recycling.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taking out the recycling recently.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However, some leftover beer from a can leaked out.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My hands became sticky and dirty.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also smelled pretty bad.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had to wash my hands.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Since then, I try to be more careful.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E8ADFA-5C15-A754-54A0-88E7FD24C2CD}"/>
              </a:ext>
            </a:extLst>
          </p:cNvPr>
          <p:cNvSpPr/>
          <p:nvPr/>
        </p:nvSpPr>
        <p:spPr>
          <a:xfrm>
            <a:off x="6104784" y="2051386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350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F82C266-F0F8-8289-F54C-0FD77F6CE69E}"/>
              </a:ext>
            </a:extLst>
          </p:cNvPr>
          <p:cNvSpPr txBox="1"/>
          <p:nvPr/>
        </p:nvSpPr>
        <p:spPr>
          <a:xfrm>
            <a:off x="-1" y="1700"/>
            <a:ext cx="6092987" cy="6815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기억에 남는 영화 자세히 설명     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         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과거에 본 기억에 남는 영화는 무엇입니까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그것은 무엇에 관한 것이었나요</a:t>
            </a:r>
            <a:r>
              <a:rPr lang="en-US" altLang="ko-KR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영화의 특별한 점은 무엇입니까</a:t>
            </a:r>
            <a:r>
              <a:rPr lang="en-US" altLang="ko-KR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600" b="0" spc="-5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최근에 미션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임파서벌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속편을 본 것을 기억 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나의 가장 좋아하는 배우들 중 한명인 톰 크루즈가 출연했습니다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영화는 핵폭탄이 터지는 것을 막는 것을 시도하는 이든 헌터와 그의 팀에 관한 것입니다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영화는 재미있는 장면들로 가득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스토리라인과 끝부분 꼰 것을 좋아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그 영화에 연기와 액션 장면을 좋아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12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600" b="0" i="0" u="none" strike="noStrike" kern="1200" spc="-12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spc="-12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재미있는 대사들과 오리지날 사운드트랙을 좋아 했습니다</a:t>
            </a:r>
            <a:r>
              <a:rPr lang="en-US" altLang="ko-KR" sz="1600" b="0" i="0" u="none" strike="noStrike" kern="1200" spc="-12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생각합니다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킬러 영화 였다고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영화는 한국에 박스 오피스에서 매우 잘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박스 오피스 히트 였습니다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뒤돌아 보면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매우 기억에 남는 영화 였습니다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93136F-AA78-D12C-6A57-8F40564A2B0D}"/>
              </a:ext>
            </a:extLst>
          </p:cNvPr>
          <p:cNvSpPr txBox="1"/>
          <p:nvPr/>
        </p:nvSpPr>
        <p:spPr>
          <a:xfrm>
            <a:off x="6092992" y="0"/>
            <a:ext cx="6092987" cy="6446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기억에 남는 영화 자세히 설명     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         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was a memorable movie that you watched in the past?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was it about? What was special about that movie?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watching the Mission Impossible sequel recently.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starred one of my favorite actors, Tom Cruise.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spc="-3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movie was about Ethan Hunt and his team trying to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prevent nuclear bombs from going off.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movie was full of entertaining scenes.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liked the storyline and the twist at the end.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liked the acting and the action scenes in the movie.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liked the funny lines and the original soundtrack.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think it was a killer movie.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movie did very well at the box office in Korea.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was a box-office hit.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Looking back, it was a very memorable movie.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C9B578-9B91-8DA9-AF8C-0B50142DDE9C}"/>
              </a:ext>
            </a:extLst>
          </p:cNvPr>
          <p:cNvSpPr/>
          <p:nvPr/>
        </p:nvSpPr>
        <p:spPr>
          <a:xfrm>
            <a:off x="6103518" y="1245270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163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29FD915-5A56-6ED0-4E74-07B19E95A1B6}"/>
              </a:ext>
            </a:extLst>
          </p:cNvPr>
          <p:cNvSpPr txBox="1"/>
          <p:nvPr/>
        </p:nvSpPr>
        <p:spPr>
          <a:xfrm>
            <a:off x="-1" y="9898"/>
            <a:ext cx="6092989" cy="6083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음악을 처음 관심 갖게 된 계기</a:t>
            </a:r>
            <a:r>
              <a:rPr lang="en-US" altLang="ko-KR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음악 취향 변화 설명                                                                </a:t>
            </a:r>
            <a:r>
              <a:rPr lang="en-US" altLang="ko-KR" sz="14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         </a:t>
            </a:r>
            <a:endParaRPr lang="en-US" altLang="ko-KR" sz="14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언제 처음으로 음악에 관심을 가지게 되었습니까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처음에 어떤 종류의 음악을 좋아했나요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어렸을 때부터 오늘까지 음악에 대한 관심이 어떻게 발전했는지 말해주세요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4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처음 음악에 관심을 가지게 되었습니다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 내가 좋아했던 그룹 때문에</a:t>
            </a: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GOD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라 불리는 한국 그룹에 미쳐 있었습니다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그 당시에 선풍적인 인기를 끌었습니다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그들의 노래를 다시 또 다시 듣곤 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내가 나이가 들면서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다양한 종류의 음악을 듣기 시작했습니다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때때로 팝뮤직을 듣습니다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나는 때때로 힙합음악을 듣습니다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때때로 한국 음악을 즐깁니다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나는 때때로 외국 음악을 즐깁니다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다시 한번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지금 다양한 종류의 음악을 듣습니다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E564B8-F1BB-068A-D5CA-F71C997549E5}"/>
              </a:ext>
            </a:extLst>
          </p:cNvPr>
          <p:cNvSpPr txBox="1"/>
          <p:nvPr/>
        </p:nvSpPr>
        <p:spPr>
          <a:xfrm>
            <a:off x="6092992" y="0"/>
            <a:ext cx="6092989" cy="5975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음악을 처음 관심 갖게 된 계기</a:t>
            </a:r>
            <a:r>
              <a:rPr lang="en-US" altLang="ko-KR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음악 취향 변화 설명                                                                </a:t>
            </a:r>
            <a:r>
              <a:rPr lang="en-US" altLang="ko-KR" sz="14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         </a:t>
            </a:r>
            <a:endParaRPr lang="en-US" altLang="ko-KR" sz="14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did you first become interested in music?</a:t>
            </a: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kinds of music did you like at first?</a:t>
            </a:r>
          </a:p>
          <a:p>
            <a:r>
              <a:rPr lang="en-US" altLang="ko-KR" sz="14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how your interest in music developed from your childhood until today.</a:t>
            </a:r>
            <a:endParaRPr lang="en-US" altLang="ko-KR" sz="1400" b="0" spc="-5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first became interested in music because of a group I liked when I was a kid.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was crazy about a Korean group called GOD.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were sensational at that time.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used to listen to their songs again and again.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But as I got older, I started to listen to various types of music.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sometimes listen to pop music, but I sometimes listen to hip hop music.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sometimes enjoy Korean music, but I sometimes enjoy foreign music.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Once again, I listen to various types of music now.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1F2CCFE-F48E-8230-8080-FA0DC95F0203}"/>
              </a:ext>
            </a:extLst>
          </p:cNvPr>
          <p:cNvSpPr/>
          <p:nvPr/>
        </p:nvSpPr>
        <p:spPr>
          <a:xfrm>
            <a:off x="6103519" y="1564107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6109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14AC275-3C5B-1CA3-1399-D77115F34FE8}"/>
              </a:ext>
            </a:extLst>
          </p:cNvPr>
          <p:cNvSpPr txBox="1"/>
          <p:nvPr/>
        </p:nvSpPr>
        <p:spPr>
          <a:xfrm>
            <a:off x="-1" y="1700"/>
            <a:ext cx="6092993" cy="5338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초창기 인터넷 서핑을 했던 경험 묘사</a:t>
            </a: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			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인터넷 서핑에 대한 당신의 초기 경험에 대해 말해주세요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경험에 대해 특별히 기억나는 것이 있나요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과거에는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인터넷 접속은 매우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느렸습니다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웹사이트에 접속하는데 나에게 많은 시간이 걸렸습니다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주로 인터넷을 접속하는데 나의 컴퓨터를 사용했습니다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지금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인터넷은 많이 빨라졌습니다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지금 시간이 훨씬 적게 걸립니다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종종 나의 스마트폰으로 인터넷을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서핑합니다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이동하면서 인터넷 접속을 할 수 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스마트폰 덕분에 인터넷 서핑은 지금 많이 쉬워졌습니다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DA4D32-13CF-D041-0D84-C6A1B3AF5ED3}"/>
              </a:ext>
            </a:extLst>
          </p:cNvPr>
          <p:cNvSpPr txBox="1"/>
          <p:nvPr/>
        </p:nvSpPr>
        <p:spPr>
          <a:xfrm>
            <a:off x="6092992" y="0"/>
            <a:ext cx="6092993" cy="5215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초창기 인터넷 서핑을 했던 경험 묘사</a:t>
            </a: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			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your early experience of surfing the internet.</a:t>
            </a:r>
          </a:p>
          <a:p>
            <a:r>
              <a:rPr lang="en-US" altLang="ko-KR" sz="1600" b="0" i="0" u="none" strike="noStrike" kern="1200" spc="-7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do you particularly remember about that experience?</a:t>
            </a:r>
            <a:endParaRPr lang="en-US" altLang="ko-KR" sz="1600" b="0" spc="-7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In the past, internet connection was very slow.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took me a long time to log on to websites.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spc="-3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mostly used my computer to get access to the internet.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But now, the internet is a lot faster.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takes much less time now.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I often surf the internet on my smartphone.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can get access to the internet on the go.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spc="-3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internet surfing is a lot easier now thanks to smartphones.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54F49F-424B-8EA9-4B9E-840FC9DADD34}"/>
              </a:ext>
            </a:extLst>
          </p:cNvPr>
          <p:cNvSpPr/>
          <p:nvPr/>
        </p:nvSpPr>
        <p:spPr>
          <a:xfrm>
            <a:off x="6102017" y="1173081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4805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AE8D208-11CF-01C9-D1B8-F5760AC9251A}"/>
              </a:ext>
            </a:extLst>
          </p:cNvPr>
          <p:cNvSpPr txBox="1"/>
          <p:nvPr/>
        </p:nvSpPr>
        <p:spPr>
          <a:xfrm>
            <a:off x="2768" y="10162"/>
            <a:ext cx="6090217" cy="6323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spc="-6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600" b="1" spc="-60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spc="-6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썼던 첫 전화기와 지금 전화기 비교</a:t>
            </a:r>
            <a:r>
              <a:rPr lang="en-US" altLang="ko-KR" sz="1600" b="1" spc="-6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			</a:t>
            </a:r>
            <a:r>
              <a:rPr lang="en-US" altLang="ko-KR" sz="1600" b="1" spc="-60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spc="-6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특정</a:t>
            </a: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기술의 변화 설명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처음 사용한 전화기에 대해 말해주세요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지금 사용하는 핸드폰과 어떻게 달랐나요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기술은 시간이 지남에 따라 확실히 변했습니다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가지고 있는 기술의 한 부분에 대한 초기 기억에 대해 말해주세요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그것은 수년 전의 컴퓨터나 휴대폰일 수 있습니다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기술은 시간이 지남에 따라 어떻게 변해왔습니까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첫번째 휴대폰은 단지 전화였습니다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단지 전화를 걸 수 있었습니다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그게 다입니다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하지만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폰들은 몇 년 지나 많이 바뀌었습니다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과거보다 훨씬 많이 나아졌습니다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7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지금 나의 휴대폰으로 더 많은 일을 할 수 있습니다</a:t>
            </a:r>
            <a:r>
              <a:rPr lang="en-US" altLang="ko-KR" sz="1600" b="0" i="0" u="none" strike="noStrike" kern="1200" spc="-7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인터넷을 접속할 수 있습니다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원할 때마다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스마트폰은 우리의 삶에 큰 변화를 만듭니다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75A46A-7C24-AB57-CDFB-4B2CC9516303}"/>
              </a:ext>
            </a:extLst>
          </p:cNvPr>
          <p:cNvSpPr txBox="1"/>
          <p:nvPr/>
        </p:nvSpPr>
        <p:spPr>
          <a:xfrm>
            <a:off x="6092992" y="0"/>
            <a:ext cx="6090217" cy="6323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spc="-5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600" b="1" spc="-50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spc="-5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썼던 첫 전화기와 지금 전화기 비교</a:t>
            </a:r>
            <a:r>
              <a:rPr lang="en-US" altLang="ko-KR" sz="1600" b="1" spc="-5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		</a:t>
            </a:r>
            <a:r>
              <a:rPr lang="en-US" altLang="ko-KR" sz="1600" b="1" spc="-50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spc="-5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특정</a:t>
            </a: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기술의 변화 설명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the first phone you used.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 was it different from the phone you use now?</a:t>
            </a:r>
          </a:p>
          <a:p>
            <a:endParaRPr lang="en-US" altLang="ko-KR" sz="16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Technology has definitely changed over time.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an early memory that you have about a piece of technology.</a:t>
            </a:r>
          </a:p>
          <a:p>
            <a:r>
              <a:rPr lang="en-US" altLang="ko-KR" sz="1600" b="0" i="0" u="none" strike="noStrike" kern="1200" spc="-7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could be a computer or a mobile phone from many years ago.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 has that technology changed over time?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My first cell phone was just a phone.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was able to just make phone calls, but that was it.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However, phones have changed a lot over the years.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are a lot better than in the past.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can do a lot more on my phone now.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can get access to the internet whenever I want to.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smartphones make a big difference in our lives.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261BAF-3D3A-A511-86D1-D8F607437A15}"/>
              </a:ext>
            </a:extLst>
          </p:cNvPr>
          <p:cNvSpPr/>
          <p:nvPr/>
        </p:nvSpPr>
        <p:spPr>
          <a:xfrm>
            <a:off x="6102017" y="3013913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393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B23CC27-962F-6B66-56C5-2FAD5B3E6E8B}"/>
              </a:ext>
            </a:extLst>
          </p:cNvPr>
          <p:cNvSpPr txBox="1"/>
          <p:nvPr/>
        </p:nvSpPr>
        <p:spPr>
          <a:xfrm>
            <a:off x="-1" y="1700"/>
            <a:ext cx="6092989" cy="5652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05 [Adv]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전화기 사용 중 문제 설명                        </a:t>
            </a:r>
            <a:r>
              <a:rPr lang="en-US" altLang="ko-KR" sz="14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4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[Adv]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어떤 기술에 문제가 있어서 겪은 불편 사항</a:t>
            </a:r>
            <a:endParaRPr lang="en-US" altLang="ko-KR" sz="14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400" b="0" i="0" kern="1200" spc="-9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핸드폰을 사용하는 동안 문제가 생겼던 때를 말해주세요</a:t>
            </a:r>
            <a:r>
              <a:rPr lang="en-US" altLang="ko-KR" sz="1400" b="0" i="0" kern="1200" spc="-9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무엇이 문제였고 어떻게 대처했나요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400" dirty="0">
                <a:solidFill>
                  <a:srgbClr val="0070C0"/>
                </a:solidFill>
              </a:rPr>
            </a:b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우리가 기술에 의존하기 때문에 문제가 종종 발생합니다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어떤 기술이 제대로 작동하지 않아서 문제가 생겼을 때를 생각해 보세요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spc="-9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컴퓨터가 고장 났거나 휴대폰이 서비스가 없었을 수도 있습니다</a:t>
            </a:r>
            <a:r>
              <a:rPr lang="en-US" altLang="ko-KR" sz="1400" b="0" i="0" kern="1200" spc="-9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400" dirty="0">
                <a:solidFill>
                  <a:srgbClr val="0070C0"/>
                </a:solidFill>
              </a:rPr>
            </a:br>
            <a:r>
              <a:rPr lang="ko-KR" altLang="en-US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기술을 작동시키는 데 문제가 있었던 때를 말해 주세요</a:t>
            </a:r>
            <a:r>
              <a:rPr lang="en-US" altLang="ko-KR" sz="14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400" b="0" i="0" u="none" strike="noStrike" kern="1200" baseline="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하루 종일 나의 휴대폰을 사용합니다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 그것은 </a:t>
            </a:r>
            <a:r>
              <a:rPr lang="ko-KR" altLang="en-US" sz="14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밧데리가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꽤 자주 나갑니다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한번은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휴대폰은 죽었습니다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밖에 있을 때</a:t>
            </a: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매우 불편했습니다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폰이 죽었기 때문에</a:t>
            </a: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누군가에게 전화를 해야 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나는 할 수 없었습니다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몇몇 메시지를 체크해야 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나는 할 수 없었습니다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결국에는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나의 휴대폰을 체크 했습니다</a:t>
            </a: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집에 도착한 후에</a:t>
            </a: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이후로</a:t>
            </a:r>
            <a:r>
              <a:rPr lang="en-US" altLang="ko-KR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종종 나의 충전기를 가지고 다니곤 합니다</a:t>
            </a:r>
            <a:r>
              <a:rPr lang="en-US" altLang="ko-KR" sz="14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F1E4EB-1ADA-4A60-EA64-573A5B0FE40D}"/>
              </a:ext>
            </a:extLst>
          </p:cNvPr>
          <p:cNvSpPr txBox="1"/>
          <p:nvPr/>
        </p:nvSpPr>
        <p:spPr>
          <a:xfrm>
            <a:off x="6092992" y="0"/>
            <a:ext cx="6092989" cy="5652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05 [Adv]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전화기 사용 중 문제 설명                                 </a:t>
            </a:r>
            <a:r>
              <a:rPr lang="en-US" altLang="ko-KR" sz="14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4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4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[Adv]</a:t>
            </a:r>
            <a:r>
              <a:rPr lang="en-US" altLang="ko-KR" sz="14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어떤 기술에 문제가 있어서 겪은 불편 사항</a:t>
            </a:r>
            <a:endParaRPr lang="en-US" altLang="ko-KR" sz="14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400" b="0" i="0" u="none" strike="noStrike" kern="1200" spc="-1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 time when you had trouble while using your phone.</a:t>
            </a: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was the problem and how did you deal with it?</a:t>
            </a:r>
          </a:p>
          <a:p>
            <a:endParaRPr lang="en-US" altLang="ko-KR" sz="14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400" b="0" i="0" u="none" strike="noStrike" kern="1200" spc="-11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Problems often come up because of our dependence on technology.</a:t>
            </a:r>
          </a:p>
          <a:p>
            <a:r>
              <a:rPr lang="en-US" altLang="ko-KR" sz="1400" b="0" i="0" u="none" strike="noStrike" kern="1200" spc="-5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Think about a time when you experienced a problem because some piece of technology was not working properly. </a:t>
            </a: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Maybe your computer crashed or maybe your cell phone had no service. </a:t>
            </a:r>
          </a:p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 time when you had some kind of problem getting the technology to work.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use my phone all day, so it runs out of battery quite often.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Once, my phone died when I was outside.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was very inconvenient because my phone was dead.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had to call someone, but I could NOT.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had to check some messages, but I could NOT.</a:t>
            </a:r>
          </a:p>
          <a:p>
            <a:pPr>
              <a:lnSpc>
                <a:spcPct val="150000"/>
              </a:lnSpc>
            </a:pPr>
            <a:endParaRPr lang="en-US" altLang="ko-KR" sz="14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In the end, I checked my phone after I got home.</a:t>
            </a:r>
          </a:p>
          <a:p>
            <a:pPr>
              <a:lnSpc>
                <a:spcPct val="150000"/>
              </a:lnSpc>
            </a:pPr>
            <a:r>
              <a:rPr lang="en-US" altLang="ko-KR" sz="14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Since then, I often carry around my charger.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F077EE-1294-DA6E-3C0B-7FF18C48808A}"/>
              </a:ext>
            </a:extLst>
          </p:cNvPr>
          <p:cNvSpPr/>
          <p:nvPr/>
        </p:nvSpPr>
        <p:spPr>
          <a:xfrm>
            <a:off x="6102017" y="2755235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314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552F08-3F50-31C9-D286-C9A4804AB1B9}"/>
              </a:ext>
            </a:extLst>
          </p:cNvPr>
          <p:cNvSpPr txBox="1"/>
          <p:nvPr/>
        </p:nvSpPr>
        <p:spPr>
          <a:xfrm>
            <a:off x="-1" y="10656"/>
            <a:ext cx="6092989" cy="6692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최근</a:t>
            </a: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쇼핑한 경험 묘사              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마지막으로 물건을 사러 간 게 언제 인가요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어디에 가서 무엇을 샀습니까</a:t>
            </a:r>
            <a:r>
              <a:rPr lang="en-US" altLang="ko-KR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600" b="0" i="0" kern="1200" spc="-5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누구랑</a:t>
            </a:r>
            <a:r>
              <a:rPr lang="ko-KR" altLang="en-US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 같이 </a:t>
            </a:r>
            <a:r>
              <a:rPr lang="ko-KR" altLang="en-US" sz="1600" b="0" i="0" kern="1200" spc="-5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갔었어요</a:t>
            </a:r>
            <a:r>
              <a:rPr lang="en-US" altLang="ko-KR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쇼핑 경험의 특별한 점은 무엇입니까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최근에 가족과 함께 식료품을 </a:t>
            </a:r>
            <a:r>
              <a:rPr lang="ko-KR" altLang="en-US" sz="1600" b="0" i="0" u="none" strike="noStrike" kern="1200" spc="-5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쌋던</a:t>
            </a: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것이 기억 납니다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지역 슈퍼마켓에 갔습니다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좋은 가격과 질의 상품을 가졌습니다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거기에서 큰 거래를 할 수 있었습니다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첫째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조금의 생선과 치킨을 샀습니다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조금의 쌀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고기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빵을 샀습니다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다음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조금의 돼지고기와 소고기를 샀습니다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조금의 과일과 채소들을 샀습니다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조금의 맥주와 와인을 샀습니다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다음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조금의 라면과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스넥을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샀습니다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이것은 내가 쇼핑을 간 마지막 시간이었습니다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31BB35-6D9F-21F7-76EB-31D5BD0CD223}"/>
              </a:ext>
            </a:extLst>
          </p:cNvPr>
          <p:cNvSpPr txBox="1"/>
          <p:nvPr/>
        </p:nvSpPr>
        <p:spPr>
          <a:xfrm>
            <a:off x="6092992" y="10656"/>
            <a:ext cx="6092989" cy="6569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최근</a:t>
            </a: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쇼핑한 경험 묘사              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was the last time you went to shop for something?</a:t>
            </a:r>
          </a:p>
          <a:p>
            <a:r>
              <a:rPr lang="en-US" altLang="ko-KR" sz="1600" b="0" i="0" u="none" strike="noStrike" kern="1200" spc="-7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Where did you go and what did you buy? Who did you go with?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was special about that shopping experience?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getting groceries with my family recently.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We went to a local supermarket.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had good prices and quality goods.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we were able to get great deals there.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First, we got some fish and chicken.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we got some rice, meat, and bread.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Next, we got some pork and beef.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we got some fruits and vegetables.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we got some beer and wine.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Next, we got some instant noodles and some snacks.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this was the last time I went shopping.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76FE69-DB4D-A705-D9B9-B67C5E988ADC}"/>
              </a:ext>
            </a:extLst>
          </p:cNvPr>
          <p:cNvSpPr/>
          <p:nvPr/>
        </p:nvSpPr>
        <p:spPr>
          <a:xfrm>
            <a:off x="6095998" y="1455825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023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94D944F-95AF-C928-3C92-DED67B121AC4}"/>
              </a:ext>
            </a:extLst>
          </p:cNvPr>
          <p:cNvSpPr txBox="1"/>
          <p:nvPr/>
        </p:nvSpPr>
        <p:spPr>
          <a:xfrm>
            <a:off x="-1" y="1700"/>
            <a:ext cx="6092987" cy="6815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05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쇼핑 중 겪었던 문제들 묘사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사람들은 쇼핑을 하는 동안 때때로 어려움을 겪습니다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쇼핑하는 동안 처리해야 했던 문제들은 무엇이었습니까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품절 경험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최근에 운동화를 쇼핑한 것이 기억에 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신발 한 켤레가 있었습니다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정말 좋아하는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하지만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가게는 나의 사이즈를 가지는 재고가 없었습니다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다 팔렸습니다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그 신발을 살 수 없었습니다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원했던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신발 한 켤레를 하나 더 사야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교환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환불 경험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온라인으로 셔츠를 산 것이 기억에 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집에서 그것을 입는 것을 시도하였습니다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그것은 나에게 맞지 않았습니다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너무 타이트하고 짧았습니다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환불을 받기 위해 그것을 돌려 보냈습니다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3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600" b="0" i="0" u="none" strike="noStrike" kern="1200" spc="-3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spc="-3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이것들은 내가 가진 문제입니다</a:t>
            </a:r>
            <a:r>
              <a:rPr lang="en-US" altLang="ko-KR" sz="1600" b="0" i="0" u="none" strike="noStrike" kern="1200" spc="-3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spc="-3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쇼핑을 하였던 동안</a:t>
            </a:r>
            <a:endParaRPr lang="en-US" altLang="ko-KR" sz="1600" b="0" i="0" u="none" strike="noStrike" kern="1200" spc="-3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F02202-0F59-62B2-4CCF-BD346B4AB46F}"/>
              </a:ext>
            </a:extLst>
          </p:cNvPr>
          <p:cNvSpPr txBox="1"/>
          <p:nvPr/>
        </p:nvSpPr>
        <p:spPr>
          <a:xfrm>
            <a:off x="6092992" y="0"/>
            <a:ext cx="6092987" cy="6815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05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쇼핑 중 겪었던 문제들 묘사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People sometimes go through difficulties while they are shopping.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were some problems you had to deal with while you were shopping?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품절 경험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shopping for some running shoes recently.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There were a pair of shoes I really liked.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However, the store did NOT have my size in stock.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were sold-out.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could NOT get the shoes I wanted.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had to get another pair of shoes.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교환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환불 경험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remember getting a shirt online.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tried it on at home, but it did NOT fit me.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was too tight and too short.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sent it back to get a refund.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these are the problems I had while I was shopping.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C20682-0EA9-9C3E-BA48-0D3C220161B5}"/>
              </a:ext>
            </a:extLst>
          </p:cNvPr>
          <p:cNvSpPr/>
          <p:nvPr/>
        </p:nvSpPr>
        <p:spPr>
          <a:xfrm>
            <a:off x="6095996" y="1431762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8637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52DDBB6-1A5C-DBCD-6497-077891641143}"/>
              </a:ext>
            </a:extLst>
          </p:cNvPr>
          <p:cNvSpPr txBox="1"/>
          <p:nvPr/>
        </p:nvSpPr>
        <p:spPr>
          <a:xfrm>
            <a:off x="2768" y="10920"/>
            <a:ext cx="6090221" cy="4107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주변에 유행했던 패션과 지금 패션 비교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패션 스타일은 항상 변합니다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어렸을 때 유행했던 옷의 종류에 대해 말해주세요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그것들은 지금 인기 있는 것과 어떻게 </a:t>
            </a:r>
            <a:r>
              <a:rPr lang="ko-KR" altLang="en-US" sz="16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다른가요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패션 스타일은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스타일리쉬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하지 않았습니다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지금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많은 온라인 쇼핑몰들이 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사람들은 새로운 패션 트렌드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좀 더 쉽게 볼 수 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과거보다 훨씬 더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패셔너블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그것이 과거와 현재의 패션 트랜드 사이의 차이점입니다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B8238C-AB9E-84BC-2AF8-9C18B3203D8C}"/>
              </a:ext>
            </a:extLst>
          </p:cNvPr>
          <p:cNvSpPr txBox="1"/>
          <p:nvPr/>
        </p:nvSpPr>
        <p:spPr>
          <a:xfrm>
            <a:off x="6095761" y="0"/>
            <a:ext cx="6090221" cy="447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주변에 유행했던 패션과 지금 패션 비교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Fashion styles are always changing.</a:t>
            </a:r>
          </a:p>
          <a:p>
            <a:r>
              <a:rPr lang="en-US" altLang="ko-KR" sz="1600" b="0" i="0" u="none" strike="noStrike" kern="1200" spc="-5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the kinds of clothes that were popular when you were younger.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How are they different from what is popular now?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I was a kid, fashion styles were NOT stylish.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But now, there are many online shopping malls.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People can see new fashion trends more easily.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are a lot more fashionable than in the past.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that is the difference between fashion trends in the past and now.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658E3D5-113C-CE54-4585-91B428402A39}"/>
              </a:ext>
            </a:extLst>
          </p:cNvPr>
          <p:cNvSpPr/>
          <p:nvPr/>
        </p:nvSpPr>
        <p:spPr>
          <a:xfrm>
            <a:off x="6104784" y="1521998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693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B7B47A5-4520-137E-36CE-0EF875645A8B}"/>
              </a:ext>
            </a:extLst>
          </p:cNvPr>
          <p:cNvSpPr txBox="1"/>
          <p:nvPr/>
        </p:nvSpPr>
        <p:spPr>
          <a:xfrm>
            <a:off x="-1" y="0"/>
            <a:ext cx="6092983" cy="5584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극단적 날씨 관련 경험 설명 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악천후는 많은 피해를 줄 수 있습니다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혹독한 날씨와 관련된 경험을 말해보세요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아마도 도시가 물에 잠겼거나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폭설로 인해 기업체나 학교가 문을 닫았을 것입니다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뭐가 문제였죠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사람들은 그 상황에 어떻게 대처했나요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이번 여름 한국에 강력한 태풍이 강타했을 때가 기억에 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강한 바람과 폭우가 있었습니다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여기저기에서 홍수가 났습니다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많은 집들과 차가 침수 되었습니다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매우 아슬아슬 하였습니다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피해로부터 복구하기 위해 오랜 시간이 걸렸습니다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417EF1-A99E-560A-F739-9D62798093BD}"/>
              </a:ext>
            </a:extLst>
          </p:cNvPr>
          <p:cNvSpPr txBox="1"/>
          <p:nvPr/>
        </p:nvSpPr>
        <p:spPr>
          <a:xfrm>
            <a:off x="6092992" y="0"/>
            <a:ext cx="6092983" cy="5461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극단적 날씨 관련 경험 설명 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Severe weather conditions can do a lot of damage.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an experience you had related to severe weather conditions.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Perhaps a city was flooded, or maybe businesses or schools were closed due to heavy snow.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was the problem?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 did people deal with the situation?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when a strong typhoon hit Korea this summer.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There were strong winds and heavy rainfall.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There were floods here and there.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Many houses and cars went underwater.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was very nerve-racking.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took a long time to recover from the damage.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F85C37-094A-7AB6-75EA-F77F18237C18}"/>
              </a:ext>
            </a:extLst>
          </p:cNvPr>
          <p:cNvSpPr/>
          <p:nvPr/>
        </p:nvSpPr>
        <p:spPr>
          <a:xfrm>
            <a:off x="6103516" y="2424367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5337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EDFFBD2-CA5C-089D-1D31-7D58D7CD363C}"/>
              </a:ext>
            </a:extLst>
          </p:cNvPr>
          <p:cNvSpPr txBox="1"/>
          <p:nvPr/>
        </p:nvSpPr>
        <p:spPr>
          <a:xfrm>
            <a:off x="-1" y="-1219"/>
            <a:ext cx="6092989" cy="6784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때의 교통 수단 묘사        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어렸을 때 어떻게 여행했나요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당시 교통수단은 어떻게 달랐나요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당신의 도시나 마을에서 사람들이 어떻게 돌아다녔는지 묘사 </a:t>
            </a:r>
            <a:r>
              <a:rPr lang="ko-KR" altLang="en-US" sz="1600" b="0" i="0" kern="1200" spc="-5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하시오</a:t>
            </a:r>
            <a:r>
              <a:rPr lang="en-US" altLang="ko-KR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600" b="0" spc="-5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기차는 더 느리곤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지금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기차는 훨씬 더 빠릅니다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한국은 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KTX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SRT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라 불리는 고속열차를 가집니다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지금 시간을 반으로 걸립니다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</a:t>
            </a:r>
            <a:r>
              <a:rPr lang="en-US" altLang="ko-KR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비행기 티켓은 매우 </a:t>
            </a:r>
            <a:r>
              <a:rPr lang="ko-KR" altLang="en-US" sz="1600" b="0" i="0" u="none" strike="noStrike" kern="1200" spc="-6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바싸곤</a:t>
            </a: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했습니다</a:t>
            </a:r>
            <a:r>
              <a:rPr lang="en-US" altLang="ko-KR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지금</a:t>
            </a:r>
            <a:r>
              <a:rPr lang="en-US" altLang="ko-KR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비행기 티켓은 저가 항공사 덕분에 더 많이 싸졌습니다</a:t>
            </a:r>
            <a:r>
              <a:rPr lang="en-US" altLang="ko-KR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몇몇 비행기들은 단지 반값을 지불합니다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다음</a:t>
            </a:r>
            <a:r>
              <a:rPr lang="en-US" altLang="ko-KR" sz="16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</a:t>
            </a:r>
            <a:r>
              <a:rPr lang="en-US" altLang="ko-KR" sz="16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사람들은 종이 지도를 사용하곤 했습니다</a:t>
            </a:r>
            <a:r>
              <a:rPr lang="en-US" altLang="ko-KR" sz="16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요즈음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운전은 훨씬 더 쉽습니다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지금 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GPS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가지고 있기 때문에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GPS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는 어디로 가야 하는지 알려줍니다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지금 교통은 훨씬 좋아졌습니다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F45D5C-4097-7C2C-05DB-1F848968F20D}"/>
              </a:ext>
            </a:extLst>
          </p:cNvPr>
          <p:cNvSpPr txBox="1"/>
          <p:nvPr/>
        </p:nvSpPr>
        <p:spPr>
          <a:xfrm>
            <a:off x="6092992" y="0"/>
            <a:ext cx="6092989" cy="6661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때의 교통 수단 묘사        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How did you travel when you were a child?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How was transportation different back then?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Describe how people used to get around in your city or town.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I was a kid, trains used to be slower.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But now, trains are much faster.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Korea has bullet trains called the KTX and SRT.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takes half the time now.</a:t>
            </a:r>
          </a:p>
          <a:p>
            <a:pPr>
              <a:lnSpc>
                <a:spcPct val="150000"/>
              </a:lnSpc>
            </a:pPr>
            <a:endParaRPr lang="en-US" altLang="ko-KR" sz="12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when I was a kid, plane tickets used to be very pricey.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But now, plane tickets are a lot cheaper thanks to low-cost carriers.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Some flights only cost half the price.</a:t>
            </a:r>
          </a:p>
          <a:p>
            <a:pPr>
              <a:lnSpc>
                <a:spcPct val="150000"/>
              </a:lnSpc>
            </a:pPr>
            <a:endParaRPr lang="en-US" altLang="ko-KR" sz="12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Next, when I was a kid, people used to use paper maps.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spc="-3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But these days, driving is much easier because we now have GPS.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GPS tells us where to go.</a:t>
            </a:r>
          </a:p>
          <a:p>
            <a:pPr>
              <a:lnSpc>
                <a:spcPct val="150000"/>
              </a:lnSpc>
            </a:pPr>
            <a:endParaRPr lang="en-US" altLang="ko-KR" sz="12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transportation is a lot better now.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8B9A3C-026F-2188-D765-9FD407E84CE5}"/>
              </a:ext>
            </a:extLst>
          </p:cNvPr>
          <p:cNvSpPr/>
          <p:nvPr/>
        </p:nvSpPr>
        <p:spPr>
          <a:xfrm>
            <a:off x="6096000" y="1828804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1416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689634-FE52-247F-BADC-8480D40DF77F}"/>
              </a:ext>
            </a:extLst>
          </p:cNvPr>
          <p:cNvSpPr txBox="1"/>
          <p:nvPr/>
        </p:nvSpPr>
        <p:spPr>
          <a:xfrm>
            <a:off x="-1" y="1964"/>
            <a:ext cx="6092989" cy="4969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평소에 예약을 하는 방법 구체적으로 묘사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약속을 할 때 어떤 종류의 일을 합니까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약속을 할 때 정확히 무슨 일을 하는지 말해주세요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600" b="0" spc="-7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예약을 해야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할때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처음 전화번호를 찾습니다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때때로 나의 핸드폰에 그것을 가집니다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그렇지 않으면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온라인으로 검색을 해야 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예약을 하기 위해 전화를 겁니다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그들에게 말합니다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방문을 원할 때를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전화를 끊습니다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종종 나의 예약을 확인하는 문자를 받습니다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이것은 내가 예약을 할 때 하는 것입니다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496E2C-6C2C-2268-1802-5886194196AC}"/>
              </a:ext>
            </a:extLst>
          </p:cNvPr>
          <p:cNvSpPr txBox="1"/>
          <p:nvPr/>
        </p:nvSpPr>
        <p:spPr>
          <a:xfrm>
            <a:off x="6092992" y="0"/>
            <a:ext cx="6092989" cy="4969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평소에 예약을 하는 방법 구체적으로 묘사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kinds of things do you do when you make appointments?</a:t>
            </a:r>
          </a:p>
          <a:p>
            <a:r>
              <a:rPr lang="en-US" altLang="ko-KR" sz="1600" b="0" i="0" u="none" strike="noStrike" kern="1200" spc="-3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what you do exactly when you make these appointments.</a:t>
            </a:r>
            <a:endParaRPr lang="en-US" altLang="ko-KR" sz="1600" b="0" spc="-3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I have to make appointments, I first look for a phone number.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sometimes have it on my phone.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If not, I have to do a search online.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And then, I make a phone call to make an appointment.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tell them when I want to visit and hang up.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often get a text confirming my appointment.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this is what I do when I make appointments.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CD7841-0A61-655F-7D9E-47A688C71DF3}"/>
              </a:ext>
            </a:extLst>
          </p:cNvPr>
          <p:cNvSpPr/>
          <p:nvPr/>
        </p:nvSpPr>
        <p:spPr>
          <a:xfrm>
            <a:off x="6103519" y="1257304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281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040D4D8-5E75-BFB7-EAC9-6793CA57E5E2}"/>
              </a:ext>
            </a:extLst>
          </p:cNvPr>
          <p:cNvSpPr txBox="1"/>
          <p:nvPr/>
        </p:nvSpPr>
        <p:spPr>
          <a:xfrm>
            <a:off x="2768" y="10920"/>
            <a:ext cx="6090215" cy="3738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예약 관련 기억에 남는 에피소드 설명</a:t>
            </a: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		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약속을 잡으면 예상치 못한 일이 생길 수 있습니다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약속과 관련된 기억에 남는 사건에 대해 이야기하세요</a:t>
            </a:r>
            <a:r>
              <a:rPr lang="en-US" altLang="ko-KR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정확히 무슨 일이 일어났고 그 상황에 어떻게 대처했나요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최근에 머리 예약을 한 것이 기억에 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하지만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갑자기 무슨 일이 생겼습니다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미용실에 전화했고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그들에게 말했습니다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갈수 없다고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결국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새로운 예약을 했고 또 다른 시간에 갔습니다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FA8B24-DE50-A8EE-BFF0-32E8F7FAF9F5}"/>
              </a:ext>
            </a:extLst>
          </p:cNvPr>
          <p:cNvSpPr txBox="1"/>
          <p:nvPr/>
        </p:nvSpPr>
        <p:spPr>
          <a:xfrm>
            <a:off x="6092992" y="10920"/>
            <a:ext cx="6090215" cy="3738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예약 관련 기억에 남는 에피소드 설명  </a:t>
            </a: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		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spc="-3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Unexpected things can happen when you make an appointment.</a:t>
            </a:r>
          </a:p>
          <a:p>
            <a:r>
              <a:rPr lang="en-US" altLang="ko-KR" sz="1600" b="0" i="0" u="none" strike="noStrike" kern="1200" spc="-9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Talk about a memorable incident related to an appointment.</a:t>
            </a:r>
          </a:p>
          <a:p>
            <a:r>
              <a:rPr lang="en-US" altLang="ko-KR" sz="1600" b="0" i="0" u="none" strike="noStrike" kern="1200" spc="-3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exactly happened and how did you deal with the situation?</a:t>
            </a:r>
            <a:endParaRPr lang="en-US" altLang="ko-KR" sz="1600" b="0" spc="-3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making a hair appointment recently.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However, something came up suddenly.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called the hair salon and told them that I could NOT go.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In the end, I made a new appointment and went another time.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5D2E68-FFD4-811B-0A6B-0A3E853431DC}"/>
              </a:ext>
            </a:extLst>
          </p:cNvPr>
          <p:cNvSpPr/>
          <p:nvPr/>
        </p:nvSpPr>
        <p:spPr>
          <a:xfrm>
            <a:off x="6102017" y="1528014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5120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3DAEA51-8730-5D91-32BC-AA6CA2ECD8B1}"/>
              </a:ext>
            </a:extLst>
          </p:cNvPr>
          <p:cNvSpPr txBox="1"/>
          <p:nvPr/>
        </p:nvSpPr>
        <p:spPr>
          <a:xfrm>
            <a:off x="-1" y="0"/>
            <a:ext cx="6092985" cy="5584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 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우리나라 사람들이 휴일을 보내는 장소</a:t>
            </a: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활동 묘사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당신의 나라에서 인기 있는 휴일에 대해 말해주세요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사람들은 보통 어디에서 이 휴일들을 기념하나요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그들은 축하하기 위해 어떤 종류의 것들을 하나요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한국에는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두개의 큰 가족 연휴가 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하나는 설날이고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다른 하나는 한국 추수 감사절입니다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가족 </a:t>
            </a:r>
            <a:r>
              <a:rPr lang="ko-KR" altLang="en-US" sz="16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맴버들은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이 연휴에 축하하기 위해 모입니다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서로 어떻게 지내는지 물어보고 조금의 밀린 이야기를 합니다</a:t>
            </a:r>
            <a:r>
              <a:rPr lang="en-US" altLang="ko-KR" sz="1600" b="0" i="0" u="none" strike="noStrike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r>
              <a:rPr lang="ko-KR" altLang="en-US" sz="1600" b="0" i="0" u="none" strike="noStrike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lang="en-US" altLang="ko-KR" sz="1600" b="0" i="0" u="none" strike="noStrike" kern="12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명절 음식을 요리하고 함께 식사를 즐깁니다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많은 선물들을 교환합니다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이것들은 한국에 두 개의 큰 가족 연휴 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A2F2C4-DD6B-76C8-63EF-30F609480ED7}"/>
              </a:ext>
            </a:extLst>
          </p:cNvPr>
          <p:cNvSpPr txBox="1"/>
          <p:nvPr/>
        </p:nvSpPr>
        <p:spPr>
          <a:xfrm>
            <a:off x="6092992" y="0"/>
            <a:ext cx="6092985" cy="5092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 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우리나라 사람들이 휴일을 보내는 장소</a:t>
            </a: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활동 묘사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some popular holidays in your country.</a:t>
            </a:r>
          </a:p>
          <a:p>
            <a:r>
              <a:rPr lang="en-US" altLang="ko-KR" sz="16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Where do people typically celebrate these holidays?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kinds of things do they do to celebrate?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There are two big family holidays in Korea.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One is New Year’s Day and the other is Korean Thanksgiving.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Family members get together to celebrate these holidays.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We ask how each other is doing and do some catching up.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We cook holiday food and enjoy meals together.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we exchange a lot of presents.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these are the two big family holidays in Korea.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5C30F1-A29A-5EDC-A2DB-7B0B48DDC381}"/>
              </a:ext>
            </a:extLst>
          </p:cNvPr>
          <p:cNvSpPr/>
          <p:nvPr/>
        </p:nvSpPr>
        <p:spPr>
          <a:xfrm>
            <a:off x="6103517" y="1453220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0744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0084022-E395-7F09-2A5E-FF7C9CCB8FC0}"/>
              </a:ext>
            </a:extLst>
          </p:cNvPr>
          <p:cNvSpPr txBox="1"/>
          <p:nvPr/>
        </p:nvSpPr>
        <p:spPr>
          <a:xfrm>
            <a:off x="2768" y="10920"/>
            <a:ext cx="6090219" cy="522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spc="-5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</a:t>
            </a:r>
            <a:r>
              <a:rPr lang="en-US" altLang="ko-KR" sz="1600" b="1" spc="-50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spc="-5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휴일을 보냈던 장소</a:t>
            </a:r>
            <a:r>
              <a:rPr lang="en-US" altLang="ko-KR" sz="1600" b="1" spc="-5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600" b="1" spc="-5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추억 묘사   </a:t>
            </a:r>
            <a:r>
              <a:rPr lang="en-US" altLang="ko-KR" sz="1600" b="1" spc="-5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		</a:t>
            </a:r>
            <a:r>
              <a:rPr lang="en-US" altLang="ko-KR" sz="1600" b="1" spc="-50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spc="-5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당신의 어린 시절의 휴일의 추억에 대해 이야기하세요</a:t>
            </a:r>
            <a:r>
              <a:rPr lang="en-US" altLang="ko-KR" sz="16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어디에 있었는지 그리고 그곳이 어땠는지 말해주세요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휴가 장면에서 기억나는 모든 것을 말해 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음식 때문에 고생한 경험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상한 어떤 것을 먹은 것을 기억 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내가 </a:t>
            </a:r>
            <a:r>
              <a:rPr lang="ko-KR" altLang="en-US" sz="1600" dirty="0"/>
              <a:t>어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렸을 때 연휴동안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식중독에 걸렸고 그것은 매우 나빴습니다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속이 뒤집혔습니다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나아지기 위해 조금의 약을 먹었습니다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안에 머물고 많은 휴식을 취해야 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 이후로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더 조심하려고 노력했습니다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7ABEAF-EFB9-8D96-0447-05D278DC7BC6}"/>
              </a:ext>
            </a:extLst>
          </p:cNvPr>
          <p:cNvSpPr txBox="1"/>
          <p:nvPr/>
        </p:nvSpPr>
        <p:spPr>
          <a:xfrm>
            <a:off x="6095761" y="10920"/>
            <a:ext cx="6090219" cy="5215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spc="-5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</a:t>
            </a:r>
            <a:r>
              <a:rPr lang="en-US" altLang="ko-KR" sz="1600" b="1" spc="-50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spc="-5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휴일을 보냈던 장소</a:t>
            </a:r>
            <a:r>
              <a:rPr lang="en-US" altLang="ko-KR" sz="1600" b="1" spc="-5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600" b="1" spc="-5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추억 묘사  </a:t>
            </a:r>
            <a:r>
              <a:rPr lang="en-US" altLang="ko-KR" sz="1600" b="1" spc="-5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			</a:t>
            </a:r>
            <a:r>
              <a:rPr lang="ko-KR" altLang="en-US" sz="1600" b="1" spc="-5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600" b="1" spc="-50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spc="-5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Talk about a holiday memory from your childhood.</a:t>
            </a:r>
          </a:p>
          <a:p>
            <a:r>
              <a:rPr lang="en-US" altLang="ko-KR" sz="16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where you were and what that place was like.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everything that you remember from that holiday scene.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음식 때문에 고생한 경험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eating something that went bad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during the holidays when I was a kid.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got food poisoning and it was pretty bad.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had an upset stomach.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took some medicine to get better.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had to stay inside and get a lot of rest.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Since then, I try to be more careful.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C81E3B2-10F6-0A09-D130-0CB8898DD80D}"/>
              </a:ext>
            </a:extLst>
          </p:cNvPr>
          <p:cNvSpPr/>
          <p:nvPr/>
        </p:nvSpPr>
        <p:spPr>
          <a:xfrm>
            <a:off x="6095878" y="1537441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36037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9DBCABE-5AF6-96E4-8EA2-21CD9C2905E5}"/>
              </a:ext>
            </a:extLst>
          </p:cNvPr>
          <p:cNvSpPr txBox="1"/>
          <p:nvPr/>
        </p:nvSpPr>
        <p:spPr>
          <a:xfrm>
            <a:off x="-1" y="1964"/>
            <a:ext cx="6092987" cy="706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 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가족</a:t>
            </a: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친구 묘사                  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가진 가족 구성원이나 친구를 묘사하세요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spc="-7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또는 그녀가 좋아하는 건 </a:t>
            </a:r>
            <a:r>
              <a:rPr lang="ko-KR" altLang="en-US" sz="1600" b="0" i="0" kern="1200" spc="-7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뭔가요</a:t>
            </a:r>
            <a:r>
              <a:rPr lang="en-US" altLang="ko-KR" sz="1600" b="0" i="0" kern="1200" spc="-7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600" b="0" i="0" kern="1200" spc="-7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사람의 특별한 점은 무엇입니까</a:t>
            </a:r>
            <a:r>
              <a:rPr lang="en-US" altLang="ko-KR" sz="1600" b="0" i="0" kern="1200" spc="-7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600" b="0" spc="-7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너에게 나의 부모님에 관하여 이야기 하겠습니다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어머니와 아버지는 몇몇 면에서 비슷합니다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첫째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부모님은 가족에 관하여 매우 아낍니다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가족 모임을 가지는 것을 좋아합니다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둘 다 매우 활동적입니다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야외 활동하는 것을 좋아합니다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하이킹 가고 골프 치는 것을 좋아합니다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여행 가는 것을 좋아합니다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반면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어머니와 아버지는 몇몇 면에서 다릅니다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어머니는 동물을 좋아합니다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하지만 나의 아버지는 그렇지 않습니다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이것이 나의 어머니와 아버지 성향입니다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FEEF06-E02D-3AA8-25A9-54F394683723}"/>
              </a:ext>
            </a:extLst>
          </p:cNvPr>
          <p:cNvSpPr txBox="1"/>
          <p:nvPr/>
        </p:nvSpPr>
        <p:spPr>
          <a:xfrm>
            <a:off x="6092992" y="0"/>
            <a:ext cx="6092987" cy="6446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 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가족</a:t>
            </a: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친구 묘사                  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Describe a family member or a friend you have.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is he or she like? What is special about that person?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Let me tell you about my parents.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My mom and dad are similar in some ways.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First, my parents care about family very much.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like to have family gatherings.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they are both very active.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like to do outdoor activities.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like to go hiking and play golf.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like to go on trips.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spc="-3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On the other hand, my mom and dad are different in some ways.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My mom likes animals, but my dad does NOT.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this is what my mom and dad are like.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09045D-1796-4E77-3C28-2806A9ADCD81}"/>
              </a:ext>
            </a:extLst>
          </p:cNvPr>
          <p:cNvSpPr/>
          <p:nvPr/>
        </p:nvSpPr>
        <p:spPr>
          <a:xfrm>
            <a:off x="6095996" y="1272746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9096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086FC92-5E7F-CCB1-6DE1-5C3551127D68}"/>
              </a:ext>
            </a:extLst>
          </p:cNvPr>
          <p:cNvSpPr txBox="1"/>
          <p:nvPr/>
        </p:nvSpPr>
        <p:spPr>
          <a:xfrm>
            <a:off x="2768" y="11678"/>
            <a:ext cx="6090219" cy="5338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은행에 가서 하는 업무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은행에 방문했을 때 하는 일에 대해 말해주세요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들어가는 순간부터 나갈 때까지 무엇을 하나요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은행에 갈 때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처음 나의 차례를 위해 번호를 뽑고 기다립니다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그들이 나의 번호를 부를 때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은행직원에게 갑니다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나의 사업을 돌봅니다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종종 나의 잔고를 확인하거나 돈을 송금합니다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때때로 돈을 입금하거나 출금합니다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때때로 환전을 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때때로 카드를 발급 받기도 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이것들은 내가 은행에 갈 때 하는 일입니다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E05C96-5D32-F058-7F84-A0E3D463831A}"/>
              </a:ext>
            </a:extLst>
          </p:cNvPr>
          <p:cNvSpPr txBox="1"/>
          <p:nvPr/>
        </p:nvSpPr>
        <p:spPr>
          <a:xfrm>
            <a:off x="6095761" y="11678"/>
            <a:ext cx="6090219" cy="5338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[Int]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은행에 가서 하는 업무      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spc="-7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the things you do when you visit the bank.</a:t>
            </a:r>
          </a:p>
          <a:p>
            <a:r>
              <a:rPr lang="en-US" altLang="ko-KR" sz="1600" b="0" i="0" u="none" strike="noStrike" kern="1200" spc="-3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do you do from the moment you walk in until you walk out?</a:t>
            </a:r>
            <a:endParaRPr lang="en-US" altLang="ko-KR" sz="1600" b="0" spc="-3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I go to banks, I first pull out a number and wait for my turn.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they call my number, I go to the teller and take care of my business.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often check my balance or wire money.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sometimes deposit or withdraw money.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I sometimes exchange currency.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sometimes get a card issued.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these are things I do when I go to banks.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43E7FC0-D712-0552-54B1-0D97F176A555}"/>
              </a:ext>
            </a:extLst>
          </p:cNvPr>
          <p:cNvSpPr/>
          <p:nvPr/>
        </p:nvSpPr>
        <p:spPr>
          <a:xfrm>
            <a:off x="6095878" y="1308841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6339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FA0C16F-7619-8137-4E8E-C3F91F2FFF27}"/>
              </a:ext>
            </a:extLst>
          </p:cNvPr>
          <p:cNvSpPr txBox="1"/>
          <p:nvPr/>
        </p:nvSpPr>
        <p:spPr>
          <a:xfrm>
            <a:off x="-1" y="1700"/>
            <a:ext cx="6092989" cy="5584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은행과 지금 은행과의 비교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은행은 시간이 지남에 따라 확실히 변했습니다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어렸을 때 기억나는 은행에 대해 말해주세요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그거 </a:t>
            </a:r>
            <a:r>
              <a:rPr lang="ko-KR" altLang="en-US" sz="16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어땠어요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오늘 은행과 어떻게 달랐나요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뱅킹은 과거보다 훨씬 쉬워졌습니다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</a:t>
            </a:r>
            <a:r>
              <a:rPr lang="en-US" altLang="ko-KR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뱅킹을 하기 위해 실제 은행에 가야 했습니다</a:t>
            </a:r>
            <a:r>
              <a:rPr lang="en-US" altLang="ko-KR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지금</a:t>
            </a:r>
            <a:r>
              <a:rPr lang="en-US" altLang="ko-KR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모바일 뱅킹을 할 수 있습니다</a:t>
            </a:r>
            <a:r>
              <a:rPr lang="en-US" altLang="ko-KR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6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원할 때 마다</a:t>
            </a:r>
            <a:endParaRPr lang="en-US" altLang="ko-KR" sz="1600" b="0" i="0" u="none" strike="noStrike" kern="1200" spc="-6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시간과 에너지를 훨씬 덜 듭니다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모방일 뱅킹을 하기 위해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비밀번호와 보안카드가 필요합니다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모바일 뱅킹을 통해 가장 종종 돈을 송금합니다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모바일 뱅킹은 가장 큰 변화입니다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81814-9DE7-B3D2-87BC-E819177E423A}"/>
              </a:ext>
            </a:extLst>
          </p:cNvPr>
          <p:cNvSpPr txBox="1"/>
          <p:nvPr/>
        </p:nvSpPr>
        <p:spPr>
          <a:xfrm>
            <a:off x="6092992" y="18151"/>
            <a:ext cx="6092989" cy="5338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은행과 지금 은행과의 비교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Banks have definitely changed over time.</a:t>
            </a:r>
          </a:p>
          <a:p>
            <a:r>
              <a:rPr lang="en-US" altLang="ko-KR" sz="1600" b="0" i="0" u="none" strike="noStrike" kern="1200" spc="-7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a bank you remember from your childhood.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was it like? How was it different from banks today?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Banking is a lot easier than in the past.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I was a kid, I had to go to actual banks to do banking.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But now, I can do mobile banking whenever I want to.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takes much less time and energy.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To do mobile banking, I need a password and a security card.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wire money most often through mobile banking.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mobile banking is the biggest change.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29E5545-EFF8-2EB1-3670-54BD3684E915}"/>
              </a:ext>
            </a:extLst>
          </p:cNvPr>
          <p:cNvSpPr/>
          <p:nvPr/>
        </p:nvSpPr>
        <p:spPr>
          <a:xfrm>
            <a:off x="6095998" y="1501400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0581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9ACF7F-C7CF-CF94-8651-37F47D888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53B8FA-F99A-479E-F2E4-7C9BAC5785ED}"/>
              </a:ext>
            </a:extLst>
          </p:cNvPr>
          <p:cNvCxnSpPr>
            <a:cxnSpLocks/>
          </p:cNvCxnSpPr>
          <p:nvPr/>
        </p:nvCxnSpPr>
        <p:spPr>
          <a:xfrm>
            <a:off x="6092993" y="0"/>
            <a:ext cx="0" cy="6858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C7CFE8E-84DF-36BB-C559-831B07E682C1}"/>
              </a:ext>
            </a:extLst>
          </p:cNvPr>
          <p:cNvSpPr txBox="1"/>
          <p:nvPr/>
        </p:nvSpPr>
        <p:spPr>
          <a:xfrm>
            <a:off x="2768" y="11678"/>
            <a:ext cx="6090223" cy="6077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기억에 남는 호텔 묘사</a:t>
            </a: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기억에 남는 이유 설명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사람들은 종종 특히 아름답고 흥미로운 호텔에 대한 기억을 가지고 있습니다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어떤 이유에서 인지 당신이 기억하는 호텔에 대해 말해주세요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어디 있었어요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그거 </a:t>
            </a:r>
            <a:r>
              <a:rPr lang="ko-KR" altLang="en-US" sz="16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어땠어요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가능한 한 자세히 설명해 주세요</a:t>
            </a:r>
            <a:r>
              <a:rPr lang="en-US" altLang="ko-KR" sz="16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6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7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몇 년 전에 해변가 호텔에 머문 것이 기억에 납니다</a:t>
            </a:r>
            <a:r>
              <a:rPr lang="en-US" altLang="ko-KR" sz="1600" b="0" i="0" u="none" strike="noStrike" kern="1200" spc="-7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방으로부터의 풍경은 기가 막혔습니다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창문으로부터 일출과 일몰을 볼 수 있었습니다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호텔에서의 음식은 놀랍도록 맛있었습니다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또한 스파에서 마사지를 받았습니다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또한 수영장에 수영하러 갔습니다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또한 호텔안에서 몇몇 레스토랑에서 먹었습니다</a:t>
            </a: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뒤돌아 보면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매우 기억에 남는 호텔이었습니다</a:t>
            </a: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E3150-4D36-E45B-1530-39C9F41C04AF}"/>
              </a:ext>
            </a:extLst>
          </p:cNvPr>
          <p:cNvSpPr txBox="1"/>
          <p:nvPr/>
        </p:nvSpPr>
        <p:spPr>
          <a:xfrm>
            <a:off x="6092992" y="11678"/>
            <a:ext cx="6090223" cy="6077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6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</a:t>
            </a:r>
            <a:r>
              <a:rPr lang="en-US" altLang="ko-KR" sz="16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기억에 남는 호텔 묘사</a:t>
            </a:r>
            <a:r>
              <a:rPr lang="en-US" altLang="ko-KR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6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기억에 남는 이유 설명        </a:t>
            </a:r>
            <a:r>
              <a:rPr lang="en-US" altLang="ko-KR" sz="16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6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People often have memories of especially beautiful and interesting hotels.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 hotel that you remember for some reason.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Where was it? What was it like?</a:t>
            </a:r>
          </a:p>
          <a:p>
            <a:r>
              <a:rPr lang="en-US" altLang="ko-KR" sz="16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Describe it for me in as much detail as possible.</a:t>
            </a:r>
            <a:endParaRPr lang="en-US" altLang="ko-KR" sz="16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staying at a beachside hotel a few years ago.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view from the room was incredible.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could see the sunrise and the sunset from the window.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the food at the hotel tasted amazing.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also got a massage at the spa.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also went swimming in the swimming pool.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also ate at some restaurants in the hotel.</a:t>
            </a:r>
          </a:p>
          <a:p>
            <a:pPr>
              <a:lnSpc>
                <a:spcPct val="150000"/>
              </a:lnSpc>
            </a:pPr>
            <a:endParaRPr lang="en-US" altLang="ko-KR" sz="16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6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Looking back, it was a very memorable hotel.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721E226-0AA5-48A1-1055-44164F1E5635}"/>
              </a:ext>
            </a:extLst>
          </p:cNvPr>
          <p:cNvSpPr/>
          <p:nvPr/>
        </p:nvSpPr>
        <p:spPr>
          <a:xfrm>
            <a:off x="6102017" y="2048782"/>
            <a:ext cx="6089983" cy="17566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501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</TotalTime>
  <Words>10403</Words>
  <Application>Microsoft Office PowerPoint</Application>
  <PresentationFormat>와이드스크린</PresentationFormat>
  <Paragraphs>1338</Paragraphs>
  <Slides>41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6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장병찬</dc:creator>
  <cp:lastModifiedBy>장병찬</cp:lastModifiedBy>
  <cp:revision>76</cp:revision>
  <dcterms:created xsi:type="dcterms:W3CDTF">2022-10-24T11:57:58Z</dcterms:created>
  <dcterms:modified xsi:type="dcterms:W3CDTF">2022-10-24T15:17:09Z</dcterms:modified>
</cp:coreProperties>
</file>