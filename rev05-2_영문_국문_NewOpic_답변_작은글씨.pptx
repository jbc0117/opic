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1"/>
  </p:notesMasterIdLst>
  <p:handoutMasterIdLst>
    <p:handoutMasterId r:id="rId172"/>
  </p:handoutMasterIdLst>
  <p:sldIdLst>
    <p:sldId id="980" r:id="rId2"/>
    <p:sldId id="983" r:id="rId3"/>
    <p:sldId id="982" r:id="rId4"/>
    <p:sldId id="257" r:id="rId5"/>
    <p:sldId id="984" r:id="rId6"/>
    <p:sldId id="985" r:id="rId7"/>
    <p:sldId id="986" r:id="rId8"/>
    <p:sldId id="987" r:id="rId9"/>
    <p:sldId id="988" r:id="rId10"/>
    <p:sldId id="445" r:id="rId11"/>
    <p:sldId id="989" r:id="rId12"/>
    <p:sldId id="990" r:id="rId13"/>
    <p:sldId id="991" r:id="rId14"/>
    <p:sldId id="992" r:id="rId15"/>
    <p:sldId id="453" r:id="rId16"/>
    <p:sldId id="993" r:id="rId17"/>
    <p:sldId id="994" r:id="rId18"/>
    <p:sldId id="995" r:id="rId19"/>
    <p:sldId id="996" r:id="rId20"/>
    <p:sldId id="464" r:id="rId21"/>
    <p:sldId id="997" r:id="rId22"/>
    <p:sldId id="998" r:id="rId23"/>
    <p:sldId id="999" r:id="rId24"/>
    <p:sldId id="1000" r:id="rId25"/>
    <p:sldId id="472" r:id="rId26"/>
    <p:sldId id="1001" r:id="rId27"/>
    <p:sldId id="1002" r:id="rId28"/>
    <p:sldId id="1003" r:id="rId29"/>
    <p:sldId id="1004" r:id="rId30"/>
    <p:sldId id="1005" r:id="rId31"/>
    <p:sldId id="483" r:id="rId32"/>
    <p:sldId id="1006" r:id="rId33"/>
    <p:sldId id="1007" r:id="rId34"/>
    <p:sldId id="1008" r:id="rId35"/>
    <p:sldId id="1009" r:id="rId36"/>
    <p:sldId id="1010" r:id="rId37"/>
    <p:sldId id="493" r:id="rId38"/>
    <p:sldId id="1011" r:id="rId39"/>
    <p:sldId id="1012" r:id="rId40"/>
    <p:sldId id="497" r:id="rId41"/>
    <p:sldId id="1013" r:id="rId42"/>
    <p:sldId id="1014" r:id="rId43"/>
    <p:sldId id="1015" r:id="rId44"/>
    <p:sldId id="503" r:id="rId45"/>
    <p:sldId id="1016" r:id="rId46"/>
    <p:sldId id="1017" r:id="rId47"/>
    <p:sldId id="1018" r:id="rId48"/>
    <p:sldId id="1019" r:id="rId49"/>
    <p:sldId id="512" r:id="rId50"/>
    <p:sldId id="1020" r:id="rId51"/>
    <p:sldId id="1021" r:id="rId52"/>
    <p:sldId id="1022" r:id="rId53"/>
    <p:sldId id="519" r:id="rId54"/>
    <p:sldId id="1023" r:id="rId55"/>
    <p:sldId id="1024" r:id="rId56"/>
    <p:sldId id="523" r:id="rId57"/>
    <p:sldId id="1025" r:id="rId58"/>
    <p:sldId id="1026" r:id="rId59"/>
    <p:sldId id="528" r:id="rId60"/>
    <p:sldId id="1027" r:id="rId61"/>
    <p:sldId id="1028" r:id="rId62"/>
    <p:sldId id="1029" r:id="rId63"/>
    <p:sldId id="1030" r:id="rId64"/>
    <p:sldId id="1031" r:id="rId65"/>
    <p:sldId id="538" r:id="rId66"/>
    <p:sldId id="1032" r:id="rId67"/>
    <p:sldId id="1033" r:id="rId68"/>
    <p:sldId id="1034" r:id="rId69"/>
    <p:sldId id="1035" r:id="rId70"/>
    <p:sldId id="547" r:id="rId71"/>
    <p:sldId id="1036" r:id="rId72"/>
    <p:sldId id="1037" r:id="rId73"/>
    <p:sldId id="1038" r:id="rId74"/>
    <p:sldId id="1039" r:id="rId75"/>
    <p:sldId id="556" r:id="rId76"/>
    <p:sldId id="1040" r:id="rId77"/>
    <p:sldId id="1041" r:id="rId78"/>
    <p:sldId id="1042" r:id="rId79"/>
    <p:sldId id="1043" r:id="rId80"/>
    <p:sldId id="564" r:id="rId81"/>
    <p:sldId id="1044" r:id="rId82"/>
    <p:sldId id="1045" r:id="rId83"/>
    <p:sldId id="1046" r:id="rId84"/>
    <p:sldId id="1047" r:id="rId85"/>
    <p:sldId id="1048" r:id="rId86"/>
    <p:sldId id="574" r:id="rId87"/>
    <p:sldId id="1049" r:id="rId88"/>
    <p:sldId id="1050" r:id="rId89"/>
    <p:sldId id="1051" r:id="rId90"/>
    <p:sldId id="1052" r:id="rId91"/>
    <p:sldId id="582" r:id="rId92"/>
    <p:sldId id="583" r:id="rId93"/>
    <p:sldId id="1053" r:id="rId94"/>
    <p:sldId id="1054" r:id="rId95"/>
    <p:sldId id="1055" r:id="rId96"/>
    <p:sldId id="1056" r:id="rId97"/>
    <p:sldId id="592" r:id="rId98"/>
    <p:sldId id="1057" r:id="rId99"/>
    <p:sldId id="1058" r:id="rId100"/>
    <p:sldId id="1059" r:id="rId101"/>
    <p:sldId id="1060" r:id="rId102"/>
    <p:sldId id="1061" r:id="rId103"/>
    <p:sldId id="605" r:id="rId104"/>
    <p:sldId id="1062" r:id="rId105"/>
    <p:sldId id="1063" r:id="rId106"/>
    <p:sldId id="1064" r:id="rId107"/>
    <p:sldId id="1065" r:id="rId108"/>
    <p:sldId id="1066" r:id="rId109"/>
    <p:sldId id="615" r:id="rId110"/>
    <p:sldId id="1067" r:id="rId111"/>
    <p:sldId id="1068" r:id="rId112"/>
    <p:sldId id="1069" r:id="rId113"/>
    <p:sldId id="1070" r:id="rId114"/>
    <p:sldId id="1071" r:id="rId115"/>
    <p:sldId id="1072" r:id="rId116"/>
    <p:sldId id="1073" r:id="rId117"/>
    <p:sldId id="1074" r:id="rId118"/>
    <p:sldId id="633" r:id="rId119"/>
    <p:sldId id="1075" r:id="rId120"/>
    <p:sldId id="1076" r:id="rId121"/>
    <p:sldId id="1077" r:id="rId122"/>
    <p:sldId id="1078" r:id="rId123"/>
    <p:sldId id="1079" r:id="rId124"/>
    <p:sldId id="1080" r:id="rId125"/>
    <p:sldId id="1081" r:id="rId126"/>
    <p:sldId id="646" r:id="rId127"/>
    <p:sldId id="1082" r:id="rId128"/>
    <p:sldId id="1083" r:id="rId129"/>
    <p:sldId id="1084" r:id="rId130"/>
    <p:sldId id="1085" r:id="rId131"/>
    <p:sldId id="1086" r:id="rId132"/>
    <p:sldId id="1087" r:id="rId133"/>
    <p:sldId id="659" r:id="rId134"/>
    <p:sldId id="1088" r:id="rId135"/>
    <p:sldId id="1089" r:id="rId136"/>
    <p:sldId id="1090" r:id="rId137"/>
    <p:sldId id="1091" r:id="rId138"/>
    <p:sldId id="1092" r:id="rId139"/>
    <p:sldId id="1093" r:id="rId140"/>
    <p:sldId id="1094" r:id="rId141"/>
    <p:sldId id="674" r:id="rId142"/>
    <p:sldId id="1095" r:id="rId143"/>
    <p:sldId id="1096" r:id="rId144"/>
    <p:sldId id="1097" r:id="rId145"/>
    <p:sldId id="1098" r:id="rId146"/>
    <p:sldId id="1099" r:id="rId147"/>
    <p:sldId id="1100" r:id="rId148"/>
    <p:sldId id="686" r:id="rId149"/>
    <p:sldId id="1101" r:id="rId150"/>
    <p:sldId id="1102" r:id="rId151"/>
    <p:sldId id="1103" r:id="rId152"/>
    <p:sldId id="1104" r:id="rId153"/>
    <p:sldId id="1105" r:id="rId154"/>
    <p:sldId id="1106" r:id="rId155"/>
    <p:sldId id="699" r:id="rId156"/>
    <p:sldId id="1107" r:id="rId157"/>
    <p:sldId id="1108" r:id="rId158"/>
    <p:sldId id="1109" r:id="rId159"/>
    <p:sldId id="1110" r:id="rId160"/>
    <p:sldId id="1111" r:id="rId161"/>
    <p:sldId id="1112" r:id="rId162"/>
    <p:sldId id="711" r:id="rId163"/>
    <p:sldId id="1113" r:id="rId164"/>
    <p:sldId id="1114" r:id="rId165"/>
    <p:sldId id="1115" r:id="rId166"/>
    <p:sldId id="1116" r:id="rId167"/>
    <p:sldId id="1117" r:id="rId168"/>
    <p:sldId id="1118" r:id="rId169"/>
    <p:sldId id="1119" r:id="rId170"/>
  </p:sldIdLst>
  <p:sldSz cx="6858000" cy="9906000" type="A4"/>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905" autoAdjust="0"/>
    <p:restoredTop sz="94660"/>
  </p:normalViewPr>
  <p:slideViewPr>
    <p:cSldViewPr>
      <p:cViewPr varScale="1">
        <p:scale>
          <a:sx n="81" d="100"/>
          <a:sy n="81" d="100"/>
        </p:scale>
        <p:origin x="2928" y="102"/>
      </p:cViewPr>
      <p:guideLst>
        <p:guide orient="horz" pos="3120"/>
        <p:guide pos="2160"/>
      </p:guideLst>
    </p:cSldViewPr>
  </p:slideViewPr>
  <p:notesTextViewPr>
    <p:cViewPr>
      <p:scale>
        <a:sx n="1" d="1"/>
        <a:sy n="1" d="1"/>
      </p:scale>
      <p:origin x="0" y="0"/>
    </p:cViewPr>
  </p:notesTextViewPr>
  <p:sorterViewPr>
    <p:cViewPr>
      <p:scale>
        <a:sx n="200" d="100"/>
        <a:sy n="200" d="100"/>
      </p:scale>
      <p:origin x="0" y="0"/>
    </p:cViewPr>
  </p:sorterViewPr>
  <p:notesViewPr>
    <p:cSldViewPr>
      <p:cViewPr varScale="1">
        <p:scale>
          <a:sx n="119" d="100"/>
          <a:sy n="119" d="100"/>
        </p:scale>
        <p:origin x="-2208"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theme" Target="theme/theme1.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notesMaster" Target="notesMasters/notesMaster1.xml"/><Relationship Id="rId176"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ACCBF394-3524-4209-9387-940FB4C404AC}" type="datetimeFigureOut">
              <a:rPr lang="ko-KR" altLang="en-US" smtClean="0"/>
              <a:t>2022-10-13</a:t>
            </a:fld>
            <a:endParaRPr lang="ko-KR" altLang="en-US"/>
          </a:p>
        </p:txBody>
      </p:sp>
      <p:sp>
        <p:nvSpPr>
          <p:cNvPr id="4" name="바닥글 개체 틀 3"/>
          <p:cNvSpPr>
            <a:spLocks noGrp="1"/>
          </p:cNvSpPr>
          <p:nvPr>
            <p:ph type="ftr" sz="quarter" idx="2"/>
          </p:nvPr>
        </p:nvSpPr>
        <p:spPr>
          <a:xfrm>
            <a:off x="0" y="9428584"/>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428584"/>
            <a:ext cx="2945659" cy="496332"/>
          </a:xfrm>
          <a:prstGeom prst="rect">
            <a:avLst/>
          </a:prstGeom>
        </p:spPr>
        <p:txBody>
          <a:bodyPr vert="horz" lIns="91440" tIns="45720" rIns="91440" bIns="45720" rtlCol="0" anchor="b"/>
          <a:lstStyle>
            <a:lvl1pPr algn="r">
              <a:defRPr sz="1200"/>
            </a:lvl1pPr>
          </a:lstStyle>
          <a:p>
            <a:fld id="{019F2C2F-9B4F-4BC1-A097-6F15EF0C8B67}" type="slidenum">
              <a:rPr lang="ko-KR" altLang="en-US" smtClean="0"/>
              <a:t>‹#›</a:t>
            </a:fld>
            <a:endParaRPr lang="ko-KR" altLang="en-US"/>
          </a:p>
        </p:txBody>
      </p:sp>
    </p:spTree>
    <p:extLst>
      <p:ext uri="{BB962C8B-B14F-4D97-AF65-F5344CB8AC3E}">
        <p14:creationId xmlns:p14="http://schemas.microsoft.com/office/powerpoint/2010/main" val="10702627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F04D362A-9B0C-401F-A0E0-513347719F40}" type="datetimeFigureOut">
              <a:rPr lang="ko-KR" altLang="en-US" smtClean="0"/>
              <a:t>2022-10-13</a:t>
            </a:fld>
            <a:endParaRPr lang="ko-KR" altLang="en-US"/>
          </a:p>
        </p:txBody>
      </p:sp>
      <p:sp>
        <p:nvSpPr>
          <p:cNvPr id="4" name="슬라이드 이미지 개체 틀 3"/>
          <p:cNvSpPr>
            <a:spLocks noGrp="1" noRot="1" noChangeAspect="1"/>
          </p:cNvSpPr>
          <p:nvPr>
            <p:ph type="sldImg" idx="2"/>
          </p:nvPr>
        </p:nvSpPr>
        <p:spPr>
          <a:xfrm>
            <a:off x="2111375" y="744538"/>
            <a:ext cx="2574925"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4"/>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4"/>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28584"/>
            <a:ext cx="2945659" cy="496332"/>
          </a:xfrm>
          <a:prstGeom prst="rect">
            <a:avLst/>
          </a:prstGeom>
        </p:spPr>
        <p:txBody>
          <a:bodyPr vert="horz" lIns="91440" tIns="45720" rIns="91440" bIns="45720" rtlCol="0" anchor="b"/>
          <a:lstStyle>
            <a:lvl1pPr algn="r">
              <a:defRPr sz="1200"/>
            </a:lvl1pPr>
          </a:lstStyle>
          <a:p>
            <a:fld id="{FD4DF26C-9013-4E17-8204-7D316F1D36A0}" type="slidenum">
              <a:rPr lang="ko-KR" altLang="en-US" smtClean="0"/>
              <a:t>‹#›</a:t>
            </a:fld>
            <a:endParaRPr lang="ko-KR" altLang="en-US"/>
          </a:p>
        </p:txBody>
      </p:sp>
    </p:spTree>
    <p:extLst>
      <p:ext uri="{BB962C8B-B14F-4D97-AF65-F5344CB8AC3E}">
        <p14:creationId xmlns:p14="http://schemas.microsoft.com/office/powerpoint/2010/main" val="92898654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7283"/>
            <a:ext cx="5829300" cy="2123369"/>
          </a:xfrm>
        </p:spPr>
        <p:txBody>
          <a:bodyPr/>
          <a:lstStyle/>
          <a:p>
            <a:r>
              <a:rPr lang="ko-KR" altLang="en-US"/>
              <a:t>마스터 제목 스타일 편집</a:t>
            </a:r>
          </a:p>
        </p:txBody>
      </p:sp>
      <p:sp>
        <p:nvSpPr>
          <p:cNvPr id="3" name="부제목 2"/>
          <p:cNvSpPr>
            <a:spLocks noGrp="1"/>
          </p:cNvSpPr>
          <p:nvPr>
            <p:ph type="subTitle" idx="1"/>
          </p:nvPr>
        </p:nvSpPr>
        <p:spPr>
          <a:xfrm>
            <a:off x="1028700" y="5613400"/>
            <a:ext cx="4800600" cy="253153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4BD7067C-E0E4-423C-94ED-4F75838EBFD5}" type="datetime1">
              <a:rPr lang="ko-KR" altLang="en-US" smtClean="0"/>
              <a:t>2022-10-13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2202214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1F99BDE5-9640-4C0B-8F95-3598038452B0}" type="datetime1">
              <a:rPr lang="ko-KR" altLang="en-US" smtClean="0"/>
              <a:t>2022-10-13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2650758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6365522"/>
            <a:ext cx="5829300" cy="1967442"/>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735" y="4198587"/>
            <a:ext cx="5829300" cy="216693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2FFA9D61-5FE7-4CA7-9D8F-5E7AB9192999}" type="datetime1">
              <a:rPr lang="ko-KR" altLang="en-US" smtClean="0"/>
              <a:t>2022-10-13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2507631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342900" y="2311402"/>
            <a:ext cx="3028950" cy="6537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3486150" y="2311402"/>
            <a:ext cx="3028950" cy="6537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A74ADCEF-0FAA-42E1-915F-6C610938BDEB}" type="datetime1">
              <a:rPr lang="ko-KR" altLang="en-US" smtClean="0"/>
              <a:t>2022-10-13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568271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217385"/>
            <a:ext cx="303014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3141486"/>
            <a:ext cx="303014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3770" y="2217385"/>
            <a:ext cx="303133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3770" y="3141486"/>
            <a:ext cx="303133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2616909E-0848-449A-9820-3E7621D3A667}" type="datetime1">
              <a:rPr lang="ko-KR" altLang="en-US" smtClean="0"/>
              <a:t>2022-10-13</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3731172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9E8035C2-8346-4243-9452-384790934324}" type="datetime1">
              <a:rPr lang="ko-KR" altLang="en-US" smtClean="0"/>
              <a:t>2022-10-13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3112492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CFA3EA52-A3E7-4F9F-9662-4FFF4AFFF449}" type="datetime1">
              <a:rPr lang="ko-KR" altLang="en-US" smtClean="0"/>
              <a:t>2022-10-13</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3631894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1" y="394406"/>
            <a:ext cx="2256235" cy="1678517"/>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8" y="394406"/>
            <a:ext cx="3833813" cy="845449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1" y="2072923"/>
            <a:ext cx="2256235" cy="677598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B67153E6-86F7-4F37-92B9-369B04D6C00D}" type="datetime1">
              <a:rPr lang="ko-KR" altLang="en-US" smtClean="0"/>
              <a:t>2022-10-13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483229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934201"/>
            <a:ext cx="4114800" cy="818622"/>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216" y="885119"/>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344216" y="7752823"/>
            <a:ext cx="4114800" cy="11625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D0CFFA27-9607-4837-8FC6-024D6A313086}" type="datetime1">
              <a:rPr lang="ko-KR" altLang="en-US" smtClean="0"/>
              <a:t>2022-10-13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378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B9109BD6-6E7C-4507-A2BB-13F15BC4B524}" type="datetime1">
              <a:rPr lang="ko-KR" altLang="en-US" smtClean="0"/>
              <a:t>2022-10-13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2178935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972050" y="396701"/>
            <a:ext cx="1543050" cy="8452202"/>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342900" y="396701"/>
            <a:ext cx="4514850" cy="8452202"/>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3197FD1-4071-47E6-A864-C57E44B5455E}" type="datetime1">
              <a:rPr lang="ko-KR" altLang="en-US" smtClean="0"/>
              <a:t>2022-10-13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164261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96699"/>
            <a:ext cx="6172200" cy="1651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311402"/>
            <a:ext cx="6172200" cy="6537502"/>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342900" y="9181396"/>
            <a:ext cx="1600200" cy="527402"/>
          </a:xfrm>
          <a:prstGeom prst="rect">
            <a:avLst/>
          </a:prstGeom>
        </p:spPr>
        <p:txBody>
          <a:bodyPr vert="horz" lIns="91440" tIns="45720" rIns="91440" bIns="45720" rtlCol="0" anchor="ctr"/>
          <a:lstStyle>
            <a:lvl1pPr algn="l">
              <a:defRPr sz="1200">
                <a:solidFill>
                  <a:schemeClr val="tx1">
                    <a:tint val="75000"/>
                  </a:schemeClr>
                </a:solidFill>
              </a:defRPr>
            </a:lvl1pPr>
          </a:lstStyle>
          <a:p>
            <a:fld id="{E67C45C2-9923-4E70-B265-895E80C6895D}" type="datetime1">
              <a:rPr lang="ko-KR" altLang="en-US" smtClean="0"/>
              <a:t>2022-10-13</a:t>
            </a:fld>
            <a:endParaRPr lang="ko-KR" altLang="en-US"/>
          </a:p>
        </p:txBody>
      </p:sp>
      <p:sp>
        <p:nvSpPr>
          <p:cNvPr id="5" name="바닥글 개체 틀 4"/>
          <p:cNvSpPr>
            <a:spLocks noGrp="1"/>
          </p:cNvSpPr>
          <p:nvPr>
            <p:ph type="ftr" sz="quarter" idx="3"/>
          </p:nvPr>
        </p:nvSpPr>
        <p:spPr>
          <a:xfrm>
            <a:off x="2343150" y="9181396"/>
            <a:ext cx="2171700" cy="52740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4914900" y="9181396"/>
            <a:ext cx="1600200" cy="527402"/>
          </a:xfrm>
          <a:prstGeom prst="rect">
            <a:avLst/>
          </a:prstGeom>
        </p:spPr>
        <p:txBody>
          <a:bodyPr vert="horz" lIns="91440" tIns="45720" rIns="91440" bIns="45720" rtlCol="0" anchor="ctr"/>
          <a:lstStyle>
            <a:lvl1pPr algn="r">
              <a:defRPr sz="1200">
                <a:solidFill>
                  <a:schemeClr val="tx1">
                    <a:tint val="75000"/>
                  </a:schemeClr>
                </a:solidFill>
              </a:defRPr>
            </a:lvl1pPr>
          </a:lstStyle>
          <a:p>
            <a:fld id="{18CC7079-95A2-4860-A138-51A9FC969471}" type="slidenum">
              <a:rPr lang="ko-KR" altLang="en-US" smtClean="0"/>
              <a:t>‹#›</a:t>
            </a:fld>
            <a:endParaRPr lang="ko-KR" altLang="en-US"/>
          </a:p>
        </p:txBody>
      </p:sp>
    </p:spTree>
    <p:extLst>
      <p:ext uri="{BB962C8B-B14F-4D97-AF65-F5344CB8AC3E}">
        <p14:creationId xmlns:p14="http://schemas.microsoft.com/office/powerpoint/2010/main" val="2058234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a:t>
            </a:fld>
            <a:endParaRPr lang="ko-KR" altLang="en-US"/>
          </a:p>
        </p:txBody>
      </p:sp>
      <p:pic>
        <p:nvPicPr>
          <p:cNvPr id="5" name="그림 4"/>
          <p:cNvPicPr>
            <a:picLocks noChangeAspect="1"/>
          </p:cNvPicPr>
          <p:nvPr/>
        </p:nvPicPr>
        <p:blipFill>
          <a:blip r:embed="rId2"/>
          <a:stretch>
            <a:fillRect/>
          </a:stretch>
        </p:blipFill>
        <p:spPr>
          <a:xfrm>
            <a:off x="0" y="381001"/>
            <a:ext cx="6858000" cy="3833561"/>
          </a:xfrm>
          <a:prstGeom prst="rect">
            <a:avLst/>
          </a:prstGeom>
        </p:spPr>
      </p:pic>
      <p:pic>
        <p:nvPicPr>
          <p:cNvPr id="6" name="그림 5"/>
          <p:cNvPicPr>
            <a:picLocks noChangeAspect="1"/>
          </p:cNvPicPr>
          <p:nvPr/>
        </p:nvPicPr>
        <p:blipFill>
          <a:blip r:embed="rId3"/>
          <a:stretch>
            <a:fillRect/>
          </a:stretch>
        </p:blipFill>
        <p:spPr>
          <a:xfrm>
            <a:off x="0" y="4613878"/>
            <a:ext cx="6858000" cy="3842941"/>
          </a:xfrm>
          <a:prstGeom prst="rect">
            <a:avLst/>
          </a:prstGeom>
        </p:spPr>
      </p:pic>
    </p:spTree>
    <p:extLst>
      <p:ext uri="{BB962C8B-B14F-4D97-AF65-F5344CB8AC3E}">
        <p14:creationId xmlns:p14="http://schemas.microsoft.com/office/powerpoint/2010/main" val="51774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2</a:t>
            </a:fld>
            <a:endParaRPr lang="ko-KR" altLang="en-US"/>
          </a:p>
        </p:txBody>
      </p:sp>
      <p:pic>
        <p:nvPicPr>
          <p:cNvPr id="3" name="그림 2"/>
          <p:cNvPicPr>
            <a:picLocks noChangeAspect="1"/>
          </p:cNvPicPr>
          <p:nvPr/>
        </p:nvPicPr>
        <p:blipFill>
          <a:blip r:embed="rId2"/>
          <a:stretch>
            <a:fillRect/>
          </a:stretch>
        </p:blipFill>
        <p:spPr>
          <a:xfrm>
            <a:off x="0" y="381000"/>
            <a:ext cx="6858000" cy="3838474"/>
          </a:xfrm>
          <a:prstGeom prst="rect">
            <a:avLst/>
          </a:prstGeom>
        </p:spPr>
      </p:pic>
      <p:pic>
        <p:nvPicPr>
          <p:cNvPr id="4" name="그림 3"/>
          <p:cNvPicPr>
            <a:picLocks noChangeAspect="1"/>
          </p:cNvPicPr>
          <p:nvPr/>
        </p:nvPicPr>
        <p:blipFill>
          <a:blip r:embed="rId3"/>
          <a:stretch>
            <a:fillRect/>
          </a:stretch>
        </p:blipFill>
        <p:spPr>
          <a:xfrm>
            <a:off x="0" y="4578843"/>
            <a:ext cx="6858000" cy="3872622"/>
          </a:xfrm>
          <a:prstGeom prst="rect">
            <a:avLst/>
          </a:prstGeom>
        </p:spPr>
      </p:pic>
    </p:spTree>
    <p:extLst>
      <p:ext uri="{BB962C8B-B14F-4D97-AF65-F5344CB8AC3E}">
        <p14:creationId xmlns:p14="http://schemas.microsoft.com/office/powerpoint/2010/main" val="3501037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3</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45475"/>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anose="020B0503020000020004" pitchFamily="50" charset="-127"/>
                <a:ea typeface="맑은 고딕" panose="020B0503020000020004" pitchFamily="50" charset="-127"/>
              </a:rPr>
              <a:t>인터뷰를 시작하겠습니다</a:t>
            </a:r>
            <a:r>
              <a:rPr lang="en-US" altLang="ko-KR" sz="1100" b="1" baseline="0" dirty="0">
                <a:solidFill>
                  <a:srgbClr val="FF0000"/>
                </a:solidFill>
                <a:latin typeface="맑은 고딕" panose="020B0503020000020004" pitchFamily="50" charset="-127"/>
                <a:ea typeface="맑은 고딕" panose="020B0503020000020004" pitchFamily="50" charset="-127"/>
              </a:rPr>
              <a:t>. </a:t>
            </a:r>
          </a:p>
          <a:p>
            <a:pPr latinLnBrk="1">
              <a:lnSpc>
                <a:spcPct val="100000"/>
              </a:lnSpc>
            </a:pPr>
            <a:r>
              <a:rPr lang="ko-KR" altLang="en-US" sz="1100" b="1" baseline="0" dirty="0">
                <a:solidFill>
                  <a:srgbClr val="FF0000"/>
                </a:solidFill>
                <a:latin typeface="맑은 고딕" panose="020B0503020000020004" pitchFamily="50" charset="-127"/>
                <a:ea typeface="맑은 고딕" panose="020B0503020000020004" pitchFamily="50" charset="-127"/>
              </a:rPr>
              <a:t>자신에 대해 소개해 주십시오</a:t>
            </a:r>
            <a:r>
              <a:rPr lang="en-US" altLang="ko-KR" sz="1100" b="1" baseline="0" dirty="0">
                <a:solidFill>
                  <a:srgbClr val="FF0000"/>
                </a:solidFill>
                <a:latin typeface="맑은 고딕" panose="020B0503020000020004" pitchFamily="50" charset="-127"/>
                <a:ea typeface="맑은 고딕" panose="020B0503020000020004" pitchFamily="50" charset="-127"/>
              </a:rPr>
              <a:t>.</a:t>
            </a: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50000"/>
              </a:lnSpc>
            </a:pPr>
            <a:r>
              <a:rPr lang="ko-KR" altLang="en-US" sz="1100" b="0" dirty="0">
                <a:solidFill>
                  <a:schemeClr val="tx1"/>
                </a:solidFill>
                <a:latin typeface="맑은 고딕" pitchFamily="50" charset="-127"/>
                <a:ea typeface="맑은 고딕" pitchFamily="50" charset="-127"/>
              </a:rPr>
              <a:t>내 이름은 피터이고</a:t>
            </a:r>
            <a:r>
              <a:rPr lang="en-US" altLang="ko-KR" sz="1100" b="0" dirty="0">
                <a:solidFill>
                  <a:schemeClr val="tx1"/>
                </a:solidFill>
                <a:latin typeface="맑은 고딕" pitchFamily="50" charset="-127"/>
                <a:ea typeface="맑은 고딕" pitchFamily="50" charset="-127"/>
              </a:rPr>
              <a:t>, </a:t>
            </a:r>
            <a:r>
              <a:rPr lang="ko-KR" altLang="en-US" sz="1100" b="0" dirty="0">
                <a:solidFill>
                  <a:schemeClr val="tx1"/>
                </a:solidFill>
                <a:latin typeface="맑은 고딕" pitchFamily="50" charset="-127"/>
                <a:ea typeface="맑은 고딕" pitchFamily="50" charset="-127"/>
              </a:rPr>
              <a:t>나는 </a:t>
            </a:r>
            <a:r>
              <a:rPr lang="en-US" altLang="ko-KR" sz="1100" b="0" dirty="0">
                <a:solidFill>
                  <a:schemeClr val="tx1"/>
                </a:solidFill>
                <a:latin typeface="맑은 고딕" pitchFamily="50" charset="-127"/>
                <a:ea typeface="맑은 고딕" pitchFamily="50" charset="-127"/>
              </a:rPr>
              <a:t>40</a:t>
            </a:r>
            <a:r>
              <a:rPr lang="ko-KR" altLang="en-US" sz="1100" b="0" dirty="0">
                <a:solidFill>
                  <a:schemeClr val="tx1"/>
                </a:solidFill>
                <a:latin typeface="맑은 고딕" pitchFamily="50" charset="-127"/>
                <a:ea typeface="맑은 고딕" pitchFamily="50" charset="-127"/>
              </a:rPr>
              <a:t>대 중반입니다</a:t>
            </a:r>
            <a:r>
              <a:rPr lang="en-US" altLang="ko-KR" sz="1100" b="0" dirty="0">
                <a:solidFill>
                  <a:schemeClr val="tx1"/>
                </a:solidFill>
                <a:latin typeface="맑은 고딕" pitchFamily="50" charset="-127"/>
                <a:ea typeface="맑은 고딕" pitchFamily="50" charset="-127"/>
              </a:rPr>
              <a:t>.</a:t>
            </a:r>
          </a:p>
          <a:p>
            <a:pPr latinLnBrk="1">
              <a:lnSpc>
                <a:spcPct val="150000"/>
              </a:lnSpc>
            </a:pPr>
            <a:r>
              <a:rPr lang="ko-KR" altLang="en-US" sz="1100" b="0" dirty="0">
                <a:solidFill>
                  <a:schemeClr val="tx1"/>
                </a:solidFill>
                <a:latin typeface="맑은 고딕" pitchFamily="50" charset="-127"/>
                <a:ea typeface="맑은 고딕" pitchFamily="50" charset="-127"/>
              </a:rPr>
              <a:t>나는 평균적인 키이고</a:t>
            </a:r>
            <a:r>
              <a:rPr lang="en-US" altLang="ko-KR" sz="1100" b="0" dirty="0">
                <a:solidFill>
                  <a:schemeClr val="tx1"/>
                </a:solidFill>
                <a:latin typeface="맑은 고딕" pitchFamily="50" charset="-127"/>
                <a:ea typeface="맑은 고딕" pitchFamily="50" charset="-127"/>
              </a:rPr>
              <a:t>, </a:t>
            </a:r>
            <a:r>
              <a:rPr lang="ko-KR" altLang="en-US" sz="1100" b="0" dirty="0">
                <a:solidFill>
                  <a:schemeClr val="tx1"/>
                </a:solidFill>
                <a:latin typeface="맑은 고딕" pitchFamily="50" charset="-127"/>
                <a:ea typeface="맑은 고딕" pitchFamily="50" charset="-127"/>
              </a:rPr>
              <a:t>안경을 씁니다</a:t>
            </a:r>
            <a:r>
              <a:rPr lang="en-US" altLang="ko-KR" sz="1100" b="0" dirty="0">
                <a:solidFill>
                  <a:schemeClr val="tx1"/>
                </a:solidFill>
                <a:latin typeface="맑은 고딕" pitchFamily="50" charset="-127"/>
                <a:ea typeface="맑은 고딕" pitchFamily="50" charset="-127"/>
              </a:rPr>
              <a:t>.</a:t>
            </a:r>
          </a:p>
          <a:p>
            <a:pPr latinLnBrk="1">
              <a:lnSpc>
                <a:spcPct val="150000"/>
              </a:lnSpc>
            </a:pPr>
            <a:r>
              <a:rPr lang="ko-KR" altLang="en-US" sz="1100" b="0" dirty="0">
                <a:solidFill>
                  <a:schemeClr val="tx1"/>
                </a:solidFill>
                <a:latin typeface="맑은 고딕" pitchFamily="50" charset="-127"/>
                <a:ea typeface="맑은 고딕" pitchFamily="50" charset="-127"/>
              </a:rPr>
              <a:t>나는 대학교 때 전자과를 전공하였습니다</a:t>
            </a:r>
            <a:r>
              <a:rPr lang="en-US" altLang="ko-KR" sz="1100" b="0" dirty="0">
                <a:solidFill>
                  <a:schemeClr val="tx1"/>
                </a:solidFill>
                <a:latin typeface="맑은 고딕" pitchFamily="50" charset="-127"/>
                <a:ea typeface="맑은 고딕" pitchFamily="50" charset="-127"/>
              </a:rPr>
              <a:t>.</a:t>
            </a:r>
          </a:p>
          <a:p>
            <a:pPr latinLnBrk="1">
              <a:lnSpc>
                <a:spcPct val="150000"/>
              </a:lnSpc>
            </a:pPr>
            <a:r>
              <a:rPr lang="ko-KR" altLang="en-US" sz="1100" b="0" dirty="0">
                <a:solidFill>
                  <a:schemeClr val="tx1"/>
                </a:solidFill>
                <a:latin typeface="맑은 고딕" pitchFamily="50" charset="-127"/>
                <a:ea typeface="맑은 고딕" pitchFamily="50" charset="-127"/>
              </a:rPr>
              <a:t>나는 결혼 했으며</a:t>
            </a:r>
            <a:r>
              <a:rPr lang="en-US" altLang="ko-KR" sz="1100" b="0" dirty="0">
                <a:solidFill>
                  <a:schemeClr val="tx1"/>
                </a:solidFill>
                <a:latin typeface="맑은 고딕" pitchFamily="50" charset="-127"/>
                <a:ea typeface="맑은 고딕" pitchFamily="50" charset="-127"/>
              </a:rPr>
              <a:t>, </a:t>
            </a:r>
            <a:r>
              <a:rPr lang="ko-KR" altLang="en-US" sz="1100" b="0" dirty="0">
                <a:solidFill>
                  <a:schemeClr val="tx1"/>
                </a:solidFill>
                <a:latin typeface="맑은 고딕" pitchFamily="50" charset="-127"/>
                <a:ea typeface="맑은 고딕" pitchFamily="50" charset="-127"/>
              </a:rPr>
              <a:t>아들과 딸이 있습니다</a:t>
            </a:r>
            <a:r>
              <a:rPr lang="en-US" altLang="ko-KR" sz="1100" b="0" dirty="0">
                <a:solidFill>
                  <a:schemeClr val="tx1"/>
                </a:solidFill>
                <a:latin typeface="맑은 고딕" pitchFamily="50" charset="-127"/>
                <a:ea typeface="맑은 고딕" pitchFamily="50" charset="-127"/>
              </a:rPr>
              <a:t>.</a:t>
            </a:r>
          </a:p>
          <a:p>
            <a:pPr latinLnBrk="1">
              <a:lnSpc>
                <a:spcPct val="150000"/>
              </a:lnSpc>
            </a:pPr>
            <a:r>
              <a:rPr lang="ko-KR" altLang="en-US" sz="1100" b="0" dirty="0">
                <a:solidFill>
                  <a:schemeClr val="tx1"/>
                </a:solidFill>
                <a:latin typeface="맑은 고딕" pitchFamily="50" charset="-127"/>
                <a:ea typeface="맑은 고딕" pitchFamily="50" charset="-127"/>
              </a:rPr>
              <a:t>나의 아들은 </a:t>
            </a:r>
            <a:r>
              <a:rPr lang="en-US" altLang="ko-KR" sz="1100" b="0" dirty="0">
                <a:solidFill>
                  <a:schemeClr val="tx1"/>
                </a:solidFill>
                <a:latin typeface="맑은 고딕" pitchFamily="50" charset="-127"/>
                <a:ea typeface="맑은 고딕" pitchFamily="50" charset="-127"/>
              </a:rPr>
              <a:t>16</a:t>
            </a:r>
            <a:r>
              <a:rPr lang="ko-KR" altLang="en-US" sz="1100" b="0" dirty="0">
                <a:solidFill>
                  <a:schemeClr val="tx1"/>
                </a:solidFill>
                <a:latin typeface="맑은 고딕" pitchFamily="50" charset="-127"/>
                <a:ea typeface="맑은 고딕" pitchFamily="50" charset="-127"/>
              </a:rPr>
              <a:t>살이고</a:t>
            </a:r>
            <a:r>
              <a:rPr lang="en-US" altLang="ko-KR" sz="1100" b="0" dirty="0">
                <a:solidFill>
                  <a:schemeClr val="tx1"/>
                </a:solidFill>
                <a:latin typeface="맑은 고딕" pitchFamily="50" charset="-127"/>
                <a:ea typeface="맑은 고딕" pitchFamily="50" charset="-127"/>
              </a:rPr>
              <a:t>, </a:t>
            </a:r>
            <a:r>
              <a:rPr lang="ko-KR" altLang="en-US" sz="1100" b="0" dirty="0">
                <a:solidFill>
                  <a:schemeClr val="tx1"/>
                </a:solidFill>
                <a:latin typeface="맑은 고딕" pitchFamily="50" charset="-127"/>
                <a:ea typeface="맑은 고딕" pitchFamily="50" charset="-127"/>
              </a:rPr>
              <a:t>나의 딸은 </a:t>
            </a:r>
            <a:r>
              <a:rPr lang="en-US" altLang="ko-KR" sz="1100" b="0" dirty="0">
                <a:solidFill>
                  <a:schemeClr val="tx1"/>
                </a:solidFill>
                <a:latin typeface="맑은 고딕" pitchFamily="50" charset="-127"/>
                <a:ea typeface="맑은 고딕" pitchFamily="50" charset="-127"/>
              </a:rPr>
              <a:t>19</a:t>
            </a:r>
            <a:r>
              <a:rPr lang="ko-KR" altLang="en-US" sz="1100" b="0" dirty="0">
                <a:solidFill>
                  <a:schemeClr val="tx1"/>
                </a:solidFill>
                <a:latin typeface="맑은 고딕" pitchFamily="50" charset="-127"/>
                <a:ea typeface="맑은 고딕" pitchFamily="50" charset="-127"/>
              </a:rPr>
              <a:t>살입니다</a:t>
            </a:r>
            <a:r>
              <a:rPr lang="en-US" altLang="ko-KR" sz="1100" b="0" dirty="0">
                <a:solidFill>
                  <a:schemeClr val="tx1"/>
                </a:solidFill>
                <a:latin typeface="맑은 고딕" pitchFamily="50" charset="-127"/>
                <a:ea typeface="맑은 고딕" pitchFamily="50" charset="-127"/>
              </a:rPr>
              <a:t>.</a:t>
            </a:r>
          </a:p>
          <a:p>
            <a:pPr latinLnBrk="1">
              <a:lnSpc>
                <a:spcPct val="150000"/>
              </a:lnSpc>
            </a:pPr>
            <a:r>
              <a:rPr lang="ko-KR" altLang="en-US" sz="1100" b="0" dirty="0">
                <a:solidFill>
                  <a:schemeClr val="tx1"/>
                </a:solidFill>
                <a:latin typeface="맑은 고딕" pitchFamily="50" charset="-127"/>
                <a:ea typeface="맑은 고딕" pitchFamily="50" charset="-127"/>
              </a:rPr>
              <a:t>나의 성격에 대해서 말하자면</a:t>
            </a:r>
            <a:r>
              <a:rPr lang="en-US" altLang="ko-KR" sz="1100" b="0" dirty="0">
                <a:solidFill>
                  <a:schemeClr val="tx1"/>
                </a:solidFill>
                <a:latin typeface="맑은 고딕" pitchFamily="50" charset="-127"/>
                <a:ea typeface="맑은 고딕" pitchFamily="50" charset="-127"/>
              </a:rPr>
              <a:t>, </a:t>
            </a:r>
            <a:r>
              <a:rPr lang="ko-KR" altLang="en-US" sz="1100" b="0" dirty="0">
                <a:solidFill>
                  <a:schemeClr val="tx1"/>
                </a:solidFill>
                <a:latin typeface="맑은 고딕" pitchFamily="50" charset="-127"/>
                <a:ea typeface="맑은 고딕" pitchFamily="50" charset="-127"/>
              </a:rPr>
              <a:t>나는 외향적이고 긍정적인 태도를 가진 사람입니다</a:t>
            </a:r>
            <a:r>
              <a:rPr lang="en-US" altLang="ko-KR" sz="1100" b="0" dirty="0">
                <a:solidFill>
                  <a:schemeClr val="tx1"/>
                </a:solidFill>
                <a:latin typeface="맑은 고딕" pitchFamily="50" charset="-127"/>
                <a:ea typeface="맑은 고딕" pitchFamily="50" charset="-127"/>
              </a:rPr>
              <a:t>.</a:t>
            </a:r>
          </a:p>
          <a:p>
            <a:pPr latinLnBrk="1">
              <a:lnSpc>
                <a:spcPct val="150000"/>
              </a:lnSpc>
            </a:pPr>
            <a:r>
              <a:rPr lang="ko-KR" altLang="en-US" sz="1100" b="0" dirty="0">
                <a:solidFill>
                  <a:schemeClr val="tx1"/>
                </a:solidFill>
                <a:latin typeface="맑은 고딕" pitchFamily="50" charset="-127"/>
                <a:ea typeface="맑은 고딕" pitchFamily="50" charset="-127"/>
              </a:rPr>
              <a:t>여유시간에는 나는 영화 보기를 좋아합니다</a:t>
            </a:r>
            <a:r>
              <a:rPr lang="en-US" altLang="ko-KR" sz="1100" b="0" dirty="0">
                <a:solidFill>
                  <a:schemeClr val="tx1"/>
                </a:solidFill>
                <a:latin typeface="맑은 고딕" pitchFamily="50" charset="-127"/>
                <a:ea typeface="맑은 고딕" pitchFamily="50" charset="-127"/>
              </a:rPr>
              <a:t>.</a:t>
            </a:r>
          </a:p>
          <a:p>
            <a:pPr latinLnBrk="1">
              <a:lnSpc>
                <a:spcPct val="150000"/>
              </a:lnSpc>
            </a:pPr>
            <a:r>
              <a:rPr lang="ko-KR" altLang="en-US" sz="1100" b="0" dirty="0">
                <a:solidFill>
                  <a:schemeClr val="tx1"/>
                </a:solidFill>
                <a:latin typeface="맑은 고딕" pitchFamily="50" charset="-127"/>
                <a:ea typeface="맑은 고딕" pitchFamily="50" charset="-127"/>
              </a:rPr>
              <a:t>그래서</a:t>
            </a:r>
            <a:r>
              <a:rPr lang="en-US" altLang="ko-KR" sz="1100" b="0" dirty="0">
                <a:solidFill>
                  <a:schemeClr val="tx1"/>
                </a:solidFill>
                <a:latin typeface="맑은 고딕" pitchFamily="50" charset="-127"/>
                <a:ea typeface="맑은 고딕" pitchFamily="50" charset="-127"/>
              </a:rPr>
              <a:t>,</a:t>
            </a:r>
            <a:r>
              <a:rPr lang="ko-KR" altLang="en-US" sz="1100" b="0" dirty="0">
                <a:solidFill>
                  <a:schemeClr val="tx1"/>
                </a:solidFill>
                <a:latin typeface="맑은 고딕" pitchFamily="50" charset="-127"/>
                <a:ea typeface="맑은 고딕" pitchFamily="50" charset="-127"/>
              </a:rPr>
              <a:t> 나는</a:t>
            </a:r>
            <a:r>
              <a:rPr lang="ko-KR" altLang="en-US" sz="1100" b="0" baseline="0" dirty="0">
                <a:solidFill>
                  <a:schemeClr val="tx1"/>
                </a:solidFill>
                <a:latin typeface="맑은 고딕" pitchFamily="50" charset="-127"/>
                <a:ea typeface="맑은 고딕" pitchFamily="50" charset="-127"/>
              </a:rPr>
              <a:t> 영화를 위한 특별한 방이 있습니다</a:t>
            </a:r>
            <a:r>
              <a:rPr lang="en-US" altLang="ko-KR" sz="1100" b="0" baseline="0" dirty="0">
                <a:solidFill>
                  <a:schemeClr val="tx1"/>
                </a:solidFill>
                <a:latin typeface="맑은 고딕" pitchFamily="50" charset="-127"/>
                <a:ea typeface="맑은 고딕" pitchFamily="50" charset="-127"/>
              </a:rPr>
              <a:t>.</a:t>
            </a:r>
          </a:p>
          <a:p>
            <a:pPr latinLnBrk="1">
              <a:lnSpc>
                <a:spcPct val="150000"/>
              </a:lnSpc>
            </a:pPr>
            <a:r>
              <a:rPr lang="ko-KR" altLang="en-US" sz="1100" b="0" baseline="0" dirty="0">
                <a:solidFill>
                  <a:schemeClr val="tx1"/>
                </a:solidFill>
                <a:latin typeface="맑은 고딕" pitchFamily="50" charset="-127"/>
                <a:ea typeface="맑은 고딕" pitchFamily="50" charset="-127"/>
              </a:rPr>
              <a:t>이 장소는 또한 나의 가족 엔터테인먼트 공간입니다</a:t>
            </a:r>
            <a:r>
              <a:rPr lang="en-US" altLang="ko-KR" sz="1100" b="0" baseline="0" dirty="0">
                <a:solidFill>
                  <a:schemeClr val="tx1"/>
                </a:solidFill>
                <a:latin typeface="맑은 고딕" pitchFamily="50" charset="-127"/>
                <a:ea typeface="맑은 고딕" pitchFamily="50" charset="-127"/>
              </a:rPr>
              <a:t>.</a:t>
            </a:r>
          </a:p>
          <a:p>
            <a:pPr latinLnBrk="1">
              <a:lnSpc>
                <a:spcPct val="150000"/>
              </a:lnSpc>
            </a:pPr>
            <a:r>
              <a:rPr lang="ko-KR" altLang="en-US" sz="1100" b="0" baseline="0" dirty="0">
                <a:solidFill>
                  <a:schemeClr val="tx1"/>
                </a:solidFill>
                <a:latin typeface="맑은 고딕" pitchFamily="50" charset="-127"/>
                <a:ea typeface="맑은 고딕" pitchFamily="50" charset="-127"/>
              </a:rPr>
              <a:t>그리고</a:t>
            </a:r>
            <a:r>
              <a:rPr lang="en-US" altLang="ko-KR" sz="1100" b="0" baseline="0" dirty="0">
                <a:solidFill>
                  <a:schemeClr val="tx1"/>
                </a:solidFill>
                <a:latin typeface="맑은 고딕" pitchFamily="50" charset="-127"/>
                <a:ea typeface="맑은 고딕" pitchFamily="50" charset="-127"/>
              </a:rPr>
              <a:t>, </a:t>
            </a:r>
            <a:r>
              <a:rPr lang="ko-KR" altLang="en-US" sz="1100" b="0" baseline="0" dirty="0">
                <a:solidFill>
                  <a:schemeClr val="tx1"/>
                </a:solidFill>
                <a:latin typeface="맑은 고딕" pitchFamily="50" charset="-127"/>
                <a:ea typeface="맑은 고딕" pitchFamily="50" charset="-127"/>
              </a:rPr>
              <a:t>나는 오토바이를 운전하는 것을 좋아합니다</a:t>
            </a:r>
            <a:r>
              <a:rPr lang="en-US" altLang="ko-KR" sz="1100" b="0" baseline="0" dirty="0">
                <a:solidFill>
                  <a:schemeClr val="tx1"/>
                </a:solidFill>
                <a:latin typeface="맑은 고딕" pitchFamily="50" charset="-127"/>
                <a:ea typeface="맑은 고딕" pitchFamily="50" charset="-127"/>
              </a:rPr>
              <a:t>.</a:t>
            </a:r>
          </a:p>
          <a:p>
            <a:pPr latinLnBrk="1">
              <a:lnSpc>
                <a:spcPct val="150000"/>
              </a:lnSpc>
            </a:pPr>
            <a:r>
              <a:rPr lang="ko-KR" altLang="en-US" sz="1100" b="0" baseline="0" dirty="0">
                <a:solidFill>
                  <a:schemeClr val="tx1"/>
                </a:solidFill>
                <a:latin typeface="맑은 고딕" pitchFamily="50" charset="-127"/>
                <a:ea typeface="맑은 고딕" pitchFamily="50" charset="-127"/>
              </a:rPr>
              <a:t>때때로</a:t>
            </a:r>
            <a:r>
              <a:rPr lang="en-US" altLang="ko-KR" sz="1100" b="0" baseline="0" dirty="0">
                <a:solidFill>
                  <a:schemeClr val="tx1"/>
                </a:solidFill>
                <a:latin typeface="맑은 고딕" pitchFamily="50" charset="-127"/>
                <a:ea typeface="맑은 고딕" pitchFamily="50" charset="-127"/>
              </a:rPr>
              <a:t>, </a:t>
            </a:r>
            <a:r>
              <a:rPr lang="ko-KR" altLang="en-US" sz="1100" b="0" baseline="0" dirty="0">
                <a:solidFill>
                  <a:schemeClr val="tx1"/>
                </a:solidFill>
                <a:latin typeface="맑은 고딕" pitchFamily="50" charset="-127"/>
                <a:ea typeface="맑은 고딕" pitchFamily="50" charset="-127"/>
              </a:rPr>
              <a:t>좋은 날 때 나는 오토바이를 시외로 드라이브 합니다</a:t>
            </a:r>
            <a:r>
              <a:rPr lang="en-US" altLang="ko-KR" sz="1100" b="0" baseline="0" dirty="0">
                <a:solidFill>
                  <a:schemeClr val="tx1"/>
                </a:solidFill>
                <a:latin typeface="맑은 고딕" pitchFamily="50" charset="-127"/>
                <a:ea typeface="맑은 고딕" pitchFamily="50" charset="-127"/>
              </a:rPr>
              <a:t>.</a:t>
            </a:r>
          </a:p>
          <a:p>
            <a:pPr latinLnBrk="1">
              <a:lnSpc>
                <a:spcPct val="150000"/>
              </a:lnSpc>
            </a:pPr>
            <a:r>
              <a:rPr lang="ko-KR" altLang="en-US" sz="1100" b="0" baseline="0" dirty="0">
                <a:solidFill>
                  <a:schemeClr val="tx1"/>
                </a:solidFill>
                <a:latin typeface="맑은 고딕" pitchFamily="50" charset="-127"/>
                <a:ea typeface="맑은 고딕" pitchFamily="50" charset="-127"/>
              </a:rPr>
              <a:t>비록 나는 일 때문에 많은 여유시간은 없지만</a:t>
            </a:r>
            <a:r>
              <a:rPr lang="en-US" altLang="ko-KR" sz="1100" b="0" baseline="0" dirty="0">
                <a:solidFill>
                  <a:schemeClr val="tx1"/>
                </a:solidFill>
                <a:latin typeface="맑은 고딕" pitchFamily="50" charset="-127"/>
                <a:ea typeface="맑은 고딕" pitchFamily="50" charset="-127"/>
              </a:rPr>
              <a:t>,</a:t>
            </a:r>
            <a:r>
              <a:rPr lang="ko-KR" altLang="en-US" sz="1100" b="0" baseline="0" dirty="0">
                <a:solidFill>
                  <a:schemeClr val="tx1"/>
                </a:solidFill>
                <a:latin typeface="맑은 고딕" pitchFamily="50" charset="-127"/>
                <a:ea typeface="맑은 고딕" pitchFamily="50" charset="-127"/>
              </a:rPr>
              <a:t> 나는 지금 만족합니다</a:t>
            </a:r>
            <a:r>
              <a:rPr lang="en-US" altLang="ko-KR" sz="1100" b="0" baseline="0" dirty="0">
                <a:solidFill>
                  <a:schemeClr val="tx1"/>
                </a:solidFill>
                <a:latin typeface="맑은 고딕" pitchFamily="50" charset="-127"/>
                <a:ea typeface="맑은 고딕" pitchFamily="50" charset="-127"/>
              </a:rPr>
              <a:t>.</a:t>
            </a:r>
            <a:r>
              <a:rPr lang="ko-KR" altLang="en-US" sz="1100" b="0" baseline="0" dirty="0">
                <a:solidFill>
                  <a:schemeClr val="tx1"/>
                </a:solidFill>
                <a:latin typeface="맑은 고딕" pitchFamily="50" charset="-127"/>
                <a:ea typeface="맑은 고딕" pitchFamily="50" charset="-127"/>
              </a:rPr>
              <a:t> </a:t>
            </a:r>
            <a:endParaRPr lang="ko-KR" altLang="en-US" sz="1100" dirty="0">
              <a:latin typeface="맑은 고딕" panose="020B0503020000020004" pitchFamily="50" charset="-127"/>
              <a:ea typeface="맑은 고딕" panose="020B0503020000020004" pitchFamily="50" charset="-127"/>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799391"/>
          </a:xfrm>
          <a:prstGeom prst="rect">
            <a:avLst/>
          </a:prstGeom>
          <a:noFill/>
        </p:spPr>
        <p:txBody>
          <a:bodyPr wrap="square" rtlCol="0">
            <a:spAutoFit/>
          </a:bodyPr>
          <a:lstStyle/>
          <a:p>
            <a:pPr latinLnBrk="1">
              <a:lnSpc>
                <a:spcPct val="100000"/>
              </a:lnSpc>
            </a:pPr>
            <a:r>
              <a:rPr lang="en-US" altLang="ko-KR" sz="1100" b="1" dirty="0">
                <a:solidFill>
                  <a:srgbClr val="FF0000"/>
                </a:solidFill>
                <a:latin typeface="맑은 고딕" pitchFamily="50" charset="-127"/>
                <a:ea typeface="맑은 고딕" pitchFamily="50" charset="-127"/>
              </a:rPr>
              <a:t>Let’s get started with the interview.</a:t>
            </a:r>
          </a:p>
          <a:p>
            <a:pPr latinLnBrk="1">
              <a:lnSpc>
                <a:spcPct val="100000"/>
              </a:lnSpc>
            </a:pPr>
            <a:r>
              <a:rPr lang="en-US" altLang="ko-KR" sz="1100" b="1" dirty="0">
                <a:solidFill>
                  <a:srgbClr val="FF0000"/>
                </a:solidFill>
                <a:latin typeface="맑은 고딕" pitchFamily="50" charset="-127"/>
                <a:ea typeface="맑은 고딕" pitchFamily="50" charset="-127"/>
              </a:rPr>
              <a:t>Can you tell me about yourself?</a:t>
            </a:r>
            <a:endParaRPr lang="ko-KR" altLang="en-US" sz="1100" b="1"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50000"/>
              </a:lnSpc>
            </a:pPr>
            <a:r>
              <a:rPr lang="en-US" altLang="ko-KR" sz="1100" b="0" spc="-40" dirty="0">
                <a:solidFill>
                  <a:schemeClr val="tx1"/>
                </a:solidFill>
                <a:latin typeface="맑은 고딕" pitchFamily="50" charset="-127"/>
                <a:ea typeface="맑은 고딕" pitchFamily="50" charset="-127"/>
              </a:rPr>
              <a:t>My name is Peter</a:t>
            </a:r>
            <a:r>
              <a:rPr lang="en-US" altLang="ko-KR" sz="1100" b="0" spc="-40" baseline="0" dirty="0">
                <a:solidFill>
                  <a:schemeClr val="tx1"/>
                </a:solidFill>
                <a:latin typeface="맑은 고딕" pitchFamily="50" charset="-127"/>
                <a:ea typeface="맑은 고딕" pitchFamily="50" charset="-127"/>
              </a:rPr>
              <a:t> and I am in my mid  forties.</a:t>
            </a:r>
          </a:p>
          <a:p>
            <a:pPr latinLnBrk="1">
              <a:lnSpc>
                <a:spcPct val="150000"/>
              </a:lnSpc>
            </a:pPr>
            <a:r>
              <a:rPr lang="en-US" altLang="ko-KR" sz="1100" b="0" baseline="0" dirty="0">
                <a:solidFill>
                  <a:schemeClr val="tx1"/>
                </a:solidFill>
                <a:latin typeface="맑은 고딕" pitchFamily="50" charset="-127"/>
                <a:ea typeface="맑은 고딕" pitchFamily="50" charset="-127"/>
              </a:rPr>
              <a:t>I am average height and wear glasses.</a:t>
            </a:r>
          </a:p>
          <a:p>
            <a:pPr latinLnBrk="1">
              <a:lnSpc>
                <a:spcPct val="150000"/>
              </a:lnSpc>
            </a:pPr>
            <a:r>
              <a:rPr lang="en-US" altLang="ko-KR" sz="1100" b="0" spc="-70" dirty="0">
                <a:solidFill>
                  <a:schemeClr val="tx1"/>
                </a:solidFill>
                <a:latin typeface="맑은 고딕" pitchFamily="50" charset="-127"/>
                <a:ea typeface="맑은 고딕" pitchFamily="50" charset="-127"/>
              </a:rPr>
              <a:t>I majored in electrical engineering when I was in university.</a:t>
            </a:r>
          </a:p>
          <a:p>
            <a:pPr latinLnBrk="1">
              <a:lnSpc>
                <a:spcPct val="150000"/>
              </a:lnSpc>
            </a:pPr>
            <a:r>
              <a:rPr lang="en-US" altLang="ko-KR" sz="1100" b="0" baseline="0" dirty="0">
                <a:solidFill>
                  <a:schemeClr val="tx1"/>
                </a:solidFill>
                <a:latin typeface="맑은 고딕" pitchFamily="50" charset="-127"/>
                <a:ea typeface="맑은 고딕" pitchFamily="50" charset="-127"/>
              </a:rPr>
              <a:t>I am married and have son and daughter.</a:t>
            </a:r>
          </a:p>
          <a:p>
            <a:pPr latinLnBrk="1">
              <a:lnSpc>
                <a:spcPct val="150000"/>
              </a:lnSpc>
            </a:pPr>
            <a:r>
              <a:rPr lang="en-US" altLang="ko-KR" sz="1100" b="0" spc="-80" baseline="0" dirty="0">
                <a:solidFill>
                  <a:schemeClr val="tx1"/>
                </a:solidFill>
                <a:latin typeface="맑은 고딕" pitchFamily="50" charset="-127"/>
                <a:ea typeface="맑은 고딕" pitchFamily="50" charset="-127"/>
              </a:rPr>
              <a:t>My son is sixteen years old and my daughter is nineteen years old.</a:t>
            </a:r>
          </a:p>
          <a:p>
            <a:pPr latinLnBrk="1">
              <a:lnSpc>
                <a:spcPct val="150000"/>
              </a:lnSpc>
            </a:pPr>
            <a:r>
              <a:rPr lang="en-US" altLang="ko-KR" sz="1100" b="0" baseline="0" dirty="0">
                <a:solidFill>
                  <a:schemeClr val="tx1"/>
                </a:solidFill>
                <a:latin typeface="맑은 고딕" pitchFamily="50" charset="-127"/>
                <a:ea typeface="맑은 고딕" pitchFamily="50" charset="-127"/>
              </a:rPr>
              <a:t>As for my personality, I’m an outgoing person who has a positive attitude.</a:t>
            </a:r>
          </a:p>
          <a:p>
            <a:pPr latinLnBrk="1">
              <a:lnSpc>
                <a:spcPct val="150000"/>
              </a:lnSpc>
            </a:pPr>
            <a:r>
              <a:rPr lang="en-US" altLang="ko-KR" sz="1100" b="0" baseline="0" dirty="0">
                <a:solidFill>
                  <a:schemeClr val="tx1"/>
                </a:solidFill>
                <a:latin typeface="맑은 고딕" pitchFamily="50" charset="-127"/>
                <a:ea typeface="맑은 고딕" pitchFamily="50" charset="-127"/>
              </a:rPr>
              <a:t>In my free time, I like to watch movies.</a:t>
            </a:r>
          </a:p>
          <a:p>
            <a:pPr latinLnBrk="1">
              <a:lnSpc>
                <a:spcPct val="150000"/>
              </a:lnSpc>
            </a:pPr>
            <a:r>
              <a:rPr lang="en-US" altLang="ko-KR" sz="1100" b="0" baseline="0" dirty="0">
                <a:solidFill>
                  <a:schemeClr val="tx1"/>
                </a:solidFill>
                <a:latin typeface="맑은 고딕" pitchFamily="50" charset="-127"/>
                <a:ea typeface="맑은 고딕" pitchFamily="50" charset="-127"/>
              </a:rPr>
              <a:t>So, I have special room for movies.</a:t>
            </a:r>
          </a:p>
          <a:p>
            <a:pPr latinLnBrk="1">
              <a:lnSpc>
                <a:spcPct val="150000"/>
              </a:lnSpc>
            </a:pPr>
            <a:r>
              <a:rPr lang="en-US" altLang="ko-KR" sz="1100" b="0" baseline="0" dirty="0">
                <a:solidFill>
                  <a:schemeClr val="tx1"/>
                </a:solidFill>
                <a:latin typeface="맑은 고딕" pitchFamily="50" charset="-127"/>
                <a:ea typeface="맑은 고딕" pitchFamily="50" charset="-127"/>
              </a:rPr>
              <a:t>This place is also my family entertainment space.</a:t>
            </a:r>
          </a:p>
          <a:p>
            <a:pPr latinLnBrk="1">
              <a:lnSpc>
                <a:spcPct val="150000"/>
              </a:lnSpc>
            </a:pPr>
            <a:r>
              <a:rPr lang="en-US" altLang="ko-KR" sz="1100" b="0" baseline="0" dirty="0">
                <a:solidFill>
                  <a:schemeClr val="tx1"/>
                </a:solidFill>
                <a:latin typeface="맑은 고딕" pitchFamily="50" charset="-127"/>
                <a:ea typeface="맑은 고딕" pitchFamily="50" charset="-127"/>
              </a:rPr>
              <a:t>And I like to drive motorcycle.</a:t>
            </a:r>
          </a:p>
          <a:p>
            <a:pPr latinLnBrk="1">
              <a:lnSpc>
                <a:spcPct val="150000"/>
              </a:lnSpc>
            </a:pPr>
            <a:r>
              <a:rPr lang="en-US" altLang="ko-KR" sz="1100" b="0" baseline="0" dirty="0">
                <a:solidFill>
                  <a:schemeClr val="tx1"/>
                </a:solidFill>
                <a:latin typeface="맑은 고딕" pitchFamily="50" charset="-127"/>
                <a:ea typeface="맑은 고딕" pitchFamily="50" charset="-127"/>
              </a:rPr>
              <a:t>Sometimes, when it’s fine day, I drive the motorcycle in the countryside.</a:t>
            </a:r>
          </a:p>
          <a:p>
            <a:pPr latinLnBrk="1">
              <a:lnSpc>
                <a:spcPct val="150000"/>
              </a:lnSpc>
            </a:pPr>
            <a:r>
              <a:rPr lang="en-US" altLang="ko-KR" sz="1100" b="0" baseline="0" dirty="0">
                <a:solidFill>
                  <a:schemeClr val="tx1"/>
                </a:solidFill>
                <a:latin typeface="맑은 고딕" pitchFamily="50" charset="-127"/>
                <a:ea typeface="맑은 고딕" pitchFamily="50" charset="-127"/>
              </a:rPr>
              <a:t>Although I  don’t have a lot of free times due to work, but I am satisfied now.</a:t>
            </a:r>
            <a:endParaRPr lang="ko-KR" altLang="en-US" sz="1100" dirty="0"/>
          </a:p>
        </p:txBody>
      </p:sp>
    </p:spTree>
    <p:extLst>
      <p:ext uri="{BB962C8B-B14F-4D97-AF65-F5344CB8AC3E}">
        <p14:creationId xmlns:p14="http://schemas.microsoft.com/office/powerpoint/2010/main" val="1271824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873474"/>
            <a:ext cx="6858000" cy="3231654"/>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01 </a:t>
            </a: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lnSpc>
                <a:spcPct val="150000"/>
              </a:lnSpc>
            </a:pPr>
            <a:r>
              <a:rPr lang="en-US" altLang="ko-KR" sz="5400" b="1">
                <a:latin typeface="맑은 고딕" pitchFamily="50" charset="-127"/>
                <a:ea typeface="맑은 고딕" pitchFamily="50" charset="-127"/>
              </a:rPr>
              <a:t>Restaurants</a:t>
            </a:r>
          </a:p>
          <a:p>
            <a:pPr algn="ctr">
              <a:lnSpc>
                <a:spcPct val="150000"/>
              </a:lnSpc>
            </a:pPr>
            <a:r>
              <a:rPr lang="ko-KR" altLang="en-US" sz="2800" b="1">
                <a:solidFill>
                  <a:schemeClr val="tx2"/>
                </a:solidFill>
                <a:latin typeface="맑은 고딕" pitchFamily="50" charset="-127"/>
                <a:ea typeface="맑은 고딕" pitchFamily="50" charset="-127"/>
              </a:rPr>
              <a:t>음식점 </a:t>
            </a:r>
            <a:r>
              <a:rPr lang="ko-KR" altLang="en-US" sz="2800" b="1">
                <a:solidFill>
                  <a:schemeClr val="tx2"/>
                </a:solidFill>
                <a:latin typeface="맑은 고딕"/>
                <a:ea typeface="맑은 고딕"/>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6" name="슬라이드 번호 개체 틀 5">
            <a:extLst>
              <a:ext uri="{FF2B5EF4-FFF2-40B4-BE49-F238E27FC236}">
                <a16:creationId xmlns:a16="http://schemas.microsoft.com/office/drawing/2014/main" xmlns="" id="{284517A1-3106-ECFB-522A-CDFF6B824DEF}"/>
              </a:ext>
            </a:extLst>
          </p:cNvPr>
          <p:cNvSpPr>
            <a:spLocks noGrp="1"/>
          </p:cNvSpPr>
          <p:nvPr>
            <p:ph type="sldNum" sz="quarter" idx="12"/>
          </p:nvPr>
        </p:nvSpPr>
        <p:spPr/>
        <p:txBody>
          <a:bodyPr/>
          <a:lstStyle/>
          <a:p>
            <a:fld id="{18CC7079-95A2-4860-A138-51A9FC969471}" type="slidenum">
              <a:rPr lang="ko-KR" altLang="en-US" smtClean="0"/>
              <a:t>4</a:t>
            </a:fld>
            <a:endParaRPr lang="ko-KR" altLang="en-US"/>
          </a:p>
        </p:txBody>
      </p:sp>
    </p:spTree>
    <p:extLst>
      <p:ext uri="{BB962C8B-B14F-4D97-AF65-F5344CB8AC3E}">
        <p14:creationId xmlns:p14="http://schemas.microsoft.com/office/powerpoint/2010/main" val="523771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5</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199226"/>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보편적인 음식점 묘사</a:t>
            </a:r>
            <a:r>
              <a:rPr lang="en-US" altLang="ko-KR" sz="1100" b="1" baseline="0" dirty="0">
                <a:solidFill>
                  <a:srgbClr val="FF0000"/>
                </a:solidFill>
                <a:latin typeface="맑은 고딕" pitchFamily="50" charset="-127"/>
                <a:ea typeface="맑은 고딕" pitchFamily="50" charset="-127"/>
              </a:rPr>
              <a:t> </a:t>
            </a:r>
          </a:p>
          <a:p>
            <a:pPr>
              <a:lnSpc>
                <a:spcPct val="100000"/>
              </a:lnSpc>
            </a:pPr>
            <a:r>
              <a:rPr lang="ko-KR" altLang="en-US" sz="1100" b="0" i="0" kern="1200" spc="-30" dirty="0">
                <a:solidFill>
                  <a:srgbClr val="0070C0"/>
                </a:solidFill>
                <a:effectLst/>
                <a:latin typeface="+mn-lt"/>
                <a:ea typeface="+mn-ea"/>
                <a:cs typeface="+mn-cs"/>
              </a:rPr>
              <a:t>나는 당신의 나라에 있는 식당에 대해 알고 싶습니다</a:t>
            </a:r>
            <a:r>
              <a:rPr lang="en-US" altLang="ko-KR" sz="1100" b="0" i="0" kern="1200" spc="-30" dirty="0">
                <a:solidFill>
                  <a:srgbClr val="0070C0"/>
                </a:solidFill>
                <a:effectLst/>
                <a:latin typeface="+mn-lt"/>
                <a:ea typeface="+mn-ea"/>
                <a:cs typeface="+mn-cs"/>
              </a:rPr>
              <a:t>.</a:t>
            </a:r>
            <a:r>
              <a:rPr lang="ko-KR" altLang="en-US" sz="1100" b="0" dirty="0">
                <a:solidFill>
                  <a:srgbClr val="0070C0"/>
                </a:solidFill>
              </a:rPr>
              <a:t/>
            </a:r>
            <a:br>
              <a:rPr lang="ko-KR" altLang="en-US" sz="1100" b="0" dirty="0">
                <a:solidFill>
                  <a:srgbClr val="0070C0"/>
                </a:solidFill>
              </a:rPr>
            </a:br>
            <a:r>
              <a:rPr lang="ko-KR" altLang="en-US" sz="1100" b="0" i="0" kern="1200" dirty="0">
                <a:solidFill>
                  <a:srgbClr val="0070C0"/>
                </a:solidFill>
                <a:effectLst/>
                <a:latin typeface="+mn-lt"/>
                <a:ea typeface="+mn-ea"/>
                <a:cs typeface="+mn-cs"/>
              </a:rPr>
              <a:t>전형적인 레스토랑은 어떤 곳인가요</a:t>
            </a:r>
            <a:r>
              <a:rPr lang="en-US" altLang="ko-KR" sz="1100" b="0" i="0" kern="1200" dirty="0">
                <a:solidFill>
                  <a:srgbClr val="0070C0"/>
                </a:solidFill>
                <a:effectLst/>
                <a:latin typeface="+mn-lt"/>
                <a:ea typeface="+mn-ea"/>
                <a:cs typeface="+mn-cs"/>
              </a:rPr>
              <a:t>?</a:t>
            </a:r>
            <a:r>
              <a:rPr lang="en-US" altLang="ko-KR" sz="1100" b="0" i="0" kern="1200" dirty="0">
                <a:solidFill>
                  <a:schemeClr val="lt1"/>
                </a:solidFill>
                <a:effectLst/>
                <a:latin typeface="+mn-lt"/>
                <a:ea typeface="+mn-ea"/>
                <a:cs typeface="+mn-cs"/>
              </a:rPr>
              <a:t>?</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한국에는 많은 바비큐 식당들이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그들의 많은 수는 복잡한 거리에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그들은 찾기 쉽습니다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그들이 어디에나 있기 때문에</a:t>
            </a:r>
            <a:endParaRPr lang="en-US" altLang="ko-KR" sz="1100" b="0" i="0" u="none" strike="noStrike" kern="1200" baseline="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그들은 소고기</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돼지고기</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치킨 같은 여러가지 타입의 고기를 제공합니다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이 식당에는</a:t>
            </a:r>
            <a:r>
              <a:rPr lang="en-US" altLang="ko-KR" sz="1100" b="0" i="0" u="none" strike="noStrike" kern="1200" baseline="0" dirty="0">
                <a:solidFill>
                  <a:schemeClr val="tx1"/>
                </a:solidFill>
                <a:latin typeface="+mn-lt"/>
                <a:ea typeface="+mn-ea"/>
                <a:cs typeface="+mn-cs"/>
              </a:rPr>
              <a:t>,</a:t>
            </a:r>
            <a:r>
              <a:rPr lang="ko-KR" altLang="en-US" sz="1100" b="0" i="0" u="none" strike="noStrike" kern="1200" baseline="0" dirty="0">
                <a:solidFill>
                  <a:schemeClr val="tx1"/>
                </a:solidFill>
                <a:latin typeface="+mn-lt"/>
                <a:ea typeface="+mn-ea"/>
                <a:cs typeface="+mn-cs"/>
              </a:rPr>
              <a:t> 각 테이블에 바비큐 그릴이 있습니다</a:t>
            </a:r>
            <a:r>
              <a:rPr lang="en-US" altLang="ko-KR" sz="1100" b="0" i="0" u="none" strike="noStrike" kern="1200" baseline="0" dirty="0">
                <a:solidFill>
                  <a:schemeClr val="tx1"/>
                </a:solidFill>
                <a:latin typeface="+mn-lt"/>
                <a:ea typeface="+mn-ea"/>
                <a:cs typeface="+mn-cs"/>
              </a:rPr>
              <a:t>.</a:t>
            </a:r>
            <a:r>
              <a:rPr lang="ko-KR" altLang="en-US" sz="1100" b="0" i="0" u="none" strike="noStrike" kern="1200" baseline="0" dirty="0">
                <a:solidFill>
                  <a:schemeClr val="tx1"/>
                </a:solidFill>
                <a:latin typeface="+mn-lt"/>
                <a:ea typeface="+mn-ea"/>
                <a:cs typeface="+mn-cs"/>
              </a:rPr>
              <a:t> </a:t>
            </a: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손님들은 그들 자신이 고기를 굽습니다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그래서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바비큐 장소들은 한국에서 가장 전형적인 레스토랑입니다</a:t>
            </a:r>
            <a:r>
              <a:rPr lang="en-US" altLang="ko-KR" sz="1100" b="0" i="0" u="none" strike="noStrike" kern="1200" baseline="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199226"/>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보편적인 음식점 묘사</a:t>
            </a:r>
            <a:r>
              <a:rPr lang="en-US" altLang="ko-KR" sz="1100" b="1" baseline="0" dirty="0">
                <a:solidFill>
                  <a:srgbClr val="FF0000"/>
                </a:solidFill>
                <a:latin typeface="맑은 고딕" pitchFamily="50" charset="-127"/>
                <a:ea typeface="맑은 고딕" pitchFamily="50" charset="-127"/>
              </a:rPr>
              <a:t> </a:t>
            </a:r>
          </a:p>
          <a:p>
            <a:pPr>
              <a:lnSpc>
                <a:spcPct val="100000"/>
              </a:lnSpc>
            </a:pPr>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 want to know about restaurants in your country.</a:t>
            </a:r>
          </a:p>
          <a:p>
            <a:pPr>
              <a:lnSpc>
                <a:spcPct val="100000"/>
              </a:lnSpc>
            </a:pPr>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are typical restaurants like?</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There are many barbeque restaurants in Korea.</a:t>
            </a:r>
          </a:p>
          <a:p>
            <a:pPr>
              <a:lnSpc>
                <a:spcPct val="150000"/>
              </a:lnSpc>
            </a:pPr>
            <a:r>
              <a:rPr lang="en-US" altLang="ko-KR" sz="1100" b="0" i="0" u="none" strike="noStrike" kern="1200" baseline="0" dirty="0">
                <a:solidFill>
                  <a:schemeClr val="tx1"/>
                </a:solidFill>
                <a:latin typeface="+mn-lt"/>
                <a:ea typeface="+mn-ea"/>
                <a:cs typeface="+mn-cs"/>
              </a:rPr>
              <a:t>Many of them are on busy streets.</a:t>
            </a:r>
          </a:p>
          <a:p>
            <a:pPr>
              <a:lnSpc>
                <a:spcPct val="150000"/>
              </a:lnSpc>
            </a:pPr>
            <a:r>
              <a:rPr lang="en-US" altLang="ko-KR" sz="1100" b="0" i="0" u="none" strike="noStrike" kern="1200" baseline="0" dirty="0">
                <a:solidFill>
                  <a:schemeClr val="tx1"/>
                </a:solidFill>
                <a:latin typeface="+mn-lt"/>
                <a:ea typeface="+mn-ea"/>
                <a:cs typeface="+mn-cs"/>
              </a:rPr>
              <a:t>They are easy to find because they are everywhere.</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They serve various types of meat such as beef, pork and chicken.</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At these restaurants, there is a barbeque grill on each table.</a:t>
            </a:r>
          </a:p>
          <a:p>
            <a:pPr>
              <a:lnSpc>
                <a:spcPct val="150000"/>
              </a:lnSpc>
            </a:pPr>
            <a:r>
              <a:rPr lang="en-US" altLang="ko-KR" sz="1100" b="0" i="0" u="none" strike="noStrike" kern="1200" baseline="0" dirty="0">
                <a:solidFill>
                  <a:schemeClr val="tx1"/>
                </a:solidFill>
                <a:latin typeface="+mn-lt"/>
                <a:ea typeface="+mn-ea"/>
                <a:cs typeface="+mn-cs"/>
              </a:rPr>
              <a:t>Customers grill the meat themselves.</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So, barbeque places are the most typical restaurants in Korea.</a:t>
            </a:r>
            <a:endParaRPr lang="ko-KR" altLang="en-US" sz="1100" b="0" dirty="0">
              <a:solidFill>
                <a:schemeClr val="tx1"/>
              </a:solidFill>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최근에</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음식점에 갔었던 경험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a:lnSpc>
                <a:spcPct val="100000"/>
              </a:lnSpc>
            </a:pPr>
            <a:r>
              <a:rPr lang="ko-KR" altLang="en-US" sz="1100" b="0" i="0" kern="1200" dirty="0">
                <a:solidFill>
                  <a:srgbClr val="0070C0"/>
                </a:solidFill>
                <a:effectLst/>
                <a:latin typeface="+mn-lt"/>
                <a:ea typeface="+mn-ea"/>
                <a:cs typeface="+mn-cs"/>
              </a:rPr>
              <a:t>최근에 먹었던 레스토랑에 대해 말해주세요</a:t>
            </a:r>
            <a:r>
              <a:rPr lang="en-US" altLang="ko-KR" sz="1100" b="0" i="0" kern="1200" dirty="0">
                <a:solidFill>
                  <a:srgbClr val="0070C0"/>
                </a:solidFill>
                <a:effectLst/>
                <a:latin typeface="+mn-lt"/>
                <a:ea typeface="+mn-ea"/>
                <a:cs typeface="+mn-cs"/>
              </a:rPr>
              <a:t>.</a:t>
            </a:r>
            <a:r>
              <a:rPr lang="ko-KR" altLang="en-US" sz="1100" b="0" dirty="0">
                <a:solidFill>
                  <a:srgbClr val="0070C0"/>
                </a:solidFill>
              </a:rPr>
              <a:t/>
            </a:r>
            <a:br>
              <a:rPr lang="ko-KR" altLang="en-US" sz="1100" b="0" dirty="0">
                <a:solidFill>
                  <a:srgbClr val="0070C0"/>
                </a:solidFill>
              </a:rPr>
            </a:br>
            <a:r>
              <a:rPr lang="ko-KR" altLang="en-US" sz="1100" b="0" i="0" kern="1200" dirty="0">
                <a:solidFill>
                  <a:srgbClr val="0070C0"/>
                </a:solidFill>
                <a:effectLst/>
                <a:latin typeface="+mn-lt"/>
                <a:ea typeface="+mn-ea"/>
                <a:cs typeface="+mn-cs"/>
              </a:rPr>
              <a:t>어떤 종류의 레스토랑이었나요</a:t>
            </a:r>
            <a:r>
              <a:rPr lang="en-US" altLang="ko-KR" sz="1100" b="0" i="0" kern="1200" dirty="0">
                <a:solidFill>
                  <a:srgbClr val="0070C0"/>
                </a:solidFill>
                <a:effectLst/>
                <a:latin typeface="+mn-lt"/>
                <a:ea typeface="+mn-ea"/>
                <a:cs typeface="+mn-cs"/>
              </a:rPr>
              <a:t>?</a:t>
            </a:r>
            <a:r>
              <a:rPr lang="ko-KR" altLang="en-US" sz="1100" b="0" dirty="0">
                <a:solidFill>
                  <a:srgbClr val="0070C0"/>
                </a:solidFill>
              </a:rPr>
              <a:t/>
            </a:r>
            <a:br>
              <a:rPr lang="ko-KR" altLang="en-US" sz="1100" b="0" dirty="0">
                <a:solidFill>
                  <a:srgbClr val="0070C0"/>
                </a:solidFill>
              </a:rPr>
            </a:br>
            <a:r>
              <a:rPr lang="ko-KR" altLang="en-US" sz="1100" b="0" i="0" kern="1200" spc="-50" dirty="0">
                <a:solidFill>
                  <a:srgbClr val="0070C0"/>
                </a:solidFill>
                <a:effectLst/>
                <a:latin typeface="+mn-lt"/>
                <a:ea typeface="+mn-ea"/>
                <a:cs typeface="+mn-cs"/>
              </a:rPr>
              <a:t>당신은 그곳에서 무엇을 먹었고 누구와 함께 갔습니까</a:t>
            </a:r>
            <a:r>
              <a:rPr lang="en-US" altLang="ko-KR" sz="1100" b="0" i="0" kern="1200" spc="-50" dirty="0">
                <a:solidFill>
                  <a:srgbClr val="0070C0"/>
                </a:solidFill>
                <a:effectLst/>
                <a:latin typeface="+mn-lt"/>
                <a:ea typeface="+mn-ea"/>
                <a:cs typeface="+mn-cs"/>
              </a:rPr>
              <a:t>?</a:t>
            </a:r>
            <a:r>
              <a:rPr lang="ko-KR" altLang="en-US" sz="1100" b="0" dirty="0">
                <a:solidFill>
                  <a:srgbClr val="0070C0"/>
                </a:solidFill>
              </a:rPr>
              <a:t/>
            </a:r>
            <a:br>
              <a:rPr lang="ko-KR" altLang="en-US" sz="1100" b="0" dirty="0">
                <a:solidFill>
                  <a:srgbClr val="0070C0"/>
                </a:solidFill>
              </a:rPr>
            </a:br>
            <a:r>
              <a:rPr lang="ko-KR" altLang="en-US" sz="1100" b="0" i="0" kern="1200" dirty="0">
                <a:solidFill>
                  <a:srgbClr val="0070C0"/>
                </a:solidFill>
                <a:effectLst/>
                <a:latin typeface="+mn-lt"/>
                <a:ea typeface="+mn-ea"/>
                <a:cs typeface="+mn-cs"/>
              </a:rPr>
              <a:t>음식 맛이 </a:t>
            </a:r>
            <a:r>
              <a:rPr lang="ko-KR" altLang="en-US" sz="1100" b="0" i="0" kern="1200" dirty="0" err="1">
                <a:solidFill>
                  <a:srgbClr val="0070C0"/>
                </a:solidFill>
                <a:effectLst/>
                <a:latin typeface="+mn-lt"/>
                <a:ea typeface="+mn-ea"/>
                <a:cs typeface="+mn-cs"/>
              </a:rPr>
              <a:t>어땠어요</a:t>
            </a:r>
            <a:r>
              <a:rPr lang="en-US" altLang="ko-KR" sz="1100" b="0" i="0" kern="1200" dirty="0">
                <a:solidFill>
                  <a:srgbClr val="0070C0"/>
                </a:solidFill>
                <a:effectLst/>
                <a:latin typeface="+mn-lt"/>
                <a:ea typeface="+mn-ea"/>
                <a:cs typeface="+mn-cs"/>
              </a:rPr>
              <a:t>?</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가족과 나는 지난 주말에 저녁을 먹었습니다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굉장한 멕시칸 레스토랑에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타운에서 베스트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타코를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주문한 새우는 즙이 많고 부드러웠습니다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식사와 함께 맥주를 마셨습니다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저녁 식사였습니다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52981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최근에</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음식점에 갔었던 경험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a:lnSpc>
                <a:spcPct val="100000"/>
              </a:lnSpc>
            </a:pPr>
            <a:r>
              <a:rPr lang="en-US" altLang="ko-KR" sz="1100" b="0" i="0" u="none" strike="noStrike" kern="1200" baseline="0" dirty="0">
                <a:solidFill>
                  <a:srgbClr val="FF0000"/>
                </a:solidFill>
                <a:latin typeface="+mn-lt"/>
                <a:ea typeface="+mn-ea"/>
                <a:cs typeface="+mn-cs"/>
              </a:rPr>
              <a:t>Tell me about a restaurant you ate at recently.</a:t>
            </a:r>
          </a:p>
          <a:p>
            <a:pPr>
              <a:lnSpc>
                <a:spcPct val="100000"/>
              </a:lnSpc>
            </a:pPr>
            <a:r>
              <a:rPr lang="en-US" altLang="ko-KR" sz="1100" b="0" i="0" u="none" strike="noStrike" kern="1200" baseline="0" dirty="0">
                <a:solidFill>
                  <a:srgbClr val="FF0000"/>
                </a:solidFill>
                <a:latin typeface="+mn-lt"/>
                <a:ea typeface="+mn-ea"/>
                <a:cs typeface="+mn-cs"/>
              </a:rPr>
              <a:t>What kind of restaurant was it?</a:t>
            </a:r>
          </a:p>
          <a:p>
            <a:pPr>
              <a:lnSpc>
                <a:spcPct val="100000"/>
              </a:lnSpc>
            </a:pPr>
            <a:r>
              <a:rPr lang="en-US" altLang="ko-KR" sz="1100" b="0" i="0" u="none" strike="noStrike" kern="1200" baseline="0" dirty="0">
                <a:solidFill>
                  <a:srgbClr val="FF0000"/>
                </a:solidFill>
                <a:latin typeface="+mn-lt"/>
                <a:ea typeface="+mn-ea"/>
                <a:cs typeface="+mn-cs"/>
              </a:rPr>
              <a:t>What did you eat there and who did you go with?</a:t>
            </a:r>
          </a:p>
          <a:p>
            <a:pPr>
              <a:lnSpc>
                <a:spcPct val="100000"/>
              </a:lnSpc>
            </a:pPr>
            <a:r>
              <a:rPr lang="en-US" altLang="ko-KR" sz="1100" b="0" i="0" u="none" strike="noStrike" kern="1200" baseline="0" dirty="0">
                <a:solidFill>
                  <a:srgbClr val="FF0000"/>
                </a:solidFill>
                <a:latin typeface="+mn-lt"/>
                <a:ea typeface="+mn-ea"/>
                <a:cs typeface="+mn-cs"/>
              </a:rPr>
              <a:t>Did you like how the food tasted?</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My family and I had dinner last weekend.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went to a great Mexican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the best tacos in town.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shrimp I ordered was very juicy and tender.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had some beer with the meal.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dinner.</a:t>
            </a:r>
          </a:p>
        </p:txBody>
      </p:sp>
    </p:spTree>
    <p:extLst>
      <p:ext uri="{BB962C8B-B14F-4D97-AF65-F5344CB8AC3E}">
        <p14:creationId xmlns:p14="http://schemas.microsoft.com/office/powerpoint/2010/main" val="2671520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46083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갔던 음식점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이제</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네가 어렸을 때 가던 식당에 대해 말해주세요</a:t>
            </a:r>
            <a:r>
              <a:rPr lang="en-US" altLang="ko-KR" sz="1100" b="0" i="0" kern="1200" dirty="0">
                <a:solidFill>
                  <a:srgbClr val="0070C0"/>
                </a:solidFill>
                <a:effectLst/>
                <a:latin typeface="+mn-lt"/>
                <a:ea typeface="+mn-ea"/>
                <a:cs typeface="+mn-cs"/>
              </a:rPr>
              <a:t>.</a:t>
            </a:r>
            <a:r>
              <a:rPr lang="ko-KR" altLang="en-US" sz="1100" b="0" dirty="0">
                <a:solidFill>
                  <a:srgbClr val="0070C0"/>
                </a:solidFill>
              </a:rPr>
              <a:t/>
            </a:r>
            <a:br>
              <a:rPr lang="ko-KR" altLang="en-US" sz="1100" b="0" dirty="0">
                <a:solidFill>
                  <a:srgbClr val="0070C0"/>
                </a:solidFill>
              </a:rPr>
            </a:br>
            <a:r>
              <a:rPr lang="ko-KR" altLang="en-US" sz="1100" b="0" i="0" kern="1200" dirty="0">
                <a:solidFill>
                  <a:srgbClr val="0070C0"/>
                </a:solidFill>
                <a:effectLst/>
                <a:latin typeface="+mn-lt"/>
                <a:ea typeface="+mn-ea"/>
                <a:cs typeface="+mn-cs"/>
              </a:rPr>
              <a:t>그거 </a:t>
            </a:r>
            <a:r>
              <a:rPr lang="ko-KR" altLang="en-US" sz="1100" b="0" i="0" kern="1200" dirty="0" err="1">
                <a:solidFill>
                  <a:srgbClr val="0070C0"/>
                </a:solidFill>
                <a:effectLst/>
                <a:latin typeface="+mn-lt"/>
                <a:ea typeface="+mn-ea"/>
                <a:cs typeface="+mn-cs"/>
              </a:rPr>
              <a:t>어땠어요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 장소에 대해 가장 기억에 남는 것은 무엇입니까</a:t>
            </a:r>
            <a:r>
              <a:rPr lang="en-US" altLang="ko-KR" sz="1100" b="0" i="0" kern="1200" dirty="0">
                <a:solidFill>
                  <a:srgbClr val="0070C0"/>
                </a:solidFill>
                <a:effectLst/>
                <a:latin typeface="+mn-lt"/>
                <a:ea typeface="+mn-ea"/>
                <a:cs typeface="+mn-cs"/>
              </a:rPr>
              <a:t>?</a:t>
            </a:r>
            <a:r>
              <a:rPr lang="ko-KR" altLang="en-US" sz="1100" b="0" dirty="0">
                <a:solidFill>
                  <a:srgbClr val="0070C0"/>
                </a:solidFill>
              </a:rPr>
              <a:t/>
            </a:r>
            <a:br>
              <a:rPr lang="ko-KR" altLang="en-US" sz="1100" b="0" dirty="0">
                <a:solidFill>
                  <a:srgbClr val="0070C0"/>
                </a:solidFill>
              </a:rPr>
            </a:br>
            <a:r>
              <a:rPr lang="ko-KR" altLang="en-US" sz="1100" b="0" i="0" kern="1200" dirty="0">
                <a:solidFill>
                  <a:srgbClr val="0070C0"/>
                </a:solidFill>
                <a:effectLst/>
                <a:latin typeface="+mn-lt"/>
                <a:ea typeface="+mn-ea"/>
                <a:cs typeface="+mn-cs"/>
              </a:rPr>
              <a:t>그 식당에 대해 가능한 한 자세히 알려주세요</a:t>
            </a:r>
            <a:r>
              <a:rPr lang="en-US" altLang="ko-KR" sz="1100" b="0" i="0" kern="1200" dirty="0">
                <a:solidFill>
                  <a:srgbClr val="0070C0"/>
                </a:solidFill>
                <a:effectLst/>
                <a:latin typeface="+mn-lt"/>
                <a:ea typeface="+mn-ea"/>
                <a:cs typeface="+mn-cs"/>
              </a:rPr>
              <a:t>.</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어렸을 때 나의 집 근처 맥도날드에 갔던 기억이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치즈 버거 콤보를 시켰습니다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또한 치킨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너겟과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치킨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텐더도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시켰습니다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버거는 맛이 놀아왔습니다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프랜치</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프라이는 매우 바삭하고 아삭하였습니다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다른 사이드 음식들 또한 정말 맛있었습니다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40" dirty="0">
                <a:solidFill>
                  <a:schemeClr val="tx1"/>
                </a:solidFill>
                <a:latin typeface="맑은 고딕" panose="020B0503020000020004" pitchFamily="50" charset="-127"/>
                <a:ea typeface="맑은 고딕" panose="020B0503020000020004" pitchFamily="50" charset="-127"/>
                <a:cs typeface="+mn-cs"/>
              </a:rPr>
              <a:t>나는 아직도 그 음식이 얼마나 맛있었는지 기억합니다</a:t>
            </a:r>
            <a:r>
              <a:rPr lang="en-US" altLang="ko-KR" sz="1100" b="0" i="0" u="none" strike="noStrike" kern="1200" spc="-4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레스토랑이었습니다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갔던 음식점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90" dirty="0">
                <a:solidFill>
                  <a:srgbClr val="FF0000"/>
                </a:solidFill>
                <a:latin typeface="맑은 고딕" panose="020B0503020000020004" pitchFamily="50" charset="-127"/>
                <a:ea typeface="맑은 고딕" panose="020B0503020000020004" pitchFamily="50" charset="-127"/>
                <a:cs typeface="+mn-cs"/>
              </a:rPr>
              <a:t>Now, tell me about a restaurant you used to go to as a child.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it like? What do you remember most about that place?</a:t>
            </a:r>
          </a:p>
          <a:p>
            <a:r>
              <a:rPr lang="en-US" altLang="ko-KR" sz="1100" b="0" i="0" u="none" strike="noStrike" kern="1200" spc="-70" baseline="0" dirty="0">
                <a:solidFill>
                  <a:srgbClr val="FF0000"/>
                </a:solidFill>
                <a:latin typeface="맑은 고딕" panose="020B0503020000020004" pitchFamily="50" charset="-127"/>
                <a:ea typeface="맑은 고딕" panose="020B0503020000020004" pitchFamily="50" charset="-127"/>
                <a:cs typeface="+mn-cs"/>
              </a:rPr>
              <a:t>Tell me about that restaurant in as much detail as possible.</a:t>
            </a:r>
            <a:endParaRPr lang="ko-KR" altLang="en-US" sz="1100" b="0"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McDonald’s near my house when I was a kid.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a cheese burger combo.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also got chicken nuggets and chicken tenders.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burger tasted amazing.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a:t>
            </a:r>
            <a:r>
              <a:rPr lang="en-US" altLang="ko-KR"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french</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fries were very crispy and crunchy.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Other side dishes were really tasty as well.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still remember how good the food was.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restaurant.</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799391"/>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04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가장 좋아하는 </a:t>
            </a:r>
            <a:r>
              <a:rPr lang="ko-KR" altLang="en-US" sz="1100" b="1" spc="-50" baseline="0" dirty="0" err="1">
                <a:solidFill>
                  <a:srgbClr val="FF0000"/>
                </a:solidFill>
                <a:latin typeface="맑은 고딕" pitchFamily="50" charset="-127"/>
                <a:ea typeface="맑은 고딕" pitchFamily="50" charset="-127"/>
              </a:rPr>
              <a:t>테이크아웃</a:t>
            </a:r>
            <a:r>
              <a:rPr lang="en-US" altLang="ko-KR" sz="1100" b="1" spc="-50" baseline="0" dirty="0">
                <a:solidFill>
                  <a:srgbClr val="FF0000"/>
                </a:solidFill>
                <a:latin typeface="맑은 고딕" pitchFamily="50" charset="-127"/>
                <a:ea typeface="맑은 고딕" pitchFamily="50" charset="-127"/>
              </a:rPr>
              <a:t>/</a:t>
            </a:r>
            <a:r>
              <a:rPr lang="ko-KR" altLang="en-US" sz="1100" b="1" spc="-50" baseline="0" dirty="0">
                <a:solidFill>
                  <a:srgbClr val="FF0000"/>
                </a:solidFill>
                <a:latin typeface="맑은 고딕" pitchFamily="50" charset="-127"/>
                <a:ea typeface="맑은 고딕" pitchFamily="50" charset="-127"/>
              </a:rPr>
              <a:t>배달 음식점 묘사</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가장 좋아하는 </a:t>
            </a:r>
            <a:r>
              <a:rPr lang="ko-KR" altLang="en-US" sz="1100" b="0" i="0" kern="1200" dirty="0" err="1">
                <a:solidFill>
                  <a:srgbClr val="0070C0"/>
                </a:solidFill>
                <a:effectLst/>
                <a:latin typeface="+mn-lt"/>
                <a:ea typeface="+mn-ea"/>
                <a:cs typeface="+mn-cs"/>
              </a:rPr>
              <a:t>테이크</a:t>
            </a:r>
            <a:r>
              <a:rPr lang="ko-KR" altLang="en-US" sz="1100" b="0" i="0" kern="1200" dirty="0">
                <a:solidFill>
                  <a:srgbClr val="0070C0"/>
                </a:solidFill>
                <a:effectLst/>
                <a:latin typeface="+mn-lt"/>
                <a:ea typeface="+mn-ea"/>
                <a:cs typeface="+mn-cs"/>
              </a:rPr>
              <a:t> 아웃이나 배달 음식점에 대해 이야기 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보통 어떤 종류의 음식을 제공하나요</a:t>
            </a:r>
            <a:r>
              <a:rPr lang="en-US" altLang="ko-KR" sz="1100" b="0" i="0" kern="1200" dirty="0">
                <a:solidFill>
                  <a:srgbClr val="0070C0"/>
                </a:solidFill>
                <a:effectLst/>
                <a:latin typeface="+mn-lt"/>
                <a:ea typeface="+mn-ea"/>
                <a:cs typeface="+mn-cs"/>
              </a:rPr>
              <a:t>?</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한국에는 많은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테이크</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아웃 식당들이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mn-lt"/>
                <a:ea typeface="+mn-ea"/>
                <a:cs typeface="+mn-cs"/>
              </a:rPr>
              <a:t>그들의 많은 수는 복잡한 거리에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spc="-30" dirty="0">
                <a:solidFill>
                  <a:schemeClr val="tx1"/>
                </a:solidFill>
                <a:latin typeface="+mn-lt"/>
                <a:ea typeface="+mn-ea"/>
                <a:cs typeface="+mn-cs"/>
              </a:rPr>
              <a:t>그들은 찾기 쉽습니다</a:t>
            </a:r>
            <a:r>
              <a:rPr lang="en-US" altLang="ko-KR" sz="1100" b="0" i="0" u="none" strike="noStrike" kern="1200" spc="-30" dirty="0">
                <a:solidFill>
                  <a:schemeClr val="tx1"/>
                </a:solidFill>
                <a:latin typeface="+mn-lt"/>
                <a:ea typeface="+mn-ea"/>
                <a:cs typeface="+mn-cs"/>
              </a:rPr>
              <a:t>. </a:t>
            </a:r>
            <a:r>
              <a:rPr lang="ko-KR" altLang="en-US" sz="1100" b="0" i="0" u="none" strike="noStrike" kern="1200" spc="-30" dirty="0">
                <a:solidFill>
                  <a:schemeClr val="tx1"/>
                </a:solidFill>
                <a:latin typeface="+mn-lt"/>
                <a:ea typeface="+mn-ea"/>
                <a:cs typeface="+mn-cs"/>
              </a:rPr>
              <a:t>그들이 어디에나 있기 때문에</a:t>
            </a:r>
            <a:endParaRPr lang="en-US" altLang="ko-KR" sz="1100" b="0" i="0" u="none" strike="noStrike" kern="1200" spc="-3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이 장소들에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갈때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무엇을 살지 압니다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미리 설정된 메뉴가 있기 때문입니다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예를들면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버거킹을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갈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항상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와퍼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콤보를 주문합니다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가기 위해 음식을 얻거나 때때로 그 자리에서 먹습니다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어쨌든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한국에 있는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테이크</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아웃 장소들은 이렇습니다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545475"/>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04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가장 좋아하는 </a:t>
            </a:r>
            <a:r>
              <a:rPr lang="ko-KR" altLang="en-US" sz="1100" b="1" spc="-50" baseline="0" dirty="0" err="1">
                <a:solidFill>
                  <a:srgbClr val="FF0000"/>
                </a:solidFill>
                <a:latin typeface="맑은 고딕" pitchFamily="50" charset="-127"/>
                <a:ea typeface="맑은 고딕" pitchFamily="50" charset="-127"/>
              </a:rPr>
              <a:t>테이크아웃</a:t>
            </a:r>
            <a:r>
              <a:rPr lang="en-US" altLang="ko-KR" sz="1100" b="1" spc="-50" baseline="0" dirty="0">
                <a:solidFill>
                  <a:srgbClr val="FF0000"/>
                </a:solidFill>
                <a:latin typeface="맑은 고딕" pitchFamily="50" charset="-127"/>
                <a:ea typeface="맑은 고딕" pitchFamily="50" charset="-127"/>
              </a:rPr>
              <a:t>/</a:t>
            </a:r>
            <a:r>
              <a:rPr lang="ko-KR" altLang="en-US" sz="1100" b="1" spc="-50" baseline="0" dirty="0">
                <a:solidFill>
                  <a:srgbClr val="FF0000"/>
                </a:solidFill>
                <a:latin typeface="맑은 고딕" pitchFamily="50" charset="-127"/>
                <a:ea typeface="맑은 고딕" pitchFamily="50" charset="-127"/>
              </a:rPr>
              <a:t>배달 음식점 묘사</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your favorite take-out or delivery food restaurant.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food do they commonly offer?</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many take-out restaurants in Korea.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Many of them are on busy streets.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easy to find because they are everywhere.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go to these places, I know what to get.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That’s because they have a pre-set menu.</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For example, when I go to Burger King, I always order the Whopper combo.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get the food to go or sometimes eat it on the spot.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take-out places in Korea are like.</a:t>
            </a:r>
          </a:p>
        </p:txBody>
      </p:sp>
    </p:spTree>
    <p:extLst>
      <p:ext uri="{BB962C8B-B14F-4D97-AF65-F5344CB8AC3E}">
        <p14:creationId xmlns:p14="http://schemas.microsoft.com/office/powerpoint/2010/main" val="3239432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7</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68668"/>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05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err="1">
                <a:solidFill>
                  <a:srgbClr val="FF0000"/>
                </a:solidFill>
                <a:latin typeface="맑은 고딕" pitchFamily="50" charset="-127"/>
                <a:ea typeface="맑은 고딕" pitchFamily="50" charset="-127"/>
              </a:rPr>
              <a:t>테이크아웃</a:t>
            </a:r>
            <a:r>
              <a:rPr lang="en-US" altLang="ko-KR" sz="1100" b="1" spc="-50" baseline="0" dirty="0">
                <a:solidFill>
                  <a:srgbClr val="FF0000"/>
                </a:solidFill>
                <a:latin typeface="맑은 고딕" pitchFamily="50" charset="-127"/>
                <a:ea typeface="맑은 고딕" pitchFamily="50" charset="-127"/>
              </a:rPr>
              <a:t>/</a:t>
            </a:r>
            <a:r>
              <a:rPr lang="ko-KR" altLang="en-US" sz="1100" b="1" spc="-50" baseline="0" dirty="0">
                <a:solidFill>
                  <a:srgbClr val="FF0000"/>
                </a:solidFill>
                <a:latin typeface="맑은 고딕" pitchFamily="50" charset="-127"/>
                <a:ea typeface="맑은 고딕" pitchFamily="50" charset="-127"/>
              </a:rPr>
              <a:t>배달 음식점에서 최근 음식을 사본 경험 묘사</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마지막으로 </a:t>
            </a:r>
            <a:r>
              <a:rPr lang="ko-KR" altLang="en-US" sz="1100" b="0" i="0" kern="1200" dirty="0" err="1">
                <a:solidFill>
                  <a:srgbClr val="0070C0"/>
                </a:solidFill>
                <a:effectLst/>
                <a:latin typeface="+mn-lt"/>
                <a:ea typeface="+mn-ea"/>
                <a:cs typeface="+mn-cs"/>
              </a:rPr>
              <a:t>테이크</a:t>
            </a:r>
            <a:r>
              <a:rPr lang="ko-KR" altLang="en-US" sz="1100" b="0" i="0" kern="1200" dirty="0">
                <a:solidFill>
                  <a:srgbClr val="0070C0"/>
                </a:solidFill>
                <a:effectLst/>
                <a:latin typeface="+mn-lt"/>
                <a:ea typeface="+mn-ea"/>
                <a:cs typeface="+mn-cs"/>
              </a:rPr>
              <a:t> 아웃이나 배달음식 서비스를 이용하셨던 때를 말씀해주세요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무엇을 샀나요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당신은 그 경험에 대해 무엇을 기억하나요</a:t>
            </a:r>
            <a:r>
              <a:rPr lang="en-US" altLang="ko-KR" sz="1100" b="0" i="0" kern="1200" dirty="0">
                <a:solidFill>
                  <a:srgbClr val="0070C0"/>
                </a:solidFill>
                <a:effectLst/>
                <a:latin typeface="+mn-lt"/>
                <a:ea typeface="+mn-ea"/>
                <a:cs typeface="+mn-cs"/>
              </a:rPr>
              <a:t>?</a:t>
            </a:r>
            <a:endParaRPr lang="ko-KR" altLang="en-US" sz="1100" b="0" dirty="0">
              <a:solidFill>
                <a:srgbClr val="0070C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나의 집 근처 맥도날드에 간 기억이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치즈 버거 콤보를 시켰습니다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또한 치킨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너겟과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치킨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텐더도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시켰습니다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가기 위해 음식을 주문하고 레스토랑을 떠났습니다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버거는 맛이 놀아왔습니다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프랜치</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프라이는 매우 바삭하고 아삭하였습니다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다른 사이드 음식들 또한 정말 맛있었습니다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아직도 그 음식이 얼마나 맛있었는지 기억합니다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점심이었습니다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460837"/>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05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err="1">
                <a:solidFill>
                  <a:srgbClr val="FF0000"/>
                </a:solidFill>
                <a:latin typeface="맑은 고딕" pitchFamily="50" charset="-127"/>
                <a:ea typeface="맑은 고딕" pitchFamily="50" charset="-127"/>
              </a:rPr>
              <a:t>테이크아웃</a:t>
            </a:r>
            <a:r>
              <a:rPr lang="en-US" altLang="ko-KR" sz="1100" b="1" spc="-50" baseline="0" dirty="0">
                <a:solidFill>
                  <a:srgbClr val="FF0000"/>
                </a:solidFill>
                <a:latin typeface="맑은 고딕" pitchFamily="50" charset="-127"/>
                <a:ea typeface="맑은 고딕" pitchFamily="50" charset="-127"/>
              </a:rPr>
              <a:t>/</a:t>
            </a:r>
            <a:r>
              <a:rPr lang="ko-KR" altLang="en-US" sz="1100" b="1" spc="-50" baseline="0" dirty="0">
                <a:solidFill>
                  <a:srgbClr val="FF0000"/>
                </a:solidFill>
                <a:latin typeface="맑은 고딕" pitchFamily="50" charset="-127"/>
                <a:ea typeface="맑은 고딕" pitchFamily="50" charset="-127"/>
              </a:rPr>
              <a:t>배달 음식점에서 최근 음식을 사본 경험 묘사</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the last time you used a take-out or delivery food service.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you get? What do you remember about that experience?</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McDonald’s near my house recently.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a cheese burger combo.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also got chicken nuggets and chicken tenders.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the food to go and left the restaurant.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burger tasted amazing.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a:t>
            </a:r>
            <a:r>
              <a:rPr lang="en-US" altLang="ko-KR"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french</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fries were very crispy and crunchy.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Other side dishes were so tasty as well.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still remember how good the food was.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lunch.</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06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err="1">
                <a:solidFill>
                  <a:srgbClr val="FF0000"/>
                </a:solidFill>
                <a:latin typeface="맑은 고딕" pitchFamily="50" charset="-127"/>
                <a:ea typeface="맑은 고딕" pitchFamily="50" charset="-127"/>
              </a:rPr>
              <a:t>테이크아웃</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배달 음식점을 이용해서 특별한 행사를 한 경험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err="1">
                <a:solidFill>
                  <a:srgbClr val="0070C0"/>
                </a:solidFill>
                <a:effectLst/>
                <a:latin typeface="+mn-lt"/>
                <a:ea typeface="+mn-ea"/>
                <a:cs typeface="+mn-cs"/>
              </a:rPr>
              <a:t>테이크</a:t>
            </a:r>
            <a:r>
              <a:rPr lang="ko-KR" altLang="en-US" sz="1100" b="0" i="0" kern="1200" dirty="0">
                <a:solidFill>
                  <a:srgbClr val="0070C0"/>
                </a:solidFill>
                <a:effectLst/>
                <a:latin typeface="+mn-lt"/>
                <a:ea typeface="+mn-ea"/>
                <a:cs typeface="+mn-cs"/>
              </a:rPr>
              <a:t> 아웃이나 배달 서비스를 이용해 특별한 날을 준비했던 때를 이야기하세요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식당에서 어떤 종류의 음식을 주문했나요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경험에 대해 자세히 말해주세요</a:t>
            </a:r>
            <a:r>
              <a:rPr lang="en-US" altLang="ko-KR" sz="1100" b="0" i="0" kern="1200" dirty="0">
                <a:solidFill>
                  <a:srgbClr val="0070C0"/>
                </a:solidFill>
                <a:effectLst/>
                <a:latin typeface="+mn-lt"/>
                <a:ea typeface="+mn-ea"/>
                <a:cs typeface="+mn-cs"/>
              </a:rPr>
              <a:t>.</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집에서 나의 아들의 생일파티를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가진것이</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기억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7</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번째 생일 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파티를 위해 약간의 음식을 요리했습니다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약간의 프라이드 치킨을 주문하였습니다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파티 후 나는 청소를 도왔습니다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생일이었습니다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12228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06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err="1">
                <a:solidFill>
                  <a:srgbClr val="FF0000"/>
                </a:solidFill>
                <a:latin typeface="맑은 고딕" pitchFamily="50" charset="-127"/>
                <a:ea typeface="맑은 고딕" pitchFamily="50" charset="-127"/>
              </a:rPr>
              <a:t>테이크아웃</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배달 음식점을 이용해서 특별한 행사를 한 경험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 time when you prepared for a special occasion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using a take-out or delivery service.</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What kinds of food did you order from the restaurant?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that experience with lots of details.</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having my son’s birthday party at home.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his 7th birthday.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cooked some food for the party.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ordered some fried chicken.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After the party, I helped clean up.</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birthday.</a:t>
            </a:r>
          </a:p>
        </p:txBody>
      </p:sp>
    </p:spTree>
    <p:extLst>
      <p:ext uri="{BB962C8B-B14F-4D97-AF65-F5344CB8AC3E}">
        <p14:creationId xmlns:p14="http://schemas.microsoft.com/office/powerpoint/2010/main" val="570382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8</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6866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07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직장인들이 평일 식사를 주로 어떻게 해결하는지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바쁜 직장인들은 보통 평일에 어떻게 식사를 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음식을 주문하나요 아니면 식당에 가나요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보통 무엇을 하나요</a:t>
            </a:r>
            <a:r>
              <a:rPr lang="en-US" altLang="ko-KR" sz="1100" b="0" i="0" kern="1200" dirty="0">
                <a:solidFill>
                  <a:srgbClr val="0070C0"/>
                </a:solidFill>
                <a:effectLst/>
                <a:latin typeface="+mn-lt"/>
                <a:ea typeface="+mn-ea"/>
                <a:cs typeface="+mn-cs"/>
              </a:rPr>
              <a:t>?</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과거보다 많이 더 바쁩니다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때때로 요리를 위한 시간을 가지고 있지 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더 자주 외식을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그들의 건강에 관하여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그들이 외식을 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건강한 음식을 제공하는 장소에 가는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 트랜드 때문에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많은 레스토랑들은 건강한 음식을 제공합니다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평일에는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바쁜 직장인들은 매우 종종 외식을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46083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07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직장인들이 평일 식사를 주로 어떻게 해결하는지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do busy working people usually get their meals on weekdays?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they order food or go to restaurants?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they usually do?</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are a lot busier than in the past.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sometimes do NOT have time to cook.</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they eat out more often.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Meanwhile, people think about their health when they go out to eat.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like to go to places that serve healthy food.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Due to this trend, many restaurants serve healthy dishes.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on weekdays, busy working people eat out very often.</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08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주로 평일에 저녁식사를 어떻게 하는지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주중에 주로 저녁으로 무엇을 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당신은 식사를 직접 요리하나요 아니면 외식을 하나요</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다른 사람이 요리해 주나요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60" dirty="0">
                <a:solidFill>
                  <a:srgbClr val="0070C0"/>
                </a:solidFill>
                <a:effectLst/>
                <a:latin typeface="+mn-lt"/>
                <a:ea typeface="+mn-ea"/>
                <a:cs typeface="+mn-cs"/>
              </a:rPr>
              <a:t>당신은 혼자 먹나요</a:t>
            </a:r>
            <a:r>
              <a:rPr lang="en-US" altLang="ko-KR" sz="1100" b="0" i="0" kern="1200" spc="-60" dirty="0">
                <a:solidFill>
                  <a:srgbClr val="0070C0"/>
                </a:solidFill>
                <a:effectLst/>
                <a:latin typeface="+mn-lt"/>
                <a:ea typeface="+mn-ea"/>
                <a:cs typeface="+mn-cs"/>
              </a:rPr>
              <a:t>, </a:t>
            </a:r>
            <a:r>
              <a:rPr lang="ko-KR" altLang="en-US" sz="1100" b="0" i="0" kern="1200" spc="-60" dirty="0">
                <a:solidFill>
                  <a:srgbClr val="0070C0"/>
                </a:solidFill>
                <a:effectLst/>
                <a:latin typeface="+mn-lt"/>
                <a:ea typeface="+mn-ea"/>
                <a:cs typeface="+mn-cs"/>
              </a:rPr>
              <a:t>아니면 다른 사람들과 함께 먹나요</a:t>
            </a:r>
            <a:r>
              <a:rPr lang="en-US" altLang="ko-KR" sz="1100" b="0" i="0" kern="1200" spc="-60" dirty="0">
                <a:solidFill>
                  <a:srgbClr val="0070C0"/>
                </a:solidFill>
                <a:effectLst/>
                <a:latin typeface="+mn-lt"/>
                <a:ea typeface="+mn-ea"/>
                <a:cs typeface="+mn-cs"/>
              </a:rPr>
              <a:t>?</a:t>
            </a:r>
            <a:endParaRPr lang="en-US" altLang="ko-KR" sz="1100" b="0" i="0" u="none" strike="noStrike" kern="1200" spc="-60" baseline="0" dirty="0">
              <a:solidFill>
                <a:srgbClr val="0070C0"/>
              </a:solidFill>
              <a:latin typeface="맑은 고딕" panose="020B0503020000020004" pitchFamily="50" charset="-127"/>
              <a:ea typeface="맑은 고딕" panose="020B0503020000020004" pitchFamily="50" charset="-127"/>
              <a:cs typeface="+mn-cs"/>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음</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반반이라 생각합니다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상황에 따라 다릅니다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외식을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때때로 나자신이 무언가 요리를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나는 매우 바쁠 때</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나는 어디선가 가볍게 요기를 합니다</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반면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시간을 가질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집에서 무언가 요리합니다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훌륭한 요리를 하지 못하지만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기본적으로 어떻게 요리하는지 압니다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이것이 내가 평일에 저녁을 위해 하는 것입니다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08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주로 평일에 저녁식사를 어떻게 하는지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What do you usually do for dinner during the week?</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you cook your own meals or go out to eat?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Does someone else cook for you?</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you eat alone or eat with other people?</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Well, I think it’s fifty </a:t>
            </a:r>
            <a:r>
              <a:rPr lang="en-US" altLang="ko-KR"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fifty</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It depends.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eat out, but I sometimes cook something myself.</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30" dirty="0">
                <a:solidFill>
                  <a:schemeClr val="tx1"/>
                </a:solidFill>
                <a:latin typeface="맑은 고딕" panose="020B0503020000020004" pitchFamily="50" charset="-127"/>
                <a:ea typeface="맑은 고딕" panose="020B0503020000020004" pitchFamily="50" charset="-127"/>
                <a:cs typeface="+mn-cs"/>
              </a:rPr>
              <a:t>When I am very busy, I just grab a bite somewhere.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 the other hand, when I have time, I cook something at home.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NOT a great cook, but I know how to cook basic things.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I do for dinner during the week.</a:t>
            </a:r>
          </a:p>
        </p:txBody>
      </p:sp>
    </p:spTree>
    <p:extLst>
      <p:ext uri="{BB962C8B-B14F-4D97-AF65-F5344CB8AC3E}">
        <p14:creationId xmlns:p14="http://schemas.microsoft.com/office/powerpoint/2010/main" val="1375659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9</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47018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09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새로운 식료품점을 알게 된 계기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어떻게 특별한 식료품점을 알게 되었는지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아마도 당신의 지역사회에 새로운 전문점이 문을 열거나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새로운 농산물 직판장이 문을 열었을 것이고</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당신은 그곳을 확인하고 싶어했을 것입니다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이 새 가게에 대해 어떻게 알았어요</a:t>
            </a:r>
            <a:r>
              <a:rPr lang="en-US" altLang="ko-KR" sz="1100" b="0" i="0" kern="1200" dirty="0">
                <a:solidFill>
                  <a:srgbClr val="0070C0"/>
                </a:solidFill>
                <a:effectLst/>
                <a:latin typeface="+mn-lt"/>
                <a:ea typeface="+mn-ea"/>
                <a:cs typeface="+mn-cs"/>
              </a:rPr>
              <a:t>?</a:t>
            </a:r>
            <a:endParaRPr lang="en-US" altLang="ko-KR" sz="1100" b="0" i="0" u="none" strike="noStrike" kern="1200" baseline="0" dirty="0">
              <a:solidFill>
                <a:srgbClr val="0070C0"/>
              </a:solidFill>
              <a:latin typeface="맑은 고딕" panose="020B0503020000020004" pitchFamily="50" charset="-127"/>
              <a:ea typeface="맑은 고딕" panose="020B0503020000020004" pitchFamily="50" charset="-127"/>
              <a:cs typeface="+mn-cs"/>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온라인에서 식품점을 검색했습니다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좋은 가격과 질의 상품들은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거기에서 아주 싸게 살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단골입니다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평균적으로 일주일에 한번 거기에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이것이 내가 새로운 식료품점을 찾은 방법입니다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313162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09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새로운 식료품점을 알게 된 계기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how you found out about a special grocery store.</a:t>
            </a:r>
          </a:p>
          <a:p>
            <a:r>
              <a:rPr lang="en-US" altLang="ko-KR" sz="1100" b="0" i="0" u="none" strike="noStrike" kern="1200" spc="-60" dirty="0">
                <a:solidFill>
                  <a:srgbClr val="FF0000"/>
                </a:solidFill>
                <a:latin typeface="맑은 고딕" panose="020B0503020000020004" pitchFamily="50" charset="-127"/>
                <a:ea typeface="맑은 고딕" panose="020B0503020000020004" pitchFamily="50" charset="-127"/>
                <a:cs typeface="+mn-cs"/>
              </a:rPr>
              <a:t>Maybe a new specialty store opened in your community,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or a new farmer’s market opened and you wanted to check that place out.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did you find out about this new store?</a:t>
            </a:r>
            <a:endParaRPr lang="ko-KR" altLang="en-US" sz="1100" b="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did a search online for a grocery store recently.</a:t>
            </a: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good prices and quality goods.</a:t>
            </a:r>
          </a:p>
          <a:p>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able to get great deals there.</a:t>
            </a: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Now, I am a regular.</a:t>
            </a:r>
          </a:p>
          <a:p>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go there once a week on average.</a:t>
            </a: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was how I found a new grocery store.</a:t>
            </a:r>
          </a:p>
        </p:txBody>
      </p:sp>
    </p:spTree>
    <p:extLst>
      <p:ext uri="{BB962C8B-B14F-4D97-AF65-F5344CB8AC3E}">
        <p14:creationId xmlns:p14="http://schemas.microsoft.com/office/powerpoint/2010/main" val="170306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873474"/>
            <a:ext cx="6858000" cy="3231654"/>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02 </a:t>
            </a:r>
            <a:r>
              <a:rPr lang="ko-KR" altLang="en-US" sz="5400" b="1">
                <a:solidFill>
                  <a:srgbClr val="FF0000"/>
                </a:solidFill>
                <a:latin typeface="맑은 고딕" pitchFamily="50" charset="-127"/>
                <a:ea typeface="맑은 고딕" pitchFamily="50" charset="-127"/>
              </a:rPr>
              <a:t>선택형 주제</a:t>
            </a:r>
            <a:endParaRPr lang="en-US" altLang="ko-KR" sz="5400" b="1">
              <a:solidFill>
                <a:srgbClr val="FF0000"/>
              </a:solidFill>
              <a:latin typeface="맑은 고딕" pitchFamily="50" charset="-127"/>
              <a:ea typeface="맑은 고딕" pitchFamily="50" charset="-127"/>
            </a:endParaRPr>
          </a:p>
          <a:p>
            <a:pPr algn="ctr">
              <a:lnSpc>
                <a:spcPct val="150000"/>
              </a:lnSpc>
            </a:pPr>
            <a:r>
              <a:rPr lang="en-US" altLang="ko-KR" sz="5400" b="1">
                <a:latin typeface="맑은 고딕" pitchFamily="50" charset="-127"/>
                <a:ea typeface="맑은 고딕" pitchFamily="50" charset="-127"/>
              </a:rPr>
              <a:t>Bars</a:t>
            </a:r>
          </a:p>
          <a:p>
            <a:pPr algn="ctr">
              <a:lnSpc>
                <a:spcPct val="150000"/>
              </a:lnSpc>
            </a:pPr>
            <a:r>
              <a:rPr lang="ko-KR" altLang="en-US" sz="2800" b="1">
                <a:solidFill>
                  <a:schemeClr val="tx2"/>
                </a:solidFill>
                <a:latin typeface="맑은 고딕" pitchFamily="50" charset="-127"/>
                <a:ea typeface="맑은 고딕" pitchFamily="50" charset="-127"/>
              </a:rPr>
              <a:t>술집 </a:t>
            </a:r>
            <a:r>
              <a:rPr lang="ko-KR" altLang="en-US" sz="2800" b="1">
                <a:solidFill>
                  <a:schemeClr val="tx2"/>
                </a:solidFill>
                <a:latin typeface="맑은 고딕"/>
                <a:ea typeface="맑은 고딕"/>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7FA29745-F8FD-5490-577B-F6D46F876B37}"/>
              </a:ext>
            </a:extLst>
          </p:cNvPr>
          <p:cNvSpPr>
            <a:spLocks noGrp="1"/>
          </p:cNvSpPr>
          <p:nvPr>
            <p:ph type="sldNum" sz="quarter" idx="12"/>
          </p:nvPr>
        </p:nvSpPr>
        <p:spPr/>
        <p:txBody>
          <a:bodyPr/>
          <a:lstStyle/>
          <a:p>
            <a:fld id="{18CC7079-95A2-4860-A138-51A9FC969471}" type="slidenum">
              <a:rPr lang="ko-KR" altLang="en-US" smtClean="0"/>
              <a:t>10</a:t>
            </a:fld>
            <a:endParaRPr lang="ko-KR" altLang="en-US"/>
          </a:p>
        </p:txBody>
      </p:sp>
    </p:spTree>
    <p:extLst>
      <p:ext uri="{BB962C8B-B14F-4D97-AF65-F5344CB8AC3E}">
        <p14:creationId xmlns:p14="http://schemas.microsoft.com/office/powerpoint/2010/main" val="4107943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07113"/>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anose="020B0503020000020004" pitchFamily="50" charset="-127"/>
                <a:ea typeface="맑은 고딕" panose="020B0503020000020004" pitchFamily="50" charset="-127"/>
              </a:rPr>
              <a:t>01 [Int]</a:t>
            </a:r>
            <a:r>
              <a:rPr lang="en-US" altLang="ko-KR" sz="1100" b="1" baseline="0" dirty="0">
                <a:solidFill>
                  <a:schemeClr val="tx2"/>
                </a:solidFill>
                <a:latin typeface="맑은 고딕" panose="020B0503020000020004" pitchFamily="50" charset="-127"/>
                <a:ea typeface="맑은 고딕" panose="020B0503020000020004" pitchFamily="50" charset="-127"/>
              </a:rPr>
              <a:t> </a:t>
            </a:r>
            <a:r>
              <a:rPr lang="ko-KR" altLang="en-US" sz="1100" b="1" baseline="0" dirty="0">
                <a:solidFill>
                  <a:srgbClr val="FF0000"/>
                </a:solidFill>
                <a:latin typeface="맑은 고딕" panose="020B0503020000020004" pitchFamily="50" charset="-127"/>
                <a:ea typeface="맑은 고딕" panose="020B0503020000020004" pitchFamily="50" charset="-127"/>
              </a:rPr>
              <a:t>본인이 즐겨 가는 술집 묘사                </a:t>
            </a:r>
            <a:r>
              <a:rPr lang="en-US" altLang="ko-KR" sz="1100" b="1" dirty="0">
                <a:solidFill>
                  <a:schemeClr val="tx2"/>
                </a:solidFill>
                <a:latin typeface="맑은 고딕" panose="020B0503020000020004" pitchFamily="50" charset="-127"/>
                <a:ea typeface="맑은 고딕" panose="020B0503020000020004" pitchFamily="50" charset="-127"/>
              </a:rPr>
              <a:t>♣</a:t>
            </a:r>
            <a:endParaRPr lang="en-US" altLang="ko-KR" sz="11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baseline="0" dirty="0">
                <a:solidFill>
                  <a:srgbClr val="FF0000"/>
                </a:solidFill>
                <a:latin typeface="맑은 고딕" pitchFamily="50" charset="-127"/>
                <a:ea typeface="맑은 고딕" pitchFamily="50" charset="-127"/>
              </a:rPr>
              <a:t>    </a:t>
            </a:r>
            <a:r>
              <a:rPr lang="en-US" altLang="ko-KR" sz="1100" b="1" dirty="0">
                <a:solidFill>
                  <a:schemeClr val="tx2"/>
                </a:solidFill>
                <a:latin typeface="맑은 고딕" panose="020B0503020000020004" pitchFamily="50" charset="-127"/>
                <a:ea typeface="맑은 고딕" panose="020B0503020000020004" pitchFamily="50" charset="-127"/>
              </a:rPr>
              <a:t>[Int]</a:t>
            </a:r>
            <a:r>
              <a:rPr lang="en-US" altLang="ko-KR" sz="1100" b="1" baseline="0" dirty="0">
                <a:solidFill>
                  <a:schemeClr val="tx2"/>
                </a:solidFill>
                <a:latin typeface="맑은 고딕" panose="020B0503020000020004" pitchFamily="50" charset="-127"/>
                <a:ea typeface="맑은 고딕" panose="020B0503020000020004" pitchFamily="50" charset="-127"/>
              </a:rPr>
              <a:t> </a:t>
            </a:r>
            <a:r>
              <a:rPr lang="ko-KR" altLang="en-US" sz="1100" b="1" baseline="0" dirty="0">
                <a:solidFill>
                  <a:srgbClr val="FF0000"/>
                </a:solidFill>
                <a:latin typeface="맑은 고딕" panose="020B0503020000020004" pitchFamily="50" charset="-127"/>
                <a:ea typeface="맑은 고딕" panose="020B0503020000020004" pitchFamily="50" charset="-127"/>
              </a:rPr>
              <a:t>본인이 자주 가는 </a:t>
            </a:r>
            <a:r>
              <a:rPr lang="ko-KR" altLang="en-US" sz="1100" b="1" baseline="0" dirty="0" err="1">
                <a:solidFill>
                  <a:srgbClr val="FF0000"/>
                </a:solidFill>
                <a:latin typeface="맑은 고딕" panose="020B0503020000020004" pitchFamily="50" charset="-127"/>
                <a:ea typeface="맑은 고딕" panose="020B0503020000020004" pitchFamily="50" charset="-127"/>
              </a:rPr>
              <a:t>맥주집</a:t>
            </a:r>
            <a:r>
              <a:rPr lang="ko-KR" altLang="en-US" sz="1100" b="1" baseline="0" dirty="0">
                <a:solidFill>
                  <a:srgbClr val="FF0000"/>
                </a:solidFill>
                <a:latin typeface="맑은 고딕" panose="020B0503020000020004" pitchFamily="50" charset="-127"/>
                <a:ea typeface="맑은 고딕" panose="020B0503020000020004" pitchFamily="50" charset="-127"/>
              </a:rPr>
              <a:t> 묘사</a:t>
            </a:r>
            <a:endParaRPr lang="en-US" altLang="ko-KR" sz="1100" b="1" baseline="0" dirty="0">
              <a:solidFill>
                <a:srgbClr val="FF0000"/>
              </a:solidFill>
              <a:latin typeface="맑은 고딕" panose="020B0503020000020004" pitchFamily="50" charset="-127"/>
              <a:ea typeface="맑은 고딕" panose="020B0503020000020004" pitchFamily="50" charset="-127"/>
            </a:endParaRPr>
          </a:p>
          <a:p>
            <a:r>
              <a:rPr lang="ko-KR" altLang="en-US" sz="1100" b="0" i="0" kern="1200" dirty="0">
                <a:solidFill>
                  <a:srgbClr val="0070C0"/>
                </a:solidFill>
                <a:effectLst/>
                <a:latin typeface="맑은 고딕" panose="020B0503020000020004" pitchFamily="50" charset="-127"/>
                <a:ea typeface="맑은 고딕" panose="020B0503020000020004" pitchFamily="50" charset="-127"/>
              </a:rPr>
              <a:t>당신은 술집에 간다고 지시했습니다</a:t>
            </a:r>
            <a:r>
              <a:rPr lang="en-US" altLang="ko-KR" sz="1100" b="0" i="0" kern="1200" dirty="0">
                <a:solidFill>
                  <a:srgbClr val="0070C0"/>
                </a:solidFill>
                <a:effectLst/>
                <a:latin typeface="맑은 고딕" panose="020B0503020000020004" pitchFamily="50" charset="-127"/>
                <a:ea typeface="맑은 고딕" panose="020B0503020000020004" pitchFamily="50" charset="-127"/>
              </a:rPr>
              <a:t>.</a:t>
            </a:r>
            <a:r>
              <a:rPr lang="ko-KR" altLang="en-US" sz="1100" dirty="0">
                <a:solidFill>
                  <a:srgbClr val="0070C0"/>
                </a:solidFill>
                <a:latin typeface="맑은 고딕" panose="020B0503020000020004" pitchFamily="50" charset="-127"/>
                <a:ea typeface="맑은 고딕" panose="020B0503020000020004" pitchFamily="50" charset="-127"/>
              </a:rPr>
              <a:t/>
            </a:r>
            <a:br>
              <a:rPr lang="ko-KR" altLang="en-US" sz="1100" dirty="0">
                <a:solidFill>
                  <a:srgbClr val="0070C0"/>
                </a:solidFill>
                <a:latin typeface="맑은 고딕" panose="020B0503020000020004" pitchFamily="50" charset="-127"/>
                <a:ea typeface="맑은 고딕" panose="020B0503020000020004" pitchFamily="50" charset="-127"/>
              </a:rPr>
            </a:br>
            <a:r>
              <a:rPr lang="ko-KR" altLang="en-US" sz="1100" b="0" i="0" kern="1200" dirty="0">
                <a:solidFill>
                  <a:srgbClr val="0070C0"/>
                </a:solidFill>
                <a:effectLst/>
                <a:latin typeface="맑은 고딕" panose="020B0503020000020004" pitchFamily="50" charset="-127"/>
                <a:ea typeface="맑은 고딕" panose="020B0503020000020004" pitchFamily="50" charset="-127"/>
              </a:rPr>
              <a:t>당신이 가장 자주 가는 바에 대해 설명하세요</a:t>
            </a:r>
            <a:r>
              <a:rPr lang="en-US" altLang="ko-KR" sz="1100" b="0" i="0" kern="1200" dirty="0">
                <a:solidFill>
                  <a:srgbClr val="0070C0"/>
                </a:solidFill>
                <a:effectLst/>
                <a:latin typeface="맑은 고딕" panose="020B0503020000020004" pitchFamily="50" charset="-127"/>
                <a:ea typeface="맑은 고딕" panose="020B0503020000020004" pitchFamily="50" charset="-127"/>
              </a:rPr>
              <a:t>.</a:t>
            </a:r>
            <a:r>
              <a:rPr lang="ko-KR" altLang="en-US" sz="1100" dirty="0">
                <a:solidFill>
                  <a:srgbClr val="0070C0"/>
                </a:solidFill>
                <a:latin typeface="맑은 고딕" panose="020B0503020000020004" pitchFamily="50" charset="-127"/>
                <a:ea typeface="맑은 고딕" panose="020B0503020000020004" pitchFamily="50" charset="-127"/>
              </a:rPr>
              <a:t/>
            </a:r>
            <a:br>
              <a:rPr lang="ko-KR" altLang="en-US" sz="1100" dirty="0">
                <a:solidFill>
                  <a:srgbClr val="0070C0"/>
                </a:solidFill>
                <a:latin typeface="맑은 고딕" panose="020B0503020000020004" pitchFamily="50" charset="-127"/>
                <a:ea typeface="맑은 고딕" panose="020B0503020000020004" pitchFamily="50" charset="-127"/>
              </a:rPr>
            </a:br>
            <a:r>
              <a:rPr lang="ko-KR" altLang="en-US" sz="1100" b="0" i="0" kern="1200" dirty="0">
                <a:solidFill>
                  <a:srgbClr val="0070C0"/>
                </a:solidFill>
                <a:effectLst/>
                <a:latin typeface="맑은 고딕" panose="020B0503020000020004" pitchFamily="50" charset="-127"/>
                <a:ea typeface="맑은 고딕" panose="020B0503020000020004" pitchFamily="50" charset="-127"/>
              </a:rPr>
              <a:t>그곳에 대한 모든 것을 자세히 말해 주세요</a:t>
            </a:r>
            <a:r>
              <a:rPr lang="en-US" altLang="ko-KR" sz="1100" b="0" i="0" kern="1200" dirty="0">
                <a:solidFill>
                  <a:srgbClr val="0070C0"/>
                </a:solidFill>
                <a:effectLst/>
                <a:latin typeface="맑은 고딕" panose="020B0503020000020004" pitchFamily="50" charset="-127"/>
                <a:ea typeface="맑은 고딕" panose="020B0503020000020004" pitchFamily="50" charset="-127"/>
              </a:rPr>
              <a:t>.</a:t>
            </a:r>
            <a:r>
              <a:rPr lang="ko-KR" altLang="en-US" sz="1100" dirty="0">
                <a:solidFill>
                  <a:srgbClr val="0070C0"/>
                </a:solidFill>
                <a:latin typeface="맑은 고딕" panose="020B0503020000020004" pitchFamily="50" charset="-127"/>
                <a:ea typeface="맑은 고딕" panose="020B0503020000020004" pitchFamily="50" charset="-127"/>
              </a:rPr>
              <a:t/>
            </a:r>
            <a:br>
              <a:rPr lang="ko-KR" altLang="en-US" sz="1100" dirty="0">
                <a:solidFill>
                  <a:srgbClr val="0070C0"/>
                </a:solidFill>
                <a:latin typeface="맑은 고딕" panose="020B0503020000020004" pitchFamily="50" charset="-127"/>
                <a:ea typeface="맑은 고딕" panose="020B0503020000020004" pitchFamily="50" charset="-127"/>
              </a:rPr>
            </a:br>
            <a:r>
              <a:rPr lang="ko-KR" altLang="en-US" sz="1100" spc="-70" dirty="0">
                <a:solidFill>
                  <a:srgbClr val="0070C0"/>
                </a:solidFill>
                <a:latin typeface="맑은 고딕" panose="020B0503020000020004" pitchFamily="50" charset="-127"/>
                <a:ea typeface="맑은 고딕" panose="020B0503020000020004" pitchFamily="50" charset="-127"/>
              </a:rPr>
              <a:t/>
            </a:r>
            <a:br>
              <a:rPr lang="ko-KR" altLang="en-US" sz="1100" spc="-70" dirty="0">
                <a:solidFill>
                  <a:srgbClr val="0070C0"/>
                </a:solidFill>
                <a:latin typeface="맑은 고딕" panose="020B0503020000020004" pitchFamily="50" charset="-127"/>
                <a:ea typeface="맑은 고딕" panose="020B0503020000020004" pitchFamily="50" charset="-127"/>
              </a:rPr>
            </a:br>
            <a:r>
              <a:rPr lang="ko-KR" altLang="en-US" sz="1100" b="0" i="0" kern="1200" spc="-80" dirty="0">
                <a:solidFill>
                  <a:srgbClr val="0070C0"/>
                </a:solidFill>
                <a:effectLst/>
                <a:latin typeface="맑은 고딕" panose="020B0503020000020004" pitchFamily="50" charset="-127"/>
                <a:ea typeface="맑은 고딕" panose="020B0503020000020004" pitchFamily="50" charset="-127"/>
              </a:rPr>
              <a:t>당신이 가고 싶은 가장 좋아하는 </a:t>
            </a:r>
            <a:r>
              <a:rPr lang="en-US" altLang="ko-KR" sz="1100" b="0" i="0" kern="1200" spc="-80" dirty="0">
                <a:solidFill>
                  <a:srgbClr val="0070C0"/>
                </a:solidFill>
                <a:effectLst/>
                <a:latin typeface="맑은 고딕" panose="020B0503020000020004" pitchFamily="50" charset="-127"/>
                <a:ea typeface="맑은 고딕" panose="020B0503020000020004" pitchFamily="50" charset="-127"/>
              </a:rPr>
              <a:t>Pub</a:t>
            </a:r>
            <a:r>
              <a:rPr lang="ko-KR" altLang="en-US" sz="1100" b="0" i="0" kern="1200" spc="-80" dirty="0">
                <a:solidFill>
                  <a:srgbClr val="0070C0"/>
                </a:solidFill>
                <a:effectLst/>
                <a:latin typeface="맑은 고딕" panose="020B0503020000020004" pitchFamily="50" charset="-127"/>
                <a:ea typeface="맑은 고딕" panose="020B0503020000020004" pitchFamily="50" charset="-127"/>
              </a:rPr>
              <a:t>에 대해 말해주세요</a:t>
            </a:r>
            <a:r>
              <a:rPr lang="en-US" altLang="ko-KR" sz="1100" b="0" i="0" kern="1200" spc="-80" dirty="0">
                <a:solidFill>
                  <a:srgbClr val="0070C0"/>
                </a:solidFill>
                <a:effectLst/>
                <a:latin typeface="맑은 고딕" panose="020B0503020000020004" pitchFamily="50" charset="-127"/>
                <a:ea typeface="맑은 고딕" panose="020B0503020000020004" pitchFamily="50" charset="-127"/>
              </a:rPr>
              <a:t>.</a:t>
            </a:r>
            <a:endParaRPr lang="en-US" altLang="ko-KR" sz="1100" b="0" i="0" u="none" strike="noStrike" kern="1200" spc="-80" baseline="0" dirty="0">
              <a:solidFill>
                <a:srgbClr val="0070C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한국에는 많은 술집이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그들의 많은 수는 복잡한 거리에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rPr>
              <a:t>그들은 찾기 쉽습니다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rPr>
              <a:t>그들이 어디에나 있기 때문에</a:t>
            </a:r>
            <a:endPar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rPr>
              <a:t>개인적으로</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rPr>
              <a:t>, </a:t>
            </a: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rPr>
              <a:t>나는 나의 사무실 근처 술집에 종종 갑니다</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rPr>
              <a:t>.</a:t>
            </a:r>
          </a:p>
          <a:p>
            <a:pPr>
              <a:lnSpc>
                <a:spcPct val="150000"/>
              </a:lnSpc>
            </a:pPr>
            <a:r>
              <a:rPr lang="ko-KR" altLang="en-US" sz="1100" b="0" i="0" u="none" strike="noStrike" kern="1200" spc="-80" dirty="0">
                <a:solidFill>
                  <a:schemeClr val="tx1"/>
                </a:solidFill>
                <a:latin typeface="맑은 고딕" panose="020B0503020000020004" pitchFamily="50" charset="-127"/>
                <a:ea typeface="맑은 고딕" panose="020B0503020000020004" pitchFamily="50" charset="-127"/>
              </a:rPr>
              <a:t>그것은 다양한 타입의 맥주를 제공하는 멋진 술집입니다</a:t>
            </a:r>
            <a:r>
              <a:rPr lang="en-US" altLang="ko-KR" sz="1100" b="0" i="0" u="none" strike="noStrike" kern="1200" spc="-80" dirty="0">
                <a:solidFill>
                  <a:schemeClr val="tx1"/>
                </a:solidFill>
                <a:latin typeface="맑은 고딕" panose="020B0503020000020004" pitchFamily="50" charset="-127"/>
                <a:ea typeface="맑은 고딕" panose="020B0503020000020004" pitchFamily="50" charset="-127"/>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나는 그 장소를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나는 분위기가 좋아서</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그들의 음식은 매우 맛있습니다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나의 사무실과 가깝습니다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직원들은 매우 친절합니다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나는 그곳 단골입니다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나는 한달에 한번은 거기에 간다고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rPr>
              <a:t>이것은 내가 가장 좋아하는 바입니다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930196"/>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즐겨 가는 술집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baseline="0" dirty="0">
                <a:solidFill>
                  <a:srgbClr val="FF0000"/>
                </a:solidFill>
                <a:latin typeface="맑은 고딕" pitchFamily="50" charset="-127"/>
                <a:ea typeface="맑은 고딕" pitchFamily="50" charset="-127"/>
              </a:rPr>
              <a:t>    </a:t>
            </a:r>
            <a:r>
              <a:rPr lang="en-US" altLang="ko-KR" sz="1100" b="1" dirty="0">
                <a:solidFill>
                  <a:schemeClr val="tx2"/>
                </a:solidFill>
                <a:latin typeface="맑은 고딕" pitchFamily="50" charset="-127"/>
                <a:ea typeface="맑은 고딕" pitchFamily="50" charset="-127"/>
              </a:rPr>
              <a:t>[Int]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자주 가는 </a:t>
            </a:r>
            <a:r>
              <a:rPr lang="ko-KR" altLang="en-US" sz="1100" b="1" baseline="0" dirty="0" err="1">
                <a:solidFill>
                  <a:srgbClr val="FF0000"/>
                </a:solidFill>
                <a:latin typeface="맑은 고딕" pitchFamily="50" charset="-127"/>
                <a:ea typeface="맑은 고딕" pitchFamily="50" charset="-127"/>
              </a:rPr>
              <a:t>맥주집</a:t>
            </a:r>
            <a:r>
              <a:rPr lang="ko-KR" altLang="en-US" sz="1100" b="1" baseline="0" dirty="0">
                <a:solidFill>
                  <a:srgbClr val="FF0000"/>
                </a:solidFill>
                <a:latin typeface="맑은 고딕" pitchFamily="50" charset="-127"/>
                <a:ea typeface="맑은 고딕" pitchFamily="50" charset="-127"/>
              </a:rPr>
              <a:t>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indicated that you go to bars.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the bar you go to most often.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about that place in detail.</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100" b="0" i="0" u="none" strike="noStrike" kern="1200" spc="-40" dirty="0">
                <a:solidFill>
                  <a:srgbClr val="FF0000"/>
                </a:solidFill>
                <a:latin typeface="맑은 고딕" panose="020B0503020000020004" pitchFamily="50" charset="-127"/>
                <a:ea typeface="맑은 고딕" panose="020B0503020000020004" pitchFamily="50" charset="-127"/>
                <a:cs typeface="+mn-cs"/>
              </a:rPr>
              <a:t>Tell me about your favorite pub that you like to go to.</a:t>
            </a:r>
            <a:endParaRPr lang="en-US" altLang="ko-KR" sz="1100" b="0" spc="-4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many bars in Korea.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Many of them are on busy streets.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easy to find because they are everywhere.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Personally, I often go to a pub near my office.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a nice pub that serves various types of beer.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 that place because I like the mood.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their food is very tasty.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it is close to my office.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 staff are very friendly.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a regular there. I think I go there once a month on average.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my favorite bar is like.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5079339"/>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술집에 주로 언제 가고 무엇을 하는지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맥주집에서 하는 일들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당신이 술집에서 주로 하는 일에 대해 말해주세요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보통 누구와 함께 갑니까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술집에 간 경험에 대해 모두 말해 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당신은 술집에서 모임이 있을 때 보통 무엇을 하나요</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친구에게 먼저 전화를 합니까 아니면 현금을 가지러 은행에 갑니까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en-US" altLang="ko-KR" sz="1000" b="0" i="0" kern="1200" spc="-50" dirty="0">
                <a:solidFill>
                  <a:srgbClr val="0070C0"/>
                </a:solidFill>
                <a:effectLst/>
                <a:latin typeface="+mn-lt"/>
                <a:ea typeface="+mn-ea"/>
                <a:cs typeface="+mn-cs"/>
              </a:rPr>
              <a:t>Pub</a:t>
            </a:r>
            <a:r>
              <a:rPr lang="ko-KR" altLang="en-US" sz="1000" b="0" i="0" kern="1200" spc="-50" dirty="0">
                <a:solidFill>
                  <a:srgbClr val="0070C0"/>
                </a:solidFill>
                <a:effectLst/>
                <a:latin typeface="+mn-lt"/>
                <a:ea typeface="+mn-ea"/>
                <a:cs typeface="+mn-cs"/>
              </a:rPr>
              <a:t>에서 친구들과 모였을 때 무엇을 하는지 이야기하세요</a:t>
            </a:r>
            <a:r>
              <a:rPr lang="en-US" altLang="ko-KR" sz="1000" b="0" i="0" kern="1200" spc="-50" dirty="0">
                <a:solidFill>
                  <a:srgbClr val="0070C0"/>
                </a:solidFill>
                <a:effectLst/>
                <a:latin typeface="+mn-lt"/>
                <a:ea typeface="+mn-ea"/>
                <a:cs typeface="+mn-cs"/>
              </a:rPr>
              <a:t>.</a:t>
            </a:r>
            <a:endParaRPr lang="en-US" altLang="ko-KR" sz="1000" b="0" i="0" u="none" strike="noStrike" kern="1200" spc="-50" dirty="0">
              <a:solidFill>
                <a:srgbClr val="0070C0"/>
              </a:solidFill>
              <a:latin typeface="맑은 고딕" panose="020B0503020000020004" pitchFamily="50" charset="-127"/>
              <a:ea typeface="맑은 고딕" panose="020B0503020000020004" pitchFamily="50" charset="-127"/>
              <a:cs typeface="+mn-cs"/>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사회 모임을 위해 술집에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친구들과 함께 술을 조금 마십니다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술은 서먹한 분위기를 없애고</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분위기를 더 좋게 만듭니다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때때로 술 마시기 게임을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때때로 여러 라운드를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때때로 직원 저녁식사를 위해 술집에 갑니다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그것은 나의 동료들과 친해질 수 있는 좋은 기회입니다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생일파티와 같은 특별한 행사를 위해 술집에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보통 나의 친구들이나 회사동료들과 어울리기 위해 술집에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술집에 주로 언제 가고 무엇을 하는지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맥주집에서 하는 일들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what you normally do at bars.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Who do you normally go with?</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Tell me everything about your experience of going to bars.</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What do you normally do when you have gatherings at pubs?</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Do you call your friends first or go to the bank to get cash?</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what you do when you get together with your friends at pubs.</a:t>
            </a: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often go to bars for social gatherings.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drinks with my friends.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Drinks break the ice and make the mood better.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sometimes play drinking games.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sometimes do several rounds.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go to bars for staff dinners.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a good chance to bond with my co-workers.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I sometimes go to bars for special occasions such as birthday parties.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usually go to bars to hang out with my friends or co-workers.</a:t>
            </a:r>
          </a:p>
        </p:txBody>
      </p:sp>
    </p:spTree>
    <p:extLst>
      <p:ext uri="{BB962C8B-B14F-4D97-AF65-F5344CB8AC3E}">
        <p14:creationId xmlns:p14="http://schemas.microsoft.com/office/powerpoint/2010/main" val="419022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517167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술집에 있었던 에피소드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 술집에서 한 기억에 남는 모임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술집에서 일어났던 기억에 남는 사건에 대해 말해주세요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정확히 무슨 일이 일어났고 왜 그것이 특별했나요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90" dirty="0">
                <a:solidFill>
                  <a:srgbClr val="0070C0"/>
                </a:solidFill>
                <a:effectLst/>
                <a:latin typeface="+mn-lt"/>
                <a:ea typeface="+mn-ea"/>
                <a:cs typeface="+mn-cs"/>
              </a:rPr>
              <a:t>술집에서 있었던 그 잊을 수 없는 사건에 대해 전부 말해 주세요</a:t>
            </a:r>
            <a:r>
              <a:rPr lang="en-US" altLang="ko-KR" sz="1000" b="0" i="0" kern="1200" spc="-9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술집이나 </a:t>
            </a:r>
            <a:r>
              <a:rPr lang="en-US" altLang="ko-KR" sz="1000" b="0" i="0" kern="1200" dirty="0">
                <a:solidFill>
                  <a:srgbClr val="0070C0"/>
                </a:solidFill>
                <a:effectLst/>
                <a:latin typeface="+mn-lt"/>
                <a:ea typeface="+mn-ea"/>
                <a:cs typeface="+mn-cs"/>
              </a:rPr>
              <a:t>Pub</a:t>
            </a:r>
            <a:r>
              <a:rPr lang="ko-KR" altLang="en-US" sz="1000" b="0" i="0" kern="1200" dirty="0">
                <a:solidFill>
                  <a:srgbClr val="0070C0"/>
                </a:solidFill>
                <a:effectLst/>
                <a:latin typeface="+mn-lt"/>
                <a:ea typeface="+mn-ea"/>
                <a:cs typeface="+mn-cs"/>
              </a:rPr>
              <a:t>에 대한 특별한 방문에 대해 말해주세요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아마도 당신은 그곳에서 당신의 생일을 축하했을 것입니다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바에서 어떻게 시간을 보냈나요</a:t>
            </a:r>
            <a:r>
              <a:rPr lang="en-US" altLang="ko-KR" sz="1000" b="0" i="0" kern="1200" dirty="0">
                <a:solidFill>
                  <a:srgbClr val="0070C0"/>
                </a:solidFill>
                <a:effectLst/>
                <a:latin typeface="+mn-lt"/>
                <a:ea typeface="+mn-ea"/>
                <a:cs typeface="+mn-cs"/>
              </a:rPr>
              <a:t>?</a:t>
            </a:r>
            <a:endParaRPr lang="en-US" altLang="ko-KR" sz="1000" b="0" i="0" u="none" strike="noStrike" kern="1200" baseline="0" dirty="0">
              <a:solidFill>
                <a:srgbClr val="0070C0"/>
              </a:solidFill>
              <a:latin typeface="맑은 고딕" panose="020B0503020000020004" pitchFamily="50" charset="-127"/>
              <a:ea typeface="맑은 고딕" panose="020B0503020000020004" pitchFamily="50" charset="-127"/>
              <a:cs typeface="+mn-cs"/>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모임에 간 것을 기억합니다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그것은 한국 술집에서 열렸고</a:t>
            </a:r>
            <a:r>
              <a:rPr lang="en-US" altLang="ko-KR"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우리는 거기에서 맥주를 마셨습니다</a:t>
            </a:r>
            <a:r>
              <a:rPr lang="en-US" altLang="ko-KR"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그날 술을 많이 마셨습니다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매우 취했습니다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너무 많이 마셔서</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토할 것 같았습니다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현기증이 났고</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똑바로 걸을 수가 없었습니다</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만취 상태이고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필름이 끊겼습니다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기억이 나지 않았습니다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어떻게 집에 갔는지 </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다음날 숙취가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내가 술을 깨는데 오랜 시간이 걸렸습니다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그후</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조심하려고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92545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술집에 있었던 에피소드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 술집에서 한 기억에 남는 모임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about a memorable incident that happened at a bar.</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exactly happened and why was it special?</a:t>
            </a: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everything about that unforgettable incident at a bar.</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special visit to a bar or a pub.</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Maybe you celebrated your birthday there.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did you spent your time at the bar?</a:t>
            </a: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a gathering recently.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held at a Korean bar and we drank beer there.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I drank a lot that 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very drunk because I drank too much.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like throwing up.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felt dizzy and I could NOT walk straight.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got wasted and blacked 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do NOT even remember how I got home.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 hangover the next day. It took me a long time to sober up.</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12228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술맥주집 과거와 현재 비교</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몇 년 동안 </a:t>
            </a:r>
            <a:r>
              <a:rPr lang="en-US" altLang="ko-KR" sz="1100" b="0" i="0" kern="1200" dirty="0">
                <a:solidFill>
                  <a:srgbClr val="0070C0"/>
                </a:solidFill>
                <a:effectLst/>
                <a:latin typeface="+mn-lt"/>
                <a:ea typeface="+mn-ea"/>
                <a:cs typeface="+mn-cs"/>
              </a:rPr>
              <a:t>Pub</a:t>
            </a:r>
            <a:r>
              <a:rPr lang="ko-KR" altLang="en-US" sz="1100" b="0" i="0" kern="1200" dirty="0">
                <a:solidFill>
                  <a:srgbClr val="0070C0"/>
                </a:solidFill>
                <a:effectLst/>
                <a:latin typeface="+mn-lt"/>
                <a:ea typeface="+mn-ea"/>
                <a:cs typeface="+mn-cs"/>
              </a:rPr>
              <a:t>은 어떻게 변해왔나요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과거에 어땠고 지금은 </a:t>
            </a:r>
            <a:r>
              <a:rPr lang="ko-KR" altLang="en-US" sz="1100" b="0" i="0" kern="1200" dirty="0" err="1">
                <a:solidFill>
                  <a:srgbClr val="0070C0"/>
                </a:solidFill>
                <a:effectLst/>
                <a:latin typeface="+mn-lt"/>
                <a:ea typeface="+mn-ea"/>
                <a:cs typeface="+mn-cs"/>
              </a:rPr>
              <a:t>어떻나요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차이점과 유사점은 무엇입니까</a:t>
            </a:r>
            <a:r>
              <a:rPr lang="en-US" altLang="ko-KR" sz="1100" b="0" i="0" kern="1200" dirty="0">
                <a:solidFill>
                  <a:srgbClr val="0070C0"/>
                </a:solidFill>
                <a:effectLst/>
                <a:latin typeface="+mn-lt"/>
                <a:ea typeface="+mn-ea"/>
                <a:cs typeface="+mn-cs"/>
              </a:rPr>
              <a:t>?</a:t>
            </a:r>
            <a:endParaRPr lang="en-US" altLang="ko-KR" sz="1100" b="0" i="0" u="none" strike="noStrike" kern="1200" baseline="0" dirty="0">
              <a:solidFill>
                <a:srgbClr val="0070C0"/>
              </a:solidFill>
              <a:latin typeface="맑은 고딕" panose="020B0503020000020004" pitchFamily="50" charset="-127"/>
              <a:ea typeface="맑은 고딕" panose="020B0503020000020004" pitchFamily="50" charset="-127"/>
              <a:cs typeface="+mn-cs"/>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한국에 있는 맥주집은 지난 몇 년 동안 많이 변했습니다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과거에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대부분 국내산 맥주를 제공했습니다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요즈음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전 세계로부터의 다양한 종류의 맥주를 제공합니다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선택할 수 있는 많은 옵션들이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과거에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대부분 맥주 가게들은 지역 술집이었습니다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지금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그들의 많은 수는 맥주 체인점입니다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맥주가게들은 과거보다 훨씬 더 좋습니다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12228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술맥주집 과거와 현재 비교</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have pubs changed over the years?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were they in the past and how are they now?</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are the differences and the similarities?</a:t>
            </a: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Pubs in Korea have changed a lot over the years.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the past, they mostly served domestic beer.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these days, they serve various types of beer from all over the world.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a lot of options to choose from.</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in the past, most beer places used to be local pubs.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now, many of them are beer chains.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pubs are a lot better than in the past.</a:t>
            </a:r>
          </a:p>
        </p:txBody>
      </p:sp>
    </p:spTree>
    <p:extLst>
      <p:ext uri="{BB962C8B-B14F-4D97-AF65-F5344CB8AC3E}">
        <p14:creationId xmlns:p14="http://schemas.microsoft.com/office/powerpoint/2010/main" val="3640040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268342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05 [</a:t>
            </a:r>
            <a:r>
              <a:rPr lang="en-US" altLang="ko-KR" sz="1100" b="1" baseline="0" dirty="0">
                <a:solidFill>
                  <a:schemeClr val="tx2"/>
                </a:solidFill>
                <a:latin typeface="맑은 고딕" pitchFamily="50" charset="-127"/>
                <a:ea typeface="맑은 고딕" pitchFamily="50" charset="-127"/>
              </a:rPr>
              <a:t>Int</a:t>
            </a:r>
            <a:r>
              <a:rPr lang="en-US" altLang="ko-KR" sz="1100" b="1" dirty="0">
                <a:solidFill>
                  <a:schemeClr val="tx2"/>
                </a:solidFill>
                <a:latin typeface="맑은 고딕" pitchFamily="50" charset="-127"/>
                <a:ea typeface="맑은 고딕" pitchFamily="50" charset="-127"/>
              </a:rPr>
              <a: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가장 좋아하는 술집에 술 만드는 공간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대부분의 </a:t>
            </a:r>
            <a:r>
              <a:rPr lang="en-US" altLang="ko-KR" sz="1100" b="0" i="0" kern="1200" dirty="0">
                <a:solidFill>
                  <a:srgbClr val="0070C0"/>
                </a:solidFill>
                <a:effectLst/>
                <a:latin typeface="+mn-lt"/>
                <a:ea typeface="+mn-ea"/>
                <a:cs typeface="+mn-cs"/>
              </a:rPr>
              <a:t>Bar</a:t>
            </a:r>
            <a:r>
              <a:rPr lang="ko-KR" altLang="en-US" sz="1100" b="0" i="0" kern="1200" dirty="0">
                <a:solidFill>
                  <a:srgbClr val="0070C0"/>
                </a:solidFill>
                <a:effectLst/>
                <a:latin typeface="+mn-lt"/>
                <a:ea typeface="+mn-ea"/>
                <a:cs typeface="+mn-cs"/>
              </a:rPr>
              <a:t>와 </a:t>
            </a:r>
            <a:r>
              <a:rPr lang="en-US" altLang="ko-KR" sz="1100" b="0" i="0" kern="1200" dirty="0">
                <a:solidFill>
                  <a:srgbClr val="0070C0"/>
                </a:solidFill>
                <a:effectLst/>
                <a:latin typeface="+mn-lt"/>
                <a:ea typeface="+mn-ea"/>
                <a:cs typeface="+mn-cs"/>
              </a:rPr>
              <a:t>Pub</a:t>
            </a:r>
            <a:r>
              <a:rPr lang="ko-KR" altLang="en-US" sz="1100" b="0" i="0" kern="1200" dirty="0">
                <a:solidFill>
                  <a:srgbClr val="0070C0"/>
                </a:solidFill>
                <a:effectLst/>
                <a:latin typeface="+mn-lt"/>
                <a:ea typeface="+mn-ea"/>
                <a:cs typeface="+mn-cs"/>
              </a:rPr>
              <a:t>에는 음료를 만들 수 있는 특별한 공간이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가장 좋아하는 </a:t>
            </a:r>
            <a:r>
              <a:rPr lang="en-US" altLang="ko-KR" sz="1100" b="0" i="0" kern="1200" dirty="0">
                <a:solidFill>
                  <a:srgbClr val="0070C0"/>
                </a:solidFill>
                <a:effectLst/>
                <a:latin typeface="+mn-lt"/>
                <a:ea typeface="+mn-ea"/>
                <a:cs typeface="+mn-cs"/>
              </a:rPr>
              <a:t>Bar</a:t>
            </a:r>
            <a:r>
              <a:rPr lang="ko-KR" altLang="en-US" sz="1100" b="0" i="0" kern="1200" dirty="0">
                <a:solidFill>
                  <a:srgbClr val="0070C0"/>
                </a:solidFill>
                <a:effectLst/>
                <a:latin typeface="+mn-lt"/>
                <a:ea typeface="+mn-ea"/>
                <a:cs typeface="+mn-cs"/>
              </a:rPr>
              <a:t>와 </a:t>
            </a:r>
            <a:r>
              <a:rPr lang="en-US" altLang="ko-KR" sz="1100" b="0" i="0" kern="1200" dirty="0">
                <a:solidFill>
                  <a:srgbClr val="0070C0"/>
                </a:solidFill>
                <a:effectLst/>
                <a:latin typeface="+mn-lt"/>
                <a:ea typeface="+mn-ea"/>
                <a:cs typeface="+mn-cs"/>
              </a:rPr>
              <a:t>Pub</a:t>
            </a:r>
            <a:r>
              <a:rPr lang="ko-KR" altLang="en-US" sz="1100" b="0" i="0" kern="1200" dirty="0">
                <a:solidFill>
                  <a:srgbClr val="0070C0"/>
                </a:solidFill>
                <a:effectLst/>
                <a:latin typeface="+mn-lt"/>
                <a:ea typeface="+mn-ea"/>
                <a:cs typeface="+mn-cs"/>
              </a:rPr>
              <a:t>에서 이 장소가 어떤 곳인지 말해주세요</a:t>
            </a:r>
            <a:r>
              <a:rPr lang="en-US" altLang="ko-KR" sz="1100" b="0" i="0" kern="1200" dirty="0">
                <a:solidFill>
                  <a:srgbClr val="0070C0"/>
                </a:solidFill>
                <a:effectLst/>
                <a:latin typeface="+mn-lt"/>
                <a:ea typeface="+mn-ea"/>
                <a:cs typeface="+mn-cs"/>
              </a:rPr>
              <a:t>.</a:t>
            </a:r>
            <a:endParaRPr lang="en-US" altLang="ko-KR" sz="1100" b="0" i="0" u="none" strike="noStrike" kern="1200" baseline="0" dirty="0">
              <a:solidFill>
                <a:srgbClr val="0070C0"/>
              </a:solidFill>
              <a:latin typeface="맑은 고딕" panose="020B0503020000020004" pitchFamily="50" charset="-127"/>
              <a:ea typeface="맑은 고딕" panose="020B0503020000020004" pitchFamily="50" charset="-127"/>
              <a:cs typeface="+mn-cs"/>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가장 좋아하는 술집에는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바 영역이 없습니다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음식과 음료를 주방 안에서 만듭니다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정말 이 토픽에 관하여 말하는 것을 많이 가지고 있지 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268342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05 [</a:t>
            </a:r>
            <a:r>
              <a:rPr lang="en-US" altLang="ko-KR" sz="1100" b="1" baseline="0" dirty="0">
                <a:solidFill>
                  <a:schemeClr val="tx2"/>
                </a:solidFill>
                <a:latin typeface="맑은 고딕" pitchFamily="50" charset="-127"/>
                <a:ea typeface="맑은 고딕" pitchFamily="50" charset="-127"/>
              </a:rPr>
              <a:t>Int</a:t>
            </a:r>
            <a:r>
              <a:rPr lang="en-US" altLang="ko-KR" sz="1100" b="1" dirty="0">
                <a:solidFill>
                  <a:schemeClr val="tx2"/>
                </a:solidFill>
                <a:latin typeface="맑은 고딕" pitchFamily="50" charset="-127"/>
                <a:ea typeface="맑은 고딕" pitchFamily="50" charset="-127"/>
              </a:rPr>
              <a: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가장 좋아하는 술집에 술 만드는 공간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Most bars and pubs have a special area to make drinks.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what this area is like at your favorite bar or pub.</a:t>
            </a: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my favorite bar, there is NO bar area.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make the food and drinks inside the kitchen.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really do NOT have much to say about this topic.</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02994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06 [</a:t>
            </a:r>
            <a:r>
              <a:rPr lang="en-US" altLang="ko-KR" sz="1100" b="1" baseline="0" dirty="0">
                <a:solidFill>
                  <a:schemeClr val="tx2"/>
                </a:solidFill>
                <a:latin typeface="맑은 고딕" pitchFamily="50" charset="-127"/>
                <a:ea typeface="맑은 고딕" pitchFamily="50" charset="-127"/>
              </a:rPr>
              <a:t>Int</a:t>
            </a:r>
            <a:r>
              <a:rPr lang="en-US" altLang="ko-KR" sz="1100" b="1" dirty="0">
                <a:solidFill>
                  <a:schemeClr val="tx2"/>
                </a:solidFill>
                <a:latin typeface="맑은 고딕" pitchFamily="50" charset="-127"/>
                <a:ea typeface="맑은 고딕" pitchFamily="50" charset="-127"/>
              </a:rPr>
              <a: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바텐더들의 출근</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근무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퇴근 업무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바텐더에게 전형적인 일과는 무엇인가요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하루를 어떻게 시작하나요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일하는 동안 무엇을 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어떻게 하루를 마감하나요</a:t>
            </a:r>
            <a:r>
              <a:rPr lang="en-US" altLang="ko-KR" sz="1100" b="0" i="0" kern="1200" dirty="0">
                <a:solidFill>
                  <a:srgbClr val="0070C0"/>
                </a:solidFill>
                <a:effectLst/>
                <a:latin typeface="+mn-lt"/>
                <a:ea typeface="+mn-ea"/>
                <a:cs typeface="+mn-cs"/>
              </a:rPr>
              <a:t>?</a:t>
            </a:r>
            <a:endParaRPr lang="en-US" altLang="ko-KR" sz="1100" b="0" i="0" u="none" strike="noStrike" kern="1200" baseline="0" dirty="0">
              <a:solidFill>
                <a:srgbClr val="0070C0"/>
              </a:solidFill>
              <a:latin typeface="맑은 고딕" panose="020B0503020000020004" pitchFamily="50" charset="-127"/>
              <a:ea typeface="맑은 고딕" panose="020B0503020000020004" pitchFamily="50" charset="-127"/>
              <a:cs typeface="+mn-cs"/>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바텐더들은 일을 하고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음료를 제공할 것을 준비합니다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고객들이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올때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주문을 받고 음료를 만듭니다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그들을 위해</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하루의 끝에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바텐더들은 바를 청소합니다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바 영역과 바닥을 청소합니다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다음날을 위한 장사의 준비를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바텐더들이 하는 일은 이렇습니다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77603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06 [</a:t>
            </a:r>
            <a:r>
              <a:rPr lang="en-US" altLang="ko-KR" sz="1100" b="1" baseline="0" dirty="0">
                <a:solidFill>
                  <a:schemeClr val="tx2"/>
                </a:solidFill>
                <a:latin typeface="맑은 고딕" pitchFamily="50" charset="-127"/>
                <a:ea typeface="맑은 고딕" pitchFamily="50" charset="-127"/>
              </a:rPr>
              <a:t>Int</a:t>
            </a:r>
            <a:r>
              <a:rPr lang="en-US" altLang="ko-KR" sz="1100" b="1" dirty="0">
                <a:solidFill>
                  <a:schemeClr val="tx2"/>
                </a:solidFill>
                <a:latin typeface="맑은 고딕" pitchFamily="50" charset="-127"/>
                <a:ea typeface="맑은 고딕" pitchFamily="50" charset="-127"/>
              </a:rPr>
              <a: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바텐더들의 출근</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근무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퇴근 업무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is a typical routine for a bartender?</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do they start their day?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they do while they work?</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do they end their day?</a:t>
            </a: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Bartenders get to work and get ready to serve drinks.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the customers come, they take orders and make drinks for them.</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the end of the day, bartenders clean the bar.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clean the bar area and the floors.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they get ready for business for the next day.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bartenders do at work.</a:t>
            </a:r>
          </a:p>
        </p:txBody>
      </p:sp>
    </p:spTree>
    <p:extLst>
      <p:ext uri="{BB962C8B-B14F-4D97-AF65-F5344CB8AC3E}">
        <p14:creationId xmlns:p14="http://schemas.microsoft.com/office/powerpoint/2010/main" val="2348224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14</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7633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07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처음으로 가본 술집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네가 처음 갔던 술집에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어떻게 생겼어요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처음 갔던 바에 대해 자세히 설명해 보세요</a:t>
            </a:r>
            <a:r>
              <a:rPr lang="en-US" altLang="ko-KR" sz="1100" b="0" i="0" kern="1200" dirty="0">
                <a:solidFill>
                  <a:srgbClr val="0070C0"/>
                </a:solidFill>
                <a:effectLst/>
                <a:latin typeface="+mn-lt"/>
                <a:ea typeface="+mn-ea"/>
                <a:cs typeface="+mn-cs"/>
              </a:rPr>
              <a:t>.</a:t>
            </a:r>
            <a:endParaRPr lang="en-US" altLang="ko-KR" sz="1100" b="0" i="0" u="none" strike="noStrike" kern="1200" baseline="0" dirty="0">
              <a:solidFill>
                <a:srgbClr val="0070C0"/>
              </a:solidFill>
              <a:latin typeface="맑은 고딕" panose="020B0503020000020004" pitchFamily="50" charset="-127"/>
              <a:ea typeface="맑은 고딕" panose="020B0503020000020004" pitchFamily="50" charset="-127"/>
              <a:cs typeface="+mn-cs"/>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첫번째 바에 간 것을 기억합니다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대학교 신입생때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반 친구들과 함께 학교 근처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Pub</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좋은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Pub</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다양한 타입의 맥주를 제공하는</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장소를 좋아했습니다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분위기가 매우 좋았기 때문에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그들의 음식은 매우 맛있었습니다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학교와 가까웠습니다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직원들은 매우 친절했습니다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다른 맥주집들 보다 더 저렴했습니다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내가 갔는 첫번째 바입니다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54547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07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처음으로 가본 술집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30" dirty="0">
                <a:solidFill>
                  <a:srgbClr val="FF0000"/>
                </a:solidFill>
                <a:latin typeface="맑은 고딕" panose="020B0503020000020004" pitchFamily="50" charset="-127"/>
                <a:ea typeface="맑은 고딕" panose="020B0503020000020004" pitchFamily="50" charset="-127"/>
                <a:cs typeface="+mn-cs"/>
              </a:rPr>
              <a:t>Tell me about the first bar you remember going to.</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it look like?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the first bar you went to with lots of details.</a:t>
            </a: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a bar for the first time when I was a college freshman.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I went to a pub near my school with my classmates.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a nice pub that served various types of beer.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liked that place because the mood was very nice.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their food was very tasty.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it was close to my school.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the staff were very friendly.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it was cheaper than other pubs.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was the first bar I went to.</a:t>
            </a:r>
          </a:p>
        </p:txBody>
      </p:sp>
    </p:spTree>
    <p:extLst>
      <p:ext uri="{BB962C8B-B14F-4D97-AF65-F5344CB8AC3E}">
        <p14:creationId xmlns:p14="http://schemas.microsoft.com/office/powerpoint/2010/main" val="1634767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640632"/>
            <a:ext cx="6858000" cy="5940088"/>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03 </a:t>
            </a:r>
            <a:r>
              <a:rPr lang="ko-KR" altLang="en-US" sz="5400" b="1">
                <a:solidFill>
                  <a:srgbClr val="FF0000"/>
                </a:solidFill>
                <a:latin typeface="맑은 고딕" pitchFamily="50" charset="-127"/>
                <a:ea typeface="맑은 고딕" pitchFamily="50" charset="-127"/>
              </a:rPr>
              <a:t>선택형 주제 </a:t>
            </a:r>
            <a:r>
              <a:rPr lang="en-US" altLang="ko-KR" sz="5400" b="1">
                <a:solidFill>
                  <a:srgbClr val="FF0000"/>
                </a:solidFill>
                <a:latin typeface="맑은 고딕" pitchFamily="50" charset="-127"/>
                <a:ea typeface="맑은 고딕" pitchFamily="50" charset="-127"/>
              </a:rPr>
              <a:t>/ </a:t>
            </a:r>
          </a:p>
          <a:p>
            <a:pPr algn="ct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solidFill>
                <a:srgbClr val="FF0000"/>
              </a:solidFill>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Coffee Shops</a:t>
            </a:r>
          </a:p>
          <a:p>
            <a:pPr algn="ctr"/>
            <a:r>
              <a:rPr lang="en-US" altLang="ko-KR" sz="5400" b="1">
                <a:latin typeface="맑은 고딕" pitchFamily="50" charset="-127"/>
                <a:ea typeface="맑은 고딕" pitchFamily="50" charset="-127"/>
              </a:rPr>
              <a:t>Gatherings</a:t>
            </a:r>
          </a:p>
          <a:p>
            <a:pPr algn="ctr"/>
            <a:endParaRPr lang="en-US" altLang="ko-KR" sz="5400" b="1">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커피숍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r>
              <a:rPr lang="ko-KR" altLang="en-US" sz="2800" b="1">
                <a:solidFill>
                  <a:schemeClr val="tx2"/>
                </a:solidFill>
                <a:latin typeface="맑은 고딕" panose="020B0503020000020004" pitchFamily="50" charset="-127"/>
                <a:ea typeface="맑은 고딕" panose="020B0503020000020004" pitchFamily="50" charset="-127"/>
              </a:rPr>
              <a:t>모임 </a:t>
            </a:r>
            <a:r>
              <a:rPr lang="ko-KR" altLang="en-US" sz="2800" b="1">
                <a:solidFill>
                  <a:schemeClr val="tx2"/>
                </a:solidFill>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C6167D26-0D66-F9C2-1BE5-D0F80BC2FD42}"/>
              </a:ext>
            </a:extLst>
          </p:cNvPr>
          <p:cNvSpPr>
            <a:spLocks noGrp="1"/>
          </p:cNvSpPr>
          <p:nvPr>
            <p:ph type="sldNum" sz="quarter" idx="12"/>
          </p:nvPr>
        </p:nvSpPr>
        <p:spPr/>
        <p:txBody>
          <a:bodyPr/>
          <a:lstStyle/>
          <a:p>
            <a:fld id="{18CC7079-95A2-4860-A138-51A9FC969471}" type="slidenum">
              <a:rPr lang="ko-KR" altLang="en-US" smtClean="0"/>
              <a:t>15</a:t>
            </a:fld>
            <a:endParaRPr lang="ko-KR" altLang="en-US"/>
          </a:p>
        </p:txBody>
      </p:sp>
    </p:spTree>
    <p:extLst>
      <p:ext uri="{BB962C8B-B14F-4D97-AF65-F5344CB8AC3E}">
        <p14:creationId xmlns:p14="http://schemas.microsoft.com/office/powerpoint/2010/main" val="2284040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8402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 동네 커피숍들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설문조사에서 커피숍에 간다고 말했습니다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60" baseline="0" dirty="0">
                <a:solidFill>
                  <a:srgbClr val="0070C0"/>
                </a:solidFill>
                <a:effectLst/>
                <a:latin typeface="+mn-lt"/>
                <a:ea typeface="+mn-ea"/>
                <a:cs typeface="+mn-cs"/>
              </a:rPr>
              <a:t>당신의 커뮤니티에 있는 카페나 커피하우스에 대해 말해주세요</a:t>
            </a:r>
            <a:r>
              <a:rPr lang="en-US" altLang="ko-KR" sz="1100" b="0" i="0" kern="1200" spc="-60" baseline="0" dirty="0">
                <a:solidFill>
                  <a:srgbClr val="0070C0"/>
                </a:solidFill>
                <a:effectLst/>
                <a:latin typeface="+mn-lt"/>
                <a:ea typeface="+mn-ea"/>
                <a:cs typeface="+mn-cs"/>
              </a:rPr>
              <a:t>.</a:t>
            </a:r>
            <a:endParaRPr lang="en-US" altLang="ko-KR" sz="1100" b="0" spc="-6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나의 동네에는 많은 커피숍들이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그들의 많은 수는 복잡한 거리에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spc="-50" dirty="0">
                <a:solidFill>
                  <a:schemeClr val="tx1"/>
                </a:solidFill>
                <a:latin typeface="+mn-lt"/>
                <a:ea typeface="+mn-ea"/>
                <a:cs typeface="+mn-cs"/>
              </a:rPr>
              <a:t>그들은 찾기 쉽습니다</a:t>
            </a:r>
            <a:r>
              <a:rPr lang="en-US" altLang="ko-KR" sz="1100" b="0" i="0" u="none" strike="noStrike" kern="1200" spc="-50" dirty="0">
                <a:solidFill>
                  <a:schemeClr val="tx1"/>
                </a:solidFill>
                <a:latin typeface="+mn-lt"/>
                <a:ea typeface="+mn-ea"/>
                <a:cs typeface="+mn-cs"/>
              </a:rPr>
              <a:t>. </a:t>
            </a:r>
            <a:r>
              <a:rPr lang="ko-KR" altLang="en-US" sz="1100" b="0" i="0" u="none" strike="noStrike" kern="1200" spc="-50" dirty="0">
                <a:solidFill>
                  <a:schemeClr val="tx1"/>
                </a:solidFill>
                <a:latin typeface="+mn-lt"/>
                <a:ea typeface="+mn-ea"/>
                <a:cs typeface="+mn-cs"/>
              </a:rPr>
              <a:t>그들이 어디에나 있기 때문에</a:t>
            </a:r>
            <a:endParaRPr lang="en-US" altLang="ko-KR" sz="1100" b="0" i="0" u="none" strike="noStrike" kern="1200" spc="-5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그들의 많은 수는 스타벅스와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커피빈</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같은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메이져</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커피 체인점입니다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커피숍 체인점은 아주 큽니다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그곳에서 다양한 종류의 음료나 음식을 얻을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대부분의 커피 장소에는 무료 와이파이가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 사람들은 인터넷에 접속할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장소들은 연중무휴입니다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동네 커피숍들은 이렇습니다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5053306"/>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 동네 커피숍들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You indicated in the survey that you go to coffee shops.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cafes or coffee houses in your community.</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many coffee shops in my neighborhood.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Many of them are on busy streets.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easy to find because they are everywhere.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Many of them are major coffee chains such as Starbucks and Coffee Bean.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These coffee shop chains are quite big.</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People can get various types of drinks or food there.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free wi-fi at most coffee places, so people can get access to the internet.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 places are open 24/7 (twenty-four-seven).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my coffee shops in my neighborhood are like.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63011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커피숍에서 본인이 주로 하는 일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커피숍에 가면 보통 무엇을 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거기서 회의나 모임이 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좋아하는 일을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주로 나의 친구들과 함께 어울리기 위해 커피숍에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가기 위해 커피를 얻거나 때때로 그 자리에서 마십니다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내가 배고플 때 가볍게 요기를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커피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플레이스에서</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미팅을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때때로 커피 </a:t>
            </a:r>
            <a:r>
              <a:rPr lang="ko-KR" altLang="en-US" sz="11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플레이스에서</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시간을 죽입니다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때때로 커피 </a:t>
            </a:r>
            <a:r>
              <a:rPr lang="ko-KR" altLang="en-US" sz="11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플레이스에서</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일을 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커피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플레이스에서</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공부를 하거나 책을 읽습니다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이것이 내가 커피숍에서 하는 일입니다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53778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커피숍에서 본인이 주로 하는 일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60" dirty="0">
                <a:solidFill>
                  <a:srgbClr val="FF0000"/>
                </a:solidFill>
                <a:latin typeface="맑은 고딕" panose="020B0503020000020004" pitchFamily="50" charset="-127"/>
                <a:ea typeface="맑은 고딕" panose="020B0503020000020004" pitchFamily="50" charset="-127"/>
                <a:cs typeface="+mn-cs"/>
              </a:rPr>
              <a:t>What do you normally do when you go to coffee shops?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Are there meetings or gatherings there?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what you like to do.</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mostly go to coffee shops to hang out with my friends.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get coffee to go or sometimes drink it on the spot.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grab a bite when I am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have meetings at coffee places.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sometimes kill time at coffee places.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work at coffee places.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sometimes study or read books at coffee places.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I do at coffee shops.</a:t>
            </a:r>
          </a:p>
        </p:txBody>
      </p:sp>
    </p:spTree>
    <p:extLst>
      <p:ext uri="{BB962C8B-B14F-4D97-AF65-F5344CB8AC3E}">
        <p14:creationId xmlns:p14="http://schemas.microsoft.com/office/powerpoint/2010/main" val="3729523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17</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2241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커피숍에서 있었던 기억에 남는 에피소드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커피숍에서 일어났던 기억에 남는 사건에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무슨 일입니까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누가 연루되었습니까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60" dirty="0">
                <a:solidFill>
                  <a:srgbClr val="0070C0"/>
                </a:solidFill>
                <a:effectLst/>
                <a:latin typeface="+mn-lt"/>
                <a:ea typeface="+mn-ea"/>
                <a:cs typeface="+mn-cs"/>
              </a:rPr>
              <a:t>그 사건에 대한 모든 것을 처음부터 끝까지 말해 주세요</a:t>
            </a:r>
            <a:r>
              <a:rPr lang="en-US" altLang="ko-KR" sz="1100" b="0" i="0" kern="1200" spc="-60" dirty="0">
                <a:solidFill>
                  <a:srgbClr val="0070C0"/>
                </a:solidFill>
                <a:effectLst/>
                <a:latin typeface="+mn-lt"/>
                <a:ea typeface="+mn-ea"/>
                <a:cs typeface="+mn-cs"/>
              </a:rPr>
              <a:t>.</a:t>
            </a:r>
            <a:endParaRPr lang="en-US" altLang="ko-KR" sz="1100" b="0" spc="-6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커피솝에서</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친구를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우연찮게</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만난 것을 기억합니다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친구와 함께 채팅을 하고 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주문을 하려고 줄을 서 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그곳에서 나의 친구를 보았습니다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그에게 갔고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hi</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라고 말했습니다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그를 만나서 매우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기뼜습니다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서로 어떻게 지냈는지 물어 보고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밀린 이야기를 조금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내가 기억하는 사건이었습니다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88402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커피숍에서 있었던 기억에 남는 에피소드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memorable incident that happened at a coffee shop.</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happened? Who was involved?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about that incident from beginning to end.</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bumping into my friend at a coffee shop.</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chatting with my friend.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standing in line to make my order.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Suddenly, I saw my friend there. </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him and said hi.</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very happy to see him.</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asked how each other was doing and did some catching up.</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was the incident I remember.</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309892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처음으로 가본 커피숍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처음 갔던 커피숍에 대해 말해보세요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그곳의 특별한 점은 무엇입니까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무엇이 가장 기억에 남습니까</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솔직히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갔는 첫번째 커피숍을 기억하지 못합니다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대학교에서 커피숍을 가기 시작한 것을</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나의 친구들과 함께 어울리기 위해 거기에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우리의 단골집 중 하나였습니다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2845010"/>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처음으로 가본 커피숍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the first coffee shop you went to.</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special about that place?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you remember most?</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Frankly, I do NOT remember the first coffee shop I went to.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started to go to coffee shops in college.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Back then, I often went there to hang out with my friends.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were one of our hangouts.</a:t>
            </a:r>
          </a:p>
        </p:txBody>
      </p:sp>
    </p:spTree>
    <p:extLst>
      <p:ext uri="{BB962C8B-B14F-4D97-AF65-F5344CB8AC3E}">
        <p14:creationId xmlns:p14="http://schemas.microsoft.com/office/powerpoint/2010/main" val="2512217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18</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4084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사람들이 가는 모임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사람들이 주로 가는 파티를 하는 장소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당신의 나라에서 열리는 모임이나 기념행사에 대해 이야기하세요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사람들은 축하하기 위해 모였을 때 무엇을 하나요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spc="-100" dirty="0">
                <a:solidFill>
                  <a:srgbClr val="0070C0"/>
                </a:solidFill>
              </a:rPr>
              <a:t/>
            </a:r>
            <a:br>
              <a:rPr lang="ko-KR" altLang="en-US" sz="1000" spc="-100" dirty="0">
                <a:solidFill>
                  <a:srgbClr val="0070C0"/>
                </a:solidFill>
              </a:rPr>
            </a:br>
            <a:r>
              <a:rPr lang="ko-KR" altLang="en-US" sz="1000" b="0" i="0" kern="1200" spc="-100" dirty="0">
                <a:solidFill>
                  <a:srgbClr val="0070C0"/>
                </a:solidFill>
                <a:effectLst/>
                <a:latin typeface="+mn-lt"/>
                <a:ea typeface="+mn-ea"/>
                <a:cs typeface="+mn-cs"/>
              </a:rPr>
              <a:t>당신의 지역에서 사람들은 보통 어디에서 축하나 파티를 합니까</a:t>
            </a:r>
            <a:r>
              <a:rPr lang="en-US" altLang="ko-KR" sz="1000" b="0" i="0" kern="1200" spc="-1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누군가의 집</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공원</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아니면 다른 곳에 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할 수 있는 한 자세히 그 장소에 대한 모든 것을 말해 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종종 사회 모임들을 위해 바에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그들의 친구들과 함께 조금의 술을 마십니다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술은 서먹한 분위기를 없애고</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분위기를 더 좋게 만듭니다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때때로 술 마시기 게임을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때때로 여러 라운드를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사람들은 때때로 직원 저녁식사를 위해 술집에 갑니다</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나의 동료들과 친해질 수 있는 좋은 기회입니다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때때로 생일파티와 같은 특별한 행사를 위해 술집에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보통 나의 친구들이나 회사동료들과 어울리기 위해 술집에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5079339"/>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사람들이 가는 모임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사람들이 주로 가는 파티를 하는 장소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gatherings or celebrations in your country.</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people do when they get together to celebrate things?</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Where do people usually have celebrations or parties in your area?</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Is it at someone’s home, a park, or someplace else?</a:t>
            </a:r>
          </a:p>
          <a:p>
            <a:r>
              <a:rPr lang="en-US" altLang="ko-KR" sz="1000" b="0" i="0" u="none" strike="noStrike" kern="1200" spc="-70" dirty="0">
                <a:solidFill>
                  <a:srgbClr val="FF0000"/>
                </a:solidFill>
                <a:latin typeface="맑은 고딕" panose="020B0503020000020004" pitchFamily="50" charset="-127"/>
                <a:ea typeface="맑은 고딕" panose="020B0503020000020004" pitchFamily="50" charset="-127"/>
                <a:cs typeface="+mn-cs"/>
              </a:rPr>
              <a:t>Tell me everything about that place in as much detail as you can.</a:t>
            </a:r>
            <a:endParaRPr lang="en-US" altLang="ko-KR" sz="1000" b="0" spc="-7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often go to bars for social gatherings.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have some drinks with their friends.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Drinks break the ice and make the mood better.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sometimes play drinking games.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sometimes do several rounds.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people sometimes go to bars for staff dinners.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a good chance to bond with my co-workers.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Next, people sometimes go to bars for special occasions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such as birthday parties.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people often have gatherings at bars with their friends or co-workers.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361445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지난번 모임에서 있었던 일들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spc="-50" dirty="0">
                <a:solidFill>
                  <a:srgbClr val="0070C0"/>
                </a:solidFill>
                <a:effectLst/>
                <a:latin typeface="+mn-lt"/>
                <a:ea typeface="+mn-ea"/>
                <a:cs typeface="+mn-cs"/>
              </a:rPr>
              <a:t>당신은 지난번 모임이나 기념식에서 무엇을 했습니까</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행사가 무엇이었습니까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모든 세부 사항을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가족과 나는 지난 주말에 저녁을 먹었습니다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굉장한 멕시칸 레스토랑에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타운에서 베스트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타코를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주문한 새우는 즙이 많고 부드러웠습니다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식사와 함께 맥주를 마셨습니다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저녁 식사였습니다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35284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지난번 모임에서 있었던 일들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you do at your last gathering or celebration?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the occasion? Give me all the details.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My family and I had dinner last weekend.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went to a great Mexican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the best tacos in town.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shrimp I ordered was very juicy and tender.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had some beer with the meal.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dinner.</a:t>
            </a:r>
          </a:p>
        </p:txBody>
      </p:sp>
    </p:spTree>
    <p:extLst>
      <p:ext uri="{BB962C8B-B14F-4D97-AF65-F5344CB8AC3E}">
        <p14:creationId xmlns:p14="http://schemas.microsoft.com/office/powerpoint/2010/main" val="3191825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19</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0234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모임에서 기억나는 에피소드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 본인이 간 휴일 파티에서 했던 일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모임이나 축하회에서 일어났던 기억에 남는 사건에 대해 이야기하세요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왜 그것이 기억에 남거나 잊혀지지 않나요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참석했던 마지막 휴일 파티나 축하 행사에 대해 말해주세요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70" dirty="0">
                <a:solidFill>
                  <a:srgbClr val="0070C0"/>
                </a:solidFill>
                <a:effectLst/>
                <a:latin typeface="+mn-lt"/>
                <a:ea typeface="+mn-ea"/>
                <a:cs typeface="+mn-cs"/>
              </a:rPr>
              <a:t>무슨 일이 있었는지 자세히 알려주세요</a:t>
            </a:r>
            <a:r>
              <a:rPr lang="en-US" altLang="ko-KR" sz="1000" b="0" i="0" kern="1200" spc="-70" dirty="0">
                <a:solidFill>
                  <a:srgbClr val="0070C0"/>
                </a:solidFill>
                <a:effectLst/>
                <a:latin typeface="+mn-lt"/>
                <a:ea typeface="+mn-ea"/>
                <a:cs typeface="+mn-cs"/>
              </a:rPr>
              <a:t>. </a:t>
            </a:r>
            <a:r>
              <a:rPr lang="ko-KR" altLang="en-US" sz="1000" b="0" i="0" kern="1200" spc="-70" dirty="0" err="1">
                <a:solidFill>
                  <a:srgbClr val="0070C0"/>
                </a:solidFill>
                <a:effectLst/>
                <a:latin typeface="+mn-lt"/>
                <a:ea typeface="+mn-ea"/>
                <a:cs typeface="+mn-cs"/>
              </a:rPr>
              <a:t>누구랑</a:t>
            </a:r>
            <a:r>
              <a:rPr lang="ko-KR" altLang="en-US" sz="1000" b="0" i="0" kern="1200" spc="-70" dirty="0">
                <a:solidFill>
                  <a:srgbClr val="0070C0"/>
                </a:solidFill>
                <a:effectLst/>
                <a:latin typeface="+mn-lt"/>
                <a:ea typeface="+mn-ea"/>
                <a:cs typeface="+mn-cs"/>
              </a:rPr>
              <a:t> 같이 있었어요</a:t>
            </a:r>
            <a:r>
              <a:rPr lang="en-US" altLang="ko-KR" sz="1000" b="0" i="0" kern="1200" spc="-7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네가 한 일을 처음부터 끝까지 말해 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모임에 간 것을 기억합니다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그것은 한국 바에서 열렸고</a:t>
            </a:r>
            <a:r>
              <a:rPr lang="en-US" altLang="ko-KR"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우리는 거기에서 맥주를 마셨습니다</a:t>
            </a:r>
            <a:r>
              <a:rPr lang="en-US" altLang="ko-KR"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그날 술을 많이 마셨습니다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매우 취했습니다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너무 많이 마셔서</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토할 것 같았습니다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현기증이 났고</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똑바로 걸을 수가 없었습니다</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만취상태이고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필름이 끊겼습니다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기억이 나지 않았습니다</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내가 어떻게 집에 갔는지</a:t>
            </a:r>
            <a:endPar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다음날 숙취가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내가 술을 깨는데 오랜 시간이 걸렸습니다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그후</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조심하려고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503317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모임에서 기억나는 에피소드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 본인이 간 휴일 파티에서 했던 일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 memorable incident that happened at a gathering or a celebration.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Why was it memorable or unforgettable?</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last holiday party or celebration that you attended.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me lots of details about what happened. Who was there with you?</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what you did from beginning to end.</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a gathering recently.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held at a Korean bar and we drank beer there.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drank a lot that day. I got very drunk because I drank too much.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like throwing up.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felt dizzy and I could NOT walk straight.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got wasted and blacked 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do NOT even remember how I got home.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 hangover the next day. It took me a long time to sober up.</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파티 준비를 도와 준 경험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파티나 축하 행사를 준비하는 것을 도왔던 시기에 대해 이야기하세요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아마도 당신은 사람들을 초대하는 것을 도왔거나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행사장을 꾸미는 것을 도왔거나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음식이나 음료를 얻는 것을 도왔을 것입니다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이 경험을 처음부터 끝까지 말해보세요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집에서 나의 아들의 생일파티를 가진 것이 기억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7</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번째 생일 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파티를 위해 약간의 음식을 요리했습니다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우리는 약간의 프라이드 치킨을 주문하였습니다</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파티 후 나는 청소를 도왔습니다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생일이었습니다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114588"/>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04 [Adv]</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파티 준비를 도와 준 경험 묘사</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 time when you helped prepare for a party or a celebration.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Perhaps you helped invite people, or you helped </a:t>
            </a:r>
            <a:r>
              <a:rPr lang="en-US" altLang="ko-KR" sz="1100" b="0" i="0" u="none" strike="noStrike" kern="1200" spc="-70" dirty="0">
                <a:solidFill>
                  <a:srgbClr val="FF0000"/>
                </a:solidFill>
                <a:latin typeface="맑은 고딕" panose="020B0503020000020004" pitchFamily="50" charset="-127"/>
                <a:ea typeface="맑은 고딕" panose="020B0503020000020004" pitchFamily="50" charset="-127"/>
                <a:cs typeface="+mn-cs"/>
              </a:rPr>
              <a:t>decorate the venue, or you helped get the food or drinks.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this experience from the beginning to the end.</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having my son’s birthday party at home.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his 7th birthday.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cooked some food for the party.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ordered some fried chicken.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After the party, I helped clean up.</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birthday.</a:t>
            </a:r>
          </a:p>
        </p:txBody>
      </p:sp>
    </p:spTree>
    <p:extLst>
      <p:ext uri="{BB962C8B-B14F-4D97-AF65-F5344CB8AC3E}">
        <p14:creationId xmlns:p14="http://schemas.microsoft.com/office/powerpoint/2010/main" val="2995263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364190"/>
            <a:ext cx="6858000" cy="5109091"/>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04 </a:t>
            </a: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Food</a:t>
            </a:r>
          </a:p>
          <a:p>
            <a:pPr algn="ctr"/>
            <a:r>
              <a:rPr lang="en-US" altLang="ko-KR" sz="5400" b="1">
                <a:latin typeface="맑은 고딕" pitchFamily="50" charset="-127"/>
                <a:ea typeface="맑은 고딕" pitchFamily="50" charset="-127"/>
              </a:rPr>
              <a:t>Health</a:t>
            </a:r>
          </a:p>
          <a:p>
            <a:pPr algn="ctr"/>
            <a:endParaRPr lang="en-US" altLang="ko-KR" sz="5400" b="1">
              <a:solidFill>
                <a:schemeClr val="tx2"/>
              </a:solidFill>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음식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r>
              <a:rPr lang="ko-KR" altLang="en-US" sz="2800" b="1">
                <a:solidFill>
                  <a:schemeClr val="tx2"/>
                </a:solidFill>
              </a:rPr>
              <a:t>건강 ★★</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2645EE65-3EC8-6C76-770D-B74711B801EA}"/>
              </a:ext>
            </a:extLst>
          </p:cNvPr>
          <p:cNvSpPr>
            <a:spLocks noGrp="1"/>
          </p:cNvSpPr>
          <p:nvPr>
            <p:ph type="sldNum" sz="quarter" idx="12"/>
          </p:nvPr>
        </p:nvSpPr>
        <p:spPr/>
        <p:txBody>
          <a:bodyPr/>
          <a:lstStyle/>
          <a:p>
            <a:fld id="{18CC7079-95A2-4860-A138-51A9FC969471}" type="slidenum">
              <a:rPr lang="ko-KR" altLang="en-US" smtClean="0"/>
              <a:t>20</a:t>
            </a:fld>
            <a:endParaRPr lang="ko-KR" altLang="en-US"/>
          </a:p>
        </p:txBody>
      </p:sp>
    </p:spTree>
    <p:extLst>
      <p:ext uri="{BB962C8B-B14F-4D97-AF65-F5344CB8AC3E}">
        <p14:creationId xmlns:p14="http://schemas.microsoft.com/office/powerpoint/2010/main" val="1236389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21</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6866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사람들이 먹는 건강식 종류와 건강에 좋은 이유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요즘 많은 사람들이 건강에 좋은 음식을 먹으려고 노력합니다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어떤 종류의 음식이 건강에 좋고 왜 그것들은 우리에게 건강에 </a:t>
            </a:r>
            <a:r>
              <a:rPr lang="ko-KR" altLang="en-US" sz="1100" b="0" i="0" kern="1200" dirty="0" err="1">
                <a:solidFill>
                  <a:srgbClr val="0070C0"/>
                </a:solidFill>
                <a:effectLst/>
                <a:latin typeface="+mn-lt"/>
                <a:ea typeface="+mn-ea"/>
                <a:cs typeface="+mn-cs"/>
              </a:rPr>
              <a:t>좋은가요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요즈음 건강하게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그들은 야채와 과일을 자주 </a:t>
            </a:r>
            <a:r>
              <a:rPr lang="ko-KR" altLang="en-US" sz="1100" b="0" i="0" u="none" strike="noStrike" kern="1200" spc="-6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그들 안에 많은 비타민을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다음</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사람들은 콩과 두부를 자주 </a:t>
            </a:r>
            <a:r>
              <a:rPr lang="ko-KR" altLang="en-US" sz="1100" b="0" i="0" u="none" strike="noStrike" kern="1200" spc="-6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그들 안에 많은 건강한 단백질을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유기농 음식을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그들이 가능할 때 마다</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훨씬 더 건강합니다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그것 안에 어떤 화학물질도 가지고 있지 않기 때문에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이것들이 건강에 좋은 음식 종류입니다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79939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사람들이 먹는 건강식 종류와 건강에 좋은 이유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Many people try to eat healthy these days.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foods are healthy and why are they healthy for us?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try to eat healthy these days.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they try to eat vegetables and fruits often.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have a lot of vitamins in them.</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people try to eat beans and tofu often.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have a lot of healthy protein in them.</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people try to have organic food whenever they can.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much healthier because it does NOT have any chemicals in it.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types of food that are healthy.</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29155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건강식을 처음 알게 된 계기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건강한 식습관에 대해 어떻게 알게 되었는지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당신의 가족은 당신이 자랄 때 건강하게 먹었나요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어떻게 건강식을 하게 되었는지 자세히 설명해 주세요</a:t>
            </a:r>
            <a:r>
              <a:rPr lang="en-US" altLang="ko-KR" sz="1100" b="0" i="0" kern="1200" spc="-50" dirty="0">
                <a:solidFill>
                  <a:srgbClr val="0070C0"/>
                </a:solidFill>
                <a:effectLst/>
                <a:latin typeface="+mn-lt"/>
                <a:ea typeface="+mn-ea"/>
                <a:cs typeface="+mn-cs"/>
              </a:rPr>
              <a:t>.</a:t>
            </a:r>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어머니는 나에게 건강하게 먹도록 하였습니다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그녀는 나에게 매일 야채와 과일을 먹도록 하였습니다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그녀는 나에게 매일 우유를 마시게 하였습니다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그녀는 나에게 </a:t>
            </a:r>
            <a:r>
              <a:rPr lang="ko-KR" altLang="en-US" sz="1100" b="0" i="0" u="none" strike="noStrike" kern="1200" spc="-60" dirty="0" err="1">
                <a:solidFill>
                  <a:schemeClr val="tx1"/>
                </a:solidFill>
                <a:latin typeface="맑은 고딕" panose="020B0503020000020004" pitchFamily="50" charset="-127"/>
                <a:ea typeface="맑은 고딕" panose="020B0503020000020004" pitchFamily="50" charset="-127"/>
                <a:cs typeface="+mn-cs"/>
              </a:rPr>
              <a:t>정크푸드를</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적게 먹게 하였습니다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잘 먹게 만드는 것이 항상 그녀의 우선순위 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어머니로부터 건강하게 먹는 것에 관하여 처음 배웠습니다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건강식을 처음 알게 된 계기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how you found out about eating healthy.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Did your family eat healthy when you were growing up?</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Describe to me in detail how </a:t>
            </a:r>
            <a:r>
              <a:rPr lang="en-US" altLang="ko-KR" sz="1100" b="0" i="0" u="none" strike="noStrike" kern="1200" spc="-50" dirty="0">
                <a:solidFill>
                  <a:srgbClr val="FF0000"/>
                </a:solidFill>
                <a:latin typeface="맑은 고딕" panose="020B0503020000020004" pitchFamily="50" charset="-127"/>
                <a:ea typeface="+mn-ea"/>
                <a:cs typeface="+mn-cs"/>
              </a:rPr>
              <a:t>you started</a:t>
            </a:r>
            <a:r>
              <a:rPr lang="ko-KR" altLang="en-US" sz="1100" b="0" i="0" u="none" strike="noStrike" kern="1200" spc="-50" dirty="0">
                <a:solidFill>
                  <a:srgbClr val="FF0000"/>
                </a:solidFill>
                <a:latin typeface="맑은 고딕" panose="020B0503020000020004" pitchFamily="50" charset="-127"/>
                <a:ea typeface="+mn-ea"/>
                <a:cs typeface="+mn-cs"/>
              </a:rPr>
              <a:t> </a:t>
            </a:r>
            <a:r>
              <a:rPr lang="en-US" altLang="ko-KR" sz="1100" b="0" i="0" u="none" strike="noStrike" kern="1200" spc="-50" dirty="0">
                <a:solidFill>
                  <a:srgbClr val="FF0000"/>
                </a:solidFill>
                <a:latin typeface="맑은 고딕" panose="020B0503020000020004" pitchFamily="50" charset="-127"/>
                <a:ea typeface="+mn-ea"/>
                <a:cs typeface="+mn-cs"/>
              </a:rPr>
              <a:t>to</a:t>
            </a:r>
            <a:r>
              <a:rPr lang="ko-KR" altLang="en-US" sz="1100" b="0" i="0" u="none" strike="noStrike" kern="1200" spc="-50" dirty="0">
                <a:solidFill>
                  <a:srgbClr val="FF0000"/>
                </a:solidFill>
                <a:latin typeface="맑은 고딕" panose="020B0503020000020004" pitchFamily="50" charset="-127"/>
                <a:ea typeface="+mn-ea"/>
                <a:cs typeface="+mn-cs"/>
              </a:rPr>
              <a:t> </a:t>
            </a:r>
            <a:r>
              <a:rPr lang="en-US" altLang="ko-KR" sz="1100" b="0" i="0" u="none" strike="noStrike" kern="1200" spc="-50" dirty="0">
                <a:solidFill>
                  <a:srgbClr val="FF0000"/>
                </a:solidFill>
                <a:latin typeface="맑은 고딕" panose="020B0503020000020004" pitchFamily="50" charset="-127"/>
                <a:ea typeface="+mn-ea"/>
                <a:cs typeface="+mn-cs"/>
              </a:rPr>
              <a:t>eat healthy.</a:t>
            </a:r>
            <a:endParaRPr lang="en-US" altLang="ko-KR" sz="1100" b="0" spc="-5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was a kid, my mom used to make me eat healthy.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She made me eat vegetables and fruits every day.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she made me drink milk every day.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she made me eat less junk food.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Making me eat well was always her top priority.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first learned about eating healthy from my mom.</a:t>
            </a:r>
          </a:p>
        </p:txBody>
      </p:sp>
    </p:spTree>
    <p:extLst>
      <p:ext uri="{BB962C8B-B14F-4D97-AF65-F5344CB8AC3E}">
        <p14:creationId xmlns:p14="http://schemas.microsoft.com/office/powerpoint/2010/main" val="1714881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22</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06367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건강식을 최근에 먹어 본 경험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우리나라 대표음식 묘사</a:t>
            </a:r>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ko-KR" altLang="en-US" sz="1000" b="0" i="0" kern="1200" dirty="0">
                <a:solidFill>
                  <a:srgbClr val="0070C0"/>
                </a:solidFill>
                <a:effectLst/>
                <a:latin typeface="+mn-lt"/>
                <a:ea typeface="+mn-ea"/>
                <a:cs typeface="+mn-cs"/>
              </a:rPr>
              <a:t>마지막으로 건강에 좋은 음식을 먹은 게 </a:t>
            </a:r>
            <a:r>
              <a:rPr lang="ko-KR" altLang="en-US" sz="1000" b="0" i="0" kern="1200" dirty="0" err="1">
                <a:solidFill>
                  <a:srgbClr val="0070C0"/>
                </a:solidFill>
                <a:effectLst/>
                <a:latin typeface="+mn-lt"/>
                <a:ea typeface="+mn-ea"/>
                <a:cs typeface="+mn-cs"/>
              </a:rPr>
              <a:t>언제죠</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누구와 함께 있었고 기분이 어땠나요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경험에서 무엇이 특별했나요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당신의 나라에서 인기 있는 음식은 무엇입니까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요리의 특별한 점은 무엇입니까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요리에 대해 자세히 설명해 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한국에서 가장 흔한 음식은 김치입니다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김치는 그것 안에 많은 건강에 좋은 영양분을 가집니다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우리의 건강에 매우 좋습니다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우리의 면역 시스템을 강화 시킵니다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매일 김치를 먹습니다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음식을 먹을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사실 어제 조금 먹었습니다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저녁식사동안</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김치는 건강에 좋은 음식입니다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매일 먹는</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217565"/>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건강식을 최근에 먹어 본 경험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우리나라 대표음식 묘사</a:t>
            </a:r>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was the last time you had some healthy food?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Who were you with and how did you feel?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special about that experience?</a:t>
            </a:r>
          </a:p>
          <a:p>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is a popular dish in your country?</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is special about the dish?</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Please describe that dish in detail.</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most common food in Korea is kimchi.</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Kimchi has a lot healthy nutrients in it.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very good for our health.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it strengthens our immune system.</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kimchi every day when I have meals.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actually had some yesterday during dinner.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kimchi is a healthy dish I have every day.</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63011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먹는 일상음식 소개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평소에 무엇을 먹습니까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먹는 모든 것을 자세히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요즈음 건강하게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야채와 과일을 자주 </a:t>
            </a:r>
            <a:r>
              <a:rPr lang="ko-KR" altLang="en-US" sz="11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그들안에</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많은 비타민을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콩과 두부를 자주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그들안에</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많은 건강한 단백질을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유기농 음식을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가능할때</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마다</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훨씬 더 건강합니다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그것안에</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어떤 화학물질도 가지고 있지 않기 때문에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이것들이 건강에 좋은 음식 종류입니다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endParaRPr lang="en-US" altLang="ko-KR" sz="1100" b="0" i="0" u="none" strike="noStrike" kern="1200" baseline="0" dirty="0">
              <a:solidFill>
                <a:schemeClr val="tx1"/>
              </a:solidFill>
              <a:latin typeface="+mn-lt"/>
              <a:ea typeface="+mn-ea"/>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0692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먹는 일상음식 소개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What do you eat on a regular day?</a:t>
            </a:r>
          </a:p>
          <a:p>
            <a:r>
              <a:rPr lang="en-US" altLang="ko-KR" sz="1100" b="0" i="0" u="none" strike="noStrike" kern="1200" baseline="0" dirty="0">
                <a:solidFill>
                  <a:srgbClr val="FF0000"/>
                </a:solidFill>
                <a:latin typeface="+mn-lt"/>
                <a:ea typeface="+mn-ea"/>
                <a:cs typeface="+mn-cs"/>
              </a:rPr>
              <a:t>Tell me everything that you eat in detail.</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I try to eat healthy these days.</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First, I try to eat vegetables and fruits often.</a:t>
            </a:r>
          </a:p>
          <a:p>
            <a:pPr>
              <a:lnSpc>
                <a:spcPct val="150000"/>
              </a:lnSpc>
            </a:pPr>
            <a:r>
              <a:rPr lang="en-US" altLang="ko-KR" sz="1100" b="0" i="0" u="none" strike="noStrike" kern="1200" baseline="0" dirty="0">
                <a:solidFill>
                  <a:schemeClr val="tx1"/>
                </a:solidFill>
                <a:latin typeface="+mn-lt"/>
                <a:ea typeface="+mn-ea"/>
                <a:cs typeface="+mn-cs"/>
              </a:rPr>
              <a:t>They have a lot of vitamins in them.</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Next, I try to eat beans and tofu often.</a:t>
            </a:r>
          </a:p>
          <a:p>
            <a:pPr>
              <a:lnSpc>
                <a:spcPct val="150000"/>
              </a:lnSpc>
            </a:pPr>
            <a:r>
              <a:rPr lang="en-US" altLang="ko-KR" sz="1100" b="0" i="0" u="none" strike="noStrike" kern="1200" baseline="0" dirty="0">
                <a:solidFill>
                  <a:schemeClr val="tx1"/>
                </a:solidFill>
                <a:latin typeface="+mn-lt"/>
                <a:ea typeface="+mn-ea"/>
                <a:cs typeface="+mn-cs"/>
              </a:rPr>
              <a:t>They have a lot of healthy protein in them.</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Also, I try to have organic food whenever I can.</a:t>
            </a:r>
          </a:p>
          <a:p>
            <a:pPr>
              <a:lnSpc>
                <a:spcPct val="150000"/>
              </a:lnSpc>
            </a:pPr>
            <a:r>
              <a:rPr lang="en-US" altLang="ko-KR" sz="1100" b="0" i="0" u="none" strike="noStrike" kern="1200" baseline="0" dirty="0">
                <a:solidFill>
                  <a:schemeClr val="tx1"/>
                </a:solidFill>
                <a:latin typeface="+mn-lt"/>
                <a:ea typeface="+mn-ea"/>
                <a:cs typeface="+mn-cs"/>
              </a:rPr>
              <a:t>It is much healthier because it does NOT have any chemicals in it.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So, these are the types of food that are healthy.</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547416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23</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44517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05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음식 관련 기억에 남는 에피소드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무언가를 먹으면서 기억에 남는 경험에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좋을 수도 있고 나쁠 수도 있다</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무슨 일입니까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왜 그것이 그렇게 기억에 남거나 특별했을까요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모든 것을 자세히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나는 최근에 상한 </a:t>
            </a:r>
            <a:r>
              <a:rPr lang="ko-KR" altLang="en-US" sz="1100" b="0" i="0" u="none" strike="noStrike" kern="1200" baseline="0" dirty="0" err="1">
                <a:solidFill>
                  <a:schemeClr val="tx1"/>
                </a:solidFill>
                <a:latin typeface="+mn-lt"/>
                <a:ea typeface="+mn-ea"/>
                <a:cs typeface="+mn-cs"/>
              </a:rPr>
              <a:t>어떤것을</a:t>
            </a:r>
            <a:r>
              <a:rPr lang="ko-KR" altLang="en-US" sz="1100" b="0" i="0" u="none" strike="noStrike" kern="1200" baseline="0" dirty="0">
                <a:solidFill>
                  <a:schemeClr val="tx1"/>
                </a:solidFill>
                <a:latin typeface="+mn-lt"/>
                <a:ea typeface="+mn-ea"/>
                <a:cs typeface="+mn-cs"/>
              </a:rPr>
              <a:t> </a:t>
            </a:r>
            <a:r>
              <a:rPr lang="ko-KR" altLang="en-US" sz="1100" b="0" i="0" u="none" strike="noStrike" kern="1200" baseline="0" dirty="0" err="1">
                <a:solidFill>
                  <a:schemeClr val="tx1"/>
                </a:solidFill>
                <a:latin typeface="+mn-lt"/>
                <a:ea typeface="+mn-ea"/>
                <a:cs typeface="+mn-cs"/>
              </a:rPr>
              <a:t>먹은것을</a:t>
            </a:r>
            <a:r>
              <a:rPr lang="ko-KR" altLang="en-US" sz="1100" b="0" i="0" u="none" strike="noStrike" kern="1200" baseline="0" dirty="0">
                <a:solidFill>
                  <a:schemeClr val="tx1"/>
                </a:solidFill>
                <a:latin typeface="+mn-lt"/>
                <a:ea typeface="+mn-ea"/>
                <a:cs typeface="+mn-cs"/>
              </a:rPr>
              <a:t> 기억합니다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나는 식중독에 걸렸고 그것은 매우 나빴습니다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속이 뒤집혔습니다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나아지기 위해 조금의 약을 먹었습니다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안에 머물고 많은 휴식을 취해야 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 이후로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더 조심하려고 노력했습니다</a:t>
            </a:r>
            <a:r>
              <a:rPr lang="en-US" altLang="ko-KR" sz="1100" b="0" i="0" u="none" strike="noStrike" kern="1200" baseline="0" dirty="0">
                <a:solidFill>
                  <a:schemeClr val="tx1"/>
                </a:solidFill>
                <a:latin typeface="+mn-lt"/>
                <a:ea typeface="+mn-ea"/>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3445174"/>
          </a:xfrm>
          <a:prstGeom prst="rect">
            <a:avLst/>
          </a:prstGeom>
          <a:noFill/>
        </p:spPr>
        <p:txBody>
          <a:bodyPr wrap="square" rtlCol="0">
            <a:spAutoFit/>
          </a:bodyPr>
          <a:lstStyle/>
          <a:p>
            <a:r>
              <a:rPr lang="en-US" altLang="ko-KR" sz="1100" b="1" dirty="0">
                <a:solidFill>
                  <a:schemeClr val="tx2"/>
                </a:solidFill>
                <a:latin typeface="맑은 고딕" pitchFamily="50" charset="-127"/>
                <a:ea typeface="맑은 고딕" pitchFamily="50" charset="-127"/>
              </a:rPr>
              <a:t>05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음식 관련 기억에 남는 에피소드 </a:t>
            </a:r>
            <a:r>
              <a:rPr lang="ko-KR" altLang="en-US" sz="1100" b="1" dirty="0">
                <a:solidFill>
                  <a:srgbClr val="FF0000"/>
                </a:solidFill>
                <a:latin typeface="맑은 고딕" pitchFamily="50" charset="-127"/>
              </a:rPr>
              <a:t>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Tell me about a memorable experience you had while eating something.</a:t>
            </a:r>
          </a:p>
          <a:p>
            <a:r>
              <a:rPr lang="en-US" altLang="ko-KR" sz="1100" b="0" i="0" u="none" strike="noStrike" kern="1200" baseline="0" dirty="0">
                <a:solidFill>
                  <a:srgbClr val="FF0000"/>
                </a:solidFill>
                <a:latin typeface="+mn-lt"/>
                <a:ea typeface="+mn-ea"/>
                <a:cs typeface="+mn-cs"/>
              </a:rPr>
              <a:t>It could be good or bad. What happened?</a:t>
            </a:r>
          </a:p>
          <a:p>
            <a:r>
              <a:rPr lang="en-US" altLang="ko-KR" sz="1100" b="0" i="0" u="none" strike="noStrike" kern="1200" baseline="0" dirty="0">
                <a:solidFill>
                  <a:srgbClr val="FF0000"/>
                </a:solidFill>
                <a:latin typeface="+mn-lt"/>
                <a:ea typeface="+mn-ea"/>
                <a:cs typeface="+mn-cs"/>
              </a:rPr>
              <a:t>Why was it so memorable or special?</a:t>
            </a:r>
          </a:p>
          <a:p>
            <a:r>
              <a:rPr lang="en-US" altLang="ko-KR" sz="1100" b="0" i="0" u="none" strike="noStrike" kern="1200" baseline="0" dirty="0">
                <a:solidFill>
                  <a:srgbClr val="FF0000"/>
                </a:solidFill>
                <a:latin typeface="+mn-lt"/>
                <a:ea typeface="+mn-ea"/>
                <a:cs typeface="+mn-cs"/>
              </a:rPr>
              <a:t>Tell me everything with lots of details.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spc="-50" dirty="0">
                <a:solidFill>
                  <a:schemeClr val="tx1"/>
                </a:solidFill>
                <a:latin typeface="+mn-lt"/>
                <a:ea typeface="+mn-ea"/>
                <a:cs typeface="+mn-cs"/>
              </a:rPr>
              <a:t>I remember eating something that went bad recently.</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I got food poisoning and it was pretty bad.</a:t>
            </a:r>
          </a:p>
          <a:p>
            <a:pPr>
              <a:lnSpc>
                <a:spcPct val="150000"/>
              </a:lnSpc>
            </a:pPr>
            <a:r>
              <a:rPr lang="en-US" altLang="ko-KR" sz="1100" b="0" i="0" u="none" strike="noStrike" kern="1200" baseline="0" dirty="0">
                <a:solidFill>
                  <a:schemeClr val="tx1"/>
                </a:solidFill>
                <a:latin typeface="+mn-lt"/>
                <a:ea typeface="+mn-ea"/>
                <a:cs typeface="+mn-cs"/>
              </a:rPr>
              <a:t>I had an upset stomach.</a:t>
            </a:r>
          </a:p>
          <a:p>
            <a:pPr>
              <a:lnSpc>
                <a:spcPct val="150000"/>
              </a:lnSpc>
            </a:pPr>
            <a:r>
              <a:rPr lang="en-US" altLang="ko-KR" sz="1100" b="0" i="0" u="none" strike="noStrike" kern="1200" baseline="0" dirty="0">
                <a:solidFill>
                  <a:schemeClr val="tx1"/>
                </a:solidFill>
                <a:latin typeface="+mn-lt"/>
                <a:ea typeface="+mn-ea"/>
                <a:cs typeface="+mn-cs"/>
              </a:rPr>
              <a:t>I took some medicine to get better.</a:t>
            </a:r>
          </a:p>
          <a:p>
            <a:pPr>
              <a:lnSpc>
                <a:spcPct val="150000"/>
              </a:lnSpc>
            </a:pPr>
            <a:r>
              <a:rPr lang="en-US" altLang="ko-KR" sz="1100" b="0" i="0" u="none" strike="noStrike" kern="1200" baseline="0" dirty="0">
                <a:solidFill>
                  <a:schemeClr val="tx1"/>
                </a:solidFill>
                <a:latin typeface="+mn-lt"/>
                <a:ea typeface="+mn-ea"/>
                <a:cs typeface="+mn-cs"/>
              </a:rPr>
              <a:t>I had to stay inside and get a lot of rest.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Since then, I try to be more careful.</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283865"/>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01 [Int]</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본인이 아는 건강한 사람 습관 묘사</a:t>
            </a:r>
            <a:endParaRPr lang="en-US" altLang="ko-KR" sz="105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아는 건강한 사람을 묘사 </a:t>
            </a:r>
            <a:r>
              <a:rPr lang="ko-KR" altLang="en-US" sz="1100" b="0" i="0" kern="1200" dirty="0" err="1">
                <a:solidFill>
                  <a:srgbClr val="0070C0"/>
                </a:solidFill>
                <a:effectLst/>
                <a:latin typeface="+mn-lt"/>
                <a:ea typeface="+mn-ea"/>
                <a:cs typeface="+mn-cs"/>
              </a:rPr>
              <a:t>하시오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무엇이 그 사람을 건강하게 만드나요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사람을 더 건강하게 만드는 것에 대해 모든 것을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친구 중 한명은 매우 건강을 신경 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그는 운동을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할수</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있을때마다</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그는 헬스장에서 운동을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그는 또한 자주 산책을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할려고</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그는 항상 건강에 좋은 음식을 먹습니다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그는 또한 정크푸드 같은 건강에 좋지 않은 음식을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줄일려고</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이런것들이</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나의 친구를 건강하게 만드는 것입니다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537781"/>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01 [Int]</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본인이 아는 건강한 사람 습관 묘사</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a healthy person you know of.</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makes that person healthy?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about the things that make that person healthier.</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One of my friends is very health-conscious.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he works out whenever he can.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 gets some exercise at the gym.</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 also tries to </a:t>
            </a:r>
            <a:r>
              <a:rPr lang="en-US" altLang="ko-KR"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takewalks</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often.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he always eats healthy.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 also tries to cut back on unhealthy food such as junk food.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that make my friend healthy.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2407277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24</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건강을 위해 생활 방식에 변화를 준 경험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당신의 건강을 위해 습관이나 특정한 생활방식을 바꾼 적이 있습니까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아마 운동을 시작했거나 건강하게 먹기 시작했을 거예요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한 변화에 대해 말해 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건강을 유지하기 위해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할 수 있을 때마다 운동을 하려고 노력했습니다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헬스장에서 운동을 하려고 노력했습니다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공원에서 뛰기 위해 가려고 노력했습니다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잘 먹고 제대로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균형 잡힌 음식을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dirty="0">
                <a:solidFill>
                  <a:schemeClr val="tx1"/>
                </a:solidFill>
                <a:latin typeface="맑은 고딕" panose="020B0503020000020004" pitchFamily="50" charset="-127"/>
                <a:ea typeface="맑은 고딕" panose="020B0503020000020004" pitchFamily="50" charset="-127"/>
                <a:cs typeface="+mn-cs"/>
              </a:rPr>
              <a:t>나는 너무 많이 또는 너무 늦게 먹지 </a:t>
            </a:r>
            <a:r>
              <a:rPr lang="ko-KR" altLang="en-US" sz="1000" b="0" i="0" u="none" strike="noStrike" kern="1200" dirty="0" smtClean="0">
                <a:solidFill>
                  <a:schemeClr val="tx1"/>
                </a:solidFill>
                <a:latin typeface="맑은 고딕" panose="020B0503020000020004" pitchFamily="50" charset="-127"/>
                <a:ea typeface="맑은 고딕" panose="020B0503020000020004" pitchFamily="50" charset="-127"/>
                <a:cs typeface="+mn-cs"/>
              </a:rPr>
              <a:t>않았습니다</a:t>
            </a:r>
            <a:r>
              <a:rPr lang="en-US" altLang="ko-KR" sz="1000" b="0" i="0" u="none" strike="noStrike" kern="1200" dirty="0" smtClean="0">
                <a:solidFill>
                  <a:schemeClr val="tx1"/>
                </a:solidFill>
                <a:latin typeface="맑은 고딕" panose="020B0503020000020004" pitchFamily="50" charset="-127"/>
                <a:ea typeface="맑은 고딕" panose="020B0503020000020004" pitchFamily="50" charset="-127"/>
                <a:cs typeface="+mn-cs"/>
              </a:rPr>
              <a:t>.</a:t>
            </a:r>
            <a:endParaRPr lang="en-US" altLang="ko-KR" sz="1000" b="0" i="0" u="none" strike="noStrike" kern="120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긍정적인 마인드를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가질려고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사물의 밝은 면을 보려고 노력했습니다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 방법은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스트레스를 덜 받게 할 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건강하게 유지하려고 노력했던 것들입니다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06367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건강을 위해 생활 방식에 변화를 준 경험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Have you ever changed a habit or a certain lifestyle for your health?</a:t>
            </a:r>
          </a:p>
          <a:p>
            <a:r>
              <a:rPr lang="en-US" altLang="ko-KR" sz="1000" b="0" i="0" u="none" strike="noStrike" kern="1200" spc="-50" dirty="0">
                <a:solidFill>
                  <a:srgbClr val="FF0000"/>
                </a:solidFill>
                <a:latin typeface="+mn-lt"/>
                <a:ea typeface="+mn-ea"/>
                <a:cs typeface="+mn-cs"/>
              </a:rPr>
              <a:t>Maybe you started to work out or started to eat healthy.</a:t>
            </a:r>
          </a:p>
          <a:p>
            <a:r>
              <a:rPr lang="en-US" altLang="ko-KR" sz="1000" b="0" i="0" u="none" strike="noStrike" kern="1200" baseline="0" dirty="0">
                <a:solidFill>
                  <a:srgbClr val="FF0000"/>
                </a:solidFill>
                <a:latin typeface="+mn-lt"/>
                <a:ea typeface="+mn-ea"/>
                <a:cs typeface="+mn-cs"/>
              </a:rPr>
              <a:t>Tell me about that change you made.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To stay healthy, I tried to work out whenever I could.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tried to get some exercise at the gym.</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tried to go for runs at the park.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tried to eat well and properly.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tried to have balanced meals.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t>
            </a:r>
            <a:r>
              <a:rPr lang="en-US" altLang="ko-KR" sz="1000" dirty="0" smtClean="0">
                <a:latin typeface="맑은 고딕" panose="020B0503020000020004" pitchFamily="50" charset="-127"/>
                <a:ea typeface="맑은 고딕" panose="020B0503020000020004" pitchFamily="50" charset="-127"/>
              </a:rPr>
              <a:t>did not </a:t>
            </a:r>
            <a:r>
              <a:rPr lang="en-US" altLang="ko-KR" sz="1000" b="0" i="0" u="none" strike="noStrike" kern="1200" baseline="0" dirty="0" smtClean="0">
                <a:solidFill>
                  <a:schemeClr val="tx1"/>
                </a:solidFill>
                <a:latin typeface="맑은 고딕" panose="020B0503020000020004" pitchFamily="50" charset="-127"/>
                <a:ea typeface="맑은 고딕" panose="020B0503020000020004" pitchFamily="50" charset="-127"/>
                <a:cs typeface="+mn-cs"/>
              </a:rPr>
              <a:t>eat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too much or too late.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tried to have a positive mindset.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tried to look on the bright side of things.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This way, I was able to get less stress.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I have tried to stay healthy.</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건강을 위해서 했던 일 한 가지의 효과 설명</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당신이 건강을 위해 한 일에 대해 자세히 이야기하세요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그것이 당신의 건강에 어떤 영향을 미쳤나요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건강하게 먹는 것은 내가 건강을 유지하는 것과 몸무게를 빼는 것을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돕습니다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야채와 과일을 자주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그들안에</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많은 비타민을 가집니다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콩과 두부를 자주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그들안에</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많은 건강한 단백질을 가집니다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유기농 음식을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가능할때</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마다</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훨씬 더 건강합니다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그것안에</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어떤 화학물질도 가지고 있지 않기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건강하게 먹는 것은 내가 건강을 유지하는 것과 몸무게를 빼는 것을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돕습니다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건강을 위해서 했던 일 한 가지의 효과 설명</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spc="-50" dirty="0">
                <a:solidFill>
                  <a:srgbClr val="FF0000"/>
                </a:solidFill>
                <a:latin typeface="+mn-lt"/>
                <a:ea typeface="+mn-ea"/>
                <a:cs typeface="+mn-cs"/>
              </a:rPr>
              <a:t>Talk about one thing that you did for your health in detail.</a:t>
            </a:r>
          </a:p>
          <a:p>
            <a:r>
              <a:rPr lang="en-US" altLang="ko-KR" sz="1000" b="0" i="0" u="none" strike="noStrike" kern="1200" baseline="0" dirty="0">
                <a:solidFill>
                  <a:srgbClr val="FF0000"/>
                </a:solidFill>
                <a:latin typeface="+mn-lt"/>
                <a:ea typeface="+mn-ea"/>
                <a:cs typeface="+mn-cs"/>
              </a:rPr>
              <a:t>What kind of impact did it have on your health?</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Eating healthy helped me stay healthy and lose some weight.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I tried to eat vegetables and fruits often.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have a lot of vitamins in them.</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I tried to eat beans and tofu often.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have a lot of healthy protein in them.</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tried to have organic food whenever I could.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much healthier because it does NOT have any chemicals in it.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eating healthy helped me stay healthy and lose some weight.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23772391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640632"/>
            <a:ext cx="6858000" cy="5940088"/>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05 </a:t>
            </a:r>
            <a:r>
              <a:rPr lang="ko-KR" altLang="en-US" sz="5400" b="1">
                <a:solidFill>
                  <a:srgbClr val="FF0000"/>
                </a:solidFill>
                <a:latin typeface="맑은 고딕" pitchFamily="50" charset="-127"/>
                <a:ea typeface="맑은 고딕" pitchFamily="50" charset="-127"/>
              </a:rPr>
              <a:t>선택형 주제 </a:t>
            </a:r>
            <a:r>
              <a:rPr lang="en-US" altLang="ko-KR" sz="5400" b="1">
                <a:solidFill>
                  <a:srgbClr val="FF0000"/>
                </a:solidFill>
                <a:latin typeface="맑은 고딕" pitchFamily="50" charset="-127"/>
                <a:ea typeface="맑은 고딕" pitchFamily="50" charset="-127"/>
              </a:rPr>
              <a:t>/ </a:t>
            </a:r>
          </a:p>
          <a:p>
            <a:pPr algn="ct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solidFill>
                <a:srgbClr val="FF0000"/>
              </a:solidFill>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Beaches</a:t>
            </a:r>
          </a:p>
          <a:p>
            <a:pPr algn="ctr"/>
            <a:r>
              <a:rPr lang="en-US" altLang="ko-KR" sz="5400" b="1">
                <a:latin typeface="맑은 고딕" pitchFamily="50" charset="-127"/>
                <a:ea typeface="맑은 고딕" pitchFamily="50" charset="-127"/>
              </a:rPr>
              <a:t>Geography</a:t>
            </a:r>
          </a:p>
          <a:p>
            <a:pPr algn="ctr"/>
            <a:endParaRPr lang="en-US" altLang="ko-KR" sz="5400" b="1">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해변 </a:t>
            </a:r>
            <a:r>
              <a:rPr lang="ko-KR" altLang="en-US" sz="2800" b="1">
                <a:solidFill>
                  <a:schemeClr val="tx2"/>
                </a:solidFill>
              </a:rPr>
              <a:t>★★</a:t>
            </a:r>
            <a:endParaRPr lang="en-US" altLang="ko-KR" sz="2800" b="1">
              <a:solidFill>
                <a:schemeClr val="tx2"/>
              </a:solidFill>
              <a:latin typeface="맑은 고딕"/>
              <a:ea typeface="맑은 고딕"/>
            </a:endParaRPr>
          </a:p>
          <a:p>
            <a:pPr algn="ctr"/>
            <a:r>
              <a:rPr lang="ko-KR" altLang="en-US" sz="2800" b="1">
                <a:solidFill>
                  <a:schemeClr val="tx2"/>
                </a:solidFill>
                <a:latin typeface="맑은 고딕" panose="020B0503020000020004" pitchFamily="50" charset="-127"/>
                <a:ea typeface="맑은 고딕" panose="020B0503020000020004" pitchFamily="50" charset="-127"/>
              </a:rPr>
              <a:t>지형 </a:t>
            </a:r>
            <a:r>
              <a:rPr lang="ko-KR" altLang="en-US" sz="2800" b="1">
                <a:solidFill>
                  <a:schemeClr val="tx2"/>
                </a:solidFill>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61A303B9-AEE7-6C10-A51E-9F4C17F8A0BE}"/>
              </a:ext>
            </a:extLst>
          </p:cNvPr>
          <p:cNvSpPr>
            <a:spLocks noGrp="1"/>
          </p:cNvSpPr>
          <p:nvPr>
            <p:ph type="sldNum" sz="quarter" idx="12"/>
          </p:nvPr>
        </p:nvSpPr>
        <p:spPr/>
        <p:txBody>
          <a:bodyPr/>
          <a:lstStyle/>
          <a:p>
            <a:fld id="{18CC7079-95A2-4860-A138-51A9FC969471}" type="slidenum">
              <a:rPr lang="ko-KR" altLang="en-US" smtClean="0"/>
              <a:t>25</a:t>
            </a:fld>
            <a:endParaRPr lang="ko-KR" altLang="en-US"/>
          </a:p>
        </p:txBody>
      </p:sp>
    </p:spTree>
    <p:extLst>
      <p:ext uri="{BB962C8B-B14F-4D97-AF65-F5344CB8AC3E}">
        <p14:creationId xmlns:p14="http://schemas.microsoft.com/office/powerpoint/2010/main" val="4247661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26</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868367"/>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즐겨 가는 해변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해변에 가는 것을 좋아한다고 표시했습니다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가고 싶은 해변에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이곳은 어떻게 생겼나요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한국에는 많은 해변이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해변에 갈수 있습니다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내가 원할 때마다</a:t>
            </a:r>
            <a:endParaRPr lang="en-US" altLang="ko-KR" sz="1100" b="0" i="0" u="none" strike="noStrike" kern="1200" baseline="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나의 가장 좋아하는 해변의 하나는 한국의 남해안에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그것은 매우 잘 알려진 해변입니다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그것은 사람들 사이에 인기있는 휴양지입니다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그것은 매우 붐빕니다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피크시즌 동안에</a:t>
            </a: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해변 근처에 할 일이 많이 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그래서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나의 가장 좋아하는 해변은 이렇습니다</a:t>
            </a:r>
            <a:r>
              <a:rPr lang="en-US" altLang="ko-KR" sz="1100" b="0" i="0" u="none" strike="noStrike" kern="1200" baseline="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3868367"/>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즐겨 가는 해변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indicated that you like to go to the beach.</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beach that you like to go to.</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does this place look like?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There are many beaches in Korea.</a:t>
            </a:r>
          </a:p>
          <a:p>
            <a:pPr>
              <a:lnSpc>
                <a:spcPct val="150000"/>
              </a:lnSpc>
            </a:pPr>
            <a:r>
              <a:rPr lang="en-US" altLang="ko-KR" sz="1100" b="0" i="0" u="none" strike="noStrike" kern="1200" baseline="0" dirty="0">
                <a:solidFill>
                  <a:schemeClr val="tx1"/>
                </a:solidFill>
                <a:latin typeface="+mn-lt"/>
                <a:ea typeface="+mn-ea"/>
                <a:cs typeface="+mn-cs"/>
              </a:rPr>
              <a:t>I can go to the beach whenever I want to.</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One of my favorite beaches is on the south coast of Korea.</a:t>
            </a:r>
          </a:p>
          <a:p>
            <a:pPr>
              <a:lnSpc>
                <a:spcPct val="150000"/>
              </a:lnSpc>
            </a:pPr>
            <a:r>
              <a:rPr lang="en-US" altLang="ko-KR" sz="1100" b="0" i="0" u="none" strike="noStrike" kern="1200" baseline="0" dirty="0">
                <a:solidFill>
                  <a:schemeClr val="tx1"/>
                </a:solidFill>
                <a:latin typeface="+mn-lt"/>
                <a:ea typeface="+mn-ea"/>
                <a:cs typeface="+mn-cs"/>
              </a:rPr>
              <a:t>It is a very well-known beach.</a:t>
            </a:r>
          </a:p>
          <a:p>
            <a:pPr>
              <a:lnSpc>
                <a:spcPct val="150000"/>
              </a:lnSpc>
            </a:pPr>
            <a:r>
              <a:rPr lang="en-US" altLang="ko-KR" sz="1100" b="0" i="0" u="none" strike="noStrike" kern="1200" baseline="0" dirty="0">
                <a:solidFill>
                  <a:schemeClr val="tx1"/>
                </a:solidFill>
                <a:latin typeface="+mn-lt"/>
                <a:ea typeface="+mn-ea"/>
                <a:cs typeface="+mn-cs"/>
              </a:rPr>
              <a:t>It is a popular vacation spot among people.</a:t>
            </a:r>
          </a:p>
          <a:p>
            <a:pPr>
              <a:lnSpc>
                <a:spcPct val="150000"/>
              </a:lnSpc>
            </a:pPr>
            <a:r>
              <a:rPr lang="en-US" altLang="ko-KR" sz="1100" b="0" i="0" u="none" strike="noStrike" kern="1200" baseline="0" dirty="0">
                <a:solidFill>
                  <a:schemeClr val="tx1"/>
                </a:solidFill>
                <a:latin typeface="+mn-lt"/>
                <a:ea typeface="+mn-ea"/>
                <a:cs typeface="+mn-cs"/>
              </a:rPr>
              <a:t>It gets very crowded during the peak season.</a:t>
            </a:r>
          </a:p>
          <a:p>
            <a:pPr>
              <a:lnSpc>
                <a:spcPct val="150000"/>
              </a:lnSpc>
            </a:pPr>
            <a:r>
              <a:rPr lang="en-US" altLang="ko-KR" sz="1100" b="0" i="0" u="none" strike="noStrike" kern="1200" baseline="0" dirty="0">
                <a:solidFill>
                  <a:schemeClr val="tx1"/>
                </a:solidFill>
                <a:latin typeface="+mn-lt"/>
                <a:ea typeface="+mn-ea"/>
                <a:cs typeface="+mn-cs"/>
              </a:rPr>
              <a:t>There are a lot of things to do near the beach.</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So, this is what my favorite beach is like.</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545475"/>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해변에 가서 주로 하는 일들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해변에 갈 때 어떤 종류의 일을 하는 것을 좋아합니까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해변에 갈 때 주로 하는 활동에 대해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해변에 </a:t>
            </a:r>
            <a:r>
              <a:rPr lang="ko-KR" altLang="en-US" sz="11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갈때</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다양한 종류의 활동을 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낮동안은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해양에서 수영을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해변에서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태닝을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저녁에는</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음식이나 술을 마시기 위해 나갑니다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나의 속소에서 바비큐를 먹습니다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고기나 해산물을 그릴 위에 놓고 굽습니다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밤에는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해변가를 따라서 산책을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신선한 공기를 마시니 기분이 좋습니다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이것들은 내가 해변에 갈 때 하는 것들입니다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545475"/>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해변에 가서 주로 하는 일들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types of things do you like to do when you go to the beach?</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activities you typically do when you go the beach.</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When I go to the beach, I do various types of activities.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During the day, I often swim in the ocean.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get a tan on the beach.</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the evening, I go out for food or drinks.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have a barbeque at my cabin.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grill meat or seafood on the grill.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night, I often take walks along the beach.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feels great to breathe the fresh air.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So, these are the things I do when I go to the beach.</a:t>
            </a:r>
          </a:p>
        </p:txBody>
      </p:sp>
    </p:spTree>
    <p:extLst>
      <p:ext uri="{BB962C8B-B14F-4D97-AF65-F5344CB8AC3E}">
        <p14:creationId xmlns:p14="http://schemas.microsoft.com/office/powerpoint/2010/main" val="2900538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27</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776034"/>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특별히 기억에 남는 해변 모습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방문했던 특히 기억에 남거나 아름다운 해변에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이곳은 어떻게 생겼나요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그곳에 대한 당신의 인상은 어땠나요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나는 작년에 한국의 동해안 해변가를 간 것을 기억합니다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그곳은 아주 잘 알려진 해변입니다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해안선은 매우 경치가 좋습니다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일몰과 일출은 놀라웠습니다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분위기는 매우 평화로웠습니다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많은 레스토랑들과 바들이 해변근처에 있었습니다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그래서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이것은 내가 최근에 간 해변입니다</a:t>
            </a:r>
            <a:r>
              <a:rPr lang="en-US" altLang="ko-KR" sz="1100" b="0" i="0" u="none" strike="noStrike" kern="1200" baseline="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3783728"/>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특별히 기억에 남는 해변 모습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Tell me about a particularly memorable or beautiful beach that you visited.</a:t>
            </a:r>
          </a:p>
          <a:p>
            <a:r>
              <a:rPr lang="en-US" altLang="ko-KR" sz="1100" b="0" i="0" u="none" strike="noStrike" kern="1200" baseline="0" dirty="0">
                <a:solidFill>
                  <a:srgbClr val="FF0000"/>
                </a:solidFill>
                <a:latin typeface="+mn-lt"/>
                <a:ea typeface="+mn-ea"/>
                <a:cs typeface="+mn-cs"/>
              </a:rPr>
              <a:t>What did this place look like?</a:t>
            </a:r>
          </a:p>
          <a:p>
            <a:r>
              <a:rPr lang="en-US" altLang="ko-KR" sz="1100" b="0" i="0" u="none" strike="noStrike" kern="1200" baseline="0" dirty="0">
                <a:solidFill>
                  <a:srgbClr val="FF0000"/>
                </a:solidFill>
                <a:latin typeface="+mn-lt"/>
                <a:ea typeface="+mn-ea"/>
                <a:cs typeface="+mn-cs"/>
              </a:rPr>
              <a:t>What was your impression of that place?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I remember going to the beach on the east coast of Korea last year.</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It was a very well-known beach there.</a:t>
            </a:r>
          </a:p>
          <a:p>
            <a:pPr>
              <a:lnSpc>
                <a:spcPct val="150000"/>
              </a:lnSpc>
            </a:pPr>
            <a:r>
              <a:rPr lang="en-US" altLang="ko-KR" sz="1100" b="0" i="0" u="none" strike="noStrike" kern="1200" baseline="0" dirty="0">
                <a:solidFill>
                  <a:schemeClr val="tx1"/>
                </a:solidFill>
                <a:latin typeface="+mn-lt"/>
                <a:ea typeface="+mn-ea"/>
                <a:cs typeface="+mn-cs"/>
              </a:rPr>
              <a:t>The coastline was very scenic.</a:t>
            </a:r>
          </a:p>
          <a:p>
            <a:pPr>
              <a:lnSpc>
                <a:spcPct val="150000"/>
              </a:lnSpc>
            </a:pPr>
            <a:r>
              <a:rPr lang="en-US" altLang="ko-KR" sz="1100" b="0" i="0" u="none" strike="noStrike" kern="1200" baseline="0" dirty="0">
                <a:solidFill>
                  <a:schemeClr val="tx1"/>
                </a:solidFill>
                <a:latin typeface="+mn-lt"/>
                <a:ea typeface="+mn-ea"/>
                <a:cs typeface="+mn-cs"/>
              </a:rPr>
              <a:t>The sunset and the sunrise were amazing.</a:t>
            </a:r>
          </a:p>
          <a:p>
            <a:pPr>
              <a:lnSpc>
                <a:spcPct val="150000"/>
              </a:lnSpc>
            </a:pPr>
            <a:r>
              <a:rPr lang="en-US" altLang="ko-KR" sz="1100" b="0" i="0" u="none" strike="noStrike" kern="1200" baseline="0" dirty="0">
                <a:solidFill>
                  <a:schemeClr val="tx1"/>
                </a:solidFill>
                <a:latin typeface="+mn-lt"/>
                <a:ea typeface="+mn-ea"/>
                <a:cs typeface="+mn-cs"/>
              </a:rPr>
              <a:t>The mood was very peaceful.</a:t>
            </a:r>
          </a:p>
          <a:p>
            <a:pPr>
              <a:lnSpc>
                <a:spcPct val="150000"/>
              </a:lnSpc>
            </a:pPr>
            <a:r>
              <a:rPr lang="en-US" altLang="ko-KR" sz="1100" b="0" i="0" u="none" strike="noStrike" kern="1200" spc="-50" dirty="0">
                <a:solidFill>
                  <a:schemeClr val="tx1"/>
                </a:solidFill>
                <a:latin typeface="+mn-lt"/>
                <a:ea typeface="+mn-ea"/>
                <a:cs typeface="+mn-cs"/>
              </a:rPr>
              <a:t>There were many restaurants and bars near the beach.</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So, this was the beach I went to recently.</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756174"/>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04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특별히 기억에 남는 해변 여행 설명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특히 기억에 남는 해변 여행에 대해 말해주세요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너는 누구와 함께 있었습니까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거기서 뭐 했어요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이 해변 여행이 다른 여행보다 더 기억에 남는 이유는 무엇인가요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이 해변 여행에 대한 모든 것을 말해 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최근에 나의 가족과 함께 해변에 갔는 것을 기억합니다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낮 동안은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해변을 따라 산책을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해변 근처에서 많은 사진을 찍었습니다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점심을 위해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해산물을 먹으러 나갔습니다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생선회와 새우를 먹었습니다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저녁을 위해</a:t>
            </a:r>
            <a:r>
              <a:rPr lang="en-US" altLang="ko-KR"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우리는 우리의 속소에서 바비큐를 먹었습니다</a:t>
            </a:r>
            <a:r>
              <a:rPr lang="en-US" altLang="ko-KR"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음식은 매우 맛있었습니다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배가 몹시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곱았기</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때문에</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음식과 함께 술을 마셨습니다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저녁식사 후</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밤새 파티를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돌이켜보면</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매우 기억에 남는 여행이었습니다</a:t>
            </a:r>
            <a:r>
              <a:rPr lang="en-US" altLang="ko-KR" sz="1000" b="0" i="0" u="none" strike="noStrike" kern="1200" baseline="0" dirty="0">
                <a:solidFill>
                  <a:schemeClr val="tx1"/>
                </a:solidFill>
                <a:latin typeface="+mn-lt"/>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56174"/>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04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특별히 기억에 남는 해변 여행 설명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spc="-50" dirty="0">
                <a:solidFill>
                  <a:srgbClr val="FF0000"/>
                </a:solidFill>
                <a:latin typeface="+mn-lt"/>
                <a:ea typeface="+mn-ea"/>
                <a:cs typeface="+mn-cs"/>
              </a:rPr>
              <a:t>Tell me about a particularly memorable trip to the beach.</a:t>
            </a:r>
          </a:p>
          <a:p>
            <a:r>
              <a:rPr lang="en-US" altLang="ko-KR" sz="1000" b="0" i="0" u="none" strike="noStrike" kern="1200" baseline="0" dirty="0">
                <a:solidFill>
                  <a:srgbClr val="FF0000"/>
                </a:solidFill>
                <a:latin typeface="+mn-lt"/>
                <a:ea typeface="+mn-ea"/>
                <a:cs typeface="+mn-cs"/>
              </a:rPr>
              <a:t>Who were you with? What did you do there?</a:t>
            </a:r>
          </a:p>
          <a:p>
            <a:r>
              <a:rPr lang="en-US" altLang="ko-KR" sz="1000" b="0" i="0" u="none" strike="noStrike" kern="1200" baseline="0" dirty="0">
                <a:solidFill>
                  <a:srgbClr val="FF0000"/>
                </a:solidFill>
                <a:latin typeface="+mn-lt"/>
                <a:ea typeface="+mn-ea"/>
                <a:cs typeface="+mn-cs"/>
              </a:rPr>
              <a:t>What made this trip to the beach more memorable that others?</a:t>
            </a:r>
          </a:p>
          <a:p>
            <a:r>
              <a:rPr lang="en-US" altLang="ko-KR" sz="1000" b="0" i="0" u="none" strike="noStrike" kern="1200" baseline="0" dirty="0">
                <a:solidFill>
                  <a:srgbClr val="FF0000"/>
                </a:solidFill>
                <a:latin typeface="+mn-lt"/>
                <a:ea typeface="+mn-ea"/>
                <a:cs typeface="+mn-cs"/>
              </a:rPr>
              <a:t>Tell me everything about this trip to the beach.</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mn-lt"/>
                <a:ea typeface="+mn-ea"/>
                <a:cs typeface="+mn-cs"/>
              </a:rPr>
              <a:t>I remember going to the beach with my family recently.</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During the day, we took a walk along the beach.</a:t>
            </a:r>
          </a:p>
          <a:p>
            <a:pPr>
              <a:lnSpc>
                <a:spcPct val="150000"/>
              </a:lnSpc>
            </a:pPr>
            <a:r>
              <a:rPr lang="en-US" altLang="ko-KR" sz="1000" b="0" i="0" u="none" strike="noStrike" kern="1200" baseline="0" dirty="0">
                <a:solidFill>
                  <a:schemeClr val="tx1"/>
                </a:solidFill>
                <a:latin typeface="+mn-lt"/>
                <a:ea typeface="+mn-ea"/>
                <a:cs typeface="+mn-cs"/>
              </a:rPr>
              <a:t>Plus, we took a lot of pictures near the beach.</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For lunch, we went out for some seafood.</a:t>
            </a:r>
          </a:p>
          <a:p>
            <a:pPr>
              <a:lnSpc>
                <a:spcPct val="150000"/>
              </a:lnSpc>
            </a:pPr>
            <a:r>
              <a:rPr lang="en-US" altLang="ko-KR" sz="1000" b="0" i="0" u="none" strike="noStrike" kern="1200" baseline="0" dirty="0">
                <a:solidFill>
                  <a:schemeClr val="tx1"/>
                </a:solidFill>
                <a:latin typeface="+mn-lt"/>
                <a:ea typeface="+mn-ea"/>
                <a:cs typeface="+mn-cs"/>
              </a:rPr>
              <a:t>We had some raw fish and shrimp.</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For dinner, we had a barbeque at our cabin.</a:t>
            </a:r>
          </a:p>
          <a:p>
            <a:pPr>
              <a:lnSpc>
                <a:spcPct val="150000"/>
              </a:lnSpc>
            </a:pPr>
            <a:r>
              <a:rPr lang="en-US" altLang="ko-KR" sz="1000" b="0" i="0" u="none" strike="noStrike" kern="1200" baseline="0" dirty="0">
                <a:solidFill>
                  <a:schemeClr val="tx1"/>
                </a:solidFill>
                <a:latin typeface="+mn-lt"/>
                <a:ea typeface="+mn-ea"/>
                <a:cs typeface="+mn-cs"/>
              </a:rPr>
              <a:t>The food tasted good because I was so hungry.</a:t>
            </a:r>
          </a:p>
          <a:p>
            <a:pPr>
              <a:lnSpc>
                <a:spcPct val="150000"/>
              </a:lnSpc>
            </a:pPr>
            <a:r>
              <a:rPr lang="en-US" altLang="ko-KR" sz="1000" b="0" i="0" u="none" strike="noStrike" kern="1200" baseline="0" dirty="0">
                <a:solidFill>
                  <a:schemeClr val="tx1"/>
                </a:solidFill>
                <a:latin typeface="+mn-lt"/>
                <a:ea typeface="+mn-ea"/>
                <a:cs typeface="+mn-cs"/>
              </a:rPr>
              <a:t>We had some drinks with the meal.</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After having dinner, we partied all night long.</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Looking back, it was a very memorable trip.</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4159905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28</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114588"/>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우리나라의 지형적 특징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 나라의 지리에 대해 설명해 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산</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호수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강이 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당신의 나라는 어떤 가요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한국은 다양한 지형을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한국에는 많은 산이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70</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퍼센트는 산들입니다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한국에는 많은 해변들이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해변들은 인기 있는 휴양지입니다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해안선은 매우 아름답습니다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많은 강이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큰 도시들을 따라 흐르는</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한국은 다양한 지형을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114588"/>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50" b="1" dirty="0">
                <a:solidFill>
                  <a:schemeClr val="tx2"/>
                </a:solidFill>
                <a:latin typeface="맑은 고딕" pitchFamily="50" charset="-127"/>
                <a:ea typeface="맑은 고딕" pitchFamily="50" charset="-127"/>
              </a:rPr>
              <a:t>01 [Int]</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우리나라의 지형적 특징 묘사</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your country’s geography for me.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Are there mountains, lakes, or rivers?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is your country like?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Korea has a diverse geography.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there are many mountains in Korea.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fact, 70 percent of Korea is mountains.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there are many beaches in Korea.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 beaches are popular vacation spots.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coastline is very scenic.</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Also, there are many rivers that run through large cities.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Korea has a diverse geography.</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206921"/>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이웃국가 모습과 그 나라 사람들 성향</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전통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나라와 가까운 나라에 대해 알려주세요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나라가 어떤 나라인지 말해보세요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그리고 나서</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그곳의 사람들과 전통에 대해 말해보세요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mn-lt"/>
                <a:ea typeface="+mn-ea"/>
                <a:cs typeface="+mn-cs"/>
              </a:rPr>
              <a:t>일본은 우리의 가장 가까운 이웃 나라들 중 하나입니다</a:t>
            </a:r>
            <a:r>
              <a:rPr lang="en-US" altLang="ko-KR" sz="1100" b="0" i="0" u="none" strike="noStrike" kern="1200" spc="-5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일본에는 많은 산이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사실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일본의 절반은 산들입니다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또한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일본에는 많은 해변들이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해변들은 인기 있는 휴양지입니다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해안선은 매우 아름답습니다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일본 사람들은 매우 친절합니다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인상입니다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그들로부터</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받은</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06921"/>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이웃국가 모습과 그 나라 사람들 성향</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전통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Tell me about a country close to your country.</a:t>
            </a:r>
          </a:p>
          <a:p>
            <a:r>
              <a:rPr lang="en-US" altLang="ko-KR" sz="1100" b="0" i="0" u="none" strike="noStrike" kern="1200" baseline="0" dirty="0">
                <a:solidFill>
                  <a:srgbClr val="FF0000"/>
                </a:solidFill>
                <a:latin typeface="+mn-lt"/>
                <a:ea typeface="+mn-ea"/>
                <a:cs typeface="+mn-cs"/>
              </a:rPr>
              <a:t>Talk about what the country is like.</a:t>
            </a:r>
          </a:p>
          <a:p>
            <a:r>
              <a:rPr lang="en-US" altLang="ko-KR" sz="1100" b="0" i="0" u="none" strike="noStrike" kern="1200" baseline="0" dirty="0">
                <a:solidFill>
                  <a:srgbClr val="FF0000"/>
                </a:solidFill>
                <a:latin typeface="+mn-lt"/>
                <a:ea typeface="+mn-ea"/>
                <a:cs typeface="+mn-cs"/>
              </a:rPr>
              <a:t>And then, tell me about its people and some of its traditions.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Japan is one of our closest neighboring countries.</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There are many mountains in Japan.</a:t>
            </a:r>
          </a:p>
          <a:p>
            <a:pPr>
              <a:lnSpc>
                <a:spcPct val="150000"/>
              </a:lnSpc>
            </a:pPr>
            <a:r>
              <a:rPr lang="en-US" altLang="ko-KR" sz="1100" b="0" i="0" u="none" strike="noStrike" kern="1200" baseline="0" dirty="0">
                <a:solidFill>
                  <a:schemeClr val="tx1"/>
                </a:solidFill>
                <a:latin typeface="+mn-lt"/>
                <a:ea typeface="+mn-ea"/>
                <a:cs typeface="+mn-cs"/>
              </a:rPr>
              <a:t>In fact, half of Japan is mountains.</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Also, there are many beaches in Japan.</a:t>
            </a:r>
          </a:p>
          <a:p>
            <a:pPr>
              <a:lnSpc>
                <a:spcPct val="150000"/>
              </a:lnSpc>
            </a:pPr>
            <a:r>
              <a:rPr lang="en-US" altLang="ko-KR" sz="1100" b="0" i="0" u="none" strike="noStrike" kern="1200" baseline="0" dirty="0">
                <a:solidFill>
                  <a:schemeClr val="tx1"/>
                </a:solidFill>
                <a:latin typeface="+mn-lt"/>
                <a:ea typeface="+mn-ea"/>
                <a:cs typeface="+mn-cs"/>
              </a:rPr>
              <a:t>Some beaches are popular vacation spots.</a:t>
            </a:r>
          </a:p>
          <a:p>
            <a:pPr>
              <a:lnSpc>
                <a:spcPct val="150000"/>
              </a:lnSpc>
            </a:pPr>
            <a:r>
              <a:rPr lang="en-US" altLang="ko-KR" sz="1100" b="0" i="0" u="none" strike="noStrike" kern="1200" baseline="0" dirty="0">
                <a:solidFill>
                  <a:schemeClr val="tx1"/>
                </a:solidFill>
                <a:latin typeface="+mn-lt"/>
                <a:ea typeface="+mn-ea"/>
                <a:cs typeface="+mn-cs"/>
              </a:rPr>
              <a:t>The coastline is very scenic.</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Meanwhile, Japanese people are very friendly.</a:t>
            </a:r>
          </a:p>
          <a:p>
            <a:pPr>
              <a:lnSpc>
                <a:spcPct val="150000"/>
              </a:lnSpc>
            </a:pPr>
            <a:r>
              <a:rPr lang="en-US" altLang="ko-KR" sz="1100" b="0" i="0" u="none" strike="noStrike" kern="1200" baseline="0" dirty="0">
                <a:solidFill>
                  <a:schemeClr val="tx1"/>
                </a:solidFill>
                <a:latin typeface="+mn-lt"/>
                <a:ea typeface="+mn-ea"/>
                <a:cs typeface="+mn-cs"/>
              </a:rPr>
              <a:t>That is the impression I got from them.</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254862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29</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99391"/>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spc="-50" dirty="0">
                <a:solidFill>
                  <a:schemeClr val="tx2"/>
                </a:solidFill>
                <a:latin typeface="맑은 고딕" pitchFamily="50" charset="-127"/>
                <a:ea typeface="맑은 고딕" pitchFamily="50" charset="-127"/>
              </a:rPr>
              <a:t>03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우리나라 사람들의 보편적인 야외 활동 묘사</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나라에서 인기 있는 야외 활동에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사람들은 하이킹</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자전거</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수영을 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사람들은 보통 야외에서 무엇을 하나요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한국인들은 다양한 종류의 야외 활동들을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많은 산들이 있기 때문에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r>
              <a:rPr lang="ko-KR" altLang="en-US" sz="1100" b="0" i="0" u="none" strike="noStrike" kern="1200" spc="-80" dirty="0">
                <a:solidFill>
                  <a:schemeClr val="tx1"/>
                </a:solidFill>
                <a:latin typeface="맑은 고딕" panose="020B0503020000020004" pitchFamily="50" charset="-127"/>
                <a:ea typeface="맑은 고딕" panose="020B0503020000020004" pitchFamily="50" charset="-127"/>
                <a:cs typeface="+mn-cs"/>
              </a:rPr>
              <a:t>사람들은 산으로 하이킹이나 캠핑 가는 것을 좋아합니다</a:t>
            </a:r>
            <a:r>
              <a:rPr lang="en-US" altLang="ko-KR" sz="1100" b="0" i="0" u="none" strike="noStrike" kern="1200" spc="-8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많은 해변들이 있기 때문에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사람들은 해안 지역으로 휴가를 가는 것을 좋아합니다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많은 강들이 있기 때문에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강을 따라 강변공원이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그곳에서 약간의 운동을 할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한국인들은 다양한 종류의 야외 활동들을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799391"/>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spc="-50" dirty="0">
                <a:solidFill>
                  <a:schemeClr val="tx2"/>
                </a:solidFill>
                <a:latin typeface="맑은 고딕" pitchFamily="50" charset="-127"/>
                <a:ea typeface="맑은 고딕" pitchFamily="50" charset="-127"/>
              </a:rPr>
              <a:t>03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우리나라 사람들의 보편적인 야외 활동 묘사</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Tell me about the outdoor activities that are popular in your country.</a:t>
            </a:r>
          </a:p>
          <a:p>
            <a:r>
              <a:rPr lang="en-US" altLang="ko-KR" sz="1100" b="0" i="0" u="none" strike="noStrike" kern="1200" baseline="0" dirty="0">
                <a:solidFill>
                  <a:srgbClr val="FF0000"/>
                </a:solidFill>
                <a:latin typeface="+mn-lt"/>
                <a:ea typeface="+mn-ea"/>
                <a:cs typeface="+mn-cs"/>
              </a:rPr>
              <a:t>Do people go hiking, bike, or swim?</a:t>
            </a:r>
          </a:p>
          <a:p>
            <a:r>
              <a:rPr lang="en-US" altLang="ko-KR" sz="1100" b="0" i="0" u="none" strike="noStrike" kern="1200" baseline="0" dirty="0">
                <a:solidFill>
                  <a:srgbClr val="FF0000"/>
                </a:solidFill>
                <a:latin typeface="+mn-lt"/>
                <a:ea typeface="+mn-ea"/>
                <a:cs typeface="+mn-cs"/>
              </a:rPr>
              <a:t>What do people typically do outdoors?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Koreans do various types of outdoor activities.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Because there are many mountains,</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people like to go hiking or camping to the mountains.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because there are many beaches,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like to go on vacations to coastal areas.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because there are many rivers,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riverside parks along the river.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can get some exercise there.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Koreans do various types of outdoor activities.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910062"/>
          </a:xfrm>
          <a:prstGeom prst="rect">
            <a:avLst/>
          </a:prstGeom>
          <a:noFill/>
        </p:spPr>
        <p:txBody>
          <a:bodyPr wrap="square" rtlCol="0">
            <a:spAutoFit/>
          </a:bodyPr>
          <a:lstStyle/>
          <a:p>
            <a:pPr latinLnBrk="1">
              <a:lnSpc>
                <a:spcPct val="100000"/>
              </a:lnSpc>
            </a:pPr>
            <a:r>
              <a:rPr lang="en-US" altLang="ko-KR" sz="1000" b="1" spc="-70" dirty="0">
                <a:solidFill>
                  <a:schemeClr val="tx2"/>
                </a:solidFill>
                <a:latin typeface="맑은 고딕" pitchFamily="50" charset="-127"/>
                <a:ea typeface="맑은 고딕" pitchFamily="50" charset="-127"/>
              </a:rPr>
              <a:t>04 [Adv]</a:t>
            </a:r>
            <a:r>
              <a:rPr lang="en-US" altLang="ko-KR" sz="1000" b="1" spc="-70" baseline="0" dirty="0">
                <a:solidFill>
                  <a:schemeClr val="tx2"/>
                </a:solidFill>
                <a:latin typeface="맑은 고딕" pitchFamily="50" charset="-127"/>
                <a:ea typeface="맑은 고딕" pitchFamily="50" charset="-127"/>
              </a:rPr>
              <a:t> </a:t>
            </a:r>
            <a:r>
              <a:rPr lang="ko-KR" altLang="en-US" sz="1000" b="1" spc="-70" baseline="0" dirty="0">
                <a:solidFill>
                  <a:srgbClr val="FF0000"/>
                </a:solidFill>
                <a:latin typeface="맑은 고딕" pitchFamily="50" charset="-127"/>
                <a:ea typeface="맑은 고딕" pitchFamily="50" charset="-127"/>
              </a:rPr>
              <a:t>어렸을 때 국내에서 가보았던 가장 좋았던 장소 묘사</a:t>
            </a:r>
            <a:endParaRPr lang="en-US" altLang="ko-KR" sz="1000" b="1" spc="-70" baseline="0" dirty="0">
              <a:solidFill>
                <a:srgbClr val="FF0000"/>
              </a:solidFill>
              <a:latin typeface="맑은 고딕" pitchFamily="50" charset="-127"/>
              <a:ea typeface="맑은 고딕" pitchFamily="50" charset="-127"/>
            </a:endParaRPr>
          </a:p>
          <a:p>
            <a:pPr latinLnBrk="1">
              <a:lnSpc>
                <a:spcPct val="100000"/>
              </a:lnSpc>
            </a:pPr>
            <a:r>
              <a:rPr lang="en-US" altLang="ko-KR" sz="1000" b="1" i="0" u="none" strike="noStrike" kern="1200" baseline="0" dirty="0">
                <a:solidFill>
                  <a:srgbClr val="FF0000"/>
                </a:solidFill>
                <a:latin typeface="맑은 고딕" panose="020B0503020000020004" pitchFamily="50" charset="-127"/>
                <a:ea typeface="맑은 고딕" panose="020B0503020000020004" pitchFamily="50" charset="-127"/>
                <a:cs typeface="+mn-cs"/>
              </a:rPr>
              <a:t> </a:t>
            </a:r>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a:t>
            </a:r>
            <a:r>
              <a:rPr lang="en-US" altLang="ko-KR" sz="1000" b="1" dirty="0">
                <a:solidFill>
                  <a:schemeClr val="tx2"/>
                </a:solidFill>
                <a:latin typeface="맑은 고딕" pitchFamily="50" charset="-127"/>
                <a:ea typeface="맑은 고딕" pitchFamily="50" charset="-127"/>
              </a:rPr>
              <a:t>[Adv]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 기억나는 지형 관련 추억 묘사</a:t>
            </a:r>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ko-KR" altLang="en-US" sz="1000" b="0" i="0" kern="1200" dirty="0">
                <a:solidFill>
                  <a:srgbClr val="0070C0"/>
                </a:solidFill>
                <a:effectLst/>
                <a:latin typeface="+mn-lt"/>
                <a:ea typeface="+mn-ea"/>
                <a:cs typeface="+mn-cs"/>
              </a:rPr>
              <a:t>나는 네가 어렸을 때 너의 나라에서 가장 좋아하는 장소를 선택했으면 좋겠습니다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그곳을 자세히 묘사하세요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그 장소에 대해 무엇을 기억하나요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 나라의 지리에 대한 초기 기억을 말해 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아마도 그곳은 특별한 장소나 중요한 랜드마크였을 것이다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장소에 대한 당신의 기억은 어땠나요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나는 해변에 자주 갔던 기억이 납니다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내가 어렸을 때</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spc="-70" dirty="0">
                <a:solidFill>
                  <a:schemeClr val="tx1"/>
                </a:solidFill>
                <a:latin typeface="+mn-lt"/>
                <a:ea typeface="+mn-ea"/>
                <a:cs typeface="+mn-cs"/>
              </a:rPr>
              <a:t>나의 가장 좋아하는 해변의 하나는 한국의 남해안에 있습니다</a:t>
            </a:r>
            <a:r>
              <a:rPr lang="en-US" altLang="ko-KR" sz="1000" b="0" i="0" u="none" strike="noStrike" kern="1200" spc="-7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그것은 매우 잘 알려진 해변입니다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그것은 사람들 사이에 인기있는 휴양지 였습니다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그것은 매우 붐볐습니다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피크시즌 동안에</a:t>
            </a: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해변 근처에 할 일이 많이 있었습니다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해안선은 매우 경치가 좋았습니다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일몰과 일출은 놀라웠습니다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다시 한번</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해변에 자주 갔던 기억이 납니다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내가 어렸을 때</a:t>
            </a:r>
            <a:endParaRPr lang="en-US" altLang="ko-KR" sz="1000" b="0" i="0" u="none" strike="noStrike" kern="1200" baseline="0" dirty="0">
              <a:solidFill>
                <a:schemeClr val="tx1"/>
              </a:solidFill>
              <a:latin typeface="+mn-lt"/>
              <a:ea typeface="+mn-ea"/>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910062"/>
          </a:xfrm>
          <a:prstGeom prst="rect">
            <a:avLst/>
          </a:prstGeom>
          <a:noFill/>
        </p:spPr>
        <p:txBody>
          <a:bodyPr wrap="square" rtlCol="0">
            <a:spAutoFit/>
          </a:bodyPr>
          <a:lstStyle/>
          <a:p>
            <a:pPr latinLnBrk="1">
              <a:lnSpc>
                <a:spcPct val="100000"/>
              </a:lnSpc>
            </a:pPr>
            <a:r>
              <a:rPr lang="en-US" altLang="ko-KR" sz="1000" b="1" spc="-70" dirty="0">
                <a:solidFill>
                  <a:schemeClr val="tx2"/>
                </a:solidFill>
                <a:latin typeface="맑은 고딕" pitchFamily="50" charset="-127"/>
                <a:ea typeface="맑은 고딕" pitchFamily="50" charset="-127"/>
              </a:rPr>
              <a:t>04 [Adv]</a:t>
            </a:r>
            <a:r>
              <a:rPr lang="en-US" altLang="ko-KR" sz="1000" b="1" spc="-70" baseline="0" dirty="0">
                <a:solidFill>
                  <a:schemeClr val="tx2"/>
                </a:solidFill>
                <a:latin typeface="맑은 고딕" pitchFamily="50" charset="-127"/>
                <a:ea typeface="맑은 고딕" pitchFamily="50" charset="-127"/>
              </a:rPr>
              <a:t> </a:t>
            </a:r>
            <a:r>
              <a:rPr lang="ko-KR" altLang="en-US" sz="1000" b="1" spc="-70" baseline="0" dirty="0">
                <a:solidFill>
                  <a:srgbClr val="FF0000"/>
                </a:solidFill>
                <a:latin typeface="맑은 고딕" pitchFamily="50" charset="-127"/>
                <a:ea typeface="맑은 고딕" pitchFamily="50" charset="-127"/>
              </a:rPr>
              <a:t>어렸을 때 국내에서 가보았던 가장 좋았던 장소 묘사</a:t>
            </a:r>
            <a:endParaRPr lang="en-US" altLang="ko-KR" sz="1000" b="1" spc="-70" baseline="0" dirty="0">
              <a:solidFill>
                <a:srgbClr val="FF0000"/>
              </a:solidFill>
              <a:latin typeface="맑은 고딕" pitchFamily="50" charset="-127"/>
              <a:ea typeface="맑은 고딕" pitchFamily="50" charset="-127"/>
            </a:endParaRPr>
          </a:p>
          <a:p>
            <a:pPr latinLnBrk="1">
              <a:lnSpc>
                <a:spcPct val="100000"/>
              </a:lnSpc>
            </a:pPr>
            <a:r>
              <a:rPr lang="en-US" altLang="ko-KR" sz="1000" b="1" i="0" u="none" strike="noStrike" kern="1200" baseline="0" dirty="0">
                <a:solidFill>
                  <a:srgbClr val="FF0000"/>
                </a:solidFill>
                <a:latin typeface="맑은 고딕" panose="020B0503020000020004" pitchFamily="50" charset="-127"/>
                <a:ea typeface="맑은 고딕" panose="020B0503020000020004" pitchFamily="50" charset="-127"/>
                <a:cs typeface="+mn-cs"/>
              </a:rPr>
              <a:t> </a:t>
            </a:r>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a:t>
            </a:r>
            <a:r>
              <a:rPr lang="en-US" altLang="ko-KR" sz="1000" b="1" dirty="0">
                <a:solidFill>
                  <a:schemeClr val="tx2"/>
                </a:solidFill>
                <a:latin typeface="맑은 고딕" pitchFamily="50" charset="-127"/>
                <a:ea typeface="맑은 고딕" pitchFamily="50" charset="-127"/>
              </a:rPr>
              <a:t>[Adv]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 기억나는 지형 관련 추억 묘사</a:t>
            </a:r>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mn-lt"/>
                <a:ea typeface="+mn-ea"/>
                <a:cs typeface="+mn-cs"/>
              </a:rPr>
              <a:t>I would like you to pick a favorite place in your country from your childhood,</a:t>
            </a:r>
          </a:p>
          <a:p>
            <a:r>
              <a:rPr lang="en-US" altLang="ko-KR" sz="1000" b="0" i="0" u="none" strike="noStrike" kern="1200" baseline="0" dirty="0">
                <a:solidFill>
                  <a:srgbClr val="FF0000"/>
                </a:solidFill>
                <a:latin typeface="+mn-lt"/>
                <a:ea typeface="+mn-ea"/>
                <a:cs typeface="+mn-cs"/>
              </a:rPr>
              <a:t>Describe that place in detail.</a:t>
            </a:r>
          </a:p>
          <a:p>
            <a:r>
              <a:rPr lang="en-US" altLang="ko-KR" sz="1000" b="0" i="0" u="none" strike="noStrike" kern="1200" baseline="0" dirty="0">
                <a:solidFill>
                  <a:srgbClr val="FF0000"/>
                </a:solidFill>
                <a:latin typeface="+mn-lt"/>
                <a:ea typeface="+mn-ea"/>
                <a:cs typeface="+mn-cs"/>
              </a:rPr>
              <a:t>What do you remember about that place</a:t>
            </a:r>
            <a:r>
              <a:rPr lang="en-US" altLang="ko-KR" sz="1000" b="1" i="0" u="none" strike="noStrike" kern="1200" baseline="0" dirty="0">
                <a:solidFill>
                  <a:schemeClr val="lt1"/>
                </a:solidFill>
                <a:latin typeface="+mn-lt"/>
                <a:ea typeface="+mn-ea"/>
                <a:cs typeface="+mn-cs"/>
              </a:rPr>
              <a:t>?</a:t>
            </a:r>
          </a:p>
          <a:p>
            <a:endParaRPr lang="en-US" altLang="ko-KR" sz="1000" b="0" i="0" u="none" strike="noStrike" kern="1200" baseline="0" dirty="0">
              <a:solidFill>
                <a:srgbClr val="FF0000"/>
              </a:solidFill>
              <a:latin typeface="+mn-lt"/>
              <a:ea typeface="+mn-ea"/>
              <a:cs typeface="+mn-cs"/>
            </a:endParaRPr>
          </a:p>
          <a:p>
            <a:r>
              <a:rPr lang="en-US" altLang="ko-KR" sz="1000" b="0" i="0" u="none" strike="noStrike" kern="1200" spc="-50" dirty="0">
                <a:solidFill>
                  <a:srgbClr val="FF0000"/>
                </a:solidFill>
                <a:latin typeface="+mn-lt"/>
                <a:ea typeface="+mn-ea"/>
                <a:cs typeface="+mn-cs"/>
              </a:rPr>
              <a:t>Tell me about an early memory of your country's geography.</a:t>
            </a:r>
          </a:p>
          <a:p>
            <a:r>
              <a:rPr lang="en-US" altLang="ko-KR" sz="1000" b="0" i="0" u="none" strike="noStrike" kern="1200" spc="-50" dirty="0">
                <a:solidFill>
                  <a:srgbClr val="FF0000"/>
                </a:solidFill>
                <a:latin typeface="+mn-lt"/>
                <a:ea typeface="+mn-ea"/>
                <a:cs typeface="+mn-cs"/>
              </a:rPr>
              <a:t>Perhaps it was a special place or an important landmark.</a:t>
            </a:r>
          </a:p>
          <a:p>
            <a:r>
              <a:rPr lang="en-US" altLang="ko-KR" sz="1000" b="0" i="0" u="none" strike="noStrike" kern="1200" baseline="0" dirty="0">
                <a:solidFill>
                  <a:srgbClr val="FF0000"/>
                </a:solidFill>
                <a:latin typeface="+mn-lt"/>
                <a:ea typeface="+mn-ea"/>
                <a:cs typeface="+mn-cs"/>
              </a:rPr>
              <a:t>What were your memories about that place?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mn-lt"/>
                <a:ea typeface="+mn-ea"/>
                <a:cs typeface="+mn-cs"/>
              </a:rPr>
              <a:t>I remember going to the beach often when I was a kid.</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spc="-90" dirty="0">
                <a:solidFill>
                  <a:schemeClr val="tx1"/>
                </a:solidFill>
                <a:latin typeface="+mn-lt"/>
                <a:ea typeface="+mn-ea"/>
                <a:cs typeface="+mn-cs"/>
              </a:rPr>
              <a:t>One of my favorite beaches used to be on the south coast of Korea.</a:t>
            </a:r>
          </a:p>
          <a:p>
            <a:pPr>
              <a:lnSpc>
                <a:spcPct val="150000"/>
              </a:lnSpc>
            </a:pPr>
            <a:r>
              <a:rPr lang="en-US" altLang="ko-KR" sz="1000" b="0" i="0" u="none" strike="noStrike" kern="1200" baseline="0" dirty="0">
                <a:solidFill>
                  <a:schemeClr val="tx1"/>
                </a:solidFill>
                <a:latin typeface="+mn-lt"/>
                <a:ea typeface="+mn-ea"/>
                <a:cs typeface="+mn-cs"/>
              </a:rPr>
              <a:t>It was a very well-known beach.</a:t>
            </a:r>
          </a:p>
          <a:p>
            <a:pPr>
              <a:lnSpc>
                <a:spcPct val="150000"/>
              </a:lnSpc>
            </a:pPr>
            <a:r>
              <a:rPr lang="en-US" altLang="ko-KR" sz="1000" b="0" i="0" u="none" strike="noStrike" kern="1200" baseline="0" dirty="0">
                <a:solidFill>
                  <a:schemeClr val="tx1"/>
                </a:solidFill>
                <a:latin typeface="+mn-lt"/>
                <a:ea typeface="+mn-ea"/>
                <a:cs typeface="+mn-cs"/>
              </a:rPr>
              <a:t>It was a popular vacation spot among people.</a:t>
            </a:r>
          </a:p>
          <a:p>
            <a:pPr>
              <a:lnSpc>
                <a:spcPct val="150000"/>
              </a:lnSpc>
            </a:pPr>
            <a:r>
              <a:rPr lang="en-US" altLang="ko-KR" sz="1000" b="0" i="0" u="none" strike="noStrike" kern="1200" baseline="0" dirty="0">
                <a:solidFill>
                  <a:schemeClr val="tx1"/>
                </a:solidFill>
                <a:latin typeface="+mn-lt"/>
                <a:ea typeface="+mn-ea"/>
                <a:cs typeface="+mn-cs"/>
              </a:rPr>
              <a:t>It got very crowded during the peak season.</a:t>
            </a:r>
          </a:p>
          <a:p>
            <a:pPr>
              <a:lnSpc>
                <a:spcPct val="150000"/>
              </a:lnSpc>
            </a:pPr>
            <a:r>
              <a:rPr lang="en-US" altLang="ko-KR" sz="1000" b="0" i="0" u="none" strike="noStrike" kern="1200" baseline="0" dirty="0">
                <a:solidFill>
                  <a:schemeClr val="tx1"/>
                </a:solidFill>
                <a:latin typeface="+mn-lt"/>
                <a:ea typeface="+mn-ea"/>
                <a:cs typeface="+mn-cs"/>
              </a:rPr>
              <a:t>There were a lot of things to do near the beach.</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The coastline was very scenic.</a:t>
            </a:r>
          </a:p>
          <a:p>
            <a:pPr>
              <a:lnSpc>
                <a:spcPct val="150000"/>
              </a:lnSpc>
            </a:pPr>
            <a:r>
              <a:rPr lang="en-US" altLang="ko-KR" sz="1000" b="0" i="0" u="none" strike="noStrike" kern="1200" baseline="0" dirty="0">
                <a:solidFill>
                  <a:schemeClr val="tx1"/>
                </a:solidFill>
                <a:latin typeface="+mn-lt"/>
                <a:ea typeface="+mn-ea"/>
                <a:cs typeface="+mn-cs"/>
              </a:rPr>
              <a:t>The sunset and the sunrise were amazing.</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Once again, I remember going to the beach often when I was a kid.</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3536295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30</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63896"/>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05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 가보았던 지형적으로 유명한 장소에서의 추억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사람들은 종종 자국의 지리를 탐험하는 기억에 남는 경험을 합니다</a:t>
            </a:r>
            <a:r>
              <a:rPr lang="en-US" altLang="ko-KR" sz="1000" b="0" i="0" kern="1200" dirty="0">
                <a:solidFill>
                  <a:srgbClr val="0070C0"/>
                </a:solidFill>
                <a:effectLst/>
                <a:latin typeface="+mn-lt"/>
                <a:ea typeface="+mn-ea"/>
                <a:cs typeface="+mn-cs"/>
              </a:rPr>
              <a:t>. </a:t>
            </a:r>
          </a:p>
          <a:p>
            <a:r>
              <a:rPr lang="ko-KR" altLang="en-US" sz="1000" b="0" i="0" kern="1200" dirty="0">
                <a:solidFill>
                  <a:srgbClr val="0070C0"/>
                </a:solidFill>
                <a:effectLst/>
                <a:latin typeface="+mn-lt"/>
                <a:ea typeface="+mn-ea"/>
                <a:cs typeface="+mn-cs"/>
              </a:rPr>
              <a:t>너는 유명한 산에 올랐을지도 모릅니다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아니면 아름다운 해변에서 수영을 했을지도 </a:t>
            </a:r>
            <a:r>
              <a:rPr lang="ko-KR" altLang="en-US" sz="1000" b="0" i="0" kern="1200" dirty="0" err="1">
                <a:solidFill>
                  <a:srgbClr val="0070C0"/>
                </a:solidFill>
                <a:effectLst/>
                <a:latin typeface="+mn-lt"/>
                <a:ea typeface="+mn-ea"/>
                <a:cs typeface="+mn-cs"/>
              </a:rPr>
              <a:t>모릅다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당신의 나라의 자연 장소를 방문했을 때의 이야기를 들려주세요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50" dirty="0">
                <a:solidFill>
                  <a:schemeClr val="tx1"/>
                </a:solidFill>
                <a:latin typeface="+mn-lt"/>
                <a:ea typeface="+mn-ea"/>
                <a:cs typeface="+mn-cs"/>
              </a:rPr>
              <a:t>나는 최근에 나의 가족과 함께 해변에 갔던 기억이 납니다</a:t>
            </a:r>
            <a:r>
              <a:rPr lang="en-US" altLang="ko-KR" sz="1000" b="0" i="0" u="none" strike="noStrike" kern="1200" spc="-50" dirty="0">
                <a:solidFill>
                  <a:schemeClr val="tx1"/>
                </a:solidFill>
                <a:latin typeface="+mn-lt"/>
                <a:ea typeface="+mn-ea"/>
                <a:cs typeface="+mn-cs"/>
              </a:rPr>
              <a:t>.</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낮동안은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해변을 따라 산책을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해변 근처에서 많은 사진을 찍었습니다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점심에는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해산물을 먹기 위해 나갔습니다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생선회와 새우를 먹었습니다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저녁에는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우리의 속소에서 바비큐를 먹었습니다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음식은 매우 맛있었습니다</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매우 배가 너무 고팠기 때문에</a:t>
            </a:r>
            <a:endPar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음식과 함께 술을 조금 마셨습니다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저녁식사 후</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밤새 파티를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돌이켜 보면</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매우 기억에 남는 여행이었습니다</a:t>
            </a:r>
            <a:r>
              <a:rPr lang="en-US" altLang="ko-KR" sz="1000" b="0" i="0" u="none" strike="noStrike" kern="1200" baseline="0" dirty="0">
                <a:solidFill>
                  <a:schemeClr val="tx1"/>
                </a:solidFill>
                <a:latin typeface="+mn-lt"/>
                <a:ea typeface="+mn-ea"/>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863896"/>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05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 가보았던 지형적으로 유명한 장소에서의 추억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People often have memorable experiences of exploring</a:t>
            </a:r>
          </a:p>
          <a:p>
            <a:r>
              <a:rPr lang="en-US" altLang="ko-KR" sz="1000" b="0" i="0" u="none" strike="noStrike" kern="1200" baseline="0" dirty="0">
                <a:solidFill>
                  <a:srgbClr val="FF0000"/>
                </a:solidFill>
                <a:latin typeface="+mn-lt"/>
                <a:ea typeface="+mn-ea"/>
                <a:cs typeface="+mn-cs"/>
              </a:rPr>
              <a:t>their country’s geography. You might have climbed a famous mountain</a:t>
            </a:r>
          </a:p>
          <a:p>
            <a:r>
              <a:rPr lang="en-US" altLang="ko-KR" sz="1000" b="0" i="0" u="none" strike="noStrike" kern="1200" baseline="0" dirty="0">
                <a:solidFill>
                  <a:srgbClr val="FF0000"/>
                </a:solidFill>
                <a:latin typeface="+mn-lt"/>
                <a:ea typeface="+mn-ea"/>
                <a:cs typeface="+mn-cs"/>
              </a:rPr>
              <a:t>or might have swum at a beautiful beach.</a:t>
            </a:r>
          </a:p>
          <a:p>
            <a:r>
              <a:rPr lang="en-US" altLang="ko-KR" sz="1000" b="0" i="0" u="none" strike="noStrike" kern="1200" baseline="0" dirty="0">
                <a:solidFill>
                  <a:srgbClr val="FF0000"/>
                </a:solidFill>
                <a:latin typeface="+mn-lt"/>
                <a:ea typeface="+mn-ea"/>
                <a:cs typeface="+mn-cs"/>
              </a:rPr>
              <a:t>Tell me a story of when you visited a natural place in your country.</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mn-lt"/>
                <a:ea typeface="+mn-ea"/>
                <a:cs typeface="+mn-cs"/>
              </a:rPr>
              <a:t>I remember going to the beach with my family recently.</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During the day, we took a walk along the beach.</a:t>
            </a:r>
          </a:p>
          <a:p>
            <a:pPr>
              <a:lnSpc>
                <a:spcPct val="150000"/>
              </a:lnSpc>
            </a:pPr>
            <a:r>
              <a:rPr lang="en-US" altLang="ko-KR" sz="1000" b="0" i="0" u="none" strike="noStrike" kern="1200" baseline="0" dirty="0">
                <a:solidFill>
                  <a:schemeClr val="tx1"/>
                </a:solidFill>
                <a:latin typeface="+mn-lt"/>
                <a:ea typeface="+mn-ea"/>
                <a:cs typeface="+mn-cs"/>
              </a:rPr>
              <a:t>Plus, we took a lot of pictures near the beach.</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For lunch, we went out for some seafood.</a:t>
            </a:r>
          </a:p>
          <a:p>
            <a:pPr>
              <a:lnSpc>
                <a:spcPct val="150000"/>
              </a:lnSpc>
            </a:pPr>
            <a:r>
              <a:rPr lang="en-US" altLang="ko-KR" sz="1000" b="0" i="0" u="none" strike="noStrike" kern="1200" baseline="0" dirty="0">
                <a:solidFill>
                  <a:schemeClr val="tx1"/>
                </a:solidFill>
                <a:latin typeface="+mn-lt"/>
                <a:ea typeface="+mn-ea"/>
                <a:cs typeface="+mn-cs"/>
              </a:rPr>
              <a:t>We had some raw fish and shrimp.</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For dinner, we had a barbeque at our cabin.</a:t>
            </a:r>
          </a:p>
          <a:p>
            <a:pPr>
              <a:lnSpc>
                <a:spcPct val="150000"/>
              </a:lnSpc>
            </a:pPr>
            <a:r>
              <a:rPr lang="en-US" altLang="ko-KR" sz="1000" b="0" i="0" u="none" strike="noStrike" kern="1200" baseline="0" dirty="0">
                <a:solidFill>
                  <a:schemeClr val="tx1"/>
                </a:solidFill>
                <a:latin typeface="+mn-lt"/>
                <a:ea typeface="+mn-ea"/>
                <a:cs typeface="+mn-cs"/>
              </a:rPr>
              <a:t>The food tasted good because I was so hungry.</a:t>
            </a:r>
          </a:p>
          <a:p>
            <a:pPr>
              <a:lnSpc>
                <a:spcPct val="150000"/>
              </a:lnSpc>
            </a:pPr>
            <a:r>
              <a:rPr lang="en-US" altLang="ko-KR" sz="1000" b="0" i="0" u="none" strike="noStrike" kern="1200" baseline="0" dirty="0">
                <a:solidFill>
                  <a:schemeClr val="tx1"/>
                </a:solidFill>
                <a:latin typeface="+mn-lt"/>
                <a:ea typeface="+mn-ea"/>
                <a:cs typeface="+mn-cs"/>
              </a:rPr>
              <a:t>We had some drinks with the meal.</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After having dinner, we partied all night long.</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Looking back, it was a very memorable trip.</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753224"/>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dirty="0">
                <a:solidFill>
                  <a:schemeClr val="tx2"/>
                </a:solidFill>
                <a:latin typeface="맑은 고딕" pitchFamily="50" charset="-127"/>
                <a:ea typeface="맑은 고딕" pitchFamily="50" charset="-127"/>
              </a:rPr>
              <a:t>06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우리나라가 최근 </a:t>
            </a:r>
            <a:r>
              <a:rPr lang="en-US" altLang="ko-KR" sz="1100" b="1" baseline="0" dirty="0">
                <a:solidFill>
                  <a:srgbClr val="FF0000"/>
                </a:solidFill>
                <a:latin typeface="맑은 고딕" pitchFamily="50" charset="-127"/>
                <a:ea typeface="맑은 고딕" pitchFamily="50" charset="-127"/>
              </a:rPr>
              <a:t>10</a:t>
            </a:r>
            <a:r>
              <a:rPr lang="ko-KR" altLang="en-US" sz="1100" b="1" baseline="0" dirty="0">
                <a:solidFill>
                  <a:srgbClr val="FF0000"/>
                </a:solidFill>
                <a:latin typeface="맑은 고딕" pitchFamily="50" charset="-127"/>
                <a:ea typeface="맑은 고딕" pitchFamily="50" charset="-127"/>
              </a:rPr>
              <a:t>년간 겪은 변화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나라는 지난 </a:t>
            </a:r>
            <a:r>
              <a:rPr lang="en-US" altLang="ko-KR" sz="1100" b="0" i="0" kern="1200" dirty="0">
                <a:solidFill>
                  <a:srgbClr val="0070C0"/>
                </a:solidFill>
                <a:effectLst/>
                <a:latin typeface="+mn-lt"/>
                <a:ea typeface="+mn-ea"/>
                <a:cs typeface="+mn-cs"/>
              </a:rPr>
              <a:t>10</a:t>
            </a:r>
            <a:r>
              <a:rPr lang="ko-KR" altLang="en-US" sz="1100" b="0" i="0" kern="1200" dirty="0">
                <a:solidFill>
                  <a:srgbClr val="0070C0"/>
                </a:solidFill>
                <a:effectLst/>
                <a:latin typeface="+mn-lt"/>
                <a:ea typeface="+mn-ea"/>
                <a:cs typeface="+mn-cs"/>
              </a:rPr>
              <a:t>년 동안 어떻게 변했나요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아마도 도시 개발이나 관광에 변화가 있었을 것입니다</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한 가지 변화 영역을 선택하고 많은 세부 사항을 설명하십시오</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한국에서 교통은 지난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10</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년동안</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많이 바뀌었습니다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기차들은 과거보다 훨씬 더 빠릅니다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지금 어딘가로 가기 위해 반 시간이 걸립니다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비행기 티켓들은 저가 항공사들 덕분에 지금 훨씬 더 쌉니다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비행기들은 단지 반값입니다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운전은 지금 훨씬 더 쉽습니다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지금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GPS</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를 가지고 있기 때문에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GPS</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는 어디에 가야 하는지 말해 줍니다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한국에서 교통은 지난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10</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년 동안 많이 바뀌었습니다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02286"/>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06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우리나라가 최근 </a:t>
            </a:r>
            <a:r>
              <a:rPr lang="en-US" altLang="ko-KR" sz="1000" b="1" baseline="0" dirty="0">
                <a:solidFill>
                  <a:srgbClr val="FF0000"/>
                </a:solidFill>
                <a:latin typeface="맑은 고딕" pitchFamily="50" charset="-127"/>
                <a:ea typeface="맑은 고딕" pitchFamily="50" charset="-127"/>
              </a:rPr>
              <a:t>10</a:t>
            </a:r>
            <a:r>
              <a:rPr lang="ko-KR" altLang="en-US" sz="1000" b="1" baseline="0" dirty="0">
                <a:solidFill>
                  <a:srgbClr val="FF0000"/>
                </a:solidFill>
                <a:latin typeface="맑은 고딕" pitchFamily="50" charset="-127"/>
                <a:ea typeface="맑은 고딕" pitchFamily="50" charset="-127"/>
              </a:rPr>
              <a:t>년간 겪은 변화 설명</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How has your country changed in the past decade?</a:t>
            </a:r>
          </a:p>
          <a:p>
            <a:r>
              <a:rPr lang="en-US" altLang="ko-KR" sz="1000" b="0" i="0" u="none" strike="noStrike" kern="1200" spc="-50" dirty="0">
                <a:solidFill>
                  <a:srgbClr val="FF0000"/>
                </a:solidFill>
                <a:latin typeface="+mn-lt"/>
                <a:ea typeface="+mn-ea"/>
                <a:cs typeface="+mn-cs"/>
              </a:rPr>
              <a:t>Perhaps there were changes in urban development or tourism.</a:t>
            </a:r>
          </a:p>
          <a:p>
            <a:r>
              <a:rPr lang="en-US" altLang="ko-KR" sz="1000" b="0" i="0" u="none" strike="noStrike" kern="1200" baseline="0" dirty="0">
                <a:solidFill>
                  <a:srgbClr val="FF0000"/>
                </a:solidFill>
                <a:latin typeface="+mn-lt"/>
                <a:ea typeface="+mn-ea"/>
                <a:cs typeface="+mn-cs"/>
              </a:rPr>
              <a:t>Choose one area of change and describe it with a lot of details.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Transportation in Korea has changed a lot over the last 10 years.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trains are much faster than in the past.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takes half the time to get somewhere now.</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plane tickets are much cheaper now thanks to low-cost carriers.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 flights only cost half the price.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driving is much easier now because we now have GPS.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GPS tells us where to go.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transportation in Korea has changed a lot over the last 10 years.</a:t>
            </a:r>
          </a:p>
        </p:txBody>
      </p:sp>
    </p:spTree>
    <p:extLst>
      <p:ext uri="{BB962C8B-B14F-4D97-AF65-F5344CB8AC3E}">
        <p14:creationId xmlns:p14="http://schemas.microsoft.com/office/powerpoint/2010/main" val="947851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364190"/>
            <a:ext cx="6858000" cy="5109091"/>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06 </a:t>
            </a:r>
            <a:r>
              <a:rPr lang="ko-KR" altLang="en-US" sz="5400" b="1">
                <a:solidFill>
                  <a:srgbClr val="FF0000"/>
                </a:solidFill>
                <a:latin typeface="맑은 고딕" pitchFamily="50" charset="-127"/>
                <a:ea typeface="맑은 고딕" pitchFamily="50" charset="-127"/>
              </a:rPr>
              <a:t>선택형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Domestic Trips</a:t>
            </a:r>
          </a:p>
          <a:p>
            <a:pPr algn="ctr"/>
            <a:r>
              <a:rPr lang="en-US" altLang="ko-KR" sz="5400" b="1">
                <a:latin typeface="맑은 고딕" pitchFamily="50" charset="-127"/>
                <a:ea typeface="맑은 고딕" pitchFamily="50" charset="-127"/>
              </a:rPr>
              <a:t>Overseas Trips</a:t>
            </a:r>
          </a:p>
          <a:p>
            <a:pPr algn="ctr"/>
            <a:endParaRPr lang="en-US" altLang="ko-KR" sz="5400" b="1">
              <a:solidFill>
                <a:schemeClr val="tx2"/>
              </a:solidFill>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국내여행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r>
              <a:rPr lang="ko-KR" altLang="en-US" sz="2800" b="1">
                <a:solidFill>
                  <a:schemeClr val="tx2"/>
                </a:solidFill>
              </a:rPr>
              <a:t>해외여행 ★★★</a:t>
            </a:r>
            <a:endParaRPr lang="en-US" altLang="ko-KR" sz="2800" b="1">
              <a:solidFill>
                <a:schemeClr val="tx2"/>
              </a:solidFill>
            </a:endParaRPr>
          </a:p>
        </p:txBody>
      </p:sp>
      <p:sp>
        <p:nvSpPr>
          <p:cNvPr id="3" name="슬라이드 번호 개체 틀 2">
            <a:extLst>
              <a:ext uri="{FF2B5EF4-FFF2-40B4-BE49-F238E27FC236}">
                <a16:creationId xmlns:a16="http://schemas.microsoft.com/office/drawing/2014/main" xmlns="" id="{E4CD8CE8-2CD9-0B7F-A472-9DFFAB58574B}"/>
              </a:ext>
            </a:extLst>
          </p:cNvPr>
          <p:cNvSpPr>
            <a:spLocks noGrp="1"/>
          </p:cNvSpPr>
          <p:nvPr>
            <p:ph type="sldNum" sz="quarter" idx="12"/>
          </p:nvPr>
        </p:nvSpPr>
        <p:spPr/>
        <p:txBody>
          <a:bodyPr/>
          <a:lstStyle/>
          <a:p>
            <a:fld id="{18CC7079-95A2-4860-A138-51A9FC969471}" type="slidenum">
              <a:rPr lang="ko-KR" altLang="en-US" smtClean="0"/>
              <a:t>31</a:t>
            </a:fld>
            <a:endParaRPr lang="ko-KR" altLang="en-US"/>
          </a:p>
        </p:txBody>
      </p:sp>
    </p:spTree>
    <p:extLst>
      <p:ext uri="{BB962C8B-B14F-4D97-AF65-F5344CB8AC3E}">
        <p14:creationId xmlns:p14="http://schemas.microsoft.com/office/powerpoint/2010/main" val="7351005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32</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좋아하는 국내여행 장소들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국내에서 휴가를 가고 싶은 설문 조사에 있음을 가리켜 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80" dirty="0">
                <a:solidFill>
                  <a:srgbClr val="0070C0"/>
                </a:solidFill>
                <a:effectLst/>
                <a:latin typeface="+mn-lt"/>
                <a:ea typeface="+mn-ea"/>
                <a:cs typeface="+mn-cs"/>
              </a:rPr>
              <a:t>당신이 여행하기 좋아하는 몇몇 장소에 대해 말해주세요</a:t>
            </a:r>
            <a:r>
              <a:rPr lang="en-US" altLang="ko-KR" sz="1100" b="0" i="0" kern="1200" spc="-8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왜 그곳에 가는 것을 좋아하는지</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한국에는 많은 해변이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spc="-50" dirty="0">
                <a:solidFill>
                  <a:schemeClr val="tx1"/>
                </a:solidFill>
                <a:latin typeface="+mn-lt"/>
                <a:ea typeface="+mn-ea"/>
                <a:cs typeface="+mn-cs"/>
              </a:rPr>
              <a:t>나는 해변에 가는 것을 좋아합니다</a:t>
            </a:r>
            <a:r>
              <a:rPr lang="en-US" altLang="ko-KR" sz="1100" b="0" i="0" u="none" strike="noStrike" kern="1200" spc="-50" dirty="0">
                <a:solidFill>
                  <a:schemeClr val="tx1"/>
                </a:solidFill>
                <a:latin typeface="+mn-lt"/>
                <a:ea typeface="+mn-ea"/>
                <a:cs typeface="+mn-cs"/>
              </a:rPr>
              <a:t>. </a:t>
            </a:r>
            <a:r>
              <a:rPr lang="ko-KR" altLang="en-US" sz="1100" b="0" i="0" u="none" strike="noStrike" kern="1200" spc="-50" dirty="0">
                <a:solidFill>
                  <a:schemeClr val="tx1"/>
                </a:solidFill>
                <a:latin typeface="+mn-lt"/>
                <a:ea typeface="+mn-ea"/>
                <a:cs typeface="+mn-cs"/>
              </a:rPr>
              <a:t>내가 원할 때마다</a:t>
            </a:r>
            <a:endParaRPr lang="en-US" altLang="ko-KR" sz="1100" b="0" i="0" u="none" strike="noStrike" kern="1200" spc="-5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나의 가장 좋아하는 해변의 하나는 한국의 남해안에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그것은 매우 잘 알려진 해변입니다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그것은 사람들 사이에 인기있는 휴양지입니다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그것은 매우 붐빕니다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피크시즌 동안에</a:t>
            </a: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해변 근처에 할 일이 많이 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그래서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나의 가장 좋아하는 해변은 이렇습니다</a:t>
            </a:r>
            <a:r>
              <a:rPr lang="en-US" altLang="ko-KR" sz="1100" b="0" i="0" u="none" strike="noStrike" kern="1200" baseline="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좋아하는 국내여행 장소들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You indicated in the survey that you like to take vacations domestically.</a:t>
            </a:r>
          </a:p>
          <a:p>
            <a:r>
              <a:rPr lang="en-US" altLang="ko-KR" sz="1100" b="0" i="0" u="none" strike="noStrike" kern="1200" baseline="0" dirty="0">
                <a:solidFill>
                  <a:srgbClr val="FF0000"/>
                </a:solidFill>
                <a:latin typeface="+mn-lt"/>
                <a:ea typeface="+mn-ea"/>
                <a:cs typeface="+mn-cs"/>
              </a:rPr>
              <a:t>Tell me about some of the places you like to travel to and why you like going there.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There are many beaches in Korea.</a:t>
            </a:r>
          </a:p>
          <a:p>
            <a:pPr>
              <a:lnSpc>
                <a:spcPct val="150000"/>
              </a:lnSpc>
            </a:pPr>
            <a:r>
              <a:rPr lang="en-US" altLang="ko-KR" sz="1100" b="0" i="0" u="none" strike="noStrike" kern="1200" baseline="0" dirty="0">
                <a:solidFill>
                  <a:schemeClr val="tx1"/>
                </a:solidFill>
                <a:latin typeface="+mn-lt"/>
                <a:ea typeface="+mn-ea"/>
                <a:cs typeface="+mn-cs"/>
              </a:rPr>
              <a:t>I like to go to the beach whenever I want to.</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One of my favorite beaches is on the south coast of Korea.</a:t>
            </a:r>
          </a:p>
          <a:p>
            <a:pPr>
              <a:lnSpc>
                <a:spcPct val="150000"/>
              </a:lnSpc>
            </a:pPr>
            <a:r>
              <a:rPr lang="en-US" altLang="ko-KR" sz="1100" b="0" i="0" u="none" strike="noStrike" kern="1200" baseline="0" dirty="0">
                <a:solidFill>
                  <a:schemeClr val="tx1"/>
                </a:solidFill>
                <a:latin typeface="+mn-lt"/>
                <a:ea typeface="+mn-ea"/>
                <a:cs typeface="+mn-cs"/>
              </a:rPr>
              <a:t>It is a very well-known beach.</a:t>
            </a:r>
          </a:p>
          <a:p>
            <a:pPr>
              <a:lnSpc>
                <a:spcPct val="150000"/>
              </a:lnSpc>
            </a:pPr>
            <a:r>
              <a:rPr lang="en-US" altLang="ko-KR" sz="1100" b="0" i="0" u="none" strike="noStrike" kern="1200" baseline="0" dirty="0">
                <a:solidFill>
                  <a:schemeClr val="tx1"/>
                </a:solidFill>
                <a:latin typeface="+mn-lt"/>
                <a:ea typeface="+mn-ea"/>
                <a:cs typeface="+mn-cs"/>
              </a:rPr>
              <a:t>It is a popular vacation spot among people.</a:t>
            </a:r>
          </a:p>
          <a:p>
            <a:pPr>
              <a:lnSpc>
                <a:spcPct val="150000"/>
              </a:lnSpc>
            </a:pPr>
            <a:r>
              <a:rPr lang="en-US" altLang="ko-KR" sz="1100" b="0" i="0" u="none" strike="noStrike" kern="1200" baseline="0" dirty="0">
                <a:solidFill>
                  <a:schemeClr val="tx1"/>
                </a:solidFill>
                <a:latin typeface="+mn-lt"/>
                <a:ea typeface="+mn-ea"/>
                <a:cs typeface="+mn-cs"/>
              </a:rPr>
              <a:t>It gets very crowded during the peak season.</a:t>
            </a:r>
          </a:p>
          <a:p>
            <a:pPr>
              <a:lnSpc>
                <a:spcPct val="150000"/>
              </a:lnSpc>
            </a:pPr>
            <a:r>
              <a:rPr lang="en-US" altLang="ko-KR" sz="1100" b="0" i="0" u="none" strike="noStrike" kern="1200" baseline="0" dirty="0">
                <a:solidFill>
                  <a:schemeClr val="tx1"/>
                </a:solidFill>
                <a:latin typeface="+mn-lt"/>
                <a:ea typeface="+mn-ea"/>
                <a:cs typeface="+mn-cs"/>
              </a:rPr>
              <a:t>There are a lot of things to do near the beach.</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So, this is what my favorite beach is like.</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46083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여행 가기 전에 하는 준비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여행 준비를 위해 당신이 하는 일에 대해 말해 줄 수 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나는 많은 것을 쌉니다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내가 여행 가기 전에</a:t>
            </a:r>
            <a:endParaRPr lang="en-US" altLang="ko-KR" sz="1100" b="0" i="0" u="none" strike="noStrike" kern="1200" baseline="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첫째</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날씨를 위한 맞는 옷을 쌉니다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항상 나의 수영복과 나의 선글라스를 쌉니다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spc="-50" dirty="0">
                <a:solidFill>
                  <a:schemeClr val="tx1"/>
                </a:solidFill>
                <a:latin typeface="+mn-lt"/>
                <a:ea typeface="+mn-ea"/>
                <a:cs typeface="+mn-cs"/>
              </a:rPr>
              <a:t>또한</a:t>
            </a:r>
            <a:r>
              <a:rPr lang="en-US" altLang="ko-KR" sz="1100" b="0" i="0" u="none" strike="noStrike" kern="1200" spc="-50" dirty="0">
                <a:solidFill>
                  <a:schemeClr val="tx1"/>
                </a:solidFill>
                <a:latin typeface="+mn-lt"/>
                <a:ea typeface="+mn-ea"/>
                <a:cs typeface="+mn-cs"/>
              </a:rPr>
              <a:t>, </a:t>
            </a:r>
            <a:r>
              <a:rPr lang="ko-KR" altLang="en-US" sz="1100" b="0" i="0" u="none" strike="noStrike" kern="1200" spc="-50" dirty="0">
                <a:solidFill>
                  <a:schemeClr val="tx1"/>
                </a:solidFill>
                <a:latin typeface="+mn-lt"/>
                <a:ea typeface="+mn-ea"/>
                <a:cs typeface="+mn-cs"/>
              </a:rPr>
              <a:t>나는 나의 세면도구와 화장품 파우치를 쌉니다</a:t>
            </a:r>
            <a:r>
              <a:rPr lang="en-US" altLang="ko-KR" sz="1100" b="0" i="0" u="none" strike="noStrike" kern="1200" spc="-5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나의 면도기</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면도크림</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칫솔</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치약</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그리고 샴푸를 쌉니다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또한 나의 수건과 조금의 </a:t>
            </a:r>
            <a:r>
              <a:rPr lang="ko-KR" altLang="en-US" sz="1100" b="0" i="0" u="none" strike="noStrike" kern="1200" baseline="0" dirty="0" err="1">
                <a:solidFill>
                  <a:schemeClr val="tx1"/>
                </a:solidFill>
                <a:latin typeface="+mn-lt"/>
                <a:ea typeface="+mn-ea"/>
                <a:cs typeface="+mn-cs"/>
              </a:rPr>
              <a:t>썬크림을</a:t>
            </a:r>
            <a:r>
              <a:rPr lang="ko-KR" altLang="en-US" sz="1100" b="0" i="0" u="none" strike="noStrike" kern="1200" baseline="0" dirty="0">
                <a:solidFill>
                  <a:schemeClr val="tx1"/>
                </a:solidFill>
                <a:latin typeface="+mn-lt"/>
                <a:ea typeface="+mn-ea"/>
                <a:cs typeface="+mn-cs"/>
              </a:rPr>
              <a:t> 쌉니다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게다가</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항상 조금의 응급약을 쌉니다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그래서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그것들은 내가 여행 가기 전에 싸는 물건입니다</a:t>
            </a:r>
            <a:r>
              <a:rPr lang="en-US" altLang="ko-KR" sz="1100" b="0" i="0" u="none" strike="noStrike" kern="1200" baseline="0" dirty="0">
                <a:solidFill>
                  <a:schemeClr val="tx1"/>
                </a:solidFill>
                <a:latin typeface="+mn-lt"/>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46083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여행 가기 전에 하는 준비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Can you tell me about things you do in order to prepare for trips?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I pack many things before I go on trips.</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First, I pack suitable clothes for the weather.</a:t>
            </a:r>
          </a:p>
          <a:p>
            <a:pPr>
              <a:lnSpc>
                <a:spcPct val="150000"/>
              </a:lnSpc>
            </a:pPr>
            <a:r>
              <a:rPr lang="en-US" altLang="ko-KR" sz="1100" b="0" i="0" u="none" strike="noStrike" kern="1200" baseline="0" dirty="0">
                <a:solidFill>
                  <a:schemeClr val="tx1"/>
                </a:solidFill>
                <a:latin typeface="+mn-lt"/>
                <a:ea typeface="+mn-ea"/>
                <a:cs typeface="+mn-cs"/>
              </a:rPr>
              <a:t>I always pack my swimsuit and my sunglasses.</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Also, I pack my toiletries and cosmetics pouch.</a:t>
            </a:r>
          </a:p>
          <a:p>
            <a:pPr>
              <a:lnSpc>
                <a:spcPct val="150000"/>
              </a:lnSpc>
            </a:pPr>
            <a:r>
              <a:rPr lang="en-US" altLang="ko-KR" sz="1100" b="0" i="0" u="none" strike="noStrike" kern="1200" baseline="0" dirty="0">
                <a:solidFill>
                  <a:schemeClr val="tx1"/>
                </a:solidFill>
                <a:latin typeface="+mn-lt"/>
                <a:ea typeface="+mn-ea"/>
                <a:cs typeface="+mn-cs"/>
              </a:rPr>
              <a:t>I pack my razor, shaving cream, toothbrush, toothpaste and shampoo.</a:t>
            </a:r>
          </a:p>
          <a:p>
            <a:pPr>
              <a:lnSpc>
                <a:spcPct val="150000"/>
              </a:lnSpc>
            </a:pPr>
            <a:r>
              <a:rPr lang="en-US" altLang="ko-KR" sz="1100" b="0" i="0" u="none" strike="noStrike" kern="1200" baseline="0" dirty="0">
                <a:solidFill>
                  <a:schemeClr val="tx1"/>
                </a:solidFill>
                <a:latin typeface="+mn-lt"/>
                <a:ea typeface="+mn-ea"/>
                <a:cs typeface="+mn-cs"/>
              </a:rPr>
              <a:t>I also pack my own towel and some sunblock.</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Plus, I always pack some emergency medicine.</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So, these are the things I pack before I go on trips.</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317571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33</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94673"/>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 갔었던 여행들 설명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당신이 젊었을 때 갔던 여행에 대해 말해주세요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어디 갔다 왔어요</a:t>
            </a:r>
            <a:r>
              <a:rPr lang="en-US" altLang="ko-KR" sz="1000" b="0" i="0" kern="1200" dirty="0">
                <a:solidFill>
                  <a:srgbClr val="0070C0"/>
                </a:solidFill>
                <a:effectLst/>
                <a:latin typeface="+mn-lt"/>
                <a:ea typeface="+mn-ea"/>
                <a:cs typeface="+mn-cs"/>
              </a:rPr>
              <a:t>? </a:t>
            </a:r>
            <a:r>
              <a:rPr lang="ko-KR" altLang="en-US" sz="1000" b="0" i="0" kern="1200" dirty="0" err="1">
                <a:solidFill>
                  <a:srgbClr val="0070C0"/>
                </a:solidFill>
                <a:effectLst/>
                <a:latin typeface="+mn-lt"/>
                <a:ea typeface="+mn-ea"/>
                <a:cs typeface="+mn-cs"/>
              </a:rPr>
              <a:t>누구랑</a:t>
            </a:r>
            <a:r>
              <a:rPr lang="ko-KR" altLang="en-US" sz="1000" b="0" i="0" kern="1200" dirty="0">
                <a:solidFill>
                  <a:srgbClr val="0070C0"/>
                </a:solidFill>
                <a:effectLst/>
                <a:latin typeface="+mn-lt"/>
                <a:ea typeface="+mn-ea"/>
                <a:cs typeface="+mn-cs"/>
              </a:rPr>
              <a:t> 같이 </a:t>
            </a:r>
            <a:r>
              <a:rPr lang="ko-KR" altLang="en-US" sz="1000" b="0" i="0" kern="1200" dirty="0" err="1">
                <a:solidFill>
                  <a:srgbClr val="0070C0"/>
                </a:solidFill>
                <a:effectLst/>
                <a:latin typeface="+mn-lt"/>
                <a:ea typeface="+mn-ea"/>
                <a:cs typeface="+mn-cs"/>
              </a:rPr>
              <a:t>갔었어요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60" dirty="0">
                <a:solidFill>
                  <a:srgbClr val="0070C0"/>
                </a:solidFill>
                <a:effectLst/>
                <a:latin typeface="+mn-lt"/>
                <a:ea typeface="+mn-ea"/>
                <a:cs typeface="+mn-cs"/>
              </a:rPr>
              <a:t>그리고 그 초기 여행 동안 무엇을 하거나 무엇을 보았습니까</a:t>
            </a:r>
            <a:r>
              <a:rPr lang="en-US" altLang="ko-KR" sz="1000" b="0" i="0" kern="1200" spc="-60" dirty="0">
                <a:solidFill>
                  <a:srgbClr val="0070C0"/>
                </a:solidFill>
                <a:effectLst/>
                <a:latin typeface="+mn-lt"/>
                <a:ea typeface="+mn-ea"/>
                <a:cs typeface="+mn-cs"/>
              </a:rPr>
              <a:t>?</a:t>
            </a:r>
            <a:r>
              <a:rPr lang="en-US" altLang="ko-KR" sz="1000" b="0" i="0" kern="1200" spc="-60" dirty="0">
                <a:solidFill>
                  <a:schemeClr val="lt1"/>
                </a:solidFill>
                <a:effectLst/>
                <a:latin typeface="+mn-lt"/>
                <a:ea typeface="+mn-ea"/>
                <a:cs typeface="+mn-cs"/>
              </a:rPr>
              <a:t>?</a:t>
            </a:r>
            <a:endParaRPr lang="en-US" altLang="ko-KR" sz="1000" b="0" spc="-6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나는 종종 해변에 가는 것을 기억합니다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내가 어렸을 때</a:t>
            </a: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spc="0" baseline="0" dirty="0">
                <a:solidFill>
                  <a:schemeClr val="tx1"/>
                </a:solidFill>
                <a:latin typeface="+mn-lt"/>
                <a:ea typeface="+mn-ea"/>
                <a:cs typeface="+mn-cs"/>
              </a:rPr>
              <a:t>우리는 해변가의 호텔에 묵곤 했습니다</a:t>
            </a:r>
            <a:r>
              <a:rPr lang="en-US" altLang="ko-KR" sz="1000" b="0" i="0" u="none" strike="noStrike" kern="1200" spc="0" baseline="0" dirty="0">
                <a:solidFill>
                  <a:schemeClr val="tx1"/>
                </a:solidFill>
                <a:latin typeface="+mn-lt"/>
                <a:ea typeface="+mn-ea"/>
                <a:cs typeface="+mn-cs"/>
              </a:rPr>
              <a:t>. </a:t>
            </a:r>
            <a:r>
              <a:rPr lang="ko-KR" altLang="en-US" sz="1000" b="0" i="0" u="none" strike="noStrike" kern="1200" spc="0" baseline="0" dirty="0">
                <a:solidFill>
                  <a:schemeClr val="tx1"/>
                </a:solidFill>
                <a:latin typeface="+mn-lt"/>
                <a:ea typeface="+mn-ea"/>
                <a:cs typeface="+mn-cs"/>
              </a:rPr>
              <a:t>굉장한 해변 경치를 가지는</a:t>
            </a:r>
            <a:endParaRPr lang="en-US" altLang="ko-KR" sz="1000" b="0" i="0" u="none" strike="noStrike" kern="1200" spc="0" baseline="0" dirty="0">
              <a:solidFill>
                <a:schemeClr val="tx1"/>
              </a:solidFill>
              <a:latin typeface="+mn-lt"/>
              <a:ea typeface="+mn-ea"/>
              <a:cs typeface="+mn-cs"/>
            </a:endParaRP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낮 동안</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우리는 바다에서 수영을 하곤 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또한</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우리는 해변위의 모래에서 놀곤 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게다가</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우리는 바닷가에서 조개껍질을 줍곤 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점식 혹은 저녁으로</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우리는 조금의 음식을 위해 나가곤 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스테이크</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피자</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햄버거</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그리고 파스타를 먹은 기억이 납니다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때때로</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우리는 우리의 숙소에서 바비큐를 먹곤 했습니다</a:t>
            </a:r>
            <a:r>
              <a:rPr lang="en-US" altLang="ko-KR" sz="1000" b="0" i="0" u="none" strike="noStrike" kern="1200" baseline="0" dirty="0">
                <a:solidFill>
                  <a:schemeClr val="tx1"/>
                </a:solidFill>
                <a:latin typeface="+mn-lt"/>
                <a:ea typeface="+mn-ea"/>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음식은 항상 맛있었습니다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배가 몹시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곱았기</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때문에</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spc="-80" dirty="0">
                <a:solidFill>
                  <a:schemeClr val="tx1"/>
                </a:solidFill>
                <a:latin typeface="+mn-lt"/>
                <a:ea typeface="+mn-ea"/>
                <a:cs typeface="+mn-cs"/>
              </a:rPr>
              <a:t>저녁에</a:t>
            </a:r>
            <a:r>
              <a:rPr lang="en-US" altLang="ko-KR" sz="1000" b="0" i="0" u="none" strike="noStrike" kern="1200" spc="-80" dirty="0">
                <a:solidFill>
                  <a:schemeClr val="tx1"/>
                </a:solidFill>
                <a:latin typeface="+mn-lt"/>
                <a:ea typeface="+mn-ea"/>
                <a:cs typeface="+mn-cs"/>
              </a:rPr>
              <a:t>, </a:t>
            </a:r>
            <a:r>
              <a:rPr lang="ko-KR" altLang="en-US" sz="1000" b="0" i="0" u="none" strike="noStrike" kern="1200" spc="-80" dirty="0">
                <a:solidFill>
                  <a:schemeClr val="tx1"/>
                </a:solidFill>
                <a:latin typeface="+mn-lt"/>
                <a:ea typeface="+mn-ea"/>
                <a:cs typeface="+mn-cs"/>
              </a:rPr>
              <a:t>우리는 해변에서 조금의 폭죽을 가지고 놀곤 했습니다</a:t>
            </a:r>
            <a:r>
              <a:rPr lang="en-US" altLang="ko-KR" sz="1000" b="0" i="0" u="none" strike="noStrike" kern="1200" spc="-80" dirty="0">
                <a:solidFill>
                  <a:schemeClr val="tx1"/>
                </a:solidFill>
                <a:latin typeface="+mn-lt"/>
                <a:ea typeface="+mn-ea"/>
                <a:cs typeface="+mn-cs"/>
              </a:rPr>
              <a:t>.</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뒤돌아 보면</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이것들은 매우 기억에 남는 여행이었습니다</a:t>
            </a:r>
            <a:r>
              <a:rPr lang="en-US" altLang="ko-KR" sz="1000" b="0" i="0" u="none" strike="noStrike" kern="1200" baseline="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710007"/>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 갔었던 여행들 설명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spc="-50" dirty="0">
                <a:solidFill>
                  <a:srgbClr val="FF0000"/>
                </a:solidFill>
                <a:latin typeface="+mn-lt"/>
                <a:ea typeface="+mn-ea"/>
                <a:cs typeface="+mn-cs"/>
              </a:rPr>
              <a:t>Tell me about some of the trips that you took in your youth.</a:t>
            </a:r>
          </a:p>
          <a:p>
            <a:r>
              <a:rPr lang="en-US" altLang="ko-KR" sz="1000" b="0" i="0" u="none" strike="noStrike" kern="1200" baseline="0" dirty="0">
                <a:solidFill>
                  <a:srgbClr val="FF0000"/>
                </a:solidFill>
                <a:latin typeface="+mn-lt"/>
                <a:ea typeface="+mn-ea"/>
                <a:cs typeface="+mn-cs"/>
              </a:rPr>
              <a:t>Where did you go? Who did you go with?</a:t>
            </a:r>
          </a:p>
          <a:p>
            <a:r>
              <a:rPr lang="en-US" altLang="ko-KR" sz="1000" b="0" i="0" u="none" strike="noStrike" kern="1200" baseline="0" dirty="0">
                <a:solidFill>
                  <a:srgbClr val="FF0000"/>
                </a:solidFill>
                <a:latin typeface="+mn-lt"/>
                <a:ea typeface="+mn-ea"/>
                <a:cs typeface="+mn-cs"/>
              </a:rPr>
              <a:t>And what did you do or see during those early trips?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mn-lt"/>
                <a:ea typeface="+mn-ea"/>
                <a:cs typeface="+mn-cs"/>
              </a:rPr>
              <a:t>I remember going to the beach often when I was a kid.</a:t>
            </a:r>
          </a:p>
          <a:p>
            <a:pPr>
              <a:lnSpc>
                <a:spcPct val="150000"/>
              </a:lnSpc>
            </a:pPr>
            <a:r>
              <a:rPr lang="en-US" altLang="ko-KR" sz="1000" b="0" i="0" u="none" strike="noStrike" kern="1200" baseline="0" dirty="0">
                <a:solidFill>
                  <a:schemeClr val="tx1"/>
                </a:solidFill>
                <a:latin typeface="+mn-lt"/>
                <a:ea typeface="+mn-ea"/>
                <a:cs typeface="+mn-cs"/>
              </a:rPr>
              <a:t>We used to stay at a beachside hotel that had a great ocean view.</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During the day, we used to swim in the ocean.</a:t>
            </a:r>
          </a:p>
          <a:p>
            <a:pPr>
              <a:lnSpc>
                <a:spcPct val="150000"/>
              </a:lnSpc>
            </a:pPr>
            <a:r>
              <a:rPr lang="en-US" altLang="ko-KR" sz="1000" b="0" i="0" u="none" strike="noStrike" kern="1200" baseline="0" dirty="0">
                <a:solidFill>
                  <a:schemeClr val="tx1"/>
                </a:solidFill>
                <a:latin typeface="+mn-lt"/>
                <a:ea typeface="+mn-ea"/>
                <a:cs typeface="+mn-cs"/>
              </a:rPr>
              <a:t>Also, we used to play in the sand on the beach.</a:t>
            </a:r>
          </a:p>
          <a:p>
            <a:pPr>
              <a:lnSpc>
                <a:spcPct val="150000"/>
              </a:lnSpc>
            </a:pPr>
            <a:r>
              <a:rPr lang="en-US" altLang="ko-KR" sz="1000" b="0" i="0" u="none" strike="noStrike" kern="1200" baseline="0" dirty="0">
                <a:solidFill>
                  <a:schemeClr val="tx1"/>
                </a:solidFill>
                <a:latin typeface="+mn-lt"/>
                <a:ea typeface="+mn-ea"/>
                <a:cs typeface="+mn-cs"/>
              </a:rPr>
              <a:t>Plus, we used to pick up seashells on the seashore.</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For lunch or dinner, we used to go out for some food.</a:t>
            </a:r>
          </a:p>
          <a:p>
            <a:pPr>
              <a:lnSpc>
                <a:spcPct val="150000"/>
              </a:lnSpc>
            </a:pPr>
            <a:r>
              <a:rPr lang="en-US" altLang="ko-KR" sz="1000" b="0" i="0" u="none" strike="noStrike" kern="1200" baseline="0" dirty="0">
                <a:solidFill>
                  <a:schemeClr val="tx1"/>
                </a:solidFill>
                <a:latin typeface="+mn-lt"/>
                <a:ea typeface="+mn-ea"/>
                <a:cs typeface="+mn-cs"/>
              </a:rPr>
              <a:t>I remember having steak, pizza, hamburgers and pasta.</a:t>
            </a:r>
          </a:p>
          <a:p>
            <a:pPr>
              <a:lnSpc>
                <a:spcPct val="150000"/>
              </a:lnSpc>
            </a:pPr>
            <a:r>
              <a:rPr lang="en-US" altLang="ko-KR" sz="1000" b="0" i="0" u="none" strike="noStrike" kern="1200" baseline="0" dirty="0">
                <a:solidFill>
                  <a:schemeClr val="tx1"/>
                </a:solidFill>
                <a:latin typeface="+mn-lt"/>
                <a:ea typeface="+mn-ea"/>
                <a:cs typeface="+mn-cs"/>
              </a:rPr>
              <a:t>Sometimes, we used to have a barbeque at our cabin.</a:t>
            </a:r>
          </a:p>
          <a:p>
            <a:pPr>
              <a:lnSpc>
                <a:spcPct val="150000"/>
              </a:lnSpc>
            </a:pPr>
            <a:r>
              <a:rPr lang="en-US" altLang="ko-KR" sz="1000" b="0" i="0" u="none" strike="noStrike" kern="1200" baseline="0" dirty="0">
                <a:solidFill>
                  <a:schemeClr val="tx1"/>
                </a:solidFill>
                <a:latin typeface="+mn-lt"/>
                <a:ea typeface="+mn-ea"/>
                <a:cs typeface="+mn-cs"/>
              </a:rPr>
              <a:t>The food always tasted good because I was so hungry.</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At night, we used to play with some firecrackers on the beach.</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Looking back, these were very memorable trips.</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368370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여행 중에 있었던 잊을 수 없는 에피소드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여행은 많은 종류의 흥미롭고</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재미있고</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예상치 못한 경험으로 이어질 수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잊을 수 없는 여행 경험 중 하나를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이 일이 언제 일어났는지</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어디에 있었는지 말해주는 것부터 시작해주세요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누구와 함께 </a:t>
            </a:r>
            <a:r>
              <a:rPr lang="ko-KR" altLang="en-US" sz="1100" b="0" i="0" kern="1200" dirty="0" err="1">
                <a:solidFill>
                  <a:srgbClr val="0070C0"/>
                </a:solidFill>
                <a:effectLst/>
                <a:latin typeface="+mn-lt"/>
                <a:ea typeface="+mn-ea"/>
                <a:cs typeface="+mn-cs"/>
              </a:rPr>
              <a:t>있었는지도요</a:t>
            </a:r>
            <a:r>
              <a:rPr lang="en-US" altLang="ko-KR" sz="1100" b="0" i="0" kern="1200" dirty="0">
                <a:solidFill>
                  <a:srgbClr val="0070C0"/>
                </a:solidFill>
                <a:effectLst/>
                <a:latin typeface="+mn-lt"/>
                <a:ea typeface="+mn-ea"/>
                <a:cs typeface="+mn-cs"/>
              </a:rPr>
              <a:t>.</a:t>
            </a:r>
          </a:p>
          <a:p>
            <a:r>
              <a:rPr lang="ko-KR" altLang="en-US" sz="1100" b="0" i="0" kern="1200" dirty="0">
                <a:solidFill>
                  <a:srgbClr val="0070C0"/>
                </a:solidFill>
                <a:effectLst/>
                <a:latin typeface="+mn-lt"/>
                <a:ea typeface="+mn-ea"/>
                <a:cs typeface="+mn-cs"/>
              </a:rPr>
              <a:t>그리고 나서</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이 경험을 기억에 남게 했던 모든 일들에 대해 말해보세요</a:t>
            </a:r>
            <a:r>
              <a:rPr lang="en-US" altLang="ko-KR" sz="1100" b="0" i="0" u="none" strike="noStrike" kern="1200" baseline="0" dirty="0">
                <a:solidFill>
                  <a:srgbClr val="0070C0"/>
                </a:solidFill>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어떤 것을 먹은 기억이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여행동안 상한</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mn-lt"/>
                <a:ea typeface="+mn-ea"/>
                <a:cs typeface="+mn-cs"/>
              </a:rPr>
              <a:t>나는 식중독에 걸렸고 그것은 매우 나빴습니다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속이 뒤집혔습니다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나아지기 위해 조금의 약을 먹었습니다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안에 머물고 많은 휴식을 취해야 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 이후로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더 조심하려고 노력했습니다</a:t>
            </a:r>
            <a:r>
              <a:rPr lang="en-US" altLang="ko-KR" sz="1100" b="0" i="0" u="none" strike="noStrike" kern="1200" baseline="0" dirty="0">
                <a:solidFill>
                  <a:schemeClr val="tx1"/>
                </a:solidFill>
                <a:latin typeface="+mn-lt"/>
                <a:ea typeface="+mn-ea"/>
                <a:cs typeface="+mn-cs"/>
              </a:rPr>
              <a:t>. </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7617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여행 중에 있었던 잊을 수 없는 에피소드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Traveling can lead to many kinds of interesting, funny and unexpected experiences.</a:t>
            </a:r>
          </a:p>
          <a:p>
            <a:r>
              <a:rPr lang="en-US" altLang="ko-KR" sz="1100" b="0" i="0" u="none" strike="noStrike" kern="1200" baseline="0" dirty="0">
                <a:solidFill>
                  <a:srgbClr val="FF0000"/>
                </a:solidFill>
                <a:latin typeface="+mn-lt"/>
                <a:ea typeface="+mn-ea"/>
                <a:cs typeface="+mn-cs"/>
              </a:rPr>
              <a:t>Tell me about one travel experience you had that was unforgettable.</a:t>
            </a:r>
          </a:p>
          <a:p>
            <a:r>
              <a:rPr lang="en-US" altLang="ko-KR" sz="1100" b="0" i="0" u="none" strike="noStrike" kern="1200" baseline="0" dirty="0">
                <a:solidFill>
                  <a:srgbClr val="FF0000"/>
                </a:solidFill>
                <a:latin typeface="+mn-lt"/>
                <a:ea typeface="+mn-ea"/>
                <a:cs typeface="+mn-cs"/>
              </a:rPr>
              <a:t>Start by telling me when this happened, where you were, and who you were with. And then, tell me about all the things that happened that made this experience memorable.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eating something that went bad during a trip.</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 and it was pretty bad.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took some medicine to get better.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stay inside and get a lot of rest.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2038446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34</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84002"/>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01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본인이 가본 해외 국가나 도시</a:t>
            </a:r>
            <a:r>
              <a:rPr lang="en-US" altLang="ko-KR" sz="1100" b="1" spc="-50" baseline="0" dirty="0">
                <a:solidFill>
                  <a:srgbClr val="FF0000"/>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현지인 묘사</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설문 조사에서 전 세계로 여행한 것으로 나타났습니다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저를 위해 하나 갔던 곳 중의 나라들을 묘사할 수 있을까요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어떻게 생겼나요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그리고 거기 사람들은 </a:t>
            </a:r>
            <a:r>
              <a:rPr lang="ko-KR" altLang="en-US" sz="1100" b="0" i="0" kern="1200" dirty="0" err="1">
                <a:solidFill>
                  <a:srgbClr val="0070C0"/>
                </a:solidFill>
                <a:effectLst/>
                <a:latin typeface="+mn-lt"/>
                <a:ea typeface="+mn-ea"/>
                <a:cs typeface="+mn-cs"/>
              </a:rPr>
              <a:t>어땠어요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나는 몇 년 전에 일본에 간 것을 기억합니다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spc="-50" dirty="0">
                <a:solidFill>
                  <a:schemeClr val="tx1"/>
                </a:solidFill>
                <a:latin typeface="+mn-lt"/>
                <a:ea typeface="+mn-ea"/>
                <a:cs typeface="+mn-cs"/>
              </a:rPr>
              <a:t>일본은 우리의 가장 가까운 이웃 나라들 중 하나입니다</a:t>
            </a:r>
            <a:r>
              <a:rPr lang="en-US" altLang="ko-KR" sz="1100" b="0" i="0" u="none" strike="noStrike" kern="1200" spc="-50" dirty="0">
                <a:solidFill>
                  <a:schemeClr val="tx1"/>
                </a:solidFill>
                <a:latin typeface="+mn-lt"/>
                <a:ea typeface="+mn-ea"/>
                <a:cs typeface="+mn-cs"/>
              </a:rPr>
              <a:t>.</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일본에는 많은 산이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사실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일본의 절반은 산들입니다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또한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일본에는 많은 해변들이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해변들은 인기 있는 휴양지입니다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해안선은 매우 아름답습니다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일본 사람들은 매우 친절합니다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인상입니다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그들로부터</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받은</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그래서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일본은 내가 가본 나라입니다</a:t>
            </a:r>
            <a:r>
              <a:rPr lang="en-US" altLang="ko-KR" sz="1100" b="0" i="0" u="none" strike="noStrike" kern="1200" baseline="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36132" y="1700"/>
            <a:ext cx="3429000" cy="4784002"/>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01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본인이 가본 해외 국가나 도시</a:t>
            </a:r>
            <a:r>
              <a:rPr lang="en-US" altLang="ko-KR" sz="1100" b="1" spc="-50" baseline="0" dirty="0">
                <a:solidFill>
                  <a:srgbClr val="FF0000"/>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현지인 묘사</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spc="-70" dirty="0">
                <a:solidFill>
                  <a:srgbClr val="FF0000"/>
                </a:solidFill>
                <a:latin typeface="+mn-lt"/>
                <a:ea typeface="+mn-ea"/>
                <a:cs typeface="+mn-cs"/>
              </a:rPr>
              <a:t>You indicated in the survey that you travel internationally.</a:t>
            </a:r>
          </a:p>
          <a:p>
            <a:r>
              <a:rPr lang="en-US" altLang="ko-KR" sz="1100" b="0" i="0" u="none" strike="noStrike" kern="1200" baseline="0" dirty="0">
                <a:solidFill>
                  <a:srgbClr val="FF0000"/>
                </a:solidFill>
                <a:latin typeface="+mn-lt"/>
                <a:ea typeface="+mn-ea"/>
                <a:cs typeface="+mn-cs"/>
              </a:rPr>
              <a:t>Could you describe for me one of the countries you’ve visited?</a:t>
            </a:r>
          </a:p>
          <a:p>
            <a:r>
              <a:rPr lang="en-US" altLang="ko-KR" sz="1100" b="0" i="0" u="none" strike="noStrike" kern="1200" baseline="0" dirty="0">
                <a:solidFill>
                  <a:srgbClr val="FF0000"/>
                </a:solidFill>
                <a:latin typeface="+mn-lt"/>
                <a:ea typeface="+mn-ea"/>
                <a:cs typeface="+mn-cs"/>
              </a:rPr>
              <a:t>What was it look like? And what were the people like there?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I remember going to Japan a few years ago.</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Japan is one of our closest neighboring countries.</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There are many mountains in Japan.</a:t>
            </a:r>
          </a:p>
          <a:p>
            <a:pPr>
              <a:lnSpc>
                <a:spcPct val="150000"/>
              </a:lnSpc>
            </a:pPr>
            <a:r>
              <a:rPr lang="en-US" altLang="ko-KR" sz="1100" b="0" i="0" u="none" strike="noStrike" kern="1200" baseline="0" dirty="0">
                <a:solidFill>
                  <a:schemeClr val="tx1"/>
                </a:solidFill>
                <a:latin typeface="+mn-lt"/>
                <a:ea typeface="+mn-ea"/>
                <a:cs typeface="+mn-cs"/>
              </a:rPr>
              <a:t>In fact, half of Japan is mountains.</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Also, there are many beaches in Japan.</a:t>
            </a:r>
          </a:p>
          <a:p>
            <a:pPr>
              <a:lnSpc>
                <a:spcPct val="150000"/>
              </a:lnSpc>
            </a:pPr>
            <a:r>
              <a:rPr lang="en-US" altLang="ko-KR" sz="1100" b="0" i="0" u="none" strike="noStrike" kern="1200" baseline="0" dirty="0">
                <a:solidFill>
                  <a:schemeClr val="tx1"/>
                </a:solidFill>
                <a:latin typeface="+mn-lt"/>
                <a:ea typeface="+mn-ea"/>
                <a:cs typeface="+mn-cs"/>
              </a:rPr>
              <a:t>Some beaches are popular vacation spots.</a:t>
            </a:r>
          </a:p>
          <a:p>
            <a:pPr>
              <a:lnSpc>
                <a:spcPct val="150000"/>
              </a:lnSpc>
            </a:pPr>
            <a:r>
              <a:rPr lang="en-US" altLang="ko-KR" sz="1100" b="0" i="0" u="none" strike="noStrike" kern="1200" baseline="0" dirty="0">
                <a:solidFill>
                  <a:schemeClr val="tx1"/>
                </a:solidFill>
                <a:latin typeface="+mn-lt"/>
                <a:ea typeface="+mn-ea"/>
                <a:cs typeface="+mn-cs"/>
              </a:rPr>
              <a:t>The coastline is very scenic.</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Meanwhile, Japanese people are very friendly.</a:t>
            </a:r>
          </a:p>
          <a:p>
            <a:pPr>
              <a:lnSpc>
                <a:spcPct val="150000"/>
              </a:lnSpc>
            </a:pPr>
            <a:r>
              <a:rPr lang="en-US" altLang="ko-KR" sz="1100" b="0" i="0" u="none" strike="noStrike" kern="1200" baseline="0" dirty="0">
                <a:solidFill>
                  <a:schemeClr val="tx1"/>
                </a:solidFill>
                <a:latin typeface="+mn-lt"/>
                <a:ea typeface="+mn-ea"/>
                <a:cs typeface="+mn-cs"/>
              </a:rPr>
              <a:t>That is the impression I got from them.</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So, Japan is the country I have been to.</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884029"/>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02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우리나라 사람들이 주로 가는 해외여행지 묘사</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 밖을 여행할 때 관광객들이 가길 좋아하는 인기 있는 장소를 알려주세요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왜 그들은 그 장소들을 방문하는 것을 좋아할까요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한국인들은 종종 일본에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그들이 해외 여행을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mn-lt"/>
                <a:ea typeface="+mn-ea"/>
                <a:cs typeface="+mn-cs"/>
              </a:rPr>
              <a:t>일본은 우리의 가장 가까운 이웃 나라들 중 하나입니다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일본에는 많은 산이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사실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일본의 절반은 산들입니다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또한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일본에는 많은 해변들이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해변들은 인기 있는 휴양지입니다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해안선은 매우 아름답습니다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한국인들은 종종 일본에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그들이 해외 여행을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할때</a:t>
            </a:r>
            <a:endParaRPr lang="en-US" altLang="ko-KR" sz="1100" b="0" i="0" u="none" strike="noStrike" kern="1200" baseline="0" dirty="0">
              <a:solidFill>
                <a:schemeClr val="tx1"/>
              </a:solidFill>
              <a:latin typeface="+mn-lt"/>
              <a:ea typeface="+mn-ea"/>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30114"/>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02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우리나라 사람들이 주로 가는 해외여행지 묘사</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Tell me about a popular place tourists like to go to when traveling outside your country.</a:t>
            </a:r>
          </a:p>
          <a:p>
            <a:r>
              <a:rPr lang="en-US" altLang="ko-KR" sz="1100" b="0" i="0" u="none" strike="noStrike" kern="1200" baseline="0" dirty="0">
                <a:solidFill>
                  <a:srgbClr val="FF0000"/>
                </a:solidFill>
                <a:latin typeface="+mn-lt"/>
                <a:ea typeface="+mn-ea"/>
                <a:cs typeface="+mn-cs"/>
              </a:rPr>
              <a:t>Why do they like visiting those locations?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Koreans often go to Japan when they travel overseas.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Japan is one of our closest neighboring countries.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many mountains in Japan.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fact, half of Japan is mountains.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there are many beaches in Japan.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 beaches are popular vacation spots.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coastline is very scenic.</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Koreans often go to Japan when they travel overseas.</a:t>
            </a:r>
          </a:p>
        </p:txBody>
      </p:sp>
    </p:spTree>
    <p:extLst>
      <p:ext uri="{BB962C8B-B14F-4D97-AF65-F5344CB8AC3E}">
        <p14:creationId xmlns:p14="http://schemas.microsoft.com/office/powerpoint/2010/main" val="39357026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35</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106894"/>
          </a:xfrm>
          <a:prstGeom prst="rect">
            <a:avLst/>
          </a:prstGeom>
          <a:noFill/>
        </p:spPr>
        <p:txBody>
          <a:bodyPr wrap="square" rtlCol="0">
            <a:spAutoFit/>
          </a:bodyPr>
          <a:lstStyle/>
          <a:p>
            <a:pPr latinLnBrk="1">
              <a:lnSpc>
                <a:spcPct val="100000"/>
              </a:lnSpc>
            </a:pPr>
            <a:r>
              <a:rPr lang="en-US" altLang="ko-KR" sz="1050" b="1" spc="-50" dirty="0">
                <a:solidFill>
                  <a:schemeClr val="tx2"/>
                </a:solidFill>
                <a:latin typeface="맑은 고딕" pitchFamily="50" charset="-127"/>
                <a:ea typeface="맑은 고딕" pitchFamily="50" charset="-127"/>
              </a:rPr>
              <a:t>03 [Int]</a:t>
            </a:r>
            <a:r>
              <a:rPr lang="en-US" altLang="ko-KR" sz="1050" b="1" spc="-50" baseline="0" dirty="0">
                <a:solidFill>
                  <a:schemeClr val="tx2"/>
                </a:solidFill>
                <a:latin typeface="맑은 고딕" pitchFamily="50" charset="-127"/>
                <a:ea typeface="맑은 고딕" pitchFamily="50" charset="-127"/>
              </a:rPr>
              <a:t> </a:t>
            </a:r>
            <a:r>
              <a:rPr lang="ko-KR" altLang="en-US" sz="1050" b="1" spc="-50" baseline="0" dirty="0">
                <a:solidFill>
                  <a:srgbClr val="FF0000"/>
                </a:solidFill>
                <a:latin typeface="맑은 고딕" pitchFamily="50" charset="-127"/>
                <a:ea typeface="맑은 고딕" pitchFamily="50" charset="-127"/>
              </a:rPr>
              <a:t>해외여행지에 가서 본인이 주로 하는 일들 묘사</a:t>
            </a:r>
            <a:endParaRPr lang="en-US" altLang="ko-KR" sz="105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해외의 다른 나라나 도시를 방문할 때 일반적으로 하는 일에 대해 이야기하세요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내가 해외여행을 </a:t>
            </a:r>
            <a:r>
              <a:rPr lang="ko-KR" altLang="en-US" sz="1100" b="0" i="0" u="none" strike="noStrike" kern="1200" baseline="0" dirty="0" err="1">
                <a:solidFill>
                  <a:schemeClr val="tx1"/>
                </a:solidFill>
                <a:latin typeface="+mn-lt"/>
                <a:ea typeface="+mn-ea"/>
                <a:cs typeface="+mn-cs"/>
              </a:rPr>
              <a:t>할때</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관광명소에 가는 것을 좋아합니다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spc="-50" dirty="0">
                <a:solidFill>
                  <a:schemeClr val="tx1"/>
                </a:solidFill>
                <a:latin typeface="+mn-lt"/>
                <a:ea typeface="+mn-ea"/>
                <a:cs typeface="+mn-cs"/>
              </a:rPr>
              <a:t>나는 그 나라에 역사적인 사이트나 랜드마크에 갑니다</a:t>
            </a:r>
            <a:r>
              <a:rPr lang="en-US" altLang="ko-KR" sz="1100" b="0" i="0" u="none" strike="noStrike" kern="1200" spc="-5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거기에서 많은 사진을 찍습니다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게다가</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많은 </a:t>
            </a:r>
            <a:r>
              <a:rPr lang="ko-KR" altLang="en-US" sz="1100" b="0" i="0" u="none" strike="noStrike" kern="1200" baseline="0" dirty="0" err="1">
                <a:solidFill>
                  <a:schemeClr val="tx1"/>
                </a:solidFill>
                <a:latin typeface="+mn-lt"/>
                <a:ea typeface="+mn-ea"/>
                <a:cs typeface="+mn-cs"/>
              </a:rPr>
              <a:t>쇼핑을하고</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조금의 기념품을 삽니다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또한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선물을 사기 위해 면세점에 갑니다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다음</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현지 음식을 도전하기 위해 좋은 레스토랑에 갑니다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그래서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이것들은 내가 해외여행을 할 때 하는 일입니다</a:t>
            </a:r>
            <a:r>
              <a:rPr lang="en-US" altLang="ko-KR" sz="1100" b="0" i="0" u="none" strike="noStrike" kern="1200" baseline="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3852978"/>
          </a:xfrm>
          <a:prstGeom prst="rect">
            <a:avLst/>
          </a:prstGeom>
          <a:noFill/>
        </p:spPr>
        <p:txBody>
          <a:bodyPr wrap="square" rtlCol="0">
            <a:spAutoFit/>
          </a:bodyPr>
          <a:lstStyle/>
          <a:p>
            <a:pPr latinLnBrk="1">
              <a:lnSpc>
                <a:spcPct val="100000"/>
              </a:lnSpc>
            </a:pPr>
            <a:r>
              <a:rPr lang="en-US" altLang="ko-KR" sz="1050" b="1" spc="-50" dirty="0">
                <a:solidFill>
                  <a:schemeClr val="tx2"/>
                </a:solidFill>
                <a:latin typeface="맑은 고딕" pitchFamily="50" charset="-127"/>
                <a:ea typeface="맑은 고딕" pitchFamily="50" charset="-127"/>
              </a:rPr>
              <a:t>03 [Int]</a:t>
            </a:r>
            <a:r>
              <a:rPr lang="en-US" altLang="ko-KR" sz="1050" b="1" spc="-50" baseline="0" dirty="0">
                <a:solidFill>
                  <a:schemeClr val="tx2"/>
                </a:solidFill>
                <a:latin typeface="맑은 고딕" pitchFamily="50" charset="-127"/>
                <a:ea typeface="맑은 고딕" pitchFamily="50" charset="-127"/>
              </a:rPr>
              <a:t> </a:t>
            </a:r>
            <a:r>
              <a:rPr lang="ko-KR" altLang="en-US" sz="1050" b="1" spc="-50" baseline="0" dirty="0">
                <a:solidFill>
                  <a:srgbClr val="FF0000"/>
                </a:solidFill>
                <a:latin typeface="맑은 고딕" pitchFamily="50" charset="-127"/>
                <a:ea typeface="맑은 고딕" pitchFamily="50" charset="-127"/>
              </a:rPr>
              <a:t>해외여행지에 가서 본인이 주로 하는 일들 묘사</a:t>
            </a:r>
            <a:endParaRPr lang="en-US" altLang="ko-KR" sz="1050" b="1" spc="-5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Talk about the things that you typically do</a:t>
            </a:r>
          </a:p>
          <a:p>
            <a:r>
              <a:rPr lang="en-US" altLang="ko-KR" sz="1100" b="0" i="0" u="none" strike="noStrike" kern="1200" baseline="0" dirty="0">
                <a:solidFill>
                  <a:srgbClr val="FF0000"/>
                </a:solidFill>
                <a:latin typeface="+mn-lt"/>
                <a:ea typeface="+mn-ea"/>
                <a:cs typeface="+mn-cs"/>
              </a:rPr>
              <a:t>when you visit another country or city overseas.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When I travel overseas, I like to go to tourist attractions.</a:t>
            </a:r>
          </a:p>
          <a:p>
            <a:pPr>
              <a:lnSpc>
                <a:spcPct val="150000"/>
              </a:lnSpc>
            </a:pPr>
            <a:r>
              <a:rPr lang="en-US" altLang="ko-KR" sz="1100" b="0" i="0" u="none" strike="noStrike" kern="1200" baseline="0" dirty="0">
                <a:solidFill>
                  <a:schemeClr val="tx1"/>
                </a:solidFill>
                <a:latin typeface="+mn-lt"/>
                <a:ea typeface="+mn-ea"/>
                <a:cs typeface="+mn-cs"/>
              </a:rPr>
              <a:t>I go to historic sites or landmarks in the country.</a:t>
            </a:r>
          </a:p>
          <a:p>
            <a:pPr>
              <a:lnSpc>
                <a:spcPct val="150000"/>
              </a:lnSpc>
            </a:pPr>
            <a:r>
              <a:rPr lang="en-US" altLang="ko-KR" sz="1100" b="0" i="0" u="none" strike="noStrike" kern="1200" baseline="0" dirty="0">
                <a:solidFill>
                  <a:schemeClr val="tx1"/>
                </a:solidFill>
                <a:latin typeface="+mn-lt"/>
                <a:ea typeface="+mn-ea"/>
                <a:cs typeface="+mn-cs"/>
              </a:rPr>
              <a:t>I take a lot of pictures there.</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Plus, I do a lot of shopping and buy some souvenirs.</a:t>
            </a:r>
          </a:p>
          <a:p>
            <a:pPr>
              <a:lnSpc>
                <a:spcPct val="150000"/>
              </a:lnSpc>
            </a:pPr>
            <a:r>
              <a:rPr lang="en-US" altLang="ko-KR" sz="1100" b="0" i="0" u="none" strike="noStrike" kern="1200" baseline="0" dirty="0">
                <a:solidFill>
                  <a:schemeClr val="tx1"/>
                </a:solidFill>
                <a:latin typeface="+mn-lt"/>
                <a:ea typeface="+mn-ea"/>
                <a:cs typeface="+mn-cs"/>
              </a:rPr>
              <a:t>Also, I go to duty free shops to get gifts.</a:t>
            </a:r>
          </a:p>
          <a:p>
            <a:pPr>
              <a:lnSpc>
                <a:spcPct val="150000"/>
              </a:lnSpc>
            </a:pPr>
            <a:r>
              <a:rPr lang="en-US" altLang="ko-KR" sz="1100" b="0" i="0" u="none" strike="noStrike" kern="1200" baseline="0" dirty="0">
                <a:solidFill>
                  <a:schemeClr val="tx1"/>
                </a:solidFill>
                <a:latin typeface="+mn-lt"/>
                <a:ea typeface="+mn-ea"/>
                <a:cs typeface="+mn-cs"/>
              </a:rPr>
              <a:t>Next, I go to nice restaurants to try the local food.</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So, these are the things I do when I travel overseas.</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910062"/>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04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처음으로 가본 해외 국가나 도시 묘사</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1" dirty="0">
                <a:solidFill>
                  <a:schemeClr val="tx2"/>
                </a:solidFill>
                <a:latin typeface="맑은 고딕" pitchFamily="50" charset="-127"/>
                <a:ea typeface="맑은 고딕" pitchFamily="50" charset="-127"/>
              </a:rPr>
              <a:t>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어렸을 때 가보았던 해외 국가 묘사</a:t>
            </a:r>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ko-KR" altLang="en-US" sz="1000" b="0" i="0" kern="1200" spc="-50" dirty="0">
                <a:solidFill>
                  <a:srgbClr val="0070C0"/>
                </a:solidFill>
                <a:effectLst/>
                <a:latin typeface="+mn-lt"/>
                <a:ea typeface="+mn-ea"/>
                <a:cs typeface="+mn-cs"/>
              </a:rPr>
              <a:t>당신의 첫 번째 다른 나라나 도시 여행에 대해 말해주세요</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언제 갔습니까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당신은 어디를 방문했나요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거기서 뭐 했어요</a:t>
            </a:r>
            <a:r>
              <a:rPr lang="en-US" altLang="ko-KR" sz="1000" b="0" i="0" kern="1200" dirty="0">
                <a:solidFill>
                  <a:srgbClr val="0070C0"/>
                </a:solidFill>
                <a:effectLst/>
                <a:latin typeface="+mn-lt"/>
                <a:ea typeface="+mn-ea"/>
                <a:cs typeface="+mn-cs"/>
              </a:rPr>
              <a:t>? </a:t>
            </a:r>
            <a:r>
              <a:rPr lang="ko-KR" altLang="en-US" sz="1000" b="0" i="0" kern="1200" dirty="0" err="1">
                <a:solidFill>
                  <a:srgbClr val="0070C0"/>
                </a:solidFill>
                <a:effectLst/>
                <a:latin typeface="+mn-lt"/>
                <a:ea typeface="+mn-ea"/>
                <a:cs typeface="+mn-cs"/>
              </a:rPr>
              <a:t>누구랑</a:t>
            </a:r>
            <a:r>
              <a:rPr lang="ko-KR" altLang="en-US" sz="1000" b="0" i="0" kern="1200" dirty="0">
                <a:solidFill>
                  <a:srgbClr val="0070C0"/>
                </a:solidFill>
                <a:effectLst/>
                <a:latin typeface="+mn-lt"/>
                <a:ea typeface="+mn-ea"/>
                <a:cs typeface="+mn-cs"/>
              </a:rPr>
              <a:t> 같이 </a:t>
            </a:r>
            <a:r>
              <a:rPr lang="ko-KR" altLang="en-US" sz="1000" b="0" i="0" kern="1200" dirty="0" err="1">
                <a:solidFill>
                  <a:srgbClr val="0070C0"/>
                </a:solidFill>
                <a:effectLst/>
                <a:latin typeface="+mn-lt"/>
                <a:ea typeface="+mn-ea"/>
                <a:cs typeface="+mn-cs"/>
              </a:rPr>
              <a:t>갔었어요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여행에 대해 자세히 말해 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어렸을 때 방문했던 다른 나라를 생각해보세요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나라가 어땠는지 자세히 묘사해 보세요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장소에 대한 당신의 인상은 어땠나요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태국에 간 것을 기억합니다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나의 첫번째 해외여행입니다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매우 재미있었습니다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우리가 도착했을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체크인을 하기위해 호텔로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곧바로 갔습니다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그리고 나서</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우리는 투어 하러 갔습니다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거기서 본 것에 대해 매우 재미있었습니다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또한 다양한 종류의 레스토랑에서 식사를 했던 것을 기억합니다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현지 음식은 이국적인 맛이 났습니다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뒤돌아 보면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여행이었습니다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endParaRPr lang="en-US" altLang="ko-KR" sz="1000" b="0" i="0" u="none" strike="noStrike" kern="1200" baseline="0" dirty="0">
              <a:solidFill>
                <a:schemeClr val="tx1"/>
              </a:solidFill>
              <a:latin typeface="+mn-lt"/>
              <a:ea typeface="+mn-ea"/>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987006"/>
          </a:xfrm>
          <a:prstGeom prst="rect">
            <a:avLst/>
          </a:prstGeom>
          <a:noFill/>
        </p:spPr>
        <p:txBody>
          <a:bodyPr wrap="square" rtlCol="0">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04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처음으로 가본 해외 국가나 도시 묘사</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1" dirty="0">
                <a:solidFill>
                  <a:schemeClr val="tx2"/>
                </a:solidFill>
                <a:latin typeface="맑은 고딕" pitchFamily="50" charset="-127"/>
                <a:ea typeface="맑은 고딕" pitchFamily="50" charset="-127"/>
              </a:rPr>
              <a:t>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어렸을 때 가보았던 해외 국가 묘사</a:t>
            </a:r>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mn-lt"/>
                <a:ea typeface="+mn-ea"/>
                <a:cs typeface="+mn-cs"/>
              </a:rPr>
              <a:t>Tell me about your first trip to another country or city.</a:t>
            </a:r>
          </a:p>
          <a:p>
            <a:r>
              <a:rPr lang="en-US" altLang="ko-KR" sz="1000" b="0" i="0" u="none" strike="noStrike" kern="1200" baseline="0" dirty="0">
                <a:solidFill>
                  <a:srgbClr val="FF0000"/>
                </a:solidFill>
                <a:latin typeface="+mn-lt"/>
                <a:ea typeface="+mn-ea"/>
                <a:cs typeface="+mn-cs"/>
              </a:rPr>
              <a:t>When did you go? Where did you visit?</a:t>
            </a:r>
          </a:p>
          <a:p>
            <a:r>
              <a:rPr lang="en-US" altLang="ko-KR" sz="1000" b="0" i="0" u="none" strike="noStrike" kern="1200" baseline="0" dirty="0">
                <a:solidFill>
                  <a:srgbClr val="FF0000"/>
                </a:solidFill>
                <a:latin typeface="+mn-lt"/>
                <a:ea typeface="+mn-ea"/>
                <a:cs typeface="+mn-cs"/>
              </a:rPr>
              <a:t>What did you do there? Who did you go with?</a:t>
            </a:r>
          </a:p>
          <a:p>
            <a:r>
              <a:rPr lang="en-US" altLang="ko-KR" sz="1000" b="0" i="0" u="none" strike="noStrike" kern="1200" baseline="0" dirty="0">
                <a:solidFill>
                  <a:srgbClr val="FF0000"/>
                </a:solidFill>
                <a:latin typeface="+mn-lt"/>
                <a:ea typeface="+mn-ea"/>
                <a:cs typeface="+mn-cs"/>
              </a:rPr>
              <a:t>Tell me about that trip with lots of details.</a:t>
            </a:r>
          </a:p>
          <a:p>
            <a:endParaRPr lang="en-US" altLang="ko-KR" sz="1000" b="0" i="0" u="none" strike="noStrike" kern="1200" baseline="0" dirty="0">
              <a:solidFill>
                <a:srgbClr val="FF0000"/>
              </a:solidFill>
              <a:latin typeface="+mn-lt"/>
              <a:ea typeface="+mn-ea"/>
              <a:cs typeface="+mn-cs"/>
            </a:endParaRPr>
          </a:p>
          <a:p>
            <a:r>
              <a:rPr lang="en-US" altLang="ko-KR" sz="1000" b="0" i="0" u="none" strike="noStrike" kern="1200" baseline="0" dirty="0">
                <a:solidFill>
                  <a:srgbClr val="FF0000"/>
                </a:solidFill>
                <a:latin typeface="+mn-lt"/>
                <a:ea typeface="+mn-ea"/>
                <a:cs typeface="+mn-cs"/>
              </a:rPr>
              <a:t>Think about another country that you visited when you were young.</a:t>
            </a:r>
          </a:p>
          <a:p>
            <a:r>
              <a:rPr lang="en-US" altLang="ko-KR" sz="1000" b="0" i="0" u="none" strike="noStrike" kern="1200" baseline="0" dirty="0">
                <a:solidFill>
                  <a:srgbClr val="FF0000"/>
                </a:solidFill>
                <a:latin typeface="+mn-lt"/>
                <a:ea typeface="+mn-ea"/>
                <a:cs typeface="+mn-cs"/>
              </a:rPr>
              <a:t>Describe what that country was like with lots of details.</a:t>
            </a:r>
          </a:p>
          <a:p>
            <a:r>
              <a:rPr lang="en-US" altLang="ko-KR" sz="1000" b="0" i="0" u="none" strike="noStrike" kern="1200" baseline="0" dirty="0">
                <a:solidFill>
                  <a:srgbClr val="FF0000"/>
                </a:solidFill>
                <a:latin typeface="+mn-lt"/>
                <a:ea typeface="+mn-ea"/>
                <a:cs typeface="+mn-cs"/>
              </a:rPr>
              <a:t>What was your impression of the place?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Thailand when I was a kid.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my first trip overseas, and I was very excited.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we arrived, we went straight to the hotel to check in.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And then, we went on a tour.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very amused by the things that I saw there.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also remember dining at various types of restaurants.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local food tasted exotic.</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trip.</a:t>
            </a:r>
          </a:p>
        </p:txBody>
      </p:sp>
    </p:spTree>
    <p:extLst>
      <p:ext uri="{BB962C8B-B14F-4D97-AF65-F5344CB8AC3E}">
        <p14:creationId xmlns:p14="http://schemas.microsoft.com/office/powerpoint/2010/main" val="142855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36</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36053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05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해외여행 중에 겪은 기억에 남는 에피소드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당신의 나라 밖으로 여행하고 있을 때 당신이 기억하는 특정한 사건에 대해 이야기하세요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아마도 재미있고</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흥미롭고</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무서운 일이 일어났을 것입니다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무슨 일이 있었는지 처음부터 끝까지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어떤 것을 먹은 기억이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여행동안 상한</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mn-lt"/>
                <a:ea typeface="+mn-ea"/>
                <a:cs typeface="+mn-cs"/>
              </a:rPr>
              <a:t>나는 식중독에 걸렸고 그것은 매우 나빴습니다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속이 뒤집혔습니다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나아지기 위해 조금의 약을 먹었습니다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안에 머물고 많은 휴식을 취해야 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 이후로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더 조심하려고 노력했습니다</a:t>
            </a:r>
            <a:r>
              <a:rPr lang="en-US" altLang="ko-KR" sz="1100" b="0" i="0" u="none" strike="noStrike" kern="1200" baseline="0" dirty="0">
                <a:solidFill>
                  <a:schemeClr val="tx1"/>
                </a:solidFill>
                <a:latin typeface="+mn-lt"/>
                <a:ea typeface="+mn-ea"/>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361445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05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해외여행 중에 겪은 기억에 남는 에피소드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 specific incident you remember while you were travelling outside your country.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Perhaps something happened that was funny, interesting, frightening, etc.</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what happened from beginning to end.</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I remember eating something that went bad during a trip overseas.</a:t>
            </a:r>
          </a:p>
          <a:p>
            <a:pPr>
              <a:lnSpc>
                <a:spcPct val="150000"/>
              </a:lnSpc>
            </a:pPr>
            <a:r>
              <a:rPr lang="en-US" altLang="ko-KR" sz="1100" b="0" i="0" u="none" strike="noStrike" kern="1200" baseline="0" dirty="0">
                <a:solidFill>
                  <a:schemeClr val="tx1"/>
                </a:solidFill>
                <a:latin typeface="+mn-lt"/>
                <a:ea typeface="+mn-ea"/>
                <a:cs typeface="+mn-cs"/>
              </a:rPr>
              <a:t>I got food poisoning and it was pretty bad.</a:t>
            </a:r>
          </a:p>
          <a:p>
            <a:pPr>
              <a:lnSpc>
                <a:spcPct val="150000"/>
              </a:lnSpc>
            </a:pPr>
            <a:r>
              <a:rPr lang="en-US" altLang="ko-KR" sz="1100" b="0" i="0" u="none" strike="noStrike" kern="1200" baseline="0" dirty="0">
                <a:solidFill>
                  <a:schemeClr val="tx1"/>
                </a:solidFill>
                <a:latin typeface="+mn-lt"/>
                <a:ea typeface="+mn-ea"/>
                <a:cs typeface="+mn-cs"/>
              </a:rPr>
              <a:t>I had an upset stomach.</a:t>
            </a:r>
          </a:p>
          <a:p>
            <a:pPr>
              <a:lnSpc>
                <a:spcPct val="150000"/>
              </a:lnSpc>
            </a:pPr>
            <a:r>
              <a:rPr lang="en-US" altLang="ko-KR" sz="1100" b="0" i="0" u="none" strike="noStrike" kern="1200" baseline="0" dirty="0">
                <a:solidFill>
                  <a:schemeClr val="tx1"/>
                </a:solidFill>
                <a:latin typeface="+mn-lt"/>
                <a:ea typeface="+mn-ea"/>
                <a:cs typeface="+mn-cs"/>
              </a:rPr>
              <a:t>I took some medicine to get better.</a:t>
            </a:r>
          </a:p>
          <a:p>
            <a:pPr>
              <a:lnSpc>
                <a:spcPct val="150000"/>
              </a:lnSpc>
            </a:pPr>
            <a:r>
              <a:rPr lang="en-US" altLang="ko-KR" sz="1100" b="0" i="0" u="none" strike="noStrike" kern="1200" baseline="0" dirty="0">
                <a:solidFill>
                  <a:schemeClr val="tx1"/>
                </a:solidFill>
                <a:latin typeface="+mn-lt"/>
                <a:ea typeface="+mn-ea"/>
                <a:cs typeface="+mn-cs"/>
              </a:rPr>
              <a:t>I had to stay inside and get a lot of rest.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Since then, I try to be more careful.</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32109102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873474"/>
            <a:ext cx="6858000" cy="3231654"/>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07 </a:t>
            </a:r>
            <a:r>
              <a:rPr lang="ko-KR" altLang="en-US" sz="5400" b="1">
                <a:solidFill>
                  <a:srgbClr val="FF0000"/>
                </a:solidFill>
                <a:latin typeface="맑은 고딕" pitchFamily="50" charset="-127"/>
                <a:ea typeface="맑은 고딕" pitchFamily="50" charset="-127"/>
              </a:rPr>
              <a:t>선택형 주제</a:t>
            </a:r>
            <a:endParaRPr lang="en-US" altLang="ko-KR" sz="5400" b="1">
              <a:solidFill>
                <a:srgbClr val="FF0000"/>
              </a:solidFill>
              <a:latin typeface="맑은 고딕" pitchFamily="50" charset="-127"/>
              <a:ea typeface="맑은 고딕" pitchFamily="50" charset="-127"/>
            </a:endParaRPr>
          </a:p>
          <a:p>
            <a:pPr algn="ctr">
              <a:lnSpc>
                <a:spcPct val="150000"/>
              </a:lnSpc>
            </a:pPr>
            <a:r>
              <a:rPr lang="en-US" altLang="ko-KR" sz="5400" b="1">
                <a:latin typeface="맑은 고딕" pitchFamily="50" charset="-127"/>
                <a:ea typeface="맑은 고딕" pitchFamily="50" charset="-127"/>
              </a:rPr>
              <a:t>Vacations at Home</a:t>
            </a:r>
          </a:p>
          <a:p>
            <a:pPr algn="ctr">
              <a:lnSpc>
                <a:spcPct val="150000"/>
              </a:lnSpc>
            </a:pPr>
            <a:r>
              <a:rPr lang="ko-KR" altLang="en-US" sz="2800" b="1">
                <a:solidFill>
                  <a:schemeClr val="tx2"/>
                </a:solidFill>
                <a:latin typeface="맑은 고딕" pitchFamily="50" charset="-127"/>
                <a:ea typeface="맑은 고딕" pitchFamily="50" charset="-127"/>
              </a:rPr>
              <a:t>집에서 보내는 휴가 </a:t>
            </a:r>
            <a:r>
              <a:rPr lang="ko-KR" altLang="en-US" sz="2800" b="1">
                <a:solidFill>
                  <a:schemeClr val="tx2"/>
                </a:solidFill>
                <a:latin typeface="맑은 고딕"/>
                <a:ea typeface="맑은 고딕"/>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387BD022-1BD1-2D5D-6223-A7CAFEC504E4}"/>
              </a:ext>
            </a:extLst>
          </p:cNvPr>
          <p:cNvSpPr>
            <a:spLocks noGrp="1"/>
          </p:cNvSpPr>
          <p:nvPr>
            <p:ph type="sldNum" sz="quarter" idx="12"/>
          </p:nvPr>
        </p:nvSpPr>
        <p:spPr/>
        <p:txBody>
          <a:bodyPr/>
          <a:lstStyle/>
          <a:p>
            <a:fld id="{18CC7079-95A2-4860-A138-51A9FC969471}" type="slidenum">
              <a:rPr lang="ko-KR" altLang="en-US" smtClean="0"/>
              <a:t>37</a:t>
            </a:fld>
            <a:endParaRPr lang="ko-KR" altLang="en-US"/>
          </a:p>
        </p:txBody>
      </p:sp>
    </p:spTree>
    <p:extLst>
      <p:ext uri="{BB962C8B-B14F-4D97-AF65-F5344CB8AC3E}">
        <p14:creationId xmlns:p14="http://schemas.microsoft.com/office/powerpoint/2010/main" val="18074508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38</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217565"/>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집에서 보내는 휴가 중 만나고 싶은 사람 묘사</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집에서 휴가를 보낸다고 표시했습니다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휴가 때 만나고 함께 시간을 보내는 사람들은 누구입니까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집에서 나의 휴가 동안</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종종 나의 친한 친구들을 만납니다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우리는 서로 어떻게 지내는지 물어보고</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조금의  밀렸던 얘기를 합니다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spc="-50" dirty="0">
                <a:solidFill>
                  <a:schemeClr val="tx1"/>
                </a:solidFill>
                <a:latin typeface="+mn-lt"/>
                <a:ea typeface="+mn-ea"/>
                <a:cs typeface="+mn-cs"/>
              </a:rPr>
              <a:t>게다가</a:t>
            </a:r>
            <a:r>
              <a:rPr lang="en-US" altLang="ko-KR" sz="1000" b="0" i="0" u="none" strike="noStrike" kern="1200" spc="-50" dirty="0">
                <a:solidFill>
                  <a:schemeClr val="tx1"/>
                </a:solidFill>
                <a:latin typeface="+mn-lt"/>
                <a:ea typeface="+mn-ea"/>
                <a:cs typeface="+mn-cs"/>
              </a:rPr>
              <a:t>, </a:t>
            </a:r>
            <a:r>
              <a:rPr lang="ko-KR" altLang="en-US" sz="1000" b="0" i="0" u="none" strike="noStrike" kern="1200" spc="-50" dirty="0">
                <a:solidFill>
                  <a:schemeClr val="tx1"/>
                </a:solidFill>
                <a:latin typeface="+mn-lt"/>
                <a:ea typeface="+mn-ea"/>
                <a:cs typeface="+mn-cs"/>
              </a:rPr>
              <a:t>우리는 우리의 일 혹은 경력에 관하여 이야기 합니다</a:t>
            </a:r>
            <a:r>
              <a:rPr lang="en-US" altLang="ko-KR" sz="1000" b="0" i="0" u="none" strike="noStrike" kern="1200" spc="-5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또한</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우리는 우리의 가족 </a:t>
            </a:r>
            <a:r>
              <a:rPr lang="ko-KR" altLang="en-US" sz="1000" b="0" i="0" u="none" strike="noStrike" kern="1200" baseline="0" dirty="0" err="1">
                <a:solidFill>
                  <a:schemeClr val="tx1"/>
                </a:solidFill>
                <a:latin typeface="+mn-lt"/>
                <a:ea typeface="+mn-ea"/>
                <a:cs typeface="+mn-cs"/>
              </a:rPr>
              <a:t>맴버들이나</a:t>
            </a:r>
            <a:r>
              <a:rPr lang="ko-KR" altLang="en-US" sz="1000" b="0" i="0" u="none" strike="noStrike" kern="1200" baseline="0" dirty="0">
                <a:solidFill>
                  <a:schemeClr val="tx1"/>
                </a:solidFill>
                <a:latin typeface="+mn-lt"/>
                <a:ea typeface="+mn-ea"/>
                <a:cs typeface="+mn-cs"/>
              </a:rPr>
              <a:t> 아이들에 관하여 이야기를 합니다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spc="-80" dirty="0">
                <a:solidFill>
                  <a:schemeClr val="tx1"/>
                </a:solidFill>
                <a:latin typeface="+mn-lt"/>
                <a:ea typeface="+mn-ea"/>
                <a:cs typeface="+mn-cs"/>
              </a:rPr>
              <a:t>게다가</a:t>
            </a:r>
            <a:r>
              <a:rPr lang="en-US" altLang="ko-KR" sz="1000" b="0" i="0" u="none" strike="noStrike" kern="1200" spc="-80" dirty="0">
                <a:solidFill>
                  <a:schemeClr val="tx1"/>
                </a:solidFill>
                <a:latin typeface="+mn-lt"/>
                <a:ea typeface="+mn-ea"/>
                <a:cs typeface="+mn-cs"/>
              </a:rPr>
              <a:t>, </a:t>
            </a:r>
            <a:r>
              <a:rPr lang="ko-KR" altLang="en-US" sz="1000" b="0" i="0" u="none" strike="noStrike" kern="1200" spc="-80" dirty="0">
                <a:solidFill>
                  <a:schemeClr val="tx1"/>
                </a:solidFill>
                <a:latin typeface="+mn-lt"/>
                <a:ea typeface="+mn-ea"/>
                <a:cs typeface="+mn-cs"/>
              </a:rPr>
              <a:t>우리는 우리의 같이 알고 지내는 친구를 이야기 합니다</a:t>
            </a:r>
            <a:r>
              <a:rPr lang="en-US" altLang="ko-KR" sz="1000" b="0" i="0" u="none" strike="noStrike" kern="1200" spc="-8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게다가</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우리는 최근에 우리가 보았는 영화에 관하여 이야기 합니다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spc="-50" dirty="0">
                <a:solidFill>
                  <a:schemeClr val="tx1"/>
                </a:solidFill>
                <a:latin typeface="+mn-lt"/>
                <a:ea typeface="+mn-ea"/>
                <a:cs typeface="+mn-cs"/>
              </a:rPr>
              <a:t>다음</a:t>
            </a:r>
            <a:r>
              <a:rPr lang="en-US" altLang="ko-KR" sz="1000" b="0" i="0" u="none" strike="noStrike" kern="1200" spc="-50" dirty="0">
                <a:solidFill>
                  <a:schemeClr val="tx1"/>
                </a:solidFill>
                <a:latin typeface="+mn-lt"/>
                <a:ea typeface="+mn-ea"/>
                <a:cs typeface="+mn-cs"/>
              </a:rPr>
              <a:t>, </a:t>
            </a:r>
            <a:r>
              <a:rPr lang="ko-KR" altLang="en-US" sz="1000" b="0" i="0" u="none" strike="noStrike" kern="1200" spc="-50" dirty="0">
                <a:solidFill>
                  <a:schemeClr val="tx1"/>
                </a:solidFill>
                <a:latin typeface="+mn-lt"/>
                <a:ea typeface="+mn-ea"/>
                <a:cs typeface="+mn-cs"/>
              </a:rPr>
              <a:t>우리는 우리가 갔던 모임들에 관하여 이야기 합니다</a:t>
            </a:r>
            <a:r>
              <a:rPr lang="en-US" altLang="ko-KR" sz="1000" b="0" i="0" u="none" strike="noStrike" kern="1200" spc="-5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그래서</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이것들은 내가 나의 친구들과 함께 한 일입니다</a:t>
            </a:r>
            <a:r>
              <a:rPr lang="en-US" altLang="ko-KR" sz="1000" b="0" i="0" u="none" strike="noStrike" kern="1200" baseline="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375590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집에서 보내는 휴가 중 만나고 싶은 사람 묘사</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You indicated that you take vacations at home.</a:t>
            </a:r>
          </a:p>
          <a:p>
            <a:r>
              <a:rPr lang="en-US" altLang="ko-KR" sz="1000" b="0" i="0" u="none" strike="noStrike" kern="1200" baseline="0" dirty="0">
                <a:solidFill>
                  <a:srgbClr val="FF0000"/>
                </a:solidFill>
                <a:latin typeface="+mn-lt"/>
                <a:ea typeface="+mn-ea"/>
                <a:cs typeface="+mn-cs"/>
              </a:rPr>
              <a:t>Who are the people you meet and spend time with on your vacations?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mn-lt"/>
                <a:ea typeface="+mn-ea"/>
                <a:cs typeface="+mn-cs"/>
              </a:rPr>
              <a:t>During my vacations at home, I often meet my close friends.</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We ask how each other is doing and do some catching up.</a:t>
            </a:r>
          </a:p>
          <a:p>
            <a:pPr>
              <a:lnSpc>
                <a:spcPct val="150000"/>
              </a:lnSpc>
            </a:pPr>
            <a:r>
              <a:rPr lang="en-US" altLang="ko-KR" sz="1000" b="0" i="0" u="none" strike="noStrike" kern="1200" baseline="0" dirty="0">
                <a:solidFill>
                  <a:schemeClr val="tx1"/>
                </a:solidFill>
                <a:latin typeface="+mn-lt"/>
                <a:ea typeface="+mn-ea"/>
                <a:cs typeface="+mn-cs"/>
              </a:rPr>
              <a:t>Plus, we talk about our work or careers.</a:t>
            </a:r>
          </a:p>
          <a:p>
            <a:pPr>
              <a:lnSpc>
                <a:spcPct val="150000"/>
              </a:lnSpc>
            </a:pPr>
            <a:r>
              <a:rPr lang="en-US" altLang="ko-KR" sz="1000" b="0" i="0" u="none" strike="noStrike" kern="1200" baseline="0" dirty="0">
                <a:solidFill>
                  <a:schemeClr val="tx1"/>
                </a:solidFill>
                <a:latin typeface="+mn-lt"/>
                <a:ea typeface="+mn-ea"/>
                <a:cs typeface="+mn-cs"/>
              </a:rPr>
              <a:t>Also, we talk about our family members or children.</a:t>
            </a:r>
          </a:p>
          <a:p>
            <a:pPr>
              <a:lnSpc>
                <a:spcPct val="150000"/>
              </a:lnSpc>
            </a:pPr>
            <a:r>
              <a:rPr lang="en-US" altLang="ko-KR" sz="1000" b="0" i="0" u="none" strike="noStrike" kern="1200" baseline="0" dirty="0">
                <a:solidFill>
                  <a:schemeClr val="tx1"/>
                </a:solidFill>
                <a:latin typeface="+mn-lt"/>
                <a:ea typeface="+mn-ea"/>
                <a:cs typeface="+mn-cs"/>
              </a:rPr>
              <a:t>Plus, we talk</a:t>
            </a:r>
            <a:r>
              <a:rPr lang="ko-KR" altLang="en-US" sz="1000" b="0" i="0" u="none" strike="noStrike" kern="1200" baseline="0" dirty="0">
                <a:solidFill>
                  <a:schemeClr val="tx1"/>
                </a:solidFill>
                <a:latin typeface="+mn-lt"/>
                <a:ea typeface="+mn-ea"/>
                <a:cs typeface="+mn-cs"/>
              </a:rPr>
              <a:t> </a:t>
            </a:r>
            <a:r>
              <a:rPr lang="en-US" altLang="ko-KR" sz="1000" b="0" i="0" u="none" strike="noStrike" kern="1200" baseline="0" dirty="0">
                <a:solidFill>
                  <a:schemeClr val="tx1"/>
                </a:solidFill>
                <a:latin typeface="+mn-lt"/>
                <a:ea typeface="+mn-ea"/>
                <a:cs typeface="+mn-cs"/>
              </a:rPr>
              <a:t>about our mutual friends.</a:t>
            </a:r>
          </a:p>
          <a:p>
            <a:pPr>
              <a:lnSpc>
                <a:spcPct val="150000"/>
              </a:lnSpc>
            </a:pPr>
            <a:r>
              <a:rPr lang="en-US" altLang="ko-KR" sz="1000" b="0" i="0" u="none" strike="noStrike" kern="1200" baseline="0" dirty="0">
                <a:solidFill>
                  <a:schemeClr val="tx1"/>
                </a:solidFill>
                <a:latin typeface="+mn-lt"/>
                <a:ea typeface="+mn-ea"/>
                <a:cs typeface="+mn-cs"/>
              </a:rPr>
              <a:t>Plus, we talk about movies we watched recently.</a:t>
            </a:r>
          </a:p>
          <a:p>
            <a:pPr>
              <a:lnSpc>
                <a:spcPct val="150000"/>
              </a:lnSpc>
            </a:pPr>
            <a:r>
              <a:rPr lang="en-US" altLang="ko-KR" sz="1000" b="0" i="0" u="none" strike="noStrike" kern="1200" baseline="0" dirty="0">
                <a:solidFill>
                  <a:schemeClr val="tx1"/>
                </a:solidFill>
                <a:latin typeface="+mn-lt"/>
                <a:ea typeface="+mn-ea"/>
                <a:cs typeface="+mn-cs"/>
              </a:rPr>
              <a:t>Next, we talk about gatherings we went to.</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So, these are the things I do with my friends.</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지난번 휴가 때 했던 일들 자세히 묘사</a:t>
            </a:r>
            <a:endParaRPr lang="en-US" altLang="ko-KR" sz="1000" b="1" baseline="0" dirty="0">
              <a:solidFill>
                <a:srgbClr val="FF0000"/>
              </a:solidFill>
              <a:latin typeface="맑은 고딕" pitchFamily="50" charset="-127"/>
              <a:ea typeface="맑은 고딕" pitchFamily="50" charset="-127"/>
            </a:endParaRPr>
          </a:p>
          <a:p>
            <a:pPr>
              <a:lnSpc>
                <a:spcPct val="150000"/>
              </a:lnSpc>
            </a:pPr>
            <a:r>
              <a:rPr lang="ko-KR" altLang="en-US" sz="1000" b="0" i="0" kern="1200" dirty="0">
                <a:solidFill>
                  <a:srgbClr val="0070C0"/>
                </a:solidFill>
                <a:effectLst/>
                <a:latin typeface="+mn-lt"/>
                <a:ea typeface="+mn-ea"/>
                <a:cs typeface="+mn-cs"/>
              </a:rPr>
              <a:t>당신이 지난 휴가 동안 집에서 무엇을 했는지 정확히 묘사 </a:t>
            </a:r>
            <a:r>
              <a:rPr lang="ko-KR" altLang="en-US" sz="1000" b="0" i="0" kern="1200" dirty="0" err="1">
                <a:solidFill>
                  <a:srgbClr val="0070C0"/>
                </a:solidFill>
                <a:effectLst/>
                <a:latin typeface="+mn-lt"/>
                <a:ea typeface="+mn-ea"/>
                <a:cs typeface="+mn-cs"/>
              </a:rPr>
              <a:t>하시오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첫날부터 마지막 날까지 무엇을 했는지 말해보세요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본 모든 사람들과 당신이 그들과 무엇을 했는지에 대해 이야기하세요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가족과 함께 영화를 본 것을 기억합니다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지난 휴가 동안</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영화를 보기 전에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팝콘과 청량음료를 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영화를 보고 난 후</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우리는 큰 멕시칸 레스토랑에 갔습니다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타운에서 베스트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타코를</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가졌습니다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주문한 새우는 즙이 많고 부드러웠습니다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식사와 함께 맥주를 마셨습니다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저녁식사였습니다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지난번 휴가 때 했던 일들 자세히 묘사</a:t>
            </a:r>
            <a:endParaRPr lang="en-US" altLang="ko-KR" sz="1000" b="1" baseline="0" dirty="0">
              <a:solidFill>
                <a:srgbClr val="FF0000"/>
              </a:solidFill>
              <a:latin typeface="맑은 고딕" pitchFamily="50" charset="-127"/>
              <a:ea typeface="맑은 고딕" pitchFamily="50" charset="-127"/>
            </a:endParaRPr>
          </a:p>
          <a:p>
            <a:pPr>
              <a:lnSpc>
                <a:spcPct val="150000"/>
              </a:lnSpc>
            </a:pPr>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exactly what you did during your last vacation at home.</a:t>
            </a:r>
          </a:p>
          <a:p>
            <a:pPr>
              <a:lnSpc>
                <a:spcPct val="150000"/>
              </a:lnSpc>
            </a:pPr>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what you did from the first to the last day.</a:t>
            </a:r>
          </a:p>
          <a:p>
            <a:pPr>
              <a:lnSpc>
                <a:spcPct val="150000"/>
              </a:lnSpc>
            </a:pPr>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all the people you saw and what you did with them.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watching a movie with my family during my last vacation.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Before watching the movie, we got some popcorn and soft drinks.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After watching the movie, we went to a great Mexican restaurant.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the best tacos in town.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shrimp I ordered was very juicy and tender.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had some beer with the meal.</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dinner.</a:t>
            </a:r>
          </a:p>
        </p:txBody>
      </p:sp>
    </p:spTree>
    <p:extLst>
      <p:ext uri="{BB962C8B-B14F-4D97-AF65-F5344CB8AC3E}">
        <p14:creationId xmlns:p14="http://schemas.microsoft.com/office/powerpoint/2010/main" val="3365458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39</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44517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집에서 보낸 휴가 중에 기억에 남는 경험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집에서 보낸 휴가 동안 겪었던 특이하거나 예상치 못한 경험에 대해 말해줄 수 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무슨 일입니까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누가 연루되었습니까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왜 이 경험이 그렇게 기억에 남았을까요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나는 상한 어떤 것을 먹</a:t>
            </a:r>
            <a:r>
              <a:rPr lang="ko-KR" altLang="en-US" sz="1100" dirty="0"/>
              <a:t>은 </a:t>
            </a:r>
            <a:r>
              <a:rPr lang="ko-KR" altLang="en-US" sz="1100" b="0" i="0" u="none" strike="noStrike" kern="1200" baseline="0" dirty="0">
                <a:solidFill>
                  <a:schemeClr val="tx1"/>
                </a:solidFill>
                <a:latin typeface="+mn-lt"/>
                <a:ea typeface="+mn-ea"/>
                <a:cs typeface="+mn-cs"/>
              </a:rPr>
              <a:t>것을 기억합니다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집에서 나의 휴가동안</a:t>
            </a:r>
            <a:r>
              <a:rPr lang="en-US" altLang="ko-KR" sz="1100" b="0" i="0" u="none" strike="noStrike" kern="1200" baseline="0" dirty="0">
                <a:solidFill>
                  <a:schemeClr val="tx1"/>
                </a:solidFill>
                <a:latin typeface="+mn-lt"/>
                <a:ea typeface="+mn-ea"/>
                <a:cs typeface="+mn-cs"/>
              </a:rPr>
              <a:t> </a:t>
            </a:r>
          </a:p>
          <a:p>
            <a:pPr>
              <a:lnSpc>
                <a:spcPct val="150000"/>
              </a:lnSpc>
            </a:pPr>
            <a:r>
              <a:rPr lang="ko-KR" altLang="en-US" sz="1100" b="0" i="0" u="none" strike="noStrike" kern="1200" baseline="0" dirty="0">
                <a:solidFill>
                  <a:schemeClr val="tx1"/>
                </a:solidFill>
                <a:latin typeface="+mn-lt"/>
                <a:ea typeface="+mn-ea"/>
                <a:cs typeface="+mn-cs"/>
              </a:rPr>
              <a:t>나는 식중독에 걸렸고 그것은 매우 나빴습니다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속이 뒤집혔습니다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나아지기 위해 조금의 약을 먹었습니다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안에 머물고 많은 휴식을 취해야 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 이후로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더 조심하려고 노력했습니다</a:t>
            </a:r>
            <a:r>
              <a:rPr lang="en-US" altLang="ko-KR" sz="1100" b="0" i="0" u="none" strike="noStrike" kern="1200" baseline="0" dirty="0">
                <a:solidFill>
                  <a:schemeClr val="tx1"/>
                </a:solidFill>
                <a:latin typeface="+mn-lt"/>
                <a:ea typeface="+mn-ea"/>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344517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집에서 보낸 휴가 중에 기억에 남는 경험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mn-lt"/>
                <a:ea typeface="+mn-ea"/>
                <a:cs typeface="+mn-cs"/>
              </a:rPr>
              <a:t>Could you tell me about an unusual or unexpected experience you had during a vacation you had at home?</a:t>
            </a:r>
          </a:p>
          <a:p>
            <a:r>
              <a:rPr lang="en-US" altLang="ko-KR" sz="1100" b="0" i="0" u="none" strike="noStrike" kern="1200" baseline="0" dirty="0">
                <a:solidFill>
                  <a:srgbClr val="FF0000"/>
                </a:solidFill>
                <a:latin typeface="+mn-lt"/>
                <a:ea typeface="+mn-ea"/>
                <a:cs typeface="+mn-cs"/>
              </a:rPr>
              <a:t>What happened? Who was involved?</a:t>
            </a:r>
          </a:p>
          <a:p>
            <a:r>
              <a:rPr lang="en-US" altLang="ko-KR" sz="1100" b="0" i="0" u="none" strike="noStrike" kern="1200" baseline="0" dirty="0">
                <a:solidFill>
                  <a:srgbClr val="FF0000"/>
                </a:solidFill>
                <a:latin typeface="+mn-lt"/>
                <a:ea typeface="+mn-ea"/>
                <a:cs typeface="+mn-cs"/>
              </a:rPr>
              <a:t>Why was this experience so memorable?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I remember eating something that went bad during my vacation at home.</a:t>
            </a:r>
          </a:p>
          <a:p>
            <a:pPr>
              <a:lnSpc>
                <a:spcPct val="150000"/>
              </a:lnSpc>
            </a:pPr>
            <a:r>
              <a:rPr lang="en-US" altLang="ko-KR" sz="1100" b="0" i="0" u="none" strike="noStrike" kern="1200" baseline="0" dirty="0">
                <a:solidFill>
                  <a:schemeClr val="tx1"/>
                </a:solidFill>
                <a:latin typeface="+mn-lt"/>
                <a:ea typeface="+mn-ea"/>
                <a:cs typeface="+mn-cs"/>
              </a:rPr>
              <a:t>I got food poisoning and it was pretty bad.</a:t>
            </a:r>
          </a:p>
          <a:p>
            <a:pPr>
              <a:lnSpc>
                <a:spcPct val="150000"/>
              </a:lnSpc>
            </a:pPr>
            <a:r>
              <a:rPr lang="en-US" altLang="ko-KR" sz="1100" b="0" i="0" u="none" strike="noStrike" kern="1200" baseline="0" dirty="0">
                <a:solidFill>
                  <a:schemeClr val="tx1"/>
                </a:solidFill>
                <a:latin typeface="+mn-lt"/>
                <a:ea typeface="+mn-ea"/>
                <a:cs typeface="+mn-cs"/>
              </a:rPr>
              <a:t>I had an upset stomach.</a:t>
            </a:r>
          </a:p>
          <a:p>
            <a:pPr>
              <a:lnSpc>
                <a:spcPct val="150000"/>
              </a:lnSpc>
            </a:pPr>
            <a:r>
              <a:rPr lang="en-US" altLang="ko-KR" sz="1100" b="0" i="0" u="none" strike="noStrike" kern="1200" baseline="0" dirty="0">
                <a:solidFill>
                  <a:schemeClr val="tx1"/>
                </a:solidFill>
                <a:latin typeface="+mn-lt"/>
                <a:ea typeface="+mn-ea"/>
                <a:cs typeface="+mn-cs"/>
              </a:rPr>
              <a:t>I took some medicine to get better.</a:t>
            </a:r>
          </a:p>
          <a:p>
            <a:pPr>
              <a:lnSpc>
                <a:spcPct val="150000"/>
              </a:lnSpc>
            </a:pPr>
            <a:r>
              <a:rPr lang="en-US" altLang="ko-KR" sz="1100" b="0" i="0" u="none" strike="noStrike" kern="1200" baseline="0" dirty="0">
                <a:solidFill>
                  <a:schemeClr val="tx1"/>
                </a:solidFill>
                <a:latin typeface="+mn-lt"/>
                <a:ea typeface="+mn-ea"/>
                <a:cs typeface="+mn-cs"/>
              </a:rPr>
              <a:t>I had to stay inside and get a lot of rest.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Since then, I tried to be more careful.</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2766382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364190"/>
            <a:ext cx="6858000" cy="5109091"/>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08 </a:t>
            </a:r>
            <a:r>
              <a:rPr lang="ko-KR" altLang="en-US" sz="5400" b="1">
                <a:solidFill>
                  <a:srgbClr val="FF0000"/>
                </a:solidFill>
                <a:latin typeface="맑은 고딕" pitchFamily="50" charset="-127"/>
                <a:ea typeface="맑은 고딕" pitchFamily="50" charset="-127"/>
              </a:rPr>
              <a:t>선택형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Parks</a:t>
            </a:r>
          </a:p>
          <a:p>
            <a:pPr algn="ctr"/>
            <a:r>
              <a:rPr lang="en-US" altLang="ko-KR" sz="5400" b="1">
                <a:latin typeface="맑은 고딕" pitchFamily="50" charset="-127"/>
                <a:ea typeface="맑은 고딕" pitchFamily="50" charset="-127"/>
              </a:rPr>
              <a:t>Walking</a:t>
            </a:r>
          </a:p>
          <a:p>
            <a:pPr algn="ctr"/>
            <a:endParaRPr lang="en-US" altLang="ko-KR" sz="5400" b="1">
              <a:solidFill>
                <a:schemeClr val="tx2"/>
              </a:solidFill>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공원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r>
              <a:rPr lang="ko-KR" altLang="en-US" sz="2800" b="1">
                <a:solidFill>
                  <a:schemeClr val="tx2"/>
                </a:solidFill>
              </a:rPr>
              <a:t>걷기 ★</a:t>
            </a:r>
            <a:endParaRPr lang="en-US" altLang="ko-KR" sz="2800" b="1">
              <a:solidFill>
                <a:schemeClr val="tx2"/>
              </a:solidFill>
            </a:endParaRPr>
          </a:p>
        </p:txBody>
      </p:sp>
      <p:sp>
        <p:nvSpPr>
          <p:cNvPr id="3" name="슬라이드 번호 개체 틀 2">
            <a:extLst>
              <a:ext uri="{FF2B5EF4-FFF2-40B4-BE49-F238E27FC236}">
                <a16:creationId xmlns:a16="http://schemas.microsoft.com/office/drawing/2014/main" xmlns="" id="{D0C0D042-9CB8-768C-E485-6FB18B4DDA9E}"/>
              </a:ext>
            </a:extLst>
          </p:cNvPr>
          <p:cNvSpPr>
            <a:spLocks noGrp="1"/>
          </p:cNvSpPr>
          <p:nvPr>
            <p:ph type="sldNum" sz="quarter" idx="12"/>
          </p:nvPr>
        </p:nvSpPr>
        <p:spPr/>
        <p:txBody>
          <a:bodyPr/>
          <a:lstStyle/>
          <a:p>
            <a:fld id="{18CC7079-95A2-4860-A138-51A9FC969471}" type="slidenum">
              <a:rPr lang="ko-KR" altLang="en-US" smtClean="0"/>
              <a:t>40</a:t>
            </a:fld>
            <a:endParaRPr lang="ko-KR" altLang="en-US"/>
          </a:p>
        </p:txBody>
      </p:sp>
    </p:spTree>
    <p:extLst>
      <p:ext uri="{BB962C8B-B14F-4D97-AF65-F5344CB8AC3E}">
        <p14:creationId xmlns:p14="http://schemas.microsoft.com/office/powerpoint/2010/main" val="645285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41</a:t>
            </a:fld>
            <a:endParaRPr lang="ko-KR" altLang="en-US"/>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즐겨 가는 공원들 묘사     </a:t>
            </a:r>
            <a:endParaRPr lang="en-US" altLang="ko-KR" sz="1000" b="1" baseline="0" dirty="0">
              <a:solidFill>
                <a:srgbClr val="FF0000"/>
              </a:solidFill>
              <a:latin typeface="맑은 고딕" pitchFamily="50" charset="-127"/>
              <a:ea typeface="맑은 고딕" pitchFamily="50" charset="-127"/>
            </a:endParaRPr>
          </a:p>
          <a:p>
            <a:pPr latinLnBrk="1">
              <a:lnSpc>
                <a:spcPct val="100000"/>
              </a:lnSpc>
            </a:pPr>
            <a:r>
              <a:rPr lang="en-US" altLang="ko-KR" sz="1000" b="1" dirty="0">
                <a:solidFill>
                  <a:schemeClr val="tx2"/>
                </a:solidFill>
                <a:latin typeface="맑은 고딕" pitchFamily="50" charset="-127"/>
                <a:ea typeface="맑은 고딕" pitchFamily="50" charset="-127"/>
              </a:rPr>
              <a:t>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본인의 평상시 산책 습관 묘사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설문조사에서 어른들과 공원에 간다고 말했습니다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방문하고 싶은 공원에 대해 말해주세요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그들은 어떤 사람이고 무엇이 특별한가요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당신은 설문조사에서 산책하는 것을 좋아한다고 말했습니다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산책할 때 하는 일에 대해 이야기하세요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주로 어디를 가고 산책을 하고 나면 기분이 어떻습니까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집 근처에 작은 공원이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거기에서 산책하거나 약간의 운동을 할 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훨씬 더 큰 공원이 하나 더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강을 따라 있는 강변 공원입니다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멋진 경치를 즐길 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거기를 산책할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공원에는 몇몇 조각품과 분수들이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캠핑장과 야외 수영장들 또한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산책하는 공원들입니다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4571508"/>
          </a:xfrm>
          <a:prstGeom prst="rect">
            <a:avLst/>
          </a:prstGeom>
          <a:noFill/>
        </p:spPr>
        <p:txBody>
          <a:bodyPr wrap="square" rtlCol="0">
            <a:spAutoFit/>
          </a:bodyPr>
          <a:lstStyle/>
          <a:p>
            <a:pPr latinLnBrk="1">
              <a:lnSpc>
                <a:spcPct val="100000"/>
              </a:lnSpc>
            </a:pPr>
            <a:r>
              <a:rPr lang="en-US" altLang="ko-KR" sz="900" b="1" dirty="0">
                <a:solidFill>
                  <a:schemeClr val="tx2"/>
                </a:solidFill>
                <a:latin typeface="맑은 고딕" pitchFamily="50" charset="-127"/>
                <a:ea typeface="맑은 고딕" pitchFamily="50" charset="-127"/>
              </a:rPr>
              <a:t>01 [Int]</a:t>
            </a:r>
            <a:r>
              <a:rPr lang="en-US" altLang="ko-KR" sz="900" b="1" baseline="0" dirty="0">
                <a:solidFill>
                  <a:schemeClr val="tx2"/>
                </a:solidFill>
                <a:latin typeface="맑은 고딕" pitchFamily="50" charset="-127"/>
                <a:ea typeface="맑은 고딕" pitchFamily="50" charset="-127"/>
              </a:rPr>
              <a:t> </a:t>
            </a:r>
            <a:r>
              <a:rPr lang="ko-KR" altLang="en-US" sz="900" b="1" baseline="0" dirty="0">
                <a:solidFill>
                  <a:srgbClr val="FF0000"/>
                </a:solidFill>
                <a:latin typeface="맑은 고딕" pitchFamily="50" charset="-127"/>
                <a:ea typeface="맑은 고딕" pitchFamily="50" charset="-127"/>
              </a:rPr>
              <a:t>본인이 즐겨 가는 공원들 묘사     </a:t>
            </a:r>
            <a:endParaRPr lang="en-US" altLang="ko-KR" sz="900" b="1" baseline="0" dirty="0">
              <a:solidFill>
                <a:srgbClr val="FF0000"/>
              </a:solidFill>
              <a:latin typeface="맑은 고딕" pitchFamily="50" charset="-127"/>
              <a:ea typeface="맑은 고딕" pitchFamily="50" charset="-127"/>
            </a:endParaRPr>
          </a:p>
          <a:p>
            <a:pPr latinLnBrk="1">
              <a:lnSpc>
                <a:spcPct val="100000"/>
              </a:lnSpc>
            </a:pPr>
            <a:r>
              <a:rPr lang="en-US" altLang="ko-KR" sz="900" b="1" dirty="0">
                <a:solidFill>
                  <a:schemeClr val="tx2"/>
                </a:solidFill>
                <a:latin typeface="맑은 고딕" pitchFamily="50" charset="-127"/>
                <a:ea typeface="맑은 고딕" pitchFamily="50" charset="-127"/>
              </a:rPr>
              <a:t>    [Int]</a:t>
            </a:r>
            <a:r>
              <a:rPr lang="en-US" altLang="ko-KR" sz="900" b="1" baseline="0" dirty="0">
                <a:solidFill>
                  <a:schemeClr val="tx2"/>
                </a:solidFill>
                <a:latin typeface="맑은 고딕" pitchFamily="50" charset="-127"/>
                <a:ea typeface="맑은 고딕" pitchFamily="50" charset="-127"/>
              </a:rPr>
              <a:t> </a:t>
            </a:r>
            <a:r>
              <a:rPr lang="ko-KR" altLang="en-US" sz="900" b="1" baseline="0" dirty="0">
                <a:solidFill>
                  <a:srgbClr val="FF0000"/>
                </a:solidFill>
                <a:latin typeface="맑은 고딕" pitchFamily="50" charset="-127"/>
                <a:ea typeface="맑은 고딕" pitchFamily="50" charset="-127"/>
              </a:rPr>
              <a:t>본인의 평상시 산책 습관 묘사           </a:t>
            </a:r>
            <a:endParaRPr lang="en-US" altLang="ko-KR" sz="9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indicated in the survey that you go to parks with adults.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parks that you like to visit.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are they like and what is special about them?</a:t>
            </a:r>
          </a:p>
          <a:p>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mn-lt"/>
                <a:ea typeface="+mn-ea"/>
                <a:cs typeface="+mn-cs"/>
              </a:rPr>
              <a:t>You indicated in the survey that you like to take walks.</a:t>
            </a:r>
          </a:p>
          <a:p>
            <a:r>
              <a:rPr lang="en-US" altLang="ko-KR" sz="1000" b="0" i="0" u="none" strike="noStrike" kern="1200" baseline="0" dirty="0">
                <a:solidFill>
                  <a:srgbClr val="FF0000"/>
                </a:solidFill>
                <a:latin typeface="+mn-lt"/>
                <a:ea typeface="+mn-ea"/>
                <a:cs typeface="+mn-cs"/>
              </a:rPr>
              <a:t>Talk about the things you do when you go for walks.</a:t>
            </a:r>
          </a:p>
          <a:p>
            <a:r>
              <a:rPr lang="en-US" altLang="ko-KR" sz="1000" b="0" i="0" u="none" strike="noStrike" kern="1200" baseline="0" dirty="0">
                <a:solidFill>
                  <a:srgbClr val="FF0000"/>
                </a:solidFill>
                <a:latin typeface="+mn-lt"/>
                <a:ea typeface="+mn-ea"/>
                <a:cs typeface="+mn-cs"/>
              </a:rPr>
              <a:t>Where do you normally go and how do you feel after taking walks?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a small park near my home.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can take walks or get some exercise there.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Meanwhile, there is another park that is much bigger.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a riverside park along the river.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can enjoy the nice view when I take walks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some sculptures and fountains at that park.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also some camping grounds and outdoor swimming pools.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parks where I take walks.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122282"/>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02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공원에 가서 주로 하는 활동</a:t>
            </a:r>
            <a:r>
              <a:rPr lang="en-US" altLang="ko-KR" sz="1100" b="1" spc="-50" baseline="0" dirty="0">
                <a:solidFill>
                  <a:srgbClr val="FF0000"/>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보는 것들 묘사</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spc="-60" baseline="0" dirty="0">
                <a:solidFill>
                  <a:srgbClr val="0070C0"/>
                </a:solidFill>
                <a:effectLst/>
                <a:latin typeface="+mn-lt"/>
                <a:ea typeface="+mn-ea"/>
                <a:cs typeface="+mn-cs"/>
              </a:rPr>
              <a:t>공원을 방문하는 것이 당신에게 어떤 전형적인지를 묘사 </a:t>
            </a:r>
            <a:r>
              <a:rPr lang="ko-KR" altLang="en-US" sz="1100" b="0" i="0" kern="1200" spc="-60" baseline="0" dirty="0" err="1">
                <a:solidFill>
                  <a:srgbClr val="0070C0"/>
                </a:solidFill>
                <a:effectLst/>
                <a:latin typeface="+mn-lt"/>
                <a:ea typeface="+mn-ea"/>
                <a:cs typeface="+mn-cs"/>
              </a:rPr>
              <a:t>하시오</a:t>
            </a:r>
            <a:r>
              <a:rPr lang="en-US" altLang="ko-KR" sz="1100" b="0" i="0" kern="1200" spc="-60" baseline="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공원에서 하고 보는 것들에 대해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바람을 쐬기 위해 공원에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공원에서 산책을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거기에서 나의 개와 걷습니다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때때로 벤치에 앉아서 휴식을 취합니다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단지 미풍을 즐깁니다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단지 나무와 꽃들을 즐깁니다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가끔 공원에서 사진을 찍습니다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종종 공원에서 하는 일들입니다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614451"/>
          </a:xfrm>
          <a:prstGeom prst="rect">
            <a:avLst/>
          </a:prstGeom>
          <a:noFill/>
        </p:spPr>
        <p:txBody>
          <a:bodyPr wrap="square" rtlCol="0">
            <a:spAutoFit/>
          </a:bodyPr>
          <a:lstStyle/>
          <a:p>
            <a:pPr latinLnBrk="1">
              <a:lnSpc>
                <a:spcPct val="100000"/>
              </a:lnSpc>
            </a:pPr>
            <a:r>
              <a:rPr lang="en-US" altLang="ko-KR" sz="1100" b="1" kern="0" spc="-100" dirty="0">
                <a:solidFill>
                  <a:schemeClr val="tx2"/>
                </a:solidFill>
                <a:latin typeface="맑은 고딕" pitchFamily="50" charset="-127"/>
                <a:ea typeface="맑은 고딕" pitchFamily="50" charset="-127"/>
              </a:rPr>
              <a:t>02 [Int]</a:t>
            </a:r>
            <a:r>
              <a:rPr lang="en-US" altLang="ko-KR" sz="1100" b="1" kern="0" spc="-100" baseline="0" dirty="0">
                <a:solidFill>
                  <a:schemeClr val="tx2"/>
                </a:solidFill>
                <a:latin typeface="맑은 고딕" pitchFamily="50" charset="-127"/>
                <a:ea typeface="맑은 고딕" pitchFamily="50" charset="-127"/>
              </a:rPr>
              <a:t> </a:t>
            </a:r>
            <a:r>
              <a:rPr lang="ko-KR" altLang="en-US" sz="1100" b="1" kern="0" spc="-100" baseline="0" dirty="0">
                <a:solidFill>
                  <a:srgbClr val="FF0000"/>
                </a:solidFill>
                <a:latin typeface="맑은 고딕" pitchFamily="50" charset="-127"/>
                <a:ea typeface="맑은 고딕" pitchFamily="50" charset="-127"/>
              </a:rPr>
              <a:t>공원에 가서 주로 하는 활동</a:t>
            </a:r>
            <a:r>
              <a:rPr lang="en-US" altLang="ko-KR" sz="1100" b="1" kern="0" spc="-100" baseline="0" dirty="0">
                <a:solidFill>
                  <a:srgbClr val="FF0000"/>
                </a:solidFill>
                <a:latin typeface="맑은 고딕" pitchFamily="50" charset="-127"/>
                <a:ea typeface="맑은 고딕" pitchFamily="50" charset="-127"/>
              </a:rPr>
              <a:t>, </a:t>
            </a:r>
            <a:r>
              <a:rPr lang="ko-KR" altLang="en-US" sz="1100" b="1" kern="0" spc="-100" baseline="0" dirty="0">
                <a:solidFill>
                  <a:srgbClr val="FF0000"/>
                </a:solidFill>
                <a:latin typeface="맑은 고딕" pitchFamily="50" charset="-127"/>
                <a:ea typeface="맑은 고딕" pitchFamily="50" charset="-127"/>
              </a:rPr>
              <a:t>보는 것들 묘사</a:t>
            </a:r>
            <a:endParaRPr lang="en-US" altLang="ko-KR" sz="1100" b="1" kern="0" spc="-10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what a typical visit to the park is like for you.</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things you do and see at parks.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often go to parks to get some air.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take walks at the park.</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sometimes walk my dog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sit on a bench and relax.</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sometimes just enjoy the breeze.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just enjoy the trees and flowers.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take pictures at the park from time to time.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I often do at parks.</a:t>
            </a:r>
          </a:p>
        </p:txBody>
      </p:sp>
    </p:spTree>
    <p:extLst>
      <p:ext uri="{BB962C8B-B14F-4D97-AF65-F5344CB8AC3E}">
        <p14:creationId xmlns:p14="http://schemas.microsoft.com/office/powerpoint/2010/main" val="39552480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42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4547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가장 최근에 공원에 가서 했던 일 묘사     </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r>
              <a:rPr lang="en-US" altLang="ko-KR" sz="1100" b="1" dirty="0">
                <a:solidFill>
                  <a:schemeClr val="tx2"/>
                </a:solidFill>
                <a:latin typeface="맑은 고딕" pitchFamily="50" charset="-127"/>
                <a:ea typeface="맑은 고딕" pitchFamily="50" charset="-127"/>
              </a:rPr>
              <a:t>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최근 산책 경험 묘사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마지막으로 공원에 갔던 때를 말해 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어느 공원이었죠</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당신은 언제 갔습니까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공원에 도착한 순간부터 출발할 때까지 한 일을 모두 말해보세요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마지막으로 산책을 나갔던 때를 말해 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어디에 갔었고 무슨 일이 있었습니까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산책을 위해 무엇을 준비했습니까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끝나고 나서 뭐 했어요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최근에 산책을 하러 공원에 갔던 것을 기억 납니다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저녁식사 후 나의 가족과 함께 거기에 갔습니다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조금의 운동을 할 수 있으며</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칼로리를 조금 태울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걷기 후에 매우 좋음을 느낍니다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공원은 운동을 위한 좋은 장소라고</a:t>
            </a:r>
            <a:endPar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최근 공원에서 했던 것입니다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454547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가장 최근에 공원에 가서 했던 일 묘사     </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r>
              <a:rPr lang="en-US" altLang="ko-KR" sz="1100" b="1" dirty="0">
                <a:solidFill>
                  <a:schemeClr val="tx2"/>
                </a:solidFill>
                <a:latin typeface="맑은 고딕" pitchFamily="50" charset="-127"/>
                <a:ea typeface="맑은 고딕" pitchFamily="50" charset="-127"/>
              </a:rPr>
              <a:t>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최근 산책 경험 묘사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last time you went to a park.</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Which park was it? When was it that you went?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you did from the moment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arrived at the park to the time you left.</a:t>
            </a:r>
          </a:p>
          <a:p>
            <a:endPar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last time you went for a walk.</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Where did you go to and what happened?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you do to prepare for the walk?</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you do after you were done?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I remember going to the park to take a walk recently.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there with my family after dinner.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able to get some exercise and burn some calories.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very good after the walk.</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parks are great places for exercise.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I did at the park recently.</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54547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공원에서</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기억에 남는 에피소드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공원에서 겪었던 기억에 남는 사건에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baseline="0" dirty="0">
                <a:solidFill>
                  <a:srgbClr val="0070C0"/>
                </a:solidFill>
                <a:effectLst/>
                <a:latin typeface="+mn-lt"/>
                <a:ea typeface="+mn-ea"/>
                <a:cs typeface="+mn-cs"/>
              </a:rPr>
              <a:t>특별한 일이 있었거나</a:t>
            </a:r>
            <a:r>
              <a:rPr lang="en-US" altLang="ko-KR" sz="1100" b="0" i="0" kern="1200" spc="-50" baseline="0" dirty="0">
                <a:solidFill>
                  <a:srgbClr val="0070C0"/>
                </a:solidFill>
                <a:effectLst/>
                <a:latin typeface="+mn-lt"/>
                <a:ea typeface="+mn-ea"/>
                <a:cs typeface="+mn-cs"/>
              </a:rPr>
              <a:t>, </a:t>
            </a:r>
            <a:r>
              <a:rPr lang="ko-KR" altLang="en-US" sz="1100" b="0" i="0" kern="1200" spc="-50" baseline="0" dirty="0">
                <a:solidFill>
                  <a:srgbClr val="0070C0"/>
                </a:solidFill>
                <a:effectLst/>
                <a:latin typeface="+mn-lt"/>
                <a:ea typeface="+mn-ea"/>
                <a:cs typeface="+mn-cs"/>
              </a:rPr>
              <a:t>예상치 못한 일이 생겼을 수도 있습니다</a:t>
            </a:r>
            <a:r>
              <a:rPr lang="en-US" altLang="ko-KR" sz="1100" b="0" i="0" kern="1200" spc="-50" baseline="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배경을 설명하면서 시작하세요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그리고 나서</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무슨 일이 일어났는지에 대한 모든 세부 사항을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공원에서 나의 이웃과 마주친 것을 기억 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조금의 운동을 하기 위해 산책을 하고 있었습니다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거기서 나의 이웃을 보았습니다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그에게 갔고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hi</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라고 말했습니다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그를 보게 되어서 매우 행복했습니다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서로 어떻게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지내냐고</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물어 보았고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조금의 밀린 이야기를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내가 기억하는 사건이었습니다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0705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공원에서</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기억에 남는 에피소드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memorable incident you had at the park.</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Maybe there was a special event going 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or maybe something unexpected happened.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Start by giving me some background.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And then, give me all the details about what happened.</a:t>
            </a:r>
            <a:endParaRPr lang="en-US" altLang="ko-KR" sz="1100" b="0" baseline="0" dirty="0">
              <a:solidFill>
                <a:srgbClr val="FF0000"/>
              </a:solidFill>
              <a:latin typeface="맑은 고딕" pitchFamily="50" charset="-127"/>
              <a:ea typeface="맑은 고딕" pitchFamily="50" charset="-127"/>
            </a:endParaRPr>
          </a:p>
          <a:p>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bumping into my neighbor at a park.</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taking a walk to get some exercise.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Suddenly, I saw my neighbor there. I went to him and said hi.</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very happy to see him.</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asked how each other was doing and did some catching up.</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was the incident I remember.</a:t>
            </a:r>
          </a:p>
        </p:txBody>
      </p:sp>
    </p:spTree>
    <p:extLst>
      <p:ext uri="{BB962C8B-B14F-4D97-AF65-F5344CB8AC3E}">
        <p14:creationId xmlns:p14="http://schemas.microsoft.com/office/powerpoint/2010/main" val="28431606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43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84029"/>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05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공원에 처음 가기 시작한 계기와 이유 변화     </a:t>
            </a:r>
            <a:endParaRPr lang="en-US" altLang="ko-KR" sz="1100" b="1" spc="-50" baseline="0" dirty="0">
              <a:solidFill>
                <a:srgbClr val="FF0000"/>
              </a:solidFill>
              <a:latin typeface="맑은 고딕" pitchFamily="50" charset="-127"/>
              <a:ea typeface="맑은 고딕" pitchFamily="50" charset="-127"/>
            </a:endParaRPr>
          </a:p>
          <a:p>
            <a:pPr latinLnBrk="1">
              <a:lnSpc>
                <a:spcPct val="100000"/>
              </a:lnSpc>
            </a:pPr>
            <a:r>
              <a:rPr lang="en-US" altLang="ko-KR" sz="1100" b="1" dirty="0">
                <a:solidFill>
                  <a:schemeClr val="tx2"/>
                </a:solidFill>
                <a:latin typeface="맑은 고딕" pitchFamily="50" charset="-127"/>
                <a:ea typeface="맑은 고딕" pitchFamily="50" charset="-127"/>
              </a:rPr>
              <a:t>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처음으로 산책을 하게 된 계기와 이유 변화 설명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어떻게 공원에 처음 가게 되었나요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애초에 공원을 방문하게 된 계기는 무엇인가요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왜 지금 공원에 가나요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이제</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애초에 왜 산책을 시작했는지 말해보세요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지난 몇 년 동안 산책에 대한 관심이 어떻게 변했나요</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왜 지금은 산책을 </a:t>
            </a:r>
            <a:r>
              <a:rPr lang="ko-KR" altLang="en-US" sz="1100" dirty="0">
                <a:solidFill>
                  <a:srgbClr val="0070C0"/>
                </a:solidFill>
              </a:rPr>
              <a:t>하</a:t>
            </a:r>
            <a:r>
              <a:rPr lang="ko-KR" altLang="en-US" sz="1100" b="0" i="0" kern="1200" dirty="0">
                <a:solidFill>
                  <a:srgbClr val="0070C0"/>
                </a:solidFill>
                <a:effectLst/>
                <a:latin typeface="+mn-lt"/>
                <a:ea typeface="+mn-ea"/>
                <a:cs typeface="+mn-cs"/>
              </a:rPr>
              <a:t>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처음 바람을 쐬기 위해 공원에 가기 시작했습니다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거기에서 나무와 꽃들을 즐기곤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미풍을 즐기기 위해 벤치에 앉아 있곤 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요즈음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조금의 운동을 하기 위해 공원을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baseline="0" dirty="0">
                <a:solidFill>
                  <a:schemeClr val="tx1"/>
                </a:solidFill>
                <a:latin typeface="맑은 고딕" panose="020B0503020000020004" pitchFamily="50" charset="-127"/>
                <a:ea typeface="맑은 고딕" panose="020B0503020000020004" pitchFamily="50" charset="-127"/>
                <a:cs typeface="+mn-cs"/>
              </a:rPr>
              <a:t>나는 산책을 하기 위해 거기에 갑니다</a:t>
            </a:r>
            <a:r>
              <a:rPr lang="en-US" altLang="ko-KR" sz="1100" b="0" i="0" u="none" strike="noStrike" kern="1200" spc="-5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baseline="0" dirty="0">
                <a:solidFill>
                  <a:schemeClr val="tx1"/>
                </a:solidFill>
                <a:latin typeface="맑은 고딕" panose="020B0503020000020004" pitchFamily="50" charset="-127"/>
                <a:ea typeface="맑은 고딕" panose="020B0503020000020004" pitchFamily="50" charset="-127"/>
                <a:cs typeface="+mn-cs"/>
              </a:rPr>
              <a:t>내가 할 수 있을 때마다</a:t>
            </a:r>
            <a:endParaRPr lang="en-US" altLang="ko-KR" sz="1100" b="0" i="0" u="none" strike="noStrike" kern="1200" spc="-5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산책한 후에 매우 좋음을 느낍니다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8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80" dirty="0">
                <a:solidFill>
                  <a:schemeClr val="tx1"/>
                </a:solidFill>
                <a:latin typeface="맑은 고딕" panose="020B0503020000020004" pitchFamily="50" charset="-127"/>
                <a:ea typeface="맑은 고딕" panose="020B0503020000020004" pitchFamily="50" charset="-127"/>
                <a:cs typeface="+mn-cs"/>
              </a:rPr>
              <a:t>이것은 내가 공원에서 산책을 시작한 이유입니다</a:t>
            </a:r>
            <a:r>
              <a:rPr lang="en-US" altLang="ko-KR" sz="1100" b="0" i="0" u="none" strike="noStrike" kern="1200" spc="-8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4884029"/>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05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공원에 처음 가기 시작한 계기와 이유 변화     </a:t>
            </a:r>
            <a:endParaRPr lang="en-US" altLang="ko-KR" sz="1100" b="1" spc="-50" baseline="0" dirty="0">
              <a:solidFill>
                <a:srgbClr val="FF0000"/>
              </a:solidFill>
              <a:latin typeface="맑은 고딕" pitchFamily="50" charset="-127"/>
              <a:ea typeface="맑은 고딕" pitchFamily="50" charset="-127"/>
            </a:endParaRPr>
          </a:p>
          <a:p>
            <a:pPr latinLnBrk="1">
              <a:lnSpc>
                <a:spcPct val="100000"/>
              </a:lnSpc>
            </a:pPr>
            <a:r>
              <a:rPr lang="en-US" altLang="ko-KR" sz="1100" b="1" dirty="0">
                <a:solidFill>
                  <a:schemeClr val="tx2"/>
                </a:solidFill>
                <a:latin typeface="맑은 고딕" pitchFamily="50" charset="-127"/>
                <a:ea typeface="맑은 고딕" pitchFamily="50" charset="-127"/>
              </a:rPr>
              <a:t>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처음으로 산책을 하게 된 계기와 이유 변화 설명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did you first start going to parks?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made you visit parks in the first place?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Why do you go to parks now?</a:t>
            </a:r>
          </a:p>
          <a:p>
            <a:endPar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Now, tell me why you started to take walks in the first place.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has your interest in taking walks changed over the years?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Why do you take walks now?</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first started to go to parks to get some air.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used to enjoy the trees and flowers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used to sit on a bench to enjoy the breeze.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these days, I go to parks to get some exercise.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 there to take walks whenever I can.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feel very good after I take walks.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why I started to take walks at parks.</a:t>
            </a:r>
          </a:p>
        </p:txBody>
      </p:sp>
    </p:spTree>
    <p:extLst>
      <p:ext uri="{BB962C8B-B14F-4D97-AF65-F5344CB8AC3E}">
        <p14:creationId xmlns:p14="http://schemas.microsoft.com/office/powerpoint/2010/main" val="1668451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873474"/>
            <a:ext cx="6858000" cy="3231654"/>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09 </a:t>
            </a:r>
            <a:r>
              <a:rPr lang="ko-KR" altLang="en-US" sz="5400" b="1">
                <a:solidFill>
                  <a:srgbClr val="FF0000"/>
                </a:solidFill>
                <a:latin typeface="맑은 고딕" pitchFamily="50" charset="-127"/>
                <a:ea typeface="맑은 고딕" pitchFamily="50" charset="-127"/>
              </a:rPr>
              <a:t>선택형 주제</a:t>
            </a:r>
            <a:endParaRPr lang="en-US" altLang="ko-KR" sz="5400" b="1">
              <a:solidFill>
                <a:srgbClr val="FF0000"/>
              </a:solidFill>
              <a:latin typeface="맑은 고딕" pitchFamily="50" charset="-127"/>
              <a:ea typeface="맑은 고딕" pitchFamily="50" charset="-127"/>
            </a:endParaRPr>
          </a:p>
          <a:p>
            <a:pPr algn="ctr">
              <a:lnSpc>
                <a:spcPct val="150000"/>
              </a:lnSpc>
            </a:pPr>
            <a:r>
              <a:rPr lang="en-US" altLang="ko-KR" sz="5400" b="1">
                <a:latin typeface="맑은 고딕" pitchFamily="50" charset="-127"/>
                <a:ea typeface="맑은 고딕" pitchFamily="50" charset="-127"/>
              </a:rPr>
              <a:t>Housing</a:t>
            </a:r>
          </a:p>
          <a:p>
            <a:pPr algn="ctr">
              <a:lnSpc>
                <a:spcPct val="150000"/>
              </a:lnSpc>
            </a:pPr>
            <a:r>
              <a:rPr lang="ko-KR" altLang="en-US" sz="2800" b="1">
                <a:solidFill>
                  <a:schemeClr val="tx2"/>
                </a:solidFill>
                <a:latin typeface="맑은 고딕" pitchFamily="50" charset="-127"/>
                <a:ea typeface="맑은 고딕" pitchFamily="50" charset="-127"/>
              </a:rPr>
              <a:t>집 </a:t>
            </a:r>
            <a:r>
              <a:rPr lang="ko-KR" altLang="en-US" sz="2800" b="1">
                <a:solidFill>
                  <a:schemeClr val="tx2"/>
                </a:solidFill>
                <a:latin typeface="맑은 고딕"/>
                <a:ea typeface="맑은 고딕"/>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3A84CD04-DB25-D8C9-7E27-3BB552A5C53C}"/>
              </a:ext>
            </a:extLst>
          </p:cNvPr>
          <p:cNvSpPr>
            <a:spLocks noGrp="1"/>
          </p:cNvSpPr>
          <p:nvPr>
            <p:ph type="sldNum" sz="quarter" idx="12"/>
          </p:nvPr>
        </p:nvSpPr>
        <p:spPr/>
        <p:txBody>
          <a:bodyPr/>
          <a:lstStyle/>
          <a:p>
            <a:fld id="{18CC7079-95A2-4860-A138-51A9FC969471}" type="slidenum">
              <a:rPr lang="ko-KR" altLang="en-US" smtClean="0"/>
              <a:t>44</a:t>
            </a:fld>
            <a:endParaRPr lang="ko-KR" altLang="en-US"/>
          </a:p>
        </p:txBody>
      </p:sp>
    </p:spTree>
    <p:extLst>
      <p:ext uri="{BB962C8B-B14F-4D97-AF65-F5344CB8AC3E}">
        <p14:creationId xmlns:p14="http://schemas.microsoft.com/office/powerpoint/2010/main" val="9411232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45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현재 살고 있는 집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네가 어디에 사는지 알고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나에게 당신의 집을 설명해 줄 수 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어떤 느낌이에요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방이 몇 개 있습니까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와이프와 이이들과 함께 아파트에 삽니다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거실과 부엌이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3</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개의 침실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2</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개의 목욕탕</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그리고 </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2</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개의 발코니가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거실에는 몇몇 가구와 가전제품이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소파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티 테이블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캐비넷</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거울이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텔레비젼</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에어컨</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공기청정기가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부엌에는 싱크대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식탁</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몇몇 캐비닛이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냉장고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전자레인지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가스 스토브가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냉수기</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밥솥</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토스트기</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그리고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커피머신이</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냄비</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팬</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접시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요리도구들이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이것이 나의 장소입니다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현재 살고 있는 집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I want to know where you live.</a:t>
            </a:r>
          </a:p>
          <a:p>
            <a:r>
              <a:rPr lang="en-US" altLang="ko-KR" sz="1000" b="0" i="0" u="none" strike="noStrike" kern="1200" baseline="0" dirty="0">
                <a:solidFill>
                  <a:srgbClr val="FF0000"/>
                </a:solidFill>
                <a:latin typeface="+mn-lt"/>
                <a:ea typeface="+mn-ea"/>
                <a:cs typeface="+mn-cs"/>
              </a:rPr>
              <a:t>Can you describe your home to me?</a:t>
            </a:r>
          </a:p>
          <a:p>
            <a:r>
              <a:rPr lang="en-US" altLang="ko-KR" sz="1000" b="0" i="0" u="none" strike="noStrike" kern="1200" baseline="0" dirty="0">
                <a:solidFill>
                  <a:srgbClr val="FF0000"/>
                </a:solidFill>
                <a:latin typeface="+mn-lt"/>
                <a:ea typeface="+mn-ea"/>
                <a:cs typeface="+mn-cs"/>
              </a:rPr>
              <a:t>What is it like? How many rooms does it have?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live in an apartment with my wife and children.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a living room and a kitchen.</a:t>
            </a: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There are three bedrooms, two bathrooms and two balconies.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In the living room, there are some furniture and home appliances.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there is a sofa, a tea table, a cabinet and a mirror.</a:t>
            </a: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Also, there is a TV, an air-conditioner and an air-purifier.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In the kitchen, there is a sink, a dining table and some cabinets.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there is a fridge, a microwave and a gas stove.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there is a water cooler, a rice cooker, a toaster and a coffee machine.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there are pots, pans, dishes, and cooking utensils.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my place is like.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 집에 가장 좋아하는 방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네가 어디에 사는지 알고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여러분의 집에 있는 다른 방들에 대해 이야기하세요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당신의 집에서 당신이 가장 좋아하는 방에 대해 말해주세요</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무엇처럼 보이나요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집에서 나의 가장 좋아하는 방은 나의 침실입니다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내가 나의 방에서 두 다리 쭉 뻗고 쉴 수 있기 때문입니다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침실에는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책상</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의자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컴퓨터 그리고 화장대를 가지고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책장</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침대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나이트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스텐드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옷장을 가지고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방에서 거의 모든 것을 할 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인터넷 서핑</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음악 듣기 혹은 잠을 잘 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텔레비전 보기</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책 읽기 혹은 영화보기를 할 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말해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가장 좋아하는 방안 나의 침실입니다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14062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 집에 가장 좋아하는 방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 want to know where you live.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the different rooms in your home.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your favorite room in your home.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does it look like?</a:t>
            </a:r>
            <a:endParaRPr lang="en-US" altLang="ko-KR" sz="1000" b="0" baseline="0" dirty="0">
              <a:solidFill>
                <a:srgbClr val="FF0000"/>
              </a:solidFill>
              <a:latin typeface="맑은 고딕" pitchFamily="50" charset="-127"/>
              <a:ea typeface="맑은 고딕" pitchFamily="50" charset="-127"/>
            </a:endParaRPr>
          </a:p>
          <a:p>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My favorite room at home is my bedroom.</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That’s because I can kick back and relax in my room.</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my bedroom, I have a desk, a chair, a computer and a dressing table.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have a bookshelf, a bed, a nightstand, a dresser and a closet.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can do almost everything in my room.</a:t>
            </a: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I can surf the internet, listen to music or get some sleep.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can watch TV, read books or watch movies.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my favorite room at home is my bedroom.</a:t>
            </a:r>
          </a:p>
        </p:txBody>
      </p:sp>
    </p:spTree>
    <p:extLst>
      <p:ext uri="{BB962C8B-B14F-4D97-AF65-F5344CB8AC3E}">
        <p14:creationId xmlns:p14="http://schemas.microsoft.com/office/powerpoint/2010/main" val="2158519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46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8402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집에서의 본인 일과</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집안일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집에서의 일과는 어떻게 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매일 집안일을 하십니까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평일에는 주로 무엇을 하고 주말에는 무엇을 하나요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아파트를 청소하려고 노력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할 수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있을때마다</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진공청소기와 바닥을 닦고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가구에  먼지를 털어냅니다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목욕탕을 청소하고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설거지를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쓰레기를 가지고 나갑니다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주말에는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빨래를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세탁기에 나의 빨래를 넣고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옷을 세탁합니다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랙</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위에 빨래를 걸어 놓습니다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그들이 말랐을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옷을 접고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그들을 옷장에 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내가 집에서 하는 집안일입니다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479939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집에서의 본인 일과</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집안일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What is your normal routine at home?</a:t>
            </a:r>
          </a:p>
          <a:p>
            <a:r>
              <a:rPr lang="en-US" altLang="ko-KR" sz="1100" b="0" i="0" u="none" strike="noStrike" kern="1200" baseline="0" dirty="0">
                <a:solidFill>
                  <a:srgbClr val="FF0000"/>
                </a:solidFill>
                <a:latin typeface="+mn-lt"/>
                <a:ea typeface="+mn-ea"/>
                <a:cs typeface="+mn-cs"/>
              </a:rPr>
              <a:t>Do you do housework every day?</a:t>
            </a:r>
          </a:p>
          <a:p>
            <a:r>
              <a:rPr lang="en-US" altLang="ko-KR" sz="1100" b="0" i="0" u="none" strike="noStrike" kern="1200" baseline="0" dirty="0">
                <a:solidFill>
                  <a:srgbClr val="FF0000"/>
                </a:solidFill>
                <a:latin typeface="+mn-lt"/>
                <a:ea typeface="+mn-ea"/>
                <a:cs typeface="+mn-cs"/>
              </a:rPr>
              <a:t>What do you usually do on weekdays and what do you do on weekends?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try to clean my apartment whenever I can.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I vacuum and mop the floors and dust the furniture.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clean the bathroom and do the dishes.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take out the garbage.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 weekends, I do the laundry.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I put my laundry in the washer and wash my clothes.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After that, I hang the laundry on the rack.</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they dry, I fold the clothes and put them in the dresser.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the housework I do at home.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04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 살았던 집과 지금 집 비교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    </a:t>
            </a:r>
            <a:r>
              <a:rPr lang="en-US" altLang="ko-KR" sz="1000" b="1" dirty="0">
                <a:solidFill>
                  <a:schemeClr val="tx2"/>
                </a:solidFill>
                <a:latin typeface="맑은 고딕" pitchFamily="50" charset="-127"/>
                <a:ea typeface="맑은 고딕" pitchFamily="50" charset="-127"/>
              </a:rPr>
              <a:t>[Adv]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 살았던 동네 묘사</a:t>
            </a:r>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ko-KR" altLang="en-US" sz="1000" b="0" i="0" kern="1200" dirty="0">
                <a:solidFill>
                  <a:srgbClr val="0070C0"/>
                </a:solidFill>
                <a:effectLst/>
                <a:latin typeface="+mn-lt"/>
                <a:ea typeface="+mn-ea"/>
                <a:cs typeface="+mn-cs"/>
              </a:rPr>
              <a:t>당신이 어렸을 때 살았던 집을 묘사하세요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지금 살고 있는 집과 어떻게 달랐나요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어렸을 때 살았던 장소와 주변 지역에 대해 이야기하세요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당신은 그 장소에 대해 무엇을 기억하나요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어렸을 때 부터의 당신을 자세히 묘사하세요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mn-ea"/>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작은 아파트에서 살았던 것을 기억합니다</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내가 어렸을 때</a:t>
            </a:r>
            <a:endPar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근처에 운동장이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거기에서 항상 나의 친구들과 놀곤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지금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넓은 아파트에서 삽니다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근처에 작은 공원이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거기에서 산책 혹은 조금의 운동을 할 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식당</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커피숍</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슈퍼마켓이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우체국</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경찰서</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소방서</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은행</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그리고 빵집이 있습니다</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지하철역</a:t>
            </a:r>
            <a:r>
              <a:rPr lang="en-US" altLang="ko-KR"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버스 정류장</a:t>
            </a:r>
            <a:r>
              <a:rPr lang="en-US" altLang="ko-KR"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헬스장</a:t>
            </a:r>
            <a:r>
              <a:rPr lang="en-US" altLang="ko-KR"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그리고 도서관이 있습니다</a:t>
            </a:r>
            <a:r>
              <a:rPr lang="en-US" altLang="ko-KR"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편의점</a:t>
            </a:r>
            <a:r>
              <a:rPr lang="en-US" altLang="ko-KR"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세탁소</a:t>
            </a:r>
            <a:r>
              <a:rPr lang="en-US" altLang="ko-KR"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그리고 서점이 있습니다</a:t>
            </a:r>
            <a:r>
              <a:rPr lang="en-US" altLang="ko-KR"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나의 이웃은 이렇습니다</a:t>
            </a:r>
            <a:r>
              <a:rPr lang="en-US" altLang="ko-KR" sz="1000" b="0" i="0" u="none" strike="noStrike" kern="1200" spc="-6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86389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04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 살았던 집과 지금 집 비교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    </a:t>
            </a:r>
            <a:r>
              <a:rPr lang="en-US" altLang="ko-KR" sz="1000" b="1" dirty="0">
                <a:solidFill>
                  <a:schemeClr val="tx2"/>
                </a:solidFill>
                <a:latin typeface="맑은 고딕" pitchFamily="50" charset="-127"/>
                <a:ea typeface="맑은 고딕" pitchFamily="50" charset="-127"/>
              </a:rPr>
              <a:t>[Adv]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 살았던 동네 묘사</a:t>
            </a:r>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the home you lived in as a child.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was it different from the home you live in now?</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spc="-70" baseline="0" dirty="0">
                <a:solidFill>
                  <a:srgbClr val="FF0000"/>
                </a:solidFill>
                <a:latin typeface="+mn-lt"/>
                <a:ea typeface="+mn-ea"/>
                <a:cs typeface="+mn-cs"/>
              </a:rPr>
              <a:t>Talk about the place you lived and the surrounding area </a:t>
            </a:r>
            <a:r>
              <a:rPr lang="en-US" altLang="ko-KR" sz="1000" b="0" i="0" u="none" strike="noStrike" kern="1200" spc="-70" dirty="0">
                <a:solidFill>
                  <a:srgbClr val="FF0000"/>
                </a:solidFill>
                <a:latin typeface="+mn-lt"/>
                <a:ea typeface="+mn-ea"/>
                <a:cs typeface="+mn-cs"/>
              </a:rPr>
              <a:t>when you were a child. What do you remember about that place?</a:t>
            </a:r>
          </a:p>
          <a:p>
            <a:r>
              <a:rPr lang="en-US" altLang="ko-KR" sz="1000" b="0" i="0" u="none" strike="noStrike" kern="1200" baseline="0" dirty="0">
                <a:solidFill>
                  <a:srgbClr val="FF0000"/>
                </a:solidFill>
                <a:latin typeface="+mn-lt"/>
                <a:ea typeface="+mn-ea"/>
                <a:cs typeface="+mn-cs"/>
              </a:rPr>
              <a:t>Describe you from your early childhood in detail.</a:t>
            </a:r>
            <a:endParaRPr lang="en-US" altLang="ko-KR" sz="1000" b="0" baseline="0" dirty="0">
              <a:solidFill>
                <a:srgbClr val="FF0000"/>
              </a:solidFill>
              <a:latin typeface="맑은 고딕" pitchFamily="50" charset="-127"/>
              <a:ea typeface="맑은 고딕" pitchFamily="50" charset="-127"/>
            </a:endParaRPr>
          </a:p>
          <a:p>
            <a:endParaRPr lang="en-US" altLang="ko-KR" sz="8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I remember living in a small apartment when I was a kid.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was a playground nearby.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used to play there all the time with my friends.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now, I live in a more spacious apartment.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a small park nearby.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can take walks or get some exercise there.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70" baseline="0" dirty="0">
                <a:solidFill>
                  <a:schemeClr val="tx1"/>
                </a:solidFill>
                <a:latin typeface="맑은 고딕" panose="020B0503020000020004" pitchFamily="50" charset="-127"/>
                <a:ea typeface="맑은 고딕" panose="020B0503020000020004" pitchFamily="50" charset="-127"/>
                <a:cs typeface="+mn-cs"/>
              </a:rPr>
              <a:t>Also, there are some restaurants, coffee shops and supermarkets.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there is a post office, a police station, a fire station, a bank and a bakery.</a:t>
            </a:r>
          </a:p>
          <a:p>
            <a:pPr>
              <a:lnSpc>
                <a:spcPct val="150000"/>
              </a:lnSpc>
            </a:pP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Also, there is a subway station, a bus stop, a gym and a library.</a:t>
            </a:r>
          </a:p>
          <a:p>
            <a:pPr>
              <a:lnSpc>
                <a:spcPct val="150000"/>
              </a:lnSpc>
            </a:pP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Next, there is a convenience store, dry cleaner's and a bookstore.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my neighborhood is like.</a:t>
            </a:r>
          </a:p>
        </p:txBody>
      </p:sp>
    </p:spTree>
    <p:extLst>
      <p:ext uri="{BB962C8B-B14F-4D97-AF65-F5344CB8AC3E}">
        <p14:creationId xmlns:p14="http://schemas.microsoft.com/office/powerpoint/2010/main" val="12520676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47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20692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05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집에서 가족들과 있었던 추억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spc="-80" baseline="0" dirty="0">
                <a:solidFill>
                  <a:srgbClr val="0070C0"/>
                </a:solidFill>
                <a:effectLst/>
                <a:latin typeface="+mn-lt"/>
                <a:ea typeface="+mn-ea"/>
                <a:cs typeface="+mn-cs"/>
              </a:rPr>
              <a:t>가족과 함께 집에서 가졌던 특별한 추억에 대해 이야기해 보세요</a:t>
            </a:r>
            <a:r>
              <a:rPr lang="en-US" altLang="ko-KR" sz="1100" b="0" i="0" kern="1200" spc="-80" baseline="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아마도</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당신은 손님들을 초대했거나 일종의 파티를 열었을 것입니다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경험에 대해 자세히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나는 집에서 나의 아들의 생일 파티를 가진 것을 기억 납니다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그것은 그의 </a:t>
            </a:r>
            <a:r>
              <a:rPr lang="en-US" altLang="ko-KR" sz="1100" b="0" i="0" u="none" strike="noStrike" kern="1200" baseline="0" dirty="0">
                <a:solidFill>
                  <a:schemeClr val="tx1"/>
                </a:solidFill>
                <a:latin typeface="+mn-lt"/>
                <a:ea typeface="+mn-ea"/>
                <a:cs typeface="+mn-cs"/>
              </a:rPr>
              <a:t>7</a:t>
            </a:r>
            <a:r>
              <a:rPr lang="ko-KR" altLang="en-US" sz="1100" b="0" i="0" u="none" strike="noStrike" kern="1200" baseline="0" dirty="0">
                <a:solidFill>
                  <a:schemeClr val="tx1"/>
                </a:solidFill>
                <a:latin typeface="+mn-lt"/>
                <a:ea typeface="+mn-ea"/>
                <a:cs typeface="+mn-cs"/>
              </a:rPr>
              <a:t>번째 생일이었습니다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우리는 파티를 위해 조금의 음식을 요리하였습니다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spc="-70" dirty="0">
                <a:solidFill>
                  <a:schemeClr val="tx1"/>
                </a:solidFill>
                <a:latin typeface="+mn-lt"/>
                <a:ea typeface="+mn-ea"/>
                <a:cs typeface="+mn-cs"/>
              </a:rPr>
              <a:t>게다가</a:t>
            </a:r>
            <a:r>
              <a:rPr lang="en-US" altLang="ko-KR" sz="1100" b="0" i="0" u="none" strike="noStrike" kern="1200" spc="-70" dirty="0">
                <a:solidFill>
                  <a:schemeClr val="tx1"/>
                </a:solidFill>
                <a:latin typeface="+mn-lt"/>
                <a:ea typeface="+mn-ea"/>
                <a:cs typeface="+mn-cs"/>
              </a:rPr>
              <a:t>, </a:t>
            </a:r>
            <a:r>
              <a:rPr lang="ko-KR" altLang="en-US" sz="1100" b="0" i="0" u="none" strike="noStrike" kern="1200" spc="-70" dirty="0">
                <a:solidFill>
                  <a:schemeClr val="tx1"/>
                </a:solidFill>
                <a:latin typeface="+mn-lt"/>
                <a:ea typeface="+mn-ea"/>
                <a:cs typeface="+mn-cs"/>
              </a:rPr>
              <a:t>우리는 조금의 프라이드 치킨을 주문하였습니다</a:t>
            </a:r>
            <a:r>
              <a:rPr lang="en-US" altLang="ko-KR" sz="1100" b="0" i="0" u="none" strike="noStrike" kern="1200" spc="-70" dirty="0">
                <a:solidFill>
                  <a:schemeClr val="tx1"/>
                </a:solidFill>
                <a:latin typeface="+mn-lt"/>
                <a:ea typeface="+mn-ea"/>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음식은 매우 맛있었습니다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배가 몹시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곱았기</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때문에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mn-lt"/>
                <a:ea typeface="+mn-ea"/>
                <a:cs typeface="+mn-cs"/>
              </a:rPr>
              <a:t>파티 후</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청소를 도왔습니다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spc="-60" dirty="0">
                <a:solidFill>
                  <a:schemeClr val="tx1"/>
                </a:solidFill>
                <a:latin typeface="+mn-lt"/>
                <a:ea typeface="+mn-ea"/>
                <a:cs typeface="+mn-cs"/>
              </a:rPr>
              <a:t>뒤돌아 보면</a:t>
            </a:r>
            <a:r>
              <a:rPr lang="en-US" altLang="ko-KR" sz="1100" b="0" i="0" u="none" strike="noStrike" kern="1200" spc="-60" dirty="0">
                <a:solidFill>
                  <a:schemeClr val="tx1"/>
                </a:solidFill>
                <a:latin typeface="+mn-lt"/>
                <a:ea typeface="+mn-ea"/>
                <a:cs typeface="+mn-cs"/>
              </a:rPr>
              <a:t>, </a:t>
            </a:r>
            <a:r>
              <a:rPr lang="ko-KR" altLang="en-US" sz="1100" b="0" i="0" u="none" strike="noStrike" kern="1200" spc="-60" dirty="0">
                <a:solidFill>
                  <a:schemeClr val="tx1"/>
                </a:solidFill>
                <a:latin typeface="+mn-lt"/>
                <a:ea typeface="+mn-ea"/>
                <a:cs typeface="+mn-cs"/>
              </a:rPr>
              <a:t>그것은 매우 기억에 남는 생일파티입니다</a:t>
            </a:r>
            <a:r>
              <a:rPr lang="en-US" altLang="ko-KR" sz="1100" b="0" i="0" u="none" strike="noStrike" kern="1200" spc="-6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9000" y="0"/>
            <a:ext cx="3429000" cy="410689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05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집에서 가족들과 있었던 추억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Talk about a special memory you had at home with your family members.</a:t>
            </a:r>
          </a:p>
          <a:p>
            <a:r>
              <a:rPr lang="en-US" altLang="ko-KR" sz="1100" b="0" i="0" u="none" strike="noStrike" kern="1200" baseline="0" dirty="0">
                <a:solidFill>
                  <a:srgbClr val="FF0000"/>
                </a:solidFill>
                <a:latin typeface="+mn-lt"/>
                <a:ea typeface="+mn-ea"/>
                <a:cs typeface="+mn-cs"/>
              </a:rPr>
              <a:t>Perhaps, you had guests over or had a party of some sort.</a:t>
            </a:r>
          </a:p>
          <a:p>
            <a:r>
              <a:rPr lang="en-US" altLang="ko-KR" sz="1100" b="0" i="0" u="none" strike="noStrike" kern="1200" baseline="0" dirty="0">
                <a:solidFill>
                  <a:srgbClr val="FF0000"/>
                </a:solidFill>
                <a:latin typeface="+mn-lt"/>
                <a:ea typeface="+mn-ea"/>
                <a:cs typeface="+mn-cs"/>
              </a:rPr>
              <a:t>Tell me about that experience in detail.</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mn-lt"/>
                <a:ea typeface="+mn-ea"/>
                <a:cs typeface="+mn-cs"/>
              </a:rPr>
              <a:t>I remember having my son’s birthday party at home.</a:t>
            </a:r>
          </a:p>
          <a:p>
            <a:pPr>
              <a:lnSpc>
                <a:spcPct val="150000"/>
              </a:lnSpc>
            </a:pPr>
            <a:r>
              <a:rPr lang="en-US" altLang="ko-KR" sz="1100" b="0" i="0" u="none" strike="noStrike" kern="1200" baseline="0" dirty="0">
                <a:solidFill>
                  <a:schemeClr val="tx1"/>
                </a:solidFill>
                <a:latin typeface="+mn-lt"/>
                <a:ea typeface="+mn-ea"/>
                <a:cs typeface="+mn-cs"/>
              </a:rPr>
              <a:t>It was his 7th birthday.</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We cooked some food for the party.</a:t>
            </a:r>
          </a:p>
          <a:p>
            <a:pPr>
              <a:lnSpc>
                <a:spcPct val="150000"/>
              </a:lnSpc>
            </a:pPr>
            <a:r>
              <a:rPr lang="en-US" altLang="ko-KR" sz="1100" b="0" i="0" u="none" strike="noStrike" kern="1200" baseline="0" dirty="0">
                <a:solidFill>
                  <a:schemeClr val="tx1"/>
                </a:solidFill>
                <a:latin typeface="+mn-lt"/>
                <a:ea typeface="+mn-ea"/>
                <a:cs typeface="+mn-cs"/>
              </a:rPr>
              <a:t>Plus, we ordered some fried chicken.</a:t>
            </a:r>
          </a:p>
          <a:p>
            <a:pPr>
              <a:lnSpc>
                <a:spcPct val="150000"/>
              </a:lnSpc>
            </a:pPr>
            <a:r>
              <a:rPr lang="en-US" altLang="ko-KR" sz="1100" b="0" i="0" u="none" strike="noStrike" kern="1200" baseline="0" dirty="0">
                <a:solidFill>
                  <a:schemeClr val="tx1"/>
                </a:solidFill>
                <a:latin typeface="+mn-lt"/>
                <a:ea typeface="+mn-ea"/>
                <a:cs typeface="+mn-cs"/>
              </a:rPr>
              <a:t>The food tasted good because I was so hungry.</a:t>
            </a:r>
          </a:p>
          <a:p>
            <a:pPr>
              <a:lnSpc>
                <a:spcPct val="150000"/>
              </a:lnSpc>
            </a:pPr>
            <a:r>
              <a:rPr lang="en-US" altLang="ko-KR" sz="1100" b="0" i="0" u="none" strike="noStrike" kern="1200" baseline="0" dirty="0">
                <a:solidFill>
                  <a:schemeClr val="tx1"/>
                </a:solidFill>
                <a:latin typeface="+mn-lt"/>
                <a:ea typeface="+mn-ea"/>
                <a:cs typeface="+mn-cs"/>
              </a:rPr>
              <a:t>After the party, I helped clean up.</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Looking back, it was a very memorable birthday.</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88402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06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집에 준 변화 중 하나 자세히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때때로 우리는 집에서 무언가를 바꾸고 싶어합니다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아마도 우리는 새 가구를 얻거나 페인트칠이나 장식을 할 것이다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baseline="0" dirty="0">
                <a:solidFill>
                  <a:srgbClr val="0070C0"/>
                </a:solidFill>
                <a:effectLst/>
                <a:latin typeface="+mn-lt"/>
                <a:ea typeface="+mn-ea"/>
                <a:cs typeface="+mn-cs"/>
              </a:rPr>
              <a:t>당신이 당신의 집에 한 가지 변화를 준 것에 대해 이야기하세요</a:t>
            </a:r>
            <a:r>
              <a:rPr lang="en-US" altLang="ko-KR" sz="1100" b="0" i="0" kern="1200" spc="-50" baseline="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왜 그렇게 바꾸기로 결심했는지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집에서 거실을 다시 한 것을 기억합니다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그것을 한 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거실은 완전히 새롭게 보였습니다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모습에 매우 행복했습니다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몇몇 새로운 가구를 산 것을 기억합니다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책상</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새로운 소파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새로운 책장을 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가구들을 재배치하였습니다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아파트를 위한 몇몇 화초를 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텔레비전과 새로운 에어컨을 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기억하는 변화들입니다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06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집에 준 변화 중 하나 자세히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mn-lt"/>
                <a:ea typeface="+mn-ea"/>
                <a:cs typeface="+mn-cs"/>
              </a:rPr>
              <a:t>Sometimes we want to change something in our home.</a:t>
            </a:r>
          </a:p>
          <a:p>
            <a:r>
              <a:rPr lang="en-US" altLang="ko-KR" sz="1100" b="0" i="0" u="none" strike="noStrike" kern="1200" baseline="0" dirty="0">
                <a:solidFill>
                  <a:srgbClr val="FF0000"/>
                </a:solidFill>
                <a:latin typeface="+mn-lt"/>
                <a:ea typeface="+mn-ea"/>
                <a:cs typeface="+mn-cs"/>
              </a:rPr>
              <a:t>Perhaps we get new furniture or do some painting or decorating.</a:t>
            </a:r>
          </a:p>
          <a:p>
            <a:r>
              <a:rPr lang="en-US" altLang="ko-KR" sz="1100" b="0" i="0" u="none" strike="noStrike" kern="1200" baseline="0" dirty="0">
                <a:solidFill>
                  <a:srgbClr val="FF0000"/>
                </a:solidFill>
                <a:latin typeface="+mn-lt"/>
                <a:ea typeface="+mn-ea"/>
                <a:cs typeface="+mn-cs"/>
              </a:rPr>
              <a:t>Talk about one change that you have made to your home.</a:t>
            </a:r>
          </a:p>
          <a:p>
            <a:r>
              <a:rPr lang="en-US" altLang="ko-KR" sz="1100" b="0" i="0" u="none" strike="noStrike" kern="1200" baseline="0" dirty="0">
                <a:solidFill>
                  <a:srgbClr val="FF0000"/>
                </a:solidFill>
                <a:latin typeface="+mn-lt"/>
                <a:ea typeface="+mn-ea"/>
                <a:cs typeface="+mn-cs"/>
              </a:rPr>
              <a:t>Tell me why you decided to make that change.</a:t>
            </a:r>
            <a:endParaRPr lang="en-US" altLang="ko-KR" sz="1100" b="0" baseline="0" dirty="0">
              <a:solidFill>
                <a:srgbClr val="FF0000"/>
              </a:solidFill>
              <a:latin typeface="맑은 고딕" pitchFamily="50" charset="-127"/>
              <a:ea typeface="맑은 고딕" pitchFamily="50" charset="-127"/>
            </a:endParaRPr>
          </a:p>
          <a:p>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redoing the living room at my place.</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After it was done, the living room looked brand new.</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very happy with the new look.</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remember getting some new furniture.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a new desk, a new sofa and a new bookshelf.</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And then, I rearranged the furniture.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got some plants for the apartment.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got a new TV and a new air-conditioner.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changes I remember.</a:t>
            </a:r>
          </a:p>
        </p:txBody>
      </p:sp>
    </p:spTree>
    <p:extLst>
      <p:ext uri="{BB962C8B-B14F-4D97-AF65-F5344CB8AC3E}">
        <p14:creationId xmlns:p14="http://schemas.microsoft.com/office/powerpoint/2010/main" val="2123415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48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08981"/>
          </a:xfrm>
          <a:prstGeom prst="rect">
            <a:avLst/>
          </a:prstGeom>
          <a:noFill/>
        </p:spPr>
        <p:txBody>
          <a:bodyPr wrap="square" rtlCol="0">
            <a:spAutoFit/>
          </a:bodyPr>
          <a:lstStyle/>
          <a:p>
            <a:r>
              <a:rPr lang="en-US" altLang="ko-KR" sz="1000" b="1" dirty="0">
                <a:solidFill>
                  <a:schemeClr val="tx2"/>
                </a:solidFill>
                <a:latin typeface="맑은 고딕" pitchFamily="50" charset="-127"/>
              </a:rPr>
              <a:t>07 [</a:t>
            </a:r>
            <a:r>
              <a:rPr lang="en-US" altLang="ko-KR" sz="1000" b="1" dirty="0" err="1">
                <a:solidFill>
                  <a:schemeClr val="tx2"/>
                </a:solidFill>
                <a:latin typeface="맑은 고딕" pitchFamily="50" charset="-127"/>
              </a:rPr>
              <a:t>Adv</a:t>
            </a:r>
            <a:r>
              <a:rPr lang="en-US" altLang="ko-KR" sz="1000" b="1" dirty="0">
                <a:solidFill>
                  <a:schemeClr val="tx2"/>
                </a:solidFill>
                <a:latin typeface="맑은 고딕" pitchFamily="50" charset="-127"/>
              </a:rPr>
              <a:t>] </a:t>
            </a:r>
            <a:r>
              <a:rPr lang="ko-KR" altLang="en-US" sz="1000" b="1" dirty="0">
                <a:solidFill>
                  <a:srgbClr val="FF0000"/>
                </a:solidFill>
                <a:latin typeface="맑은 고딕" pitchFamily="50" charset="-127"/>
              </a:rPr>
              <a:t>본인 집에 생겼던 여러 문제점들 묘사   </a:t>
            </a:r>
            <a:r>
              <a:rPr lang="ko-KR" altLang="en-US" sz="1000" b="1" dirty="0" smtClean="0">
                <a:solidFill>
                  <a:srgbClr val="FF0000"/>
                </a:solidFill>
                <a:latin typeface="맑은 고딕" pitchFamily="50" charset="-127"/>
              </a:rPr>
              <a:t>      </a:t>
            </a:r>
            <a:r>
              <a:rPr lang="en-US" altLang="ko-KR" sz="1000" b="1" dirty="0">
                <a:solidFill>
                  <a:schemeClr val="tx2"/>
                </a:solidFill>
              </a:rPr>
              <a:t>♣</a:t>
            </a:r>
            <a:endParaRPr lang="en-US" altLang="ko-KR" sz="1000" b="1" dirty="0">
              <a:solidFill>
                <a:srgbClr val="FF0000"/>
              </a:solidFill>
              <a:latin typeface="맑은 고딕" pitchFamily="50" charset="-127"/>
            </a:endParaRPr>
          </a:p>
          <a:p>
            <a:r>
              <a:rPr lang="ko-KR" altLang="en-US" sz="1000" dirty="0">
                <a:solidFill>
                  <a:srgbClr val="0070C0"/>
                </a:solidFill>
              </a:rPr>
              <a:t>어떤 가정에서도 항상 발생하는 문제들이 있습니다</a:t>
            </a:r>
            <a:r>
              <a:rPr lang="en-US" altLang="ko-KR" sz="1000" dirty="0">
                <a:solidFill>
                  <a:srgbClr val="0070C0"/>
                </a:solidFill>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일이 터지고</a:t>
            </a:r>
            <a:r>
              <a:rPr lang="en-US" altLang="ko-KR" sz="1000" dirty="0">
                <a:solidFill>
                  <a:srgbClr val="0070C0"/>
                </a:solidFill>
              </a:rPr>
              <a:t>, </a:t>
            </a:r>
            <a:r>
              <a:rPr lang="ko-KR" altLang="en-US" sz="1000" dirty="0">
                <a:solidFill>
                  <a:srgbClr val="0070C0"/>
                </a:solidFill>
              </a:rPr>
              <a:t>프로젝트가 계획대로 진행되지 않고</a:t>
            </a:r>
            <a:r>
              <a:rPr lang="en-US" altLang="ko-KR" sz="1000" dirty="0">
                <a:solidFill>
                  <a:srgbClr val="0070C0"/>
                </a:solidFill>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아니면 같이 사는 사람들이 협조하지 않는 거죠</a:t>
            </a:r>
            <a:r>
              <a:rPr lang="en-US" altLang="ko-KR" sz="1000" dirty="0">
                <a:solidFill>
                  <a:srgbClr val="0070C0"/>
                </a:solidFill>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당신이 집에서 겪었던 몇 가지 문제나 문제들에 대해 말해보세요</a:t>
            </a:r>
            <a:r>
              <a:rPr lang="en-US" altLang="ko-KR" sz="1000" dirty="0">
                <a:solidFill>
                  <a:srgbClr val="0070C0"/>
                </a:solidFill>
              </a:rPr>
              <a:t>.</a:t>
            </a:r>
            <a:endParaRPr lang="en-US" altLang="ko-KR" sz="1000" dirty="0">
              <a:solidFill>
                <a:srgbClr val="0070C0"/>
              </a:solidFill>
              <a:latin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 년 전 텔레비전이 고장 났을 때가 기억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텔레비전을 볼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동작하지 않았기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문제를 고치기 위해 사람을 불렸습니다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시계가 잘 작동하지 않았던 때가 기억 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시계를 위해 건전지를 교체 해야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물냉각기로부터</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물이 새던 때가 기억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바닥에서 물을 닦아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내어야</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실수로 컵을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깨드린</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것이 기억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집에서 가졌던 문제들이었습니다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07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 집에 생겼던 여러 문제점들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There are always problems that happen in any home.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Things break, projects do not go as planned,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or people you live with do not cooperate.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some problems or issues that you had at your home.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the TV broke down a few years ago.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could NOT watch TV because it was NOT working.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called a person to fix the problem.</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remember when the clock did NOT work well.</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replace the batteries for the clock.</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remember when water leaked from the water cooler.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wipe off the water from the floor.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remember breaking a cup by mistake.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were the problems I had at home.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3714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08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위의 문제 중 한 가지 구체적 묘사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spc="-50" dirty="0">
                <a:solidFill>
                  <a:srgbClr val="0070C0"/>
                </a:solidFill>
                <a:effectLst/>
                <a:latin typeface="+mn-lt"/>
                <a:ea typeface="+mn-ea"/>
                <a:cs typeface="+mn-cs"/>
              </a:rPr>
              <a:t>그 문제들 중 하나를 골라서 일어난 모든 것을 설명하세요</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언제 발생했고 무엇이 문제를 일으켰습니까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그 상황을 해결하기 위해 한 모든 것을 자세히 설명하세요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언급했듯이</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집에서 컵을 깨뜨린 것이 기억 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사고에 의해 컵을 떨어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뜨렸습니다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미끄러웠기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손을 놓쳤습니다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컵은 여러 개의 조각으로 깨졌습니다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유리를 청소해야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큰 조각을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집어들고</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작은 조각들은 진공 청소했습니다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조심하려고 노력했습니다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손가락을 유리 조각에 베었습니다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피가 나고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조금 아팠습니다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이후로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조심하려고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08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위의 문제 중 한 가지 구체적 묘사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Pick one of those problems and explain everything that happened.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did it happen and what caused the problem?</a:t>
            </a: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Explain in detail everything you did to resolve the situation.</a:t>
            </a:r>
            <a:endParaRPr lang="en-US" altLang="ko-KR" sz="1000" b="0" spc="-50" dirty="0">
              <a:solidFill>
                <a:srgbClr val="FF0000"/>
              </a:solidFill>
              <a:latin typeface="맑은 고딕" pitchFamily="50" charset="-127"/>
              <a:ea typeface="맑은 고딕" pitchFamily="50" charset="-127"/>
            </a:endParaRPr>
          </a:p>
          <a:p>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As I mentioned, I remember breaking a cup at home.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dropped the cup by accident because it was slippery.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lost my grip.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cup broke into several pieces.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clean the glass.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picked up the big pieces and vacuumed up the small pieces.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tried to be careful, but I cut my finger on a piece of glass.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bleeding and it was a little sore.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25852306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364190"/>
            <a:ext cx="6858000" cy="5109091"/>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10 </a:t>
            </a: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Furniture</a:t>
            </a:r>
          </a:p>
          <a:p>
            <a:pPr algn="ctr"/>
            <a:r>
              <a:rPr lang="en-US" altLang="ko-KR" sz="5400" b="1">
                <a:latin typeface="맑은 고딕" pitchFamily="50" charset="-127"/>
                <a:ea typeface="맑은 고딕" pitchFamily="50" charset="-127"/>
              </a:rPr>
              <a:t>Recycling</a:t>
            </a:r>
          </a:p>
          <a:p>
            <a:pPr algn="ctr"/>
            <a:endParaRPr lang="en-US" altLang="ko-KR" sz="5400" b="1">
              <a:solidFill>
                <a:schemeClr val="tx2"/>
              </a:solidFill>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가구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r>
              <a:rPr lang="ko-KR" altLang="en-US" sz="2800" b="1">
                <a:solidFill>
                  <a:schemeClr val="tx2"/>
                </a:solidFill>
              </a:rPr>
              <a:t>재활용 ★★</a:t>
            </a:r>
            <a:endParaRPr lang="en-US" altLang="ko-KR" sz="2800" b="1">
              <a:solidFill>
                <a:schemeClr val="tx2"/>
              </a:solidFill>
            </a:endParaRPr>
          </a:p>
        </p:txBody>
      </p:sp>
      <p:sp>
        <p:nvSpPr>
          <p:cNvPr id="3" name="슬라이드 번호 개체 틀 2">
            <a:extLst>
              <a:ext uri="{FF2B5EF4-FFF2-40B4-BE49-F238E27FC236}">
                <a16:creationId xmlns:a16="http://schemas.microsoft.com/office/drawing/2014/main" xmlns="" id="{BD9B3D69-7E0C-E9DD-6228-1437760E6B16}"/>
              </a:ext>
            </a:extLst>
          </p:cNvPr>
          <p:cNvSpPr>
            <a:spLocks noGrp="1"/>
          </p:cNvSpPr>
          <p:nvPr>
            <p:ph type="sldNum" sz="quarter" idx="12"/>
          </p:nvPr>
        </p:nvSpPr>
        <p:spPr/>
        <p:txBody>
          <a:bodyPr/>
          <a:lstStyle/>
          <a:p>
            <a:fld id="{18CC7079-95A2-4860-A138-51A9FC969471}" type="slidenum">
              <a:rPr lang="ko-KR" altLang="en-US" smtClean="0"/>
              <a:t>49</a:t>
            </a:fld>
            <a:endParaRPr lang="ko-KR" altLang="en-US"/>
          </a:p>
        </p:txBody>
      </p:sp>
    </p:spTree>
    <p:extLst>
      <p:ext uri="{BB962C8B-B14F-4D97-AF65-F5344CB8AC3E}">
        <p14:creationId xmlns:p14="http://schemas.microsoft.com/office/powerpoint/2010/main" val="23154523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50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 집에 있는 가구</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가장 좋아하는 가구 묘사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집에 있는 가구에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가장 좋아하는 가구가 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나의 아파트에는 다양한 종류의 가구가 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spc="-50" dirty="0">
                <a:solidFill>
                  <a:schemeClr val="tx1"/>
                </a:solidFill>
                <a:latin typeface="+mn-lt"/>
                <a:ea typeface="+mn-ea"/>
                <a:cs typeface="+mn-cs"/>
              </a:rPr>
              <a:t>거실에는</a:t>
            </a:r>
            <a:r>
              <a:rPr lang="en-US" altLang="ko-KR" sz="1100" b="0" i="0" u="none" strike="noStrike" kern="1200" spc="-50" dirty="0">
                <a:solidFill>
                  <a:schemeClr val="tx1"/>
                </a:solidFill>
                <a:latin typeface="+mn-lt"/>
                <a:ea typeface="+mn-ea"/>
                <a:cs typeface="+mn-cs"/>
              </a:rPr>
              <a:t>, </a:t>
            </a:r>
            <a:r>
              <a:rPr lang="ko-KR" altLang="en-US" sz="1100" b="0" i="0" u="none" strike="noStrike" kern="1200" spc="-50" dirty="0">
                <a:solidFill>
                  <a:schemeClr val="tx1"/>
                </a:solidFill>
                <a:latin typeface="+mn-lt"/>
                <a:ea typeface="+mn-ea"/>
                <a:cs typeface="+mn-cs"/>
              </a:rPr>
              <a:t>소파</a:t>
            </a:r>
            <a:r>
              <a:rPr lang="en-US" altLang="ko-KR" sz="1100" b="0" i="0" u="none" strike="noStrike" kern="1200" spc="-50" dirty="0">
                <a:solidFill>
                  <a:schemeClr val="tx1"/>
                </a:solidFill>
                <a:latin typeface="+mn-lt"/>
                <a:ea typeface="+mn-ea"/>
                <a:cs typeface="+mn-cs"/>
              </a:rPr>
              <a:t>, </a:t>
            </a:r>
            <a:r>
              <a:rPr lang="ko-KR" altLang="en-US" sz="1100" b="0" i="0" u="none" strike="noStrike" kern="1200" spc="-50" dirty="0">
                <a:solidFill>
                  <a:schemeClr val="tx1"/>
                </a:solidFill>
                <a:latin typeface="+mn-lt"/>
                <a:ea typeface="+mn-ea"/>
                <a:cs typeface="+mn-cs"/>
              </a:rPr>
              <a:t>티테이블</a:t>
            </a:r>
            <a:r>
              <a:rPr lang="en-US" altLang="ko-KR" sz="1100" b="0" i="0" u="none" strike="noStrike" kern="1200" spc="-50" dirty="0">
                <a:solidFill>
                  <a:schemeClr val="tx1"/>
                </a:solidFill>
                <a:latin typeface="+mn-lt"/>
                <a:ea typeface="+mn-ea"/>
                <a:cs typeface="+mn-cs"/>
              </a:rPr>
              <a:t>, </a:t>
            </a:r>
            <a:r>
              <a:rPr lang="ko-KR" altLang="en-US" sz="1100" b="0" i="0" u="none" strike="noStrike" kern="1200" spc="-50" dirty="0">
                <a:solidFill>
                  <a:schemeClr val="tx1"/>
                </a:solidFill>
                <a:latin typeface="+mn-lt"/>
                <a:ea typeface="+mn-ea"/>
                <a:cs typeface="+mn-cs"/>
              </a:rPr>
              <a:t>그리고 캐비닛이 있습니다</a:t>
            </a:r>
            <a:r>
              <a:rPr lang="en-US" altLang="ko-KR" sz="1100" b="0" i="0" u="none" strike="noStrike" kern="1200" spc="-5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침실에는</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침대</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책상</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의자</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화장대</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그리고 </a:t>
            </a:r>
            <a:r>
              <a:rPr lang="ko-KR" altLang="en-US" sz="1100" b="0" i="0" u="none" strike="noStrike" kern="1200" baseline="0" dirty="0" err="1">
                <a:solidFill>
                  <a:schemeClr val="tx1"/>
                </a:solidFill>
                <a:latin typeface="+mn-lt"/>
                <a:ea typeface="+mn-ea"/>
                <a:cs typeface="+mn-cs"/>
              </a:rPr>
              <a:t>나이트스탠드를</a:t>
            </a:r>
            <a:r>
              <a:rPr lang="ko-KR" altLang="en-US" sz="1100" b="0" i="0" u="none" strike="noStrike" kern="1200" baseline="0" dirty="0">
                <a:solidFill>
                  <a:schemeClr val="tx1"/>
                </a:solidFill>
                <a:latin typeface="+mn-lt"/>
                <a:ea typeface="+mn-ea"/>
                <a:cs typeface="+mn-cs"/>
              </a:rPr>
              <a:t> 가집니다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게다가</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책장</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화장대</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그리고 옷장을 가집니다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나의 가장 좋아하는 가구는 나의 침대입니다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자는 것을 사랑하기 때문에</a:t>
            </a: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그것은 매우 편안하고 아늑한 침대입니다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그래서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이것들은 내가 집에 가지고 있는 가구입니다</a:t>
            </a:r>
            <a:r>
              <a:rPr lang="en-US" altLang="ko-KR" sz="1100" b="0" i="0" u="none" strike="noStrike" kern="1200" baseline="0" dirty="0">
                <a:solidFill>
                  <a:schemeClr val="tx1"/>
                </a:solidFill>
                <a:latin typeface="+mn-lt"/>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 집에 있는 가구</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가장 좋아하는 가구 묘사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about the furniture you have in your home.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Is there a piece of furniture that is your favorite?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spc="-50" dirty="0">
                <a:solidFill>
                  <a:schemeClr val="tx1"/>
                </a:solidFill>
                <a:latin typeface="+mn-lt"/>
                <a:ea typeface="+mn-ea"/>
                <a:cs typeface="+mn-cs"/>
              </a:rPr>
              <a:t>There are various types of furniture in my apartment.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spc="-80" dirty="0">
                <a:solidFill>
                  <a:schemeClr val="tx1"/>
                </a:solidFill>
                <a:latin typeface="+mn-lt"/>
                <a:ea typeface="+mn-ea"/>
                <a:cs typeface="+mn-cs"/>
              </a:rPr>
              <a:t>In the living room, there is a sofa, a tea table and a cabinet.</a:t>
            </a:r>
          </a:p>
          <a:p>
            <a:pPr>
              <a:lnSpc>
                <a:spcPct val="150000"/>
              </a:lnSpc>
            </a:pPr>
            <a:r>
              <a:rPr lang="en-US" altLang="ko-KR" sz="1100" b="0" i="0" u="none" strike="noStrike" kern="1200" baseline="0" dirty="0">
                <a:solidFill>
                  <a:schemeClr val="tx1"/>
                </a:solidFill>
                <a:latin typeface="+mn-lt"/>
                <a:ea typeface="+mn-ea"/>
                <a:cs typeface="+mn-cs"/>
              </a:rPr>
              <a:t>In my bedroom, I have a bed, a desk, a chair, a dresser and a nightstand.</a:t>
            </a:r>
          </a:p>
          <a:p>
            <a:pPr>
              <a:lnSpc>
                <a:spcPct val="150000"/>
              </a:lnSpc>
            </a:pPr>
            <a:r>
              <a:rPr lang="en-US" altLang="ko-KR" sz="1100" b="0" i="0" u="none" strike="noStrike" kern="1200" spc="-50" dirty="0">
                <a:solidFill>
                  <a:schemeClr val="tx1"/>
                </a:solidFill>
                <a:latin typeface="+mn-lt"/>
                <a:ea typeface="+mn-ea"/>
                <a:cs typeface="+mn-cs"/>
              </a:rPr>
              <a:t>Plus, I have a bookshelf, a dressing table and a closet.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spc="-50" dirty="0">
                <a:solidFill>
                  <a:schemeClr val="tx1"/>
                </a:solidFill>
                <a:latin typeface="+mn-lt"/>
                <a:ea typeface="+mn-ea"/>
                <a:cs typeface="+mn-cs"/>
              </a:rPr>
              <a:t>My favorite furniture is my bed because I love to sleep.</a:t>
            </a:r>
          </a:p>
          <a:p>
            <a:pPr>
              <a:lnSpc>
                <a:spcPct val="150000"/>
              </a:lnSpc>
            </a:pPr>
            <a:r>
              <a:rPr lang="en-US" altLang="ko-KR" sz="1100" b="0" i="0" u="none" strike="noStrike" kern="1200" baseline="0" dirty="0">
                <a:solidFill>
                  <a:schemeClr val="tx1"/>
                </a:solidFill>
                <a:latin typeface="+mn-lt"/>
                <a:ea typeface="+mn-ea"/>
                <a:cs typeface="+mn-cs"/>
              </a:rPr>
              <a:t>It is a very comfy and cozy bed.</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en-US" altLang="ko-KR" sz="1100" b="0" i="0" u="none" strike="noStrike" kern="1200" baseline="0" dirty="0">
                <a:solidFill>
                  <a:schemeClr val="tx1"/>
                </a:solidFill>
                <a:latin typeface="+mn-lt"/>
                <a:ea typeface="+mn-ea"/>
                <a:cs typeface="+mn-cs"/>
              </a:rPr>
              <a:t>So, these are the furniture I have at home.</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3699090"/>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특정 가구들의 용도 묘사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평소에 가구를 어떻게 사용하는지 알려주세요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가구를 가지고 어떤 종류의 일을 합니까</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소파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거실에 있는 소파를 사용합니다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거의 매일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그것 위에 앉습니다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텔레비전을 볼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낮잠을 자기 위해 그것 위에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눕습니다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침대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방에서 나의 침대를 사용합니다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매일매일</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밤의 잠을 잘 자는 것은 매우 중요합니다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침대를 정리합니다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아침에 일어날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52981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특정 가구들의 용도 묘사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how you use your furniture on a typical day.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things do you do with your furniture?</a:t>
            </a:r>
            <a:endParaRPr lang="en-US" altLang="ko-KR" sz="1100" b="0" baseline="0" dirty="0">
              <a:solidFill>
                <a:srgbClr val="FF0000"/>
              </a:solidFill>
              <a:latin typeface="맑은 고딕" pitchFamily="50" charset="-127"/>
              <a:ea typeface="맑은 고딕" pitchFamily="50" charset="-127"/>
            </a:endParaRPr>
          </a:p>
          <a:p>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소파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use the sofa in the living room almost every day.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sit on it when I watch TV.</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lie down on it to take a nap.</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침대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use my bed in my room every single day.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Getting a good night’s sleep is very important.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clean</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up my bed when I get up in the morning.</a:t>
            </a:r>
          </a:p>
        </p:txBody>
      </p:sp>
    </p:spTree>
    <p:extLst>
      <p:ext uri="{BB962C8B-B14F-4D97-AF65-F5344CB8AC3E}">
        <p14:creationId xmlns:p14="http://schemas.microsoft.com/office/powerpoint/2010/main" val="8605124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51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가구 지금 가구 비교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어렸을 때 집에 가지고 있던 가구에 대해 말해보세요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오늘 사용하는 가구와 어떻게 달랐나요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내가 어렸을 때</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내가 가졌던 가구는 훨씬 더 작았습니다</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예를 들어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침대는 아이들을 위한 싱글 침대였습니다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지금 사용하는 침대는 어른들을 위한 퀸 사이즈 침대입니다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가구의 색깔은 더욱 밝아지곤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예를 들어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책장은 밝은 갈색입니다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지금 사용하는 책장은 어두운 갈색입니다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가구의 사이즈와 색깔이 가장 큰 차이점입니다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12228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가구 지금 가구 비교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furniture that you had at home when you were a child.</a:t>
            </a:r>
          </a:p>
          <a:p>
            <a:r>
              <a:rPr lang="en-US" altLang="ko-KR" sz="1100" b="0" i="0" u="none" strike="noStrike" kern="1200" spc="-70" dirty="0">
                <a:solidFill>
                  <a:srgbClr val="FF0000"/>
                </a:solidFill>
                <a:latin typeface="맑은 고딕" panose="020B0503020000020004" pitchFamily="50" charset="-127"/>
                <a:ea typeface="맑은 고딕" panose="020B0503020000020004" pitchFamily="50" charset="-127"/>
                <a:cs typeface="+mn-cs"/>
              </a:rPr>
              <a:t>How was it different from the furniture that you use today?</a:t>
            </a:r>
            <a:endParaRPr lang="en-US" altLang="ko-KR" sz="1100" b="0" spc="-7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was a kid, the furniture I had was a lot smaller.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For example, my bed was a single bed for children.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bed I use now is a queen-sized bed for adults.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30" dirty="0">
                <a:solidFill>
                  <a:schemeClr val="tx1"/>
                </a:solidFill>
                <a:latin typeface="맑은 고딕" panose="020B0503020000020004" pitchFamily="50" charset="-127"/>
                <a:ea typeface="맑은 고딕" panose="020B0503020000020004" pitchFamily="50" charset="-127"/>
                <a:cs typeface="+mn-cs"/>
              </a:rPr>
              <a:t>Next, the color of the furniture used to be brighter.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For example, my bookshelf was light brown when I was a kid.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bookshelf I use now is dark brown.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 size and color of the furniture are the biggest differences.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3352841"/>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01 [Int]</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본인이 재활용하는 물건들 묘사                             </a:t>
            </a:r>
            <a:endParaRPr lang="en-US" altLang="ko-KR" sz="105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재활용은 많은 곳에서 흔한 습관입니다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재활용하는 모든 다른 종류의 물품들에 대해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집에서 재활용품을 따로 모읍니다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병</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플라스틱</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종이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유리를 재활용 바구니에 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평균 일주일에 한번 그들을 버립니다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나가는 길에 그렇게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재활용은 환경을 위해 좋습니다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우리의 자원을 재사용하는 것을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돕습니다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352841"/>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01 [Int]</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본인이 재활용하는 물건들 묘사                             </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Recycling is a common practice in many places.</a:t>
            </a:r>
          </a:p>
          <a:p>
            <a:r>
              <a:rPr lang="en-US" altLang="ko-KR" sz="1100" b="0" i="0" u="none" strike="noStrike" kern="1200" baseline="0" dirty="0">
                <a:solidFill>
                  <a:srgbClr val="FF0000"/>
                </a:solidFill>
                <a:latin typeface="+mn-lt"/>
                <a:ea typeface="+mn-ea"/>
                <a:cs typeface="+mn-cs"/>
              </a:rPr>
              <a:t>Tell me about all the different kinds of items that you recycle.</a:t>
            </a:r>
            <a:endParaRPr lang="en-US" altLang="ko-KR" sz="1100" b="0" baseline="0" dirty="0">
              <a:solidFill>
                <a:srgbClr val="FF0000"/>
              </a:solidFill>
              <a:latin typeface="맑은 고딕" pitchFamily="50" charset="-127"/>
              <a:ea typeface="맑은 고딕" pitchFamily="50" charset="-127"/>
            </a:endParaRPr>
          </a:p>
          <a:p>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gather the recyclables at home separately.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put cans, bottles, plastics, paper and glass in the recycling basket.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take them out once a week on average.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often do that on my way out.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Recycling is good for the environment.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helps to reuse our resources.</a:t>
            </a:r>
          </a:p>
        </p:txBody>
      </p:sp>
    </p:spTree>
    <p:extLst>
      <p:ext uri="{BB962C8B-B14F-4D97-AF65-F5344CB8AC3E}">
        <p14:creationId xmlns:p14="http://schemas.microsoft.com/office/powerpoint/2010/main" val="8599247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52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했던 재활용 방법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네가 어렸을 때 재활용이 어땠는지 내게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재활용품을 꺼낸 장소가 따로 있었나요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어떤 느낌인지</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어떤 행동을 했는지 자세히 설명해 주세요</a:t>
            </a:r>
            <a:r>
              <a:rPr lang="en-US" altLang="ko-KR" sz="1100" b="0" i="0" kern="1200" dirty="0">
                <a:solidFill>
                  <a:schemeClr val="lt1"/>
                </a:solidFill>
                <a:effectLst/>
                <a:latin typeface="+mn-lt"/>
                <a:ea typeface="+mn-ea"/>
                <a:cs typeface="+mn-cs"/>
              </a:rPr>
              <a:t>.</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그들의 집에서 재활용을 하지 않았습니다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대신에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학교에서 재활용하는 날들이 있곤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학생들은 학교에 폐휴지를 가지고 가곤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 자신도 그것을 한 것을 기억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요즈음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재활용은 사람들의 집에서 흔한 관행입니다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사람들의 삶에서 일상적인 루틴입니다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3776034"/>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02 [Adv]</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어렸을 때 했던 재활용 방법 묘사           </a:t>
            </a:r>
            <a:r>
              <a:rPr lang="en-US" altLang="ko-KR" sz="1050" b="1" dirty="0">
                <a:solidFill>
                  <a:schemeClr val="tx2"/>
                </a:solidFill>
                <a:latin typeface="+mn-lt"/>
                <a:ea typeface="+mn-ea"/>
              </a:rPr>
              <a:t>♣</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what recycling was like when you were a child.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Was there a particular place to which you took out the recyclables?</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Describe what it was like and what you did in detail.</a:t>
            </a:r>
            <a:endParaRPr lang="en-US" altLang="ko-KR" sz="1100" b="0" spc="-5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was a kid, people did NOT recycle at their homes.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Instead, there used to be recycling days at schools.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Students used to take scrap paper to school.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doing that myself when I was a kid.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these days, recycling is a common practice at people’s homes.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a daily routine in people’s lives.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3699090"/>
          </a:xfrm>
          <a:prstGeom prst="rect">
            <a:avLst/>
          </a:prstGeom>
          <a:noFill/>
        </p:spPr>
        <p:txBody>
          <a:bodyPr wrap="square" rtlCol="0">
            <a:spAutoFit/>
          </a:bodyPr>
          <a:lstStyle/>
          <a:p>
            <a:pPr latinLnBrk="1">
              <a:lnSpc>
                <a:spcPct val="100000"/>
              </a:lnSpc>
            </a:pPr>
            <a:r>
              <a:rPr lang="en-US" altLang="ko-KR" sz="1100" b="1" spc="-70" dirty="0">
                <a:solidFill>
                  <a:schemeClr val="tx2"/>
                </a:solidFill>
                <a:latin typeface="맑은 고딕" pitchFamily="50" charset="-127"/>
                <a:ea typeface="맑은 고딕" pitchFamily="50" charset="-127"/>
              </a:rPr>
              <a:t>03 [Adv]</a:t>
            </a:r>
            <a:r>
              <a:rPr lang="en-US" altLang="ko-KR" sz="1100" b="1" spc="-70" baseline="0" dirty="0">
                <a:solidFill>
                  <a:schemeClr val="tx2"/>
                </a:solidFill>
                <a:latin typeface="맑은 고딕" pitchFamily="50" charset="-127"/>
                <a:ea typeface="맑은 고딕" pitchFamily="50" charset="-127"/>
              </a:rPr>
              <a:t> </a:t>
            </a:r>
            <a:r>
              <a:rPr lang="ko-KR" altLang="en-US" sz="1100" b="1" spc="-70" baseline="0" dirty="0">
                <a:solidFill>
                  <a:srgbClr val="FF0000"/>
                </a:solidFill>
                <a:latin typeface="맑은 고딕" pitchFamily="50" charset="-127"/>
                <a:ea typeface="맑은 고딕" pitchFamily="50" charset="-127"/>
              </a:rPr>
              <a:t>재활용 관련된 예기치 않았던 에피소드 묘사</a:t>
            </a:r>
            <a:r>
              <a:rPr lang="en-US" altLang="ko-KR" sz="1100" b="1" spc="-70" dirty="0">
                <a:solidFill>
                  <a:schemeClr val="tx2"/>
                </a:solidFill>
                <a:latin typeface="+mn-lt"/>
                <a:ea typeface="+mn-ea"/>
              </a:rPr>
              <a:t>♣</a:t>
            </a:r>
          </a:p>
          <a:p>
            <a:pPr latinLnBrk="1">
              <a:lnSpc>
                <a:spcPct val="100000"/>
              </a:lnSpc>
            </a:pPr>
            <a:r>
              <a:rPr lang="ko-KR" altLang="en-US" sz="1100" b="0" i="0" kern="1200" dirty="0">
                <a:solidFill>
                  <a:srgbClr val="0070C0"/>
                </a:solidFill>
                <a:effectLst/>
                <a:latin typeface="+mn-lt"/>
                <a:ea typeface="+mn-ea"/>
                <a:cs typeface="+mn-cs"/>
              </a:rPr>
              <a:t>재활용하는 동안 때때로 문제가 발생합니다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아마도 픽업 서비스가 예정대로 오지 않았을 것입니다</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아니면</a:t>
            </a:r>
            <a:r>
              <a:rPr lang="en-US" altLang="ko-KR" sz="1100" b="0" i="0" kern="1200" spc="-50" dirty="0">
                <a:solidFill>
                  <a:srgbClr val="0070C0"/>
                </a:solidFill>
                <a:effectLst/>
                <a:latin typeface="+mn-lt"/>
                <a:ea typeface="+mn-ea"/>
                <a:cs typeface="+mn-cs"/>
              </a:rPr>
              <a:t>, </a:t>
            </a:r>
            <a:r>
              <a:rPr lang="ko-KR" altLang="en-US" sz="1100" b="0" i="0" kern="1200" spc="-50" dirty="0">
                <a:solidFill>
                  <a:srgbClr val="0070C0"/>
                </a:solidFill>
                <a:effectLst/>
                <a:latin typeface="+mn-lt"/>
                <a:ea typeface="+mn-ea"/>
                <a:cs typeface="+mn-cs"/>
              </a:rPr>
              <a:t>그 물건들이 컨테이너에 비해 너무 컸습니다</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재활용과 관련하여 기억에 남는 경험에 대해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최근에 재활용품을 꺼내 놓은 것을 기억 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캔으로부터 남은 맥주가 새어 나왔습니다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손은 끈적거리고 더러워졌습니다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또한 꽤 나쁜 냄새를 풍겼습니다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손을 씻어야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이후로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더 조심하려고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699090"/>
          </a:xfrm>
          <a:prstGeom prst="rect">
            <a:avLst/>
          </a:prstGeom>
          <a:noFill/>
        </p:spPr>
        <p:txBody>
          <a:bodyPr wrap="square" rtlCol="0">
            <a:spAutoFit/>
          </a:bodyPr>
          <a:lstStyle/>
          <a:p>
            <a:pPr latinLnBrk="1">
              <a:lnSpc>
                <a:spcPct val="100000"/>
              </a:lnSpc>
            </a:pPr>
            <a:r>
              <a:rPr lang="en-US" altLang="ko-KR" sz="1100" b="1" spc="-70" dirty="0">
                <a:solidFill>
                  <a:schemeClr val="tx2"/>
                </a:solidFill>
                <a:latin typeface="맑은 고딕" pitchFamily="50" charset="-127"/>
                <a:ea typeface="맑은 고딕" pitchFamily="50" charset="-127"/>
              </a:rPr>
              <a:t>03 [Adv]</a:t>
            </a:r>
            <a:r>
              <a:rPr lang="en-US" altLang="ko-KR" sz="1100" b="1" spc="-70" baseline="0" dirty="0">
                <a:solidFill>
                  <a:schemeClr val="tx2"/>
                </a:solidFill>
                <a:latin typeface="맑은 고딕" pitchFamily="50" charset="-127"/>
                <a:ea typeface="맑은 고딕" pitchFamily="50" charset="-127"/>
              </a:rPr>
              <a:t> </a:t>
            </a:r>
            <a:r>
              <a:rPr lang="ko-KR" altLang="en-US" sz="1100" b="1" spc="-70" baseline="0" dirty="0">
                <a:solidFill>
                  <a:srgbClr val="FF0000"/>
                </a:solidFill>
                <a:latin typeface="맑은 고딕" pitchFamily="50" charset="-127"/>
                <a:ea typeface="맑은 고딕" pitchFamily="50" charset="-127"/>
              </a:rPr>
              <a:t>재활용 관련된 예기치 않았던 에피소드 묘사</a:t>
            </a:r>
            <a:r>
              <a:rPr lang="en-US" altLang="ko-KR" sz="1100" b="1" spc="-70" dirty="0">
                <a:solidFill>
                  <a:schemeClr val="tx2"/>
                </a:solidFill>
                <a:latin typeface="+mn-lt"/>
                <a:ea typeface="+mn-ea"/>
              </a:rPr>
              <a: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Problems sometimes occur while recycling.</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Perhaps, the pick-up service did not come as planned.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Or, the items were too big for the containers.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memorable experience you have had related to recycling.</a:t>
            </a:r>
            <a:endParaRPr lang="en-US" altLang="ko-KR" sz="1100" b="0" baseline="0" dirty="0">
              <a:solidFill>
                <a:srgbClr val="FF0000"/>
              </a:solidFill>
              <a:latin typeface="맑은 고딕" pitchFamily="50" charset="-127"/>
              <a:ea typeface="맑은 고딕" pitchFamily="50" charset="-127"/>
            </a:endParaRPr>
          </a:p>
          <a:p>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taking out the recycling recently.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some leftover beer from a can leaked out.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My hands became sticky and dirty.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also smelled pretty bad.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wash my hands.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17204337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873474"/>
            <a:ext cx="6858000" cy="3231654"/>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11 </a:t>
            </a:r>
            <a:r>
              <a:rPr lang="ko-KR" altLang="en-US" sz="5400" b="1">
                <a:solidFill>
                  <a:srgbClr val="FF0000"/>
                </a:solidFill>
                <a:latin typeface="맑은 고딕" pitchFamily="50" charset="-127"/>
                <a:ea typeface="맑은 고딕" pitchFamily="50" charset="-127"/>
              </a:rPr>
              <a:t>선택형 주제</a:t>
            </a:r>
            <a:endParaRPr lang="en-US" altLang="ko-KR" sz="5400" b="1">
              <a:solidFill>
                <a:srgbClr val="FF0000"/>
              </a:solidFill>
              <a:latin typeface="맑은 고딕" pitchFamily="50" charset="-127"/>
              <a:ea typeface="맑은 고딕" pitchFamily="50" charset="-127"/>
            </a:endParaRPr>
          </a:p>
          <a:p>
            <a:pPr algn="ctr">
              <a:lnSpc>
                <a:spcPct val="150000"/>
              </a:lnSpc>
            </a:pPr>
            <a:r>
              <a:rPr lang="en-US" altLang="ko-KR" sz="5400" b="1">
                <a:latin typeface="맑은 고딕" pitchFamily="50" charset="-127"/>
                <a:ea typeface="맑은 고딕" pitchFamily="50" charset="-127"/>
              </a:rPr>
              <a:t>Movies</a:t>
            </a:r>
          </a:p>
          <a:p>
            <a:pPr algn="ctr">
              <a:lnSpc>
                <a:spcPct val="150000"/>
              </a:lnSpc>
            </a:pPr>
            <a:r>
              <a:rPr lang="ko-KR" altLang="en-US" sz="2800" b="1">
                <a:solidFill>
                  <a:schemeClr val="tx2"/>
                </a:solidFill>
                <a:latin typeface="맑은 고딕" pitchFamily="50" charset="-127"/>
                <a:ea typeface="맑은 고딕" pitchFamily="50" charset="-127"/>
              </a:rPr>
              <a:t>영화 </a:t>
            </a:r>
            <a:r>
              <a:rPr lang="ko-KR" altLang="en-US" sz="2800" b="1">
                <a:solidFill>
                  <a:schemeClr val="tx2"/>
                </a:solidFill>
                <a:latin typeface="맑은 고딕"/>
                <a:ea typeface="맑은 고딕"/>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9D18AD36-94D5-088F-6C5E-71825570EE5E}"/>
              </a:ext>
            </a:extLst>
          </p:cNvPr>
          <p:cNvSpPr>
            <a:spLocks noGrp="1"/>
          </p:cNvSpPr>
          <p:nvPr>
            <p:ph type="sldNum" sz="quarter" idx="12"/>
          </p:nvPr>
        </p:nvSpPr>
        <p:spPr/>
        <p:txBody>
          <a:bodyPr/>
          <a:lstStyle/>
          <a:p>
            <a:fld id="{18CC7079-95A2-4860-A138-51A9FC969471}" type="slidenum">
              <a:rPr lang="ko-KR" altLang="en-US" smtClean="0"/>
              <a:t>53</a:t>
            </a:fld>
            <a:endParaRPr lang="ko-KR" altLang="en-US"/>
          </a:p>
        </p:txBody>
      </p:sp>
    </p:spTree>
    <p:extLst>
      <p:ext uri="{BB962C8B-B14F-4D97-AF65-F5344CB8AC3E}">
        <p14:creationId xmlns:p14="http://schemas.microsoft.com/office/powerpoint/2010/main" val="40547779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54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가장 좋아하는 영화 장르와 좋아하는 이유 설명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설문조사에서 영화 보는 것을 좋아한다고 말했습니다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어떤 종류의 영화를 보는 것을 좋아합니까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왜 그런 종류의 영화를 좋아하나요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모든 종류의 영화를 보는 것을</a:t>
            </a:r>
            <a:endPar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에니메이션과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호러</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영화를 좋아하지 않는 유일한 종류의 영화입니다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한국영화를 보는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한국영화는 과거보다 많이 좋아졌습니다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보는 재미도 있고 즐거움도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그들은 또한 박스 오피스에서 매우 잘 하고 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몇몇 한국영화들은 해외에서 개봉되었습니다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모든 종류의 영화를 보는 것을</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20692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가장 좋아하는 영화 장르와 좋아하는 이유 설명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indicated in the survey that you like to watch movies.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movies do you like to watch?</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Why do you like those types of movies?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watch all kinds of movies.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only types of movies I do NOT like are animations and horror movies.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enjoy watching Korean movies.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Korean movies are a lot better than in the past.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fun to watch and entertaining.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also are doing very well at the box office.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some Korean movies are released overseas.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I think I watch all kinds of movies.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5053306"/>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02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최근 영화관에 영화 보러 가서 한 일들 설명</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최근에 언제 영화를 보러 갔는지 말해 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누구와 함께 갔고 그날은 어땠나요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60" dirty="0">
                <a:solidFill>
                  <a:srgbClr val="0070C0"/>
                </a:solidFill>
                <a:effectLst/>
                <a:latin typeface="+mn-lt"/>
                <a:ea typeface="+mn-ea"/>
                <a:cs typeface="+mn-cs"/>
              </a:rPr>
              <a:t>당신은 영화 전에 무엇을 하고 그 후에 무엇을 했습니까</a:t>
            </a:r>
            <a:r>
              <a:rPr lang="en-US" altLang="ko-KR" sz="1100" b="0" i="0" kern="1200" spc="-60" dirty="0">
                <a:solidFill>
                  <a:srgbClr val="0070C0"/>
                </a:solidFill>
                <a:effectLst/>
                <a:latin typeface="+mn-lt"/>
                <a:ea typeface="+mn-ea"/>
                <a:cs typeface="+mn-cs"/>
              </a:rPr>
              <a:t>?</a:t>
            </a:r>
            <a:endParaRPr lang="en-US" altLang="ko-KR" sz="1100" b="0" spc="-6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나의 친구와 함께 영화를 보러 갔던 것을 기억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영화를 보기 전에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팝콘과 소프트 음료를 삽니다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영화를 보고 난 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굉장한 멕시칸 레스토랑에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타운에서 베스트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타코를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주문한 새우는 즙이 많고 부드러웠습니다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식사와 함께 맥주를 마셨습니다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돌아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저녁식사 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99391"/>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02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최근 영화관에 영화 보러 가서 한 일들 설명</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about when you went to the movies recently.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Who did you go with and how was that day?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you do before the movie and what did you after?</a:t>
            </a:r>
            <a:endParaRPr lang="en-US" altLang="ko-KR" sz="1100" b="0" baseline="0" dirty="0">
              <a:solidFill>
                <a:srgbClr val="FF0000"/>
              </a:solidFill>
              <a:latin typeface="맑은 고딕" pitchFamily="50" charset="-127"/>
              <a:ea typeface="맑은 고딕" pitchFamily="50" charset="-127"/>
            </a:endParaRPr>
          </a:p>
          <a:p>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watch a movie with my friend recently.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Before watching the movie, we got some popcorn and soft drinks.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After watching the movie, we went to a great Mexican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the best tacos in town.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shrimp I ordered was very juicy and tender.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had some beer with the meal.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dinner.</a:t>
            </a:r>
          </a:p>
        </p:txBody>
      </p:sp>
    </p:spTree>
    <p:extLst>
      <p:ext uri="{BB962C8B-B14F-4D97-AF65-F5344CB8AC3E}">
        <p14:creationId xmlns:p14="http://schemas.microsoft.com/office/powerpoint/2010/main" val="32752254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55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기억에 남는 영화 자세히 설명                   </a:t>
            </a:r>
            <a:r>
              <a:rPr lang="en-US" altLang="ko-KR" sz="1000" b="1" dirty="0">
                <a:solidFill>
                  <a:schemeClr val="tx2"/>
                </a:solidFill>
                <a:latin typeface="+mn-lt"/>
                <a:ea typeface="+mn-ea"/>
              </a:rPr>
              <a:t>♣</a:t>
            </a:r>
            <a:r>
              <a:rPr lang="ko-KR" altLang="en-US" sz="1000" b="1" baseline="0" dirty="0">
                <a:solidFill>
                  <a:srgbClr val="FF0000"/>
                </a:solidFill>
                <a:latin typeface="맑은 고딕" pitchFamily="50" charset="-127"/>
                <a:ea typeface="맑은 고딕" pitchFamily="50" charset="-127"/>
              </a:rPr>
              <a:t>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당신이 과거에 본 기억에 남는 영화는 무엇입니까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그것은 무엇에 관한 것이었나요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 영화의 특별한 점은 무엇입니까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미션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임파서벌</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속편을 본 것을 기억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나의 가장 좋아하는 배우들 중 한명인 톰 크루즈가 출연했습니다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영화는 핵폭탄이 터지는 것을 막는 것을 시도하는 이든 헌터와 그의 팀에 관한 것입니다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영화는 재미있는 장면들로 가득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스토리라인과 끝부분 꼰 것을 좋아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영화에 연기와 액션 장면을 좋아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재미있는 대사들과 오리지날 사운드트랙을 좋아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킬러 영화 였다고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영화는 한국에 박스 오피스에서 매우 잘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박스 오피스 히트 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뒤돌아 보면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영화 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기억에 남는 영화 자세히 설명                   </a:t>
            </a:r>
            <a:r>
              <a:rPr lang="en-US" altLang="ko-KR" sz="1000" b="1" dirty="0">
                <a:solidFill>
                  <a:schemeClr val="tx2"/>
                </a:solidFill>
                <a:latin typeface="+mn-lt"/>
                <a:ea typeface="+mn-ea"/>
              </a:rPr>
              <a:t>♣</a:t>
            </a:r>
            <a:r>
              <a:rPr lang="ko-KR" altLang="en-US" sz="1000" b="1" baseline="0" dirty="0">
                <a:solidFill>
                  <a:srgbClr val="FF0000"/>
                </a:solidFill>
                <a:latin typeface="맑은 고딕" pitchFamily="50" charset="-127"/>
                <a:ea typeface="맑은 고딕" pitchFamily="50" charset="-127"/>
              </a:rPr>
              <a:t>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a memorable movie that you watched in the past?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it about? What was special about that movie?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watching the Mission Impossible sequel recently.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starred one of my favorite actors, Tom Cruise.</a:t>
            </a: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The movie was about Ethan Hunt and his team trying to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prevent nuclear bombs from going off.</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movie was full of entertaining scenes.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liked the storyline and the twist at the end.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liked the acting and the action scenes in the movie.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liked the funny lines and the original soundtrack.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it was a killer movie.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movie did very well at the box office in Korea.</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a box-office hit.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movie.</a:t>
            </a:r>
          </a:p>
        </p:txBody>
      </p:sp>
    </p:spTree>
    <p:extLst>
      <p:ext uri="{BB962C8B-B14F-4D97-AF65-F5344CB8AC3E}">
        <p14:creationId xmlns:p14="http://schemas.microsoft.com/office/powerpoint/2010/main" val="25604677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873474"/>
            <a:ext cx="6858000" cy="3231654"/>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12 </a:t>
            </a:r>
            <a:r>
              <a:rPr lang="ko-KR" altLang="en-US" sz="5400" b="1">
                <a:solidFill>
                  <a:srgbClr val="FF0000"/>
                </a:solidFill>
                <a:latin typeface="맑은 고딕" pitchFamily="50" charset="-127"/>
                <a:ea typeface="맑은 고딕" pitchFamily="50" charset="-127"/>
              </a:rPr>
              <a:t>선택형 주제</a:t>
            </a:r>
            <a:endParaRPr lang="en-US" altLang="ko-KR" sz="5400" b="1">
              <a:solidFill>
                <a:srgbClr val="FF0000"/>
              </a:solidFill>
              <a:latin typeface="맑은 고딕" pitchFamily="50" charset="-127"/>
              <a:ea typeface="맑은 고딕" pitchFamily="50" charset="-127"/>
            </a:endParaRPr>
          </a:p>
          <a:p>
            <a:pPr algn="ctr">
              <a:lnSpc>
                <a:spcPct val="150000"/>
              </a:lnSpc>
            </a:pPr>
            <a:r>
              <a:rPr lang="en-US" altLang="ko-KR" sz="5400" b="1">
                <a:latin typeface="맑은 고딕" pitchFamily="50" charset="-127"/>
                <a:ea typeface="맑은 고딕" pitchFamily="50" charset="-127"/>
              </a:rPr>
              <a:t>Music</a:t>
            </a:r>
          </a:p>
          <a:p>
            <a:pPr algn="ctr">
              <a:lnSpc>
                <a:spcPct val="150000"/>
              </a:lnSpc>
            </a:pPr>
            <a:r>
              <a:rPr lang="ko-KR" altLang="en-US" sz="2800" b="1">
                <a:solidFill>
                  <a:schemeClr val="tx2"/>
                </a:solidFill>
                <a:latin typeface="맑은 고딕" pitchFamily="50" charset="-127"/>
                <a:ea typeface="맑은 고딕" pitchFamily="50" charset="-127"/>
              </a:rPr>
              <a:t>음악 </a:t>
            </a:r>
            <a:r>
              <a:rPr lang="ko-KR" altLang="en-US" sz="2800" b="1">
                <a:solidFill>
                  <a:schemeClr val="tx2"/>
                </a:solidFill>
                <a:latin typeface="맑은 고딕"/>
                <a:ea typeface="맑은 고딕"/>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D13423FC-96F0-C6EA-8291-9D9FF20DB8E7}"/>
              </a:ext>
            </a:extLst>
          </p:cNvPr>
          <p:cNvSpPr>
            <a:spLocks noGrp="1"/>
          </p:cNvSpPr>
          <p:nvPr>
            <p:ph type="sldNum" sz="quarter" idx="12"/>
          </p:nvPr>
        </p:nvSpPr>
        <p:spPr/>
        <p:txBody>
          <a:bodyPr/>
          <a:lstStyle/>
          <a:p>
            <a:fld id="{18CC7079-95A2-4860-A138-51A9FC969471}" type="slidenum">
              <a:rPr lang="ko-KR" altLang="en-US" smtClean="0"/>
              <a:t>56</a:t>
            </a:fld>
            <a:endParaRPr lang="ko-KR" altLang="en-US"/>
          </a:p>
        </p:txBody>
      </p:sp>
    </p:spTree>
    <p:extLst>
      <p:ext uri="{BB962C8B-B14F-4D97-AF65-F5344CB8AC3E}">
        <p14:creationId xmlns:p14="http://schemas.microsoft.com/office/powerpoint/2010/main" val="14269123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57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좋아하는 음악 장르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좋아하는 가수 묘사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설문조사에서 음악을 듣는다고 말했습니다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어떤 종류의 음악을 듣습니까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가장 좋아하는 음악가나 작곡가는 누구입니까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가장 좋아하는 밴드 중 하나는 마론 파이브입니다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세계에서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탑밴드</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중 하나입니다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놀라운 그룹입니다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그룹에는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7</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명의 멤버가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전세계에 팬들을 가집니다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최근에 새로운 싱글을 발매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큰 히트였습니다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음악 차트에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위를 쳤습니다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많은 히트 송들을 가집니다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 중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슈거는</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나의 가장 좋아하는 것입니다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노래의 멜로디와 가사를 정말 좋아합니다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마룬 파이브는 그들의 콘서트에서 관중들을 열광하게 만들었습니다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그들의 콘서트의 모두는 매진 되었습니다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내가 가장 좋아하는 밴드입니다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217565"/>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좋아하는 음악 장르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좋아하는 가수 묘사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indicated in the survey that you listen to music.</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music do you listen to?</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Who are some of your favorite musicians or composers?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One of my favorite bands is Maroon 5.</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one of the top bands in the world.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an amazing group.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seven members in the group.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have fans all over the world.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released a new single recently. It was a big hit.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hit No.1 on music charts.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have many hit songs. Among them, Sugar is my favorite.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really like the melody and the lyrics of that song.</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Maroon 5 makes the crowd go crazy at their concerts.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All of their concerts get sold-out.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the band I like the most.</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791696"/>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음악을 듣는 장소</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시간 묘사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언제</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어디서 주로 음악을 듣습니까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라디오를 듣습니까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당신은 콘서트에 갑니까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당신이 음악을 즐기는 다양한 방법에 대해 말해주세요</a:t>
            </a:r>
            <a:r>
              <a:rPr lang="en-US" altLang="ko-KR" sz="1100" b="0" i="0" kern="1200" spc="-50" dirty="0">
                <a:solidFill>
                  <a:srgbClr val="0070C0"/>
                </a:solidFill>
                <a:effectLst/>
                <a:latin typeface="+mn-lt"/>
                <a:ea typeface="+mn-ea"/>
                <a:cs typeface="+mn-cs"/>
              </a:rPr>
              <a:t>.</a:t>
            </a:r>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휴대폰으로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이동 중에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예를 들면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지하철이나 버스를 탈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운전할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거리를 걸을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운동을 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집안일을 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우울할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심심할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휴대폰으로 음악을 듣습니다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원할 때마다</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2241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음악을 듣는 장소</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시간 묘사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When and where do you usually go to listen to music?</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you listen to the radio? Do you go to concerts?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different ways you enjoy music.</a:t>
            </a:r>
            <a:endParaRPr lang="en-US" altLang="ko-KR" sz="1100" b="0" baseline="0" dirty="0">
              <a:solidFill>
                <a:srgbClr val="FF0000"/>
              </a:solidFill>
              <a:latin typeface="맑은 고딕" pitchFamily="50" charset="-127"/>
              <a:ea typeface="맑은 고딕" pitchFamily="50" charset="-127"/>
            </a:endParaRPr>
          </a:p>
          <a:p>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listen to music on my cell phone.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often listen to music on the go.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For example, I listen to music when I’m on the subway or the bus.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listen to music when I’m driving.</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Also, I listen to music when I’m walking down the street.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listen to music when I’m working out.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listen to music when I’m doing housework.</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listen to music when I feel gloomy.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I listen to music when I’m bored.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listen to music on my phone whenever I want to.</a:t>
            </a:r>
          </a:p>
        </p:txBody>
      </p:sp>
    </p:spTree>
    <p:extLst>
      <p:ext uri="{BB962C8B-B14F-4D97-AF65-F5344CB8AC3E}">
        <p14:creationId xmlns:p14="http://schemas.microsoft.com/office/powerpoint/2010/main" val="3072164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58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음악을 처음 관심 갖게 된 계기</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음악 취향 변화 설명                                                                </a:t>
            </a:r>
            <a:r>
              <a:rPr lang="en-US" altLang="ko-KR" sz="1000" b="1" dirty="0">
                <a:solidFill>
                  <a:schemeClr val="tx2"/>
                </a:solidFill>
                <a:latin typeface="+mn-lt"/>
                <a:ea typeface="+mn-ea"/>
              </a:rPr>
              <a:t>♣</a:t>
            </a:r>
            <a:r>
              <a:rPr lang="ko-KR" altLang="en-US" sz="1000" b="1" baseline="0" dirty="0">
                <a:solidFill>
                  <a:srgbClr val="FF0000"/>
                </a:solidFill>
                <a:latin typeface="맑은 고딕" pitchFamily="50" charset="-127"/>
                <a:ea typeface="맑은 고딕" pitchFamily="50" charset="-127"/>
              </a:rPr>
              <a:t>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언제 처음으로 음악에 관심을 가지게 되었습니까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처음에 어떤 종류의 음악을 좋아했나요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어렸을 때부터 오늘까지 음악에 대한 관심이 어떻게 발전했는지 말해주세요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처음 음악에 관심을 가지게 되었습니다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 내가 좋아했던 그룹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GOD</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라 불리는 한국 그룹에 미쳐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그 당시에 선풍적인 인기를 끌었습니다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그들의 노래를 다시 또 다시 듣곤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내가 나이가 들면서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다양한 종류의 음악을 듣기 시작했습니다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팝뮤직을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때때로 힙합음악을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한국 음악을 즐깁니다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때때로 외국 음악을 즐깁니다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지금 다양한 종류의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음악을 처음 관심 갖게 된 계기</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음악 취향 변화 설명                                                                </a:t>
            </a:r>
            <a:r>
              <a:rPr lang="en-US" altLang="ko-KR" sz="1000" b="1" dirty="0">
                <a:solidFill>
                  <a:schemeClr val="tx2"/>
                </a:solidFill>
                <a:latin typeface="+mn-lt"/>
                <a:ea typeface="+mn-ea"/>
              </a:rPr>
              <a:t>♣</a:t>
            </a:r>
            <a:r>
              <a:rPr lang="ko-KR" altLang="en-US" sz="1000" b="1" baseline="0" dirty="0">
                <a:solidFill>
                  <a:srgbClr val="FF0000"/>
                </a:solidFill>
                <a:latin typeface="맑은 고딕" pitchFamily="50" charset="-127"/>
                <a:ea typeface="맑은 고딕" pitchFamily="50" charset="-127"/>
              </a:rPr>
              <a:t>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did you first become interested in music?</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music did you like at first?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how your interest in music developed from your childhood until today.</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first became interested in music because of a group I liked when I was a kid.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crazy about a Korean group called GOD.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were sensational at that time.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used to listen to their songs again and again.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as I got older, I started to listen to various types of music.</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listen to pop music, but I sometimes listen to hip hop music.</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enjoy Korean music, but I sometimes enjoy foreign music.</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I listen to various types of music now.</a:t>
            </a:r>
          </a:p>
        </p:txBody>
      </p:sp>
    </p:spTree>
    <p:extLst>
      <p:ext uri="{BB962C8B-B14F-4D97-AF65-F5344CB8AC3E}">
        <p14:creationId xmlns:p14="http://schemas.microsoft.com/office/powerpoint/2010/main" val="6172476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678370"/>
            <a:ext cx="6858000" cy="6370975"/>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13 </a:t>
            </a: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Internet</a:t>
            </a:r>
          </a:p>
          <a:p>
            <a:pPr algn="ctr"/>
            <a:r>
              <a:rPr lang="en-US" altLang="ko-KR" sz="5400" b="1">
                <a:latin typeface="맑은 고딕" pitchFamily="50" charset="-127"/>
                <a:ea typeface="맑은 고딕" pitchFamily="50" charset="-127"/>
              </a:rPr>
              <a:t>Phones</a:t>
            </a:r>
          </a:p>
          <a:p>
            <a:pPr algn="ctr"/>
            <a:r>
              <a:rPr lang="en-US" altLang="ko-KR" sz="5400" b="1">
                <a:latin typeface="맑은 고딕" pitchFamily="50" charset="-127"/>
                <a:ea typeface="맑은 고딕" pitchFamily="50" charset="-127"/>
              </a:rPr>
              <a:t>Technology</a:t>
            </a:r>
          </a:p>
          <a:p>
            <a:pPr algn="ctr"/>
            <a:endParaRPr lang="en-US" altLang="ko-KR" sz="5400" b="1">
              <a:solidFill>
                <a:schemeClr val="tx2"/>
              </a:solidFill>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음식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r>
              <a:rPr lang="ko-KR" altLang="en-US" sz="2800" b="1">
                <a:solidFill>
                  <a:schemeClr val="tx2"/>
                </a:solidFill>
              </a:rPr>
              <a:t>건강 ★★</a:t>
            </a:r>
            <a:endParaRPr lang="en-US" altLang="ko-KR" sz="2800" b="1">
              <a:solidFill>
                <a:schemeClr val="tx2"/>
              </a:solidFill>
            </a:endParaRPr>
          </a:p>
          <a:p>
            <a:pPr algn="ctr"/>
            <a:r>
              <a:rPr lang="ko-KR" altLang="en-US" sz="2800" b="1">
                <a:solidFill>
                  <a:schemeClr val="tx2"/>
                </a:solidFill>
                <a:latin typeface="맑은 고딕" panose="020B0503020000020004" pitchFamily="50" charset="-127"/>
                <a:ea typeface="맑은 고딕" panose="020B0503020000020004" pitchFamily="50" charset="-127"/>
              </a:rPr>
              <a:t>기술 </a:t>
            </a:r>
            <a:r>
              <a:rPr lang="ko-KR" altLang="en-US" sz="2800" b="1">
                <a:solidFill>
                  <a:schemeClr val="tx2"/>
                </a:solidFill>
              </a:rPr>
              <a:t>★</a:t>
            </a:r>
            <a:endParaRPr lang="en-US" altLang="ko-KR" sz="2800" b="1">
              <a:solidFill>
                <a:schemeClr val="tx2"/>
              </a:solidFill>
            </a:endParaRPr>
          </a:p>
        </p:txBody>
      </p:sp>
      <p:sp>
        <p:nvSpPr>
          <p:cNvPr id="3" name="슬라이드 번호 개체 틀 2">
            <a:extLst>
              <a:ext uri="{FF2B5EF4-FFF2-40B4-BE49-F238E27FC236}">
                <a16:creationId xmlns:a16="http://schemas.microsoft.com/office/drawing/2014/main" xmlns="" id="{F0D8E0C8-AAE8-9F4E-24E1-3E130A2C4E9D}"/>
              </a:ext>
            </a:extLst>
          </p:cNvPr>
          <p:cNvSpPr>
            <a:spLocks noGrp="1"/>
          </p:cNvSpPr>
          <p:nvPr>
            <p:ph type="sldNum" sz="quarter" idx="12"/>
          </p:nvPr>
        </p:nvSpPr>
        <p:spPr/>
        <p:txBody>
          <a:bodyPr/>
          <a:lstStyle/>
          <a:p>
            <a:fld id="{18CC7079-95A2-4860-A138-51A9FC969471}" type="slidenum">
              <a:rPr lang="ko-KR" altLang="en-US" smtClean="0"/>
              <a:t>59</a:t>
            </a:fld>
            <a:endParaRPr lang="ko-KR" altLang="en-US"/>
          </a:p>
        </p:txBody>
      </p:sp>
    </p:spTree>
    <p:extLst>
      <p:ext uri="{BB962C8B-B14F-4D97-AF65-F5344CB8AC3E}">
        <p14:creationId xmlns:p14="http://schemas.microsoft.com/office/powerpoint/2010/main" val="19047427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95300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사람들이 주로 인터넷으로 하는 일들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사람들은 보통 인터넷에서 무엇을 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게임을 하거나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텔레비전을 보거나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영화를 보나요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사람들이 온라인에서 하는 모든 것에 대해 이야기하세요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요즈음 인터넷에서 많은 것들을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이메일 보내거나 메시지를 체크합니다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9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spc="-9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90" dirty="0">
                <a:solidFill>
                  <a:schemeClr val="tx1"/>
                </a:solidFill>
                <a:latin typeface="맑은 고딕" panose="020B0503020000020004" pitchFamily="50" charset="-127"/>
                <a:ea typeface="맑은 고딕" panose="020B0503020000020004" pitchFamily="50" charset="-127"/>
                <a:cs typeface="+mn-cs"/>
              </a:rPr>
              <a:t>그들은 온라인 쇼핑을 하거나 온라인 뱅킹을 합니다</a:t>
            </a:r>
            <a:r>
              <a:rPr lang="en-US" altLang="ko-KR" sz="1100" b="0" i="0" u="none" strike="noStrike" kern="1200" spc="-9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온라인 게임들은 플레이 하거나 비디오 클립들은 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그들은 </a:t>
            </a:r>
            <a:r>
              <a:rPr lang="ko-KR" altLang="en-US" sz="1100" b="0" i="0" u="none" strike="noStrike" kern="1200" spc="-60" dirty="0" err="1">
                <a:solidFill>
                  <a:schemeClr val="tx1"/>
                </a:solidFill>
                <a:latin typeface="맑은 고딕" panose="020B0503020000020004" pitchFamily="50" charset="-127"/>
                <a:ea typeface="맑은 고딕" panose="020B0503020000020004" pitchFamily="50" charset="-127"/>
                <a:cs typeface="+mn-cs"/>
              </a:rPr>
              <a:t>쇼셜</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미디어에 물건들을 꽤 자주 올립니다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그것들은 사람들이 인터넷에서 하는 것입니다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3699090"/>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사람들이 주로 인터넷으로 하는 일들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people normally do on the internet?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they play games, watch television, or watch movies?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all the things people do online.</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dirty="0">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do many things on the internet these days.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they send emails or check messages.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they shop online or do online banking.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they play online games or watch video clips.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they post things on social media quite often.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people do on the internet.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46497"/>
            <a:ext cx="3429000" cy="414062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주로 인터넷으로 하는 일들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인터넷으로 보통 무엇을 합니까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온라인 쇼핑하는 것을 좋아하나요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60" dirty="0">
                <a:solidFill>
                  <a:srgbClr val="0070C0"/>
                </a:solidFill>
                <a:effectLst/>
                <a:latin typeface="+mn-lt"/>
                <a:ea typeface="+mn-ea"/>
                <a:cs typeface="+mn-cs"/>
              </a:rPr>
              <a:t>여러분은 다른 사람들과 비디오를 공유하는 것을 좋아하나요</a:t>
            </a:r>
            <a:r>
              <a:rPr lang="en-US" altLang="ko-KR" sz="1000" b="0" i="0" kern="1200" spc="-6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온라인에서 하는 모든 것에 대해 말해주세요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요즈음 온라인에서 여러가지 것들을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종종 인터넷 접속을 위해 나의 스마트폰을 사용합니다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인터넷 서핑을 할 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원할 때마다</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메세징</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어플로 사람들과 함께 채팅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온라인 검색을 하거나 뉴스 기사를 읽습니다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스트리밍하거나 영화를 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일기예보를 체크합니다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사람들의 게시물에 메시지를 남깁니다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인터넷에서 하는 것입니다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14062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주로 인터넷으로 하는 일들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you usually do on the internet?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you like to shop online?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you like sharing videos with other people?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everything that you do online.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 various things online these days.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often use my smartphone to get access to the internet.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can surf the internet whenever I want to.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I chat with people on messaging apps.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do online searches or read news articles.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I stream music or watch movies.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check the weather forecast.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leave messages on people’s postings.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I do on the internet.</a:t>
            </a:r>
          </a:p>
        </p:txBody>
      </p:sp>
    </p:spTree>
    <p:extLst>
      <p:ext uri="{BB962C8B-B14F-4D97-AF65-F5344CB8AC3E}">
        <p14:creationId xmlns:p14="http://schemas.microsoft.com/office/powerpoint/2010/main" val="7681487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8400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초창기 인터넷 서핑을 했던 경험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인터넷 서핑에 대한 당신의 초기 경험에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경험에 대해 특별히 기억나는 것이 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과거에는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인터넷 접속은 매우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느렸습니다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웹사이트에 접속하는데 나에게 많은 시간이 걸렸습니다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주로 인터넷을 접속하는데 나의 컴퓨터를 사용했습니다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지금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인터넷은 많이 빨라졌습니다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지금 시간이 훨씬 적게 걸립니다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나의 스마트폰으로 인터넷을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서핑합니다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이동하면서 인터넷 접속을 할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스마트폰 덕분에 인터넷 서핑은 지금 많이 쉬워졌습니다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537781"/>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03 [Adv]</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초창기 인터넷 서핑을 했던 경험 묘사     </a:t>
            </a:r>
            <a:r>
              <a:rPr lang="en-US" altLang="ko-KR" sz="1050" b="1" dirty="0">
                <a:solidFill>
                  <a:schemeClr val="tx2"/>
                </a:solidFill>
                <a:latin typeface="+mn-lt"/>
                <a:ea typeface="+mn-ea"/>
              </a:rPr>
              <a:t>♣</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your early experience of surfing the internet.</a:t>
            </a:r>
          </a:p>
          <a:p>
            <a:r>
              <a:rPr lang="en-US" altLang="ko-KR" sz="1100" b="0" i="0" u="none" strike="noStrike" kern="1200" spc="-70" dirty="0">
                <a:solidFill>
                  <a:srgbClr val="FF0000"/>
                </a:solidFill>
                <a:latin typeface="맑은 고딕" panose="020B0503020000020004" pitchFamily="50" charset="-127"/>
                <a:ea typeface="맑은 고딕" panose="020B0503020000020004" pitchFamily="50" charset="-127"/>
                <a:cs typeface="+mn-cs"/>
              </a:rPr>
              <a:t>What do you particularly remember about that experience?</a:t>
            </a:r>
            <a:endParaRPr lang="en-US" altLang="ko-KR" sz="1100" b="0" spc="-7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the past, internet connection was very slow.</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took me a long time to log on to websites.</a:t>
            </a:r>
          </a:p>
          <a:p>
            <a:pPr>
              <a:lnSpc>
                <a:spcPct val="150000"/>
              </a:lnSpc>
            </a:pPr>
            <a:r>
              <a:rPr lang="en-US" altLang="ko-KR" sz="1100" b="0" i="0" u="none" strike="noStrike" kern="1200" spc="-30" baseline="0" dirty="0">
                <a:solidFill>
                  <a:schemeClr val="tx1"/>
                </a:solidFill>
                <a:latin typeface="맑은 고딕" panose="020B0503020000020004" pitchFamily="50" charset="-127"/>
                <a:ea typeface="맑은 고딕" panose="020B0503020000020004" pitchFamily="50" charset="-127"/>
                <a:cs typeface="+mn-cs"/>
              </a:rPr>
              <a:t>Plus, I mostly used my computer to get access to the internet.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now, the internet is a lot faster.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takes much less time now.</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often surf the internet on my smartphone.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can get access to the internet on the go.</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30" baseline="0" dirty="0">
                <a:solidFill>
                  <a:schemeClr val="tx1"/>
                </a:solidFill>
                <a:latin typeface="맑은 고딕" panose="020B0503020000020004" pitchFamily="50" charset="-127"/>
                <a:ea typeface="맑은 고딕" panose="020B0503020000020004" pitchFamily="50" charset="-127"/>
                <a:cs typeface="+mn-cs"/>
              </a:rPr>
              <a:t>So, internet surfing is a lot easier now thanks to smartphones.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20692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인터넷을 이용해서 수행했던 과거 프로젝트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프로젝트를 끝내기 위해 인터넷을 사용한 시기에 대해 말해 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프로젝트는 무엇에 관한 것이었나요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80" dirty="0">
                <a:solidFill>
                  <a:srgbClr val="0070C0"/>
                </a:solidFill>
                <a:effectLst/>
                <a:latin typeface="+mn-lt"/>
                <a:ea typeface="+mn-ea"/>
                <a:cs typeface="+mn-cs"/>
              </a:rPr>
              <a:t>인터넷이 그 프로젝트를 하는데 어떻게 도움이 되었나요</a:t>
            </a:r>
            <a:r>
              <a:rPr lang="en-US" altLang="ko-KR" sz="1100" b="0" i="0" kern="1200" spc="-80" dirty="0">
                <a:solidFill>
                  <a:srgbClr val="0070C0"/>
                </a:solidFill>
                <a:effectLst/>
                <a:latin typeface="+mn-lt"/>
                <a:ea typeface="+mn-ea"/>
                <a:cs typeface="+mn-cs"/>
              </a:rPr>
              <a:t>?</a:t>
            </a:r>
            <a:endParaRPr lang="en-US" altLang="ko-KR" sz="1100" b="0" spc="-8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최근에 일에서 프로젝트를 한 것이 기억 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프로젝트를 위해 리포트를 써야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몇몇 정보를 찾기 위해 조금의 검색을 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데이터를 모았고 나의 레포트에 그들을 넣었습니다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90" dirty="0">
                <a:solidFill>
                  <a:schemeClr val="tx1"/>
                </a:solidFill>
                <a:latin typeface="맑은 고딕" panose="020B0503020000020004" pitchFamily="50" charset="-127"/>
                <a:ea typeface="맑은 고딕" panose="020B0503020000020004" pitchFamily="50" charset="-127"/>
                <a:cs typeface="+mn-cs"/>
              </a:rPr>
              <a:t>그 레포트는 더욱 좋아졌습니다</a:t>
            </a:r>
            <a:r>
              <a:rPr lang="en-US" altLang="ko-KR" sz="1100" b="0" i="0" u="none" strike="noStrike" kern="1200" spc="-9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spc="-90" dirty="0">
                <a:solidFill>
                  <a:schemeClr val="tx1"/>
                </a:solidFill>
                <a:latin typeface="맑은 고딕" panose="020B0503020000020004" pitchFamily="50" charset="-127"/>
                <a:ea typeface="맑은 고딕" panose="020B0503020000020004" pitchFamily="50" charset="-127"/>
                <a:cs typeface="+mn-cs"/>
              </a:rPr>
              <a:t> 많은 정보가 있기 때문에</a:t>
            </a:r>
            <a:endParaRPr lang="en-US" altLang="ko-KR" sz="1100" b="0" i="0" u="none" strike="noStrike" kern="1200" spc="-9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그것은 시간과 에너지를 들일 만한 가치가 있었습니다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인터넷은 매우 도움이 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나의 프로젝트를 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0692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인터넷을 이용해서 수행했던 과거 프로젝트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when you used the internet to get a project done.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the project about?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did the internet help you do that project?</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doing a project at work recently.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write a report for the project.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did some searches to find some information.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gathered some data and put them in my report.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report became better because there was a lot of information.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worth the time and energy.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 internet was very helpful when I was doing my project.</a:t>
            </a:r>
          </a:p>
        </p:txBody>
      </p:sp>
    </p:spTree>
    <p:extLst>
      <p:ext uri="{BB962C8B-B14F-4D97-AF65-F5344CB8AC3E}">
        <p14:creationId xmlns:p14="http://schemas.microsoft.com/office/powerpoint/2010/main" val="20862520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3011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사람들이 가장 많이 사용하는 기술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나라에서는 사람들이 일반적으로 어떤 종류의 기술을 사용하나요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사람들은 컴퓨터</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휴대폰</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아니면 휴대용 기기를 사용하나요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사람들이 사용하는 일반적인 형태의 기술은 무엇입니까</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요즈음 그들의 스마트폰으로 많은 것들을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이메일 보내거나 메시지를 체크합니다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온라인 쇼핑을 하거나 온라인 뱅킹을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온라인 게임들을 플레이 하거나 비디오 클립들은 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그들은 </a:t>
            </a:r>
            <a:r>
              <a:rPr lang="ko-KR" altLang="en-US" sz="1100" b="0" i="0" u="none" strike="noStrike" kern="1200" spc="-60" dirty="0" err="1">
                <a:solidFill>
                  <a:schemeClr val="tx1"/>
                </a:solidFill>
                <a:latin typeface="맑은 고딕" panose="020B0503020000020004" pitchFamily="50" charset="-127"/>
                <a:ea typeface="맑은 고딕" panose="020B0503020000020004" pitchFamily="50" charset="-127"/>
                <a:cs typeface="+mn-cs"/>
              </a:rPr>
              <a:t>쇼셜</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미디어에 물건들을 꽤 자주 올립니다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사람들이 그들의 스마트폰으로 하는 일입니다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54547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사람들이 가장 많이 사용하는 기술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technology do people typically use in your country?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people use computers, cell phones, or hand-held devices?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are some common forms of technology that people use?</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do many things on their smartphones these days.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they send emails or check messages.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they shop online or do online banking.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they play online games or watch video clips.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they post things on social media quite often.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people do on their smartphones.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전화기에 대해 가장 좋아하는 기능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일상적으로 사용하는 기술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핸드폰의 어떤 점이 가장 </a:t>
            </a:r>
            <a:r>
              <a:rPr lang="ko-KR" altLang="en-US" sz="1000" b="0" i="0" kern="1200" dirty="0" err="1">
                <a:solidFill>
                  <a:srgbClr val="0070C0"/>
                </a:solidFill>
                <a:effectLst/>
                <a:latin typeface="+mn-lt"/>
                <a:ea typeface="+mn-ea"/>
                <a:cs typeface="+mn-cs"/>
              </a:rPr>
              <a:t>좋으세요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카메라를 좋아하시거나 특정 애플리케이션을 좋아하실 수도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이러한 기능을 좋아하는 이유와 이유를 말씀해 주십시오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어떤 기술을 가장 자주 사용하십니까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당신은 컴퓨터를 사용하나요</a:t>
            </a:r>
            <a:r>
              <a:rPr lang="en-US" altLang="ko-KR" sz="1000" b="0" i="0" kern="1200" spc="-50" dirty="0">
                <a:solidFill>
                  <a:srgbClr val="0070C0"/>
                </a:solidFill>
                <a:effectLst/>
                <a:latin typeface="+mn-lt"/>
                <a:ea typeface="+mn-ea"/>
                <a:cs typeface="+mn-cs"/>
              </a:rPr>
              <a:t>, </a:t>
            </a:r>
            <a:r>
              <a:rPr lang="ko-KR" altLang="en-US" sz="1000" b="0" i="0" kern="1200" spc="-50" dirty="0">
                <a:solidFill>
                  <a:srgbClr val="0070C0"/>
                </a:solidFill>
                <a:effectLst/>
                <a:latin typeface="+mn-lt"/>
                <a:ea typeface="+mn-ea"/>
                <a:cs typeface="+mn-cs"/>
              </a:rPr>
              <a:t>아니면 휴대폰을 사용하나요</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매일 사용하는 가장 일반적인 종류의 기술에 대해 말해주세요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매일매일 나의 휴대폰을 사용합니다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종종 인터넷 접속을 위해 나의 스마트폰을 사용합니다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나는 인터넷 서핑을 할 수 있습니다</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내가 원할 때마다</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메세징</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어플로 사람들과 함께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채팅합니다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온라인 검색을 하거나 뉴스 기사를 읽습니다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스트리밍하거나 영화를 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일기예보를 체크합니다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사람들의 게시물에 메시지를 남깁니다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나의 전화로 하는 것들입니다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전화기에 대해 가장 좋아하는 기능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일상적으로 사용하는 기술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you like most about your phone?</a:t>
            </a:r>
          </a:p>
          <a:p>
            <a:r>
              <a:rPr lang="en-US" altLang="ko-KR" sz="1000" b="0" i="0" u="none" strike="noStrike" kern="1200" spc="-80" baseline="0" dirty="0">
                <a:solidFill>
                  <a:srgbClr val="FF0000"/>
                </a:solidFill>
                <a:latin typeface="맑은 고딕" panose="020B0503020000020004" pitchFamily="50" charset="-127"/>
                <a:ea typeface="맑은 고딕" panose="020B0503020000020004" pitchFamily="50" charset="-127"/>
                <a:cs typeface="+mn-cs"/>
              </a:rPr>
              <a:t>Maybe you like the camera or maybe you like certain applications.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why you like those features and why.</a:t>
            </a:r>
          </a:p>
          <a:p>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piece of technology do you use most often?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you use computers or mobile phones?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most typical type of technology you use every day.</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use my cell phone every single day.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I often use my smartphone to get access to the internet.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can surf the internet whenever I want to.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I chat with people on messaging apps.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do online searches or read news articles.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I stream music or watch movies.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check the weather forecast.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leave messages on people’s postings.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I do on my phone.</a:t>
            </a:r>
          </a:p>
        </p:txBody>
      </p:sp>
    </p:spTree>
    <p:extLst>
      <p:ext uri="{BB962C8B-B14F-4D97-AF65-F5344CB8AC3E}">
        <p14:creationId xmlns:p14="http://schemas.microsoft.com/office/powerpoint/2010/main" val="20989175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3714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전화통화 외에 전화기로 주로 하는 일들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전화로 사람들과 대화하는 것 외에 무엇을 하나요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당신의 소셜 미디어 페이지에서 업데이트를 하나요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당신은 게임을 합니까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주로 핸드폰으로 무엇을 하는지 말해주세요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전화 거는 것 외에</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나의 휴대폰으로 음악을 듣습니다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이동 중에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예를 들면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지하철이나 버스를 탈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운전할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거리를 걸을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운동을 할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집안일을 할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우울할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심심할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휴대폰으로 음악을 듣습니다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원할 때마다</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전화통화 외에 전화기로 주로 하는 일들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you do on your phone besides talking to people over the phone?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you make updates on your social media page? Do you play games?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what you typically do on your phone.</a:t>
            </a:r>
            <a:endParaRPr lang="en-US" altLang="ko-KR" sz="1000" b="0" baseline="0" dirty="0">
              <a:solidFill>
                <a:srgbClr val="FF0000"/>
              </a:solidFill>
              <a:latin typeface="맑은 고딕" pitchFamily="50" charset="-127"/>
              <a:ea typeface="맑은 고딕" pitchFamily="50" charset="-127"/>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Other than making phone calls, I listen to music on my phone.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often listen to music on the go.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For example, I listen to music when I’m on the subway or the bus.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listen to music when I’m driving.</a:t>
            </a: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Plus, I listen to music when I’m walking down the street.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listen to music when I’m working 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listen to music when I’m doing housework.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listen to music when I feel gloomy.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listen to music when I’m bored.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listen to music on my phone whenever I want to.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630114"/>
          </a:xfrm>
          <a:prstGeom prst="rect">
            <a:avLst/>
          </a:prstGeom>
          <a:noFill/>
        </p:spPr>
        <p:txBody>
          <a:bodyPr wrap="square" rtlCol="0">
            <a:spAutoFit/>
          </a:bodyPr>
          <a:lstStyle/>
          <a:p>
            <a:pPr latinLnBrk="1">
              <a:lnSpc>
                <a:spcPct val="100000"/>
              </a:lnSpc>
            </a:pPr>
            <a:r>
              <a:rPr lang="en-US" altLang="ko-KR" sz="1100" b="1" spc="-60" dirty="0">
                <a:solidFill>
                  <a:schemeClr val="tx2"/>
                </a:solidFill>
                <a:latin typeface="맑은 고딕" pitchFamily="50" charset="-127"/>
                <a:ea typeface="맑은 고딕" pitchFamily="50" charset="-127"/>
              </a:rPr>
              <a:t>04 [Adv]</a:t>
            </a:r>
            <a:r>
              <a:rPr lang="en-US" altLang="ko-KR" sz="1100" b="1" spc="-60" baseline="0" dirty="0">
                <a:solidFill>
                  <a:schemeClr val="tx2"/>
                </a:solidFill>
                <a:latin typeface="맑은 고딕" pitchFamily="50" charset="-127"/>
                <a:ea typeface="맑은 고딕" pitchFamily="50" charset="-127"/>
              </a:rPr>
              <a:t> </a:t>
            </a:r>
            <a:r>
              <a:rPr lang="ko-KR" altLang="en-US" sz="1100" b="1" spc="-60" baseline="0" dirty="0">
                <a:solidFill>
                  <a:srgbClr val="FF0000"/>
                </a:solidFill>
                <a:latin typeface="맑은 고딕" pitchFamily="50" charset="-127"/>
                <a:ea typeface="맑은 고딕" pitchFamily="50" charset="-127"/>
              </a:rPr>
              <a:t>본인이 썼던 첫 전화기와 지금 전화기 비교</a:t>
            </a:r>
            <a:r>
              <a:rPr lang="en-US" altLang="ko-KR" sz="1100" b="1" spc="-60" dirty="0">
                <a:solidFill>
                  <a:schemeClr val="tx2"/>
                </a:solidFill>
                <a:latin typeface="+mn-lt"/>
                <a:ea typeface="+mn-ea"/>
              </a:rPr>
              <a:t>♣</a:t>
            </a:r>
            <a:endParaRPr lang="en-US" altLang="ko-KR" sz="1100" b="1" spc="-60"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baseline="0" dirty="0">
                <a:solidFill>
                  <a:srgbClr val="FF0000"/>
                </a:solidFill>
                <a:latin typeface="맑은 고딕" pitchFamily="50" charset="-127"/>
                <a:ea typeface="맑은 고딕" pitchFamily="50" charset="-127"/>
              </a:rPr>
              <a:t>    </a:t>
            </a:r>
            <a:r>
              <a:rPr lang="en-US" altLang="ko-KR" sz="1100" b="1" dirty="0">
                <a:solidFill>
                  <a:schemeClr val="tx2"/>
                </a:solidFill>
                <a:latin typeface="맑은 고딕" pitchFamily="50" charset="-127"/>
                <a:ea typeface="맑은 고딕" pitchFamily="50" charset="-127"/>
              </a:rPr>
              <a:t>[Adv]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특정</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기술의 변화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처음 사용한 전화기에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지금 사용하는 핸드폰과 어떻게 달랐나요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기술은 시간이 지남에 따라 확실히 변했습니다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가지고 있는 기술의 한 부분에 대한 초기 기억에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그것은 수년 전의 컴퓨터나 휴대폰일 수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기술은 시간이 지남에 따라 어떻게 변해왔습니까</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첫번째 휴대폰은 단지 전화였습니다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단지 전화를 걸 수 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그게 다입니다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폰들은 몇 년 지나 많이 바뀌었습니다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과거보다 훨씬 많이 나아졌습니다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나는 지금 나의 휴대폰으로 더 많은 일을 할 수 있습니다</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인터넷을 접속할 수 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원할 때마다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스마트폰은 우리의 삶에 큰 변화를 만듭니다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545475"/>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04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본인이 썼던 첫 전화기와 지금 전화기 비교</a:t>
            </a:r>
            <a:r>
              <a:rPr lang="en-US" altLang="ko-KR" sz="1100" b="1" spc="-50" dirty="0">
                <a:solidFill>
                  <a:schemeClr val="tx2"/>
                </a:solidFill>
                <a:latin typeface="+mn-lt"/>
                <a:ea typeface="+mn-ea"/>
              </a:rPr>
              <a:t>♣</a:t>
            </a:r>
            <a:endParaRPr lang="en-US" altLang="ko-KR" sz="1100" b="1" spc="-50"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100" b="1" baseline="0" dirty="0">
                <a:solidFill>
                  <a:srgbClr val="FF0000"/>
                </a:solidFill>
                <a:latin typeface="맑은 고딕" pitchFamily="50" charset="-127"/>
                <a:ea typeface="맑은 고딕" pitchFamily="50" charset="-127"/>
              </a:rPr>
              <a:t>    </a:t>
            </a:r>
            <a:r>
              <a:rPr lang="en-US" altLang="ko-KR" sz="1100" b="1" dirty="0">
                <a:solidFill>
                  <a:schemeClr val="tx2"/>
                </a:solidFill>
                <a:latin typeface="맑은 고딕" pitchFamily="50" charset="-127"/>
                <a:ea typeface="맑은 고딕" pitchFamily="50" charset="-127"/>
              </a:rPr>
              <a:t>[Adv]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특정</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기술의 변화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first phone you used.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was it different from the phone you use now?</a:t>
            </a:r>
          </a:p>
          <a:p>
            <a:endPar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Technology has definitely changed over time.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an early memory that you have about a piece of technology.</a:t>
            </a:r>
          </a:p>
          <a:p>
            <a:r>
              <a:rPr lang="en-US" altLang="ko-KR" sz="1100" b="0" i="0" u="none" strike="noStrike" kern="1200" spc="-70" baseline="0" dirty="0">
                <a:solidFill>
                  <a:srgbClr val="FF0000"/>
                </a:solidFill>
                <a:latin typeface="맑은 고딕" panose="020B0503020000020004" pitchFamily="50" charset="-127"/>
                <a:ea typeface="맑은 고딕" panose="020B0503020000020004" pitchFamily="50" charset="-127"/>
                <a:cs typeface="+mn-cs"/>
              </a:rPr>
              <a:t>It could be a computer or a mobile phone from many years ago.</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has that technology changed over time?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My first cell phone was just a phone.</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I was able to just make phone calls, but that was it.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However, phones have changed a lot over the years.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a lot better than in the past.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can do a lot more on my phone now.</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I can get access to the internet whenever I want to.</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So, smartphones make a big difference in our lives.</a:t>
            </a:r>
          </a:p>
        </p:txBody>
      </p:sp>
    </p:spTree>
    <p:extLst>
      <p:ext uri="{BB962C8B-B14F-4D97-AF65-F5344CB8AC3E}">
        <p14:creationId xmlns:p14="http://schemas.microsoft.com/office/powerpoint/2010/main" val="21076511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05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전화기 사용 중 문제 설명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어떤 기술에 문제가 있어서 겪은 불편 사항</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spc="-90" dirty="0">
                <a:solidFill>
                  <a:srgbClr val="0070C0"/>
                </a:solidFill>
                <a:effectLst/>
                <a:latin typeface="+mn-lt"/>
                <a:ea typeface="+mn-ea"/>
                <a:cs typeface="+mn-cs"/>
              </a:rPr>
              <a:t>당신이 핸드폰을 사용하는 동안 문제가 생겼던 때를 말해주세요</a:t>
            </a:r>
            <a:r>
              <a:rPr lang="en-US" altLang="ko-KR" sz="1000" b="0" i="0" kern="1200" spc="-9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무엇이 문제였고 어떻게 대처했나요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우리가 기술에 의존하기 때문에 문제가 종종 발생합니다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어떤 기술이 제대로 작동하지 않아서 문제가 생겼을 때를 생각해 보세요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90" dirty="0">
                <a:solidFill>
                  <a:srgbClr val="0070C0"/>
                </a:solidFill>
                <a:effectLst/>
                <a:latin typeface="+mn-lt"/>
                <a:ea typeface="+mn-ea"/>
                <a:cs typeface="+mn-cs"/>
              </a:rPr>
              <a:t>컴퓨터가 고장 났거나 휴대폰이 서비스가 없었을 수도 있습니다</a:t>
            </a:r>
            <a:r>
              <a:rPr lang="en-US" altLang="ko-KR" sz="1000" b="0" i="0" kern="1200" spc="-9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기술을 작동시키는 데 문제가 있었던 때를 말해 주세요</a:t>
            </a:r>
            <a:r>
              <a:rPr lang="en-US" altLang="ko-KR" sz="1000" b="0" i="0" kern="1200" dirty="0">
                <a:solidFill>
                  <a:srgbClr val="0070C0"/>
                </a:solidFill>
                <a:effectLst/>
                <a:latin typeface="+mn-lt"/>
                <a:ea typeface="+mn-ea"/>
                <a:cs typeface="+mn-cs"/>
              </a:rPr>
              <a:t>.</a:t>
            </a:r>
            <a:endParaRPr lang="en-US" altLang="ko-KR" sz="1000" b="0" i="0" u="none" strike="noStrike" kern="1200" baseline="0" dirty="0">
              <a:solidFill>
                <a:srgbClr val="0070C0"/>
              </a:solidFill>
              <a:latin typeface="맑은 고딕" panose="020B0503020000020004" pitchFamily="50" charset="-127"/>
              <a:ea typeface="맑은 고딕" panose="020B0503020000020004" pitchFamily="50" charset="-127"/>
              <a:cs typeface="+mn-cs"/>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하루 종일 나의 휴대폰을 사용합니다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 그것은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밧데리가</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꽤 자주 나갑니다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한번은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휴대폰은 죽었습니다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밖에 있을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불편했습니다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폰이 죽었기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누군가에게 전화를 해야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할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메시지를 체크해야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할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결국에는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휴대폰을 체크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집에 도착한 후에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 이후로</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종종 나의 충전기를 가지고 다니곤 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648452"/>
          </a:xfrm>
          <a:prstGeom prst="rect">
            <a:avLst/>
          </a:prstGeom>
          <a:noFill/>
        </p:spPr>
        <p:txBody>
          <a:bodyPr wrap="square" rtlCol="0">
            <a:spAutoFit/>
          </a:bodyPr>
          <a:lstStyle/>
          <a:p>
            <a:pPr latinLnBrk="1">
              <a:lnSpc>
                <a:spcPct val="100000"/>
              </a:lnSpc>
            </a:pPr>
            <a:r>
              <a:rPr lang="en-US" altLang="ko-KR" sz="900" b="1" dirty="0">
                <a:solidFill>
                  <a:schemeClr val="tx2"/>
                </a:solidFill>
                <a:latin typeface="맑은 고딕" pitchFamily="50" charset="-127"/>
                <a:ea typeface="맑은 고딕" pitchFamily="50" charset="-127"/>
              </a:rPr>
              <a:t>05 [Adv]</a:t>
            </a:r>
            <a:r>
              <a:rPr lang="en-US" altLang="ko-KR" sz="900" b="1" baseline="0" dirty="0">
                <a:solidFill>
                  <a:schemeClr val="tx2"/>
                </a:solidFill>
                <a:latin typeface="맑은 고딕" pitchFamily="50" charset="-127"/>
                <a:ea typeface="맑은 고딕" pitchFamily="50" charset="-127"/>
              </a:rPr>
              <a:t> </a:t>
            </a:r>
            <a:r>
              <a:rPr lang="ko-KR" altLang="en-US" sz="900" b="1" baseline="0" dirty="0">
                <a:solidFill>
                  <a:srgbClr val="FF0000"/>
                </a:solidFill>
                <a:latin typeface="맑은 고딕" pitchFamily="50" charset="-127"/>
                <a:ea typeface="맑은 고딕" pitchFamily="50" charset="-127"/>
              </a:rPr>
              <a:t>전화기 사용 중 문제 설명                                 </a:t>
            </a:r>
            <a:r>
              <a:rPr lang="en-US" altLang="ko-KR" sz="900" b="1" dirty="0">
                <a:solidFill>
                  <a:schemeClr val="tx2"/>
                </a:solidFill>
                <a:latin typeface="+mn-lt"/>
                <a:ea typeface="+mn-ea"/>
              </a:rPr>
              <a:t>♣</a:t>
            </a:r>
            <a:endParaRPr lang="en-US" altLang="ko-KR" sz="9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900" b="1" baseline="0" dirty="0">
                <a:solidFill>
                  <a:srgbClr val="FF0000"/>
                </a:solidFill>
                <a:latin typeface="맑은 고딕" pitchFamily="50" charset="-127"/>
                <a:ea typeface="맑은 고딕" pitchFamily="50" charset="-127"/>
              </a:rPr>
              <a:t>    </a:t>
            </a:r>
            <a:r>
              <a:rPr lang="en-US" altLang="ko-KR" sz="900" b="1" dirty="0">
                <a:solidFill>
                  <a:schemeClr val="tx2"/>
                </a:solidFill>
                <a:latin typeface="맑은 고딕" pitchFamily="50" charset="-127"/>
                <a:ea typeface="맑은 고딕" pitchFamily="50" charset="-127"/>
              </a:rPr>
              <a:t>[Adv]</a:t>
            </a:r>
            <a:r>
              <a:rPr lang="en-US" altLang="ko-KR" sz="900" b="1" baseline="0" dirty="0">
                <a:solidFill>
                  <a:schemeClr val="tx2"/>
                </a:solidFill>
                <a:latin typeface="맑은 고딕" pitchFamily="50" charset="-127"/>
                <a:ea typeface="맑은 고딕" pitchFamily="50" charset="-127"/>
              </a:rPr>
              <a:t> </a:t>
            </a:r>
            <a:r>
              <a:rPr lang="ko-KR" altLang="en-US" sz="900" b="1" baseline="0" dirty="0">
                <a:solidFill>
                  <a:srgbClr val="FF0000"/>
                </a:solidFill>
                <a:latin typeface="맑은 고딕" pitchFamily="50" charset="-127"/>
                <a:ea typeface="맑은 고딕" pitchFamily="50" charset="-127"/>
              </a:rPr>
              <a:t>어떤 기술에 문제가 있어서 겪은 불편 사항</a:t>
            </a:r>
            <a:endParaRPr lang="en-US" altLang="ko-KR" sz="900" b="1" baseline="0" dirty="0">
              <a:solidFill>
                <a:srgbClr val="FF0000"/>
              </a:solidFill>
              <a:latin typeface="맑은 고딕" pitchFamily="50" charset="-127"/>
              <a:ea typeface="맑은 고딕" pitchFamily="50" charset="-127"/>
            </a:endParaRPr>
          </a:p>
          <a:p>
            <a:r>
              <a:rPr lang="en-US" altLang="ko-KR" sz="1000" b="0" i="0" u="none" strike="noStrike" kern="1200" spc="-100" baseline="0" dirty="0">
                <a:solidFill>
                  <a:srgbClr val="FF0000"/>
                </a:solidFill>
                <a:latin typeface="맑은 고딕" panose="020B0503020000020004" pitchFamily="50" charset="-127"/>
                <a:ea typeface="맑은 고딕" panose="020B0503020000020004" pitchFamily="50" charset="-127"/>
                <a:cs typeface="+mn-cs"/>
              </a:rPr>
              <a:t>Tell me about a time when you had trouble while using your phone.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the problem and how did you deal with it?</a:t>
            </a:r>
          </a:p>
          <a:p>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spc="-110" baseline="0" dirty="0">
                <a:solidFill>
                  <a:srgbClr val="FF0000"/>
                </a:solidFill>
                <a:latin typeface="맑은 고딕" panose="020B0503020000020004" pitchFamily="50" charset="-127"/>
                <a:ea typeface="맑은 고딕" panose="020B0503020000020004" pitchFamily="50" charset="-127"/>
                <a:cs typeface="+mn-cs"/>
              </a:rPr>
              <a:t>Problems often come up because of our dependence on technology.</a:t>
            </a:r>
          </a:p>
          <a:p>
            <a:r>
              <a:rPr lang="en-US" altLang="ko-KR" sz="1000" b="0" i="0" u="none" strike="noStrike" kern="1200" spc="-50" baseline="0" dirty="0">
                <a:solidFill>
                  <a:srgbClr val="FF0000"/>
                </a:solidFill>
                <a:latin typeface="맑은 고딕" panose="020B0503020000020004" pitchFamily="50" charset="-127"/>
                <a:ea typeface="맑은 고딕" panose="020B0503020000020004" pitchFamily="50" charset="-127"/>
                <a:cs typeface="+mn-cs"/>
              </a:rPr>
              <a:t>Think about a time when you experienced a problem because some piece of technology was not working properly.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Maybe your computer crashed or maybe your cell phone had no service.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time when you had some kind of problem getting the technology to work.</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use my phone all day, so it runs out of battery quite often.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my phone died when I was outside.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very inconvenient because my phone was dead.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call someone, but I could NOT.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check some messages, but I could NOT.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the end, I checked my phone after I got home.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often carry around my charger.</a:t>
            </a:r>
          </a:p>
        </p:txBody>
      </p:sp>
    </p:spTree>
    <p:extLst>
      <p:ext uri="{BB962C8B-B14F-4D97-AF65-F5344CB8AC3E}">
        <p14:creationId xmlns:p14="http://schemas.microsoft.com/office/powerpoint/2010/main" val="32877542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640632"/>
            <a:ext cx="6858000" cy="5940088"/>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14 </a:t>
            </a:r>
            <a:r>
              <a:rPr lang="ko-KR" altLang="en-US" sz="5400" b="1">
                <a:solidFill>
                  <a:srgbClr val="FF0000"/>
                </a:solidFill>
                <a:latin typeface="맑은 고딕" pitchFamily="50" charset="-127"/>
                <a:ea typeface="맑은 고딕" pitchFamily="50" charset="-127"/>
              </a:rPr>
              <a:t>선택형 주제 </a:t>
            </a:r>
            <a:r>
              <a:rPr lang="en-US" altLang="ko-KR" sz="5400" b="1">
                <a:solidFill>
                  <a:srgbClr val="FF0000"/>
                </a:solidFill>
                <a:latin typeface="맑은 고딕" pitchFamily="50" charset="-127"/>
                <a:ea typeface="맑은 고딕" pitchFamily="50" charset="-127"/>
              </a:rPr>
              <a:t>/ </a:t>
            </a:r>
          </a:p>
          <a:p>
            <a:pPr algn="ct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solidFill>
                <a:srgbClr val="FF0000"/>
              </a:solidFill>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Shopping</a:t>
            </a:r>
          </a:p>
          <a:p>
            <a:pPr algn="ctr"/>
            <a:r>
              <a:rPr lang="en-US" altLang="ko-KR" sz="5400" b="1">
                <a:latin typeface="맑은 고딕" pitchFamily="50" charset="-127"/>
                <a:ea typeface="맑은 고딕" pitchFamily="50" charset="-127"/>
              </a:rPr>
              <a:t>Fashion</a:t>
            </a:r>
          </a:p>
          <a:p>
            <a:pPr algn="ctr"/>
            <a:endParaRPr lang="en-US" altLang="ko-KR" sz="5400" b="1">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쇼핑 </a:t>
            </a:r>
            <a:r>
              <a:rPr lang="ko-KR" altLang="en-US" sz="2800" b="1">
                <a:solidFill>
                  <a:schemeClr val="tx2"/>
                </a:solidFill>
              </a:rPr>
              <a:t>★★★</a:t>
            </a:r>
            <a:endParaRPr lang="en-US" altLang="ko-KR" sz="2800" b="1">
              <a:solidFill>
                <a:schemeClr val="tx2"/>
              </a:solidFill>
              <a:latin typeface="맑은 고딕"/>
              <a:ea typeface="맑은 고딕"/>
            </a:endParaRPr>
          </a:p>
          <a:p>
            <a:pPr algn="ctr"/>
            <a:r>
              <a:rPr lang="ko-KR" altLang="en-US" sz="2800" b="1">
                <a:solidFill>
                  <a:schemeClr val="tx2"/>
                </a:solidFill>
                <a:latin typeface="맑은 고딕" panose="020B0503020000020004" pitchFamily="50" charset="-127"/>
                <a:ea typeface="맑은 고딕" panose="020B0503020000020004" pitchFamily="50" charset="-127"/>
              </a:rPr>
              <a:t>패션 </a:t>
            </a:r>
            <a:r>
              <a:rPr lang="ko-KR" altLang="en-US" sz="2800" b="1">
                <a:solidFill>
                  <a:schemeClr val="tx2"/>
                </a:solidFill>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80F687EC-DB28-8166-39A7-D180FC727798}"/>
              </a:ext>
            </a:extLst>
          </p:cNvPr>
          <p:cNvSpPr>
            <a:spLocks noGrp="1"/>
          </p:cNvSpPr>
          <p:nvPr>
            <p:ph type="sldNum" sz="quarter" idx="12"/>
          </p:nvPr>
        </p:nvSpPr>
        <p:spPr/>
        <p:txBody>
          <a:bodyPr/>
          <a:lstStyle/>
          <a:p>
            <a:fld id="{18CC7079-95A2-4860-A138-51A9FC969471}" type="slidenum">
              <a:rPr lang="ko-KR" altLang="en-US" smtClean="0"/>
              <a:t>65</a:t>
            </a:fld>
            <a:endParaRPr lang="ko-KR" altLang="en-US"/>
          </a:p>
        </p:txBody>
      </p:sp>
    </p:spTree>
    <p:extLst>
      <p:ext uri="{BB962C8B-B14F-4D97-AF65-F5344CB8AC3E}">
        <p14:creationId xmlns:p14="http://schemas.microsoft.com/office/powerpoint/2010/main" val="41429063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6866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상점 </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쇼핑몰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설문조사에서 쇼핑하는 것을 좋아한다고 말했습니다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70" dirty="0">
                <a:solidFill>
                  <a:srgbClr val="0070C0"/>
                </a:solidFill>
                <a:effectLst/>
                <a:latin typeface="+mn-lt"/>
                <a:ea typeface="+mn-ea"/>
                <a:cs typeface="+mn-cs"/>
              </a:rPr>
              <a:t>당신의 나라의 상점이나 쇼핑센터에 대해 이야기하세요</a:t>
            </a:r>
            <a:r>
              <a:rPr lang="en-US" altLang="ko-KR" sz="1100" b="0" i="0" kern="1200" spc="-7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그들은 어떤 형태인가요</a:t>
            </a:r>
            <a:r>
              <a:rPr lang="en-US" altLang="ko-KR" sz="1100" b="0" i="0" kern="1200" spc="-50" dirty="0">
                <a:solidFill>
                  <a:srgbClr val="0070C0"/>
                </a:solidFill>
                <a:effectLst/>
                <a:latin typeface="+mn-lt"/>
                <a:ea typeface="+mn-ea"/>
                <a:cs typeface="+mn-cs"/>
              </a:rPr>
              <a:t>? </a:t>
            </a:r>
            <a:r>
              <a:rPr lang="ko-KR" altLang="en-US" sz="1100" b="0" i="0" kern="1200" spc="-50" dirty="0">
                <a:solidFill>
                  <a:srgbClr val="0070C0"/>
                </a:solidFill>
                <a:effectLst/>
                <a:latin typeface="+mn-lt"/>
                <a:ea typeface="+mn-ea"/>
                <a:cs typeface="+mn-cs"/>
              </a:rPr>
              <a:t>그것들을 자세히 묘사하세요</a:t>
            </a:r>
            <a:r>
              <a:rPr lang="en-US" altLang="ko-KR" sz="1100" b="0" i="0" kern="1200" spc="-50" dirty="0">
                <a:solidFill>
                  <a:srgbClr val="0070C0"/>
                </a:solidFill>
                <a:effectLst/>
                <a:latin typeface="+mn-lt"/>
                <a:ea typeface="+mn-ea"/>
                <a:cs typeface="+mn-cs"/>
              </a:rPr>
              <a:t>.</a:t>
            </a:r>
            <a:endParaRPr lang="en-US" altLang="ko-KR" sz="1100" b="0" i="0" u="none" strike="noStrike" kern="1200" spc="-50" baseline="0" dirty="0">
              <a:solidFill>
                <a:srgbClr val="0070C0"/>
              </a:solidFill>
              <a:latin typeface="맑은 고딕" panose="020B0503020000020004" pitchFamily="50" charset="-127"/>
              <a:ea typeface="+mn-ea"/>
              <a:cs typeface="+mn-cs"/>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한국에는 많은 가게들이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그들의 많은 수는 복잡한 거리에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spc="-50" dirty="0">
                <a:solidFill>
                  <a:schemeClr val="tx1"/>
                </a:solidFill>
                <a:latin typeface="+mn-lt"/>
                <a:ea typeface="+mn-ea"/>
                <a:cs typeface="+mn-cs"/>
              </a:rPr>
              <a:t>그들은 찾기 쉽습니다</a:t>
            </a:r>
            <a:r>
              <a:rPr lang="en-US" altLang="ko-KR" sz="1100" b="0" i="0" u="none" strike="noStrike" kern="1200" spc="-50" dirty="0">
                <a:solidFill>
                  <a:schemeClr val="tx1"/>
                </a:solidFill>
                <a:latin typeface="+mn-lt"/>
                <a:ea typeface="+mn-ea"/>
                <a:cs typeface="+mn-cs"/>
              </a:rPr>
              <a:t>. </a:t>
            </a:r>
            <a:r>
              <a:rPr lang="ko-KR" altLang="en-US" sz="1100" b="0" i="0" u="none" strike="noStrike" kern="1200" spc="-50" dirty="0">
                <a:solidFill>
                  <a:schemeClr val="tx1"/>
                </a:solidFill>
                <a:latin typeface="+mn-lt"/>
                <a:ea typeface="+mn-ea"/>
                <a:cs typeface="+mn-cs"/>
              </a:rPr>
              <a:t>그들이 어디에나 있기 때문에</a:t>
            </a:r>
            <a:endParaRPr lang="en-US" altLang="ko-KR" sz="1100" b="0" i="0" u="none" strike="noStrike" kern="1200" spc="-5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요즈음 쇼핑하는 인기있는 장소는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아울렛몰</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할인을 받을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거기에서 대단한 거래를 할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 장소에는 다양한 가게들이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아웃렛몰에는</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많은 레스토랑이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가볍게 한입 먹을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너가 배고프면</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말해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한국에는 많은 가게들이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513794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상점 </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쇼핑몰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indicated in the survey that you like to go shopping.</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Talk about stores or shopping centers in your country.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are they like? Describe them in detail.</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many stores in Korea.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Many of them are on busy streets.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easy to find because they are everywhere.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 popular place to shop these days is outlet malls.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You can get discounts, so you can get great deals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various stores at these places.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there are many restaurants at outlet malls.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you can grab a bite if you are hungry.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there are many stores in Korea.</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즐겨 가는 쇼핑 장소 묘사                         </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본인의 쇼핑 습관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물건을 사러 갈 때 어디로 갑니까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그곳에 갈 때 무엇을 사나요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그곳의 특별한 점은 무엇입니까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설문조사에서 쇼핑하는 것을 좋아한다고 말했다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나는 당신의 쇼핑 습관에 대해 알고 싶다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얼마나 자주 쇼핑을 가시나요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쇼핑할 때 어디로 갑니까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아웃렛몰이나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백화점에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또한 온라인으로 쇼핑하는 것을 좋아합니다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온라인 쇼핑은 매우 편리합니다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물건을 사기 위해 시간과 에너지를 훨씬 덜 듭니다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쇼핑은 과거보다 훨씬 더 쉽습니다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인터넷으로 옷이나 티켓을 삽니다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전자제품이나 책을 온라인으로 삽니다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말해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꽤 자주 온라인 쇼핑을 좋아합니다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즐겨 가는 쇼핑 장소 묘사                         </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맑은 고딕" pitchFamily="50" charset="-127"/>
                <a:ea typeface="맑은 고딕" pitchFamily="50" charset="-127"/>
              </a:rPr>
              <a:t>[Int]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본인의 쇼핑 습관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Where do you go when you go shopping for something?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you buy when you go there?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is special about that place?</a:t>
            </a:r>
          </a:p>
          <a:p>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indicated in the survey that you like to go shopping.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 want to know about your shopping habits.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often do you go shopping?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Where do you go when you shop?</a:t>
            </a: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often go to outlet malls or department stores.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I also like to shop online.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Online shopping is very convenient.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takes much less time and energy to buy things.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Shopping is a lot easier than in the past.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often get clothes or tickets on the internet.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get electronics or books online.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I like to shop online quite often.</a:t>
            </a:r>
          </a:p>
        </p:txBody>
      </p:sp>
    </p:spTree>
    <p:extLst>
      <p:ext uri="{BB962C8B-B14F-4D97-AF65-F5344CB8AC3E}">
        <p14:creationId xmlns:p14="http://schemas.microsoft.com/office/powerpoint/2010/main" val="13917294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217565"/>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쇼핑한 경험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마지막으로 물건을 사러 간 게 언제 인가요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당신은 어디에 가서 무엇을 샀습니까</a:t>
            </a:r>
            <a:r>
              <a:rPr lang="en-US" altLang="ko-KR" sz="1000" b="0" i="0" kern="1200" spc="-50" dirty="0">
                <a:solidFill>
                  <a:srgbClr val="0070C0"/>
                </a:solidFill>
                <a:effectLst/>
                <a:latin typeface="+mn-lt"/>
                <a:ea typeface="+mn-ea"/>
                <a:cs typeface="+mn-cs"/>
              </a:rPr>
              <a:t>? </a:t>
            </a:r>
            <a:r>
              <a:rPr lang="ko-KR" altLang="en-US" sz="1000" b="0" i="0" kern="1200" spc="-50" dirty="0" err="1">
                <a:solidFill>
                  <a:srgbClr val="0070C0"/>
                </a:solidFill>
                <a:effectLst/>
                <a:latin typeface="+mn-lt"/>
                <a:ea typeface="+mn-ea"/>
                <a:cs typeface="+mn-cs"/>
              </a:rPr>
              <a:t>누구랑</a:t>
            </a:r>
            <a:r>
              <a:rPr lang="ko-KR" altLang="en-US" sz="1000" b="0" i="0" kern="1200" spc="-50" dirty="0">
                <a:solidFill>
                  <a:srgbClr val="0070C0"/>
                </a:solidFill>
                <a:effectLst/>
                <a:latin typeface="+mn-lt"/>
                <a:ea typeface="+mn-ea"/>
                <a:cs typeface="+mn-cs"/>
              </a:rPr>
              <a:t> 같이 </a:t>
            </a:r>
            <a:r>
              <a:rPr lang="ko-KR" altLang="en-US" sz="1000" b="0" i="0" kern="1200" spc="-50" dirty="0" err="1">
                <a:solidFill>
                  <a:srgbClr val="0070C0"/>
                </a:solidFill>
                <a:effectLst/>
                <a:latin typeface="+mn-lt"/>
                <a:ea typeface="+mn-ea"/>
                <a:cs typeface="+mn-cs"/>
              </a:rPr>
              <a:t>갔었어요</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쇼핑 경험의 특별한 점은 무엇입니까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최근에 가족과 함께 식료품을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쌋던</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것이 기억 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지역 슈퍼마켓에 갔습니다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좋은 가격과 질의 상품을 가졌습니다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거기에서 큰 거래를 할 수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생선과 치킨을 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고기</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빵을 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돼지고기와 소고기를 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과일과 채소들을 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맥주와 와인을 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라면과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스넥을</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내가 쇼핑을 간 마지막 시간이었습니다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쇼핑한 경험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When was the last time you went to shop for something?</a:t>
            </a:r>
          </a:p>
          <a:p>
            <a:r>
              <a:rPr lang="en-US" altLang="ko-KR" sz="1000" b="0" i="0" u="none" strike="noStrike" kern="1200" spc="-70" dirty="0">
                <a:solidFill>
                  <a:srgbClr val="FF0000"/>
                </a:solidFill>
                <a:latin typeface="맑은 고딕" panose="020B0503020000020004" pitchFamily="50" charset="-127"/>
                <a:ea typeface="맑은 고딕" panose="020B0503020000020004" pitchFamily="50" charset="-127"/>
                <a:cs typeface="+mn-cs"/>
              </a:rPr>
              <a:t>Where did you go and what did you buy? Who did you go with?</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special about that shopping experience?</a:t>
            </a:r>
            <a:endParaRPr lang="en-US" altLang="ko-KR" sz="1000" b="0" baseline="0" dirty="0">
              <a:solidFill>
                <a:srgbClr val="FF0000"/>
              </a:solidFill>
              <a:latin typeface="맑은 고딕" pitchFamily="50" charset="-127"/>
              <a:ea typeface="맑은 고딕" pitchFamily="50" charset="-127"/>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getting groceries with my family recently.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went to a local supermarket.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good prices and quality goods.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we were able to get great deals there.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we got some fish and chicken.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we got some rice, meat, and bread.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we got some pork and beef.</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got some fruits and vegetables.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we got some beer and wine.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we got some instant noodles and some snacks.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was the last time I went shopping.</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63011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쇼핑 추억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쇼핑에 대한 당신의 초기 기억을 생각해보세요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어렸을 때 기억나는 가게가 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그곳은 어떻게 생겼고 어떤 인상을 받았나요</a:t>
            </a:r>
            <a:r>
              <a:rPr lang="en-US" altLang="ko-KR" sz="1100" b="0" i="0" kern="1200" dirty="0">
                <a:solidFill>
                  <a:schemeClr val="lt1"/>
                </a:solidFill>
                <a:effectLst/>
                <a:latin typeface="+mn-lt"/>
                <a:ea typeface="+mn-ea"/>
                <a:cs typeface="+mn-cs"/>
              </a:rPr>
              <a:t>?</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가족과 함께 식료품을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쌋던</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것이 기억에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지역 슈퍼마켓에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좋은 가격과 질의 상품을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우리는 거기에서 큰 거래를 </a:t>
            </a:r>
            <a:r>
              <a:rPr lang="ko-KR" altLang="en-US" sz="11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할수</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있었습니다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우리는 조금의 </a:t>
            </a:r>
            <a:r>
              <a:rPr lang="ko-KR" altLang="en-US" sz="1100" b="0" i="0" u="none" strike="noStrike" kern="1200" spc="-60" dirty="0" err="1">
                <a:solidFill>
                  <a:schemeClr val="tx1"/>
                </a:solidFill>
                <a:latin typeface="맑은 고딕" panose="020B0503020000020004" pitchFamily="50" charset="-127"/>
                <a:ea typeface="맑은 고딕" panose="020B0503020000020004" pitchFamily="50" charset="-127"/>
                <a:cs typeface="+mn-cs"/>
              </a:rPr>
              <a:t>칩스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쿠키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그리고 사탕을 사곤 했습니다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아이스크림</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치즈를 사곤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음료수와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초콜렛을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사곤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쇼핑의 나의 초기 기억이었습니다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쇼핑 추억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Think of your early memories of shopping.</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Was there a store you remember from your childhood?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it look like and what was your impression of that place?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getting groceries with my family when I was a kid.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went to a local supermarket.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good prices and quality goods.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we were able to get great deals there.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used to get some chips, cookies and sweets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we used to get some ice-cream, milk, and cheese.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used to get some drinks and chocolates.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was my early memory of shopping.</a:t>
            </a:r>
          </a:p>
        </p:txBody>
      </p:sp>
    </p:spTree>
    <p:extLst>
      <p:ext uri="{BB962C8B-B14F-4D97-AF65-F5344CB8AC3E}">
        <p14:creationId xmlns:p14="http://schemas.microsoft.com/office/powerpoint/2010/main" val="16832948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05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쇼핑 중 겪었던 문제들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사람들은 쇼핑을 하는 동안 때때로 어려움을 겪습니다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쇼핑하는 동안 처리해야 했던 문제들은 무엇이었습니까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품절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운동화를 쇼핑한 것이 기억에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신발 한 켤레가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정말 좋아하는</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 가게는 나의 사이즈를 가지는 재고가 없었습니다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다 팔렸습니다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신발을 살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원했던</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신발 한 켤레를 하나 더 사야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온라인으로 셔츠를 산 것이 기억에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집에서 그것을 입는 것을 시도하였습니다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그것은 나에게 맞지 않았습니다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너무 타이트하고 짧았습니다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환불을 받기 위해 그것을 돌려 보냈습니다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가진 문제입니다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쇼핑을 하였던 동안</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05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쇼핑 중 겪었던 문제들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People sometimes go through difficulties while they are shopping.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were some problems you had to deal with while you were shopping?</a:t>
            </a:r>
            <a:endParaRPr lang="en-US" altLang="ko-KR" sz="1000" b="0" baseline="0" dirty="0">
              <a:solidFill>
                <a:srgbClr val="FF0000"/>
              </a:solidFill>
              <a:latin typeface="맑은 고딕" pitchFamily="50" charset="-127"/>
              <a:ea typeface="맑은 고딕" pitchFamily="50" charset="-127"/>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품절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shopping for some running shoes recently.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were a pair of shoes I really liked.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the store did NOT have my size in stock.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were sold-out.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could NOT get the shoes I wanted.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get another pair of shoes.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remember getting a shirt online.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tried it on at home, but it did NOT fit 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too tight and too short.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sent it back to get a refund.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problems I had while I was shopping.</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343747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사람들의 패션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 나라 사람들은 보통 어떤 종류의 옷을 입나요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일할 때와 놀 때 입을 옷이 </a:t>
            </a:r>
            <a:r>
              <a:rPr lang="ko-KR" altLang="en-US" sz="1100" b="0" i="0" kern="1200" dirty="0" err="1">
                <a:solidFill>
                  <a:srgbClr val="0070C0"/>
                </a:solidFill>
                <a:effectLst/>
                <a:latin typeface="+mn-lt"/>
                <a:ea typeface="+mn-ea"/>
                <a:cs typeface="+mn-cs"/>
              </a:rPr>
              <a:t>다른가요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한국인들은 매우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패션어블</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하다고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최신 패션 트랜드를 따르는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한국은 뚜렷한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4</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계절을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겨울</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각 계절을 위해 다른 옷들을 입습니다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패션 스타일들은 계절에 따른 것입니다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말해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한국인은 매우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패션어블</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하다고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35284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사람들의 패션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clothes do people in your country typically wear?</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Are there different clothes for work and for play?</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Koreans are very fashionable.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like to follow the latest fashion trends.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Korea has four distinct seasons: spring, summer, fall and winter.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wear different clothes for each season.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fashion styles are seasonal.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I think Koreans are very stylish.</a:t>
            </a:r>
          </a:p>
        </p:txBody>
      </p:sp>
    </p:spTree>
    <p:extLst>
      <p:ext uri="{BB962C8B-B14F-4D97-AF65-F5344CB8AC3E}">
        <p14:creationId xmlns:p14="http://schemas.microsoft.com/office/powerpoint/2010/main" val="19614064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69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27589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좋아하는 옷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개인적으로 어떤 종류의 옷을 입는 것을 좋아하나요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어떤 종류의 패션 스타일을 좋아하나요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오늘 무엇을 입고 있죠</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자신의 스타일을 따르는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단지 그것을 입습니다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잘 어울리는</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겨울에 더 어두운 색깔을 입는 것을 좋아합니다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여름에 더 밝은 색깔을 입는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주로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케쥬얼하게</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옷을 입는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디테일에 주의를 기울입니다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옷을 차려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입을때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344517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좋아하는 옷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clothes do you like to wear personally?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 of fashion style do you like?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are you wearing today?</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 to follow my own style.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just wear things that look good on me.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 to wear darker colors in winter.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 to wear brighter colors in summer.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usually like to dress casually.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I pay attention to detail when I dress up.</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395300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주변에 유행했던 패션과 지금 패션 비교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패션 스타일은 항상 변합니다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어렸을 때 유행했던 옷의 종류에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그것들은 지금 인기 있는 것과 어떻게 </a:t>
            </a:r>
            <a:r>
              <a:rPr lang="ko-KR" altLang="en-US" sz="1100" b="0" i="0" kern="1200" dirty="0" err="1">
                <a:solidFill>
                  <a:srgbClr val="0070C0"/>
                </a:solidFill>
                <a:effectLst/>
                <a:latin typeface="+mn-lt"/>
                <a:ea typeface="+mn-ea"/>
                <a:cs typeface="+mn-cs"/>
              </a:rPr>
              <a:t>다른가요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패션 스타일은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스타일리쉬</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하지 않았습니다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지금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많은 온라인 쇼핑몰들이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새로운 패션 트렌드</a:t>
            </a:r>
            <a:r>
              <a:rPr lang="ko-KR" altLang="en-US" sz="1100" dirty="0">
                <a:latin typeface="맑은 고딕" panose="020B0503020000020004" pitchFamily="50" charset="-127"/>
                <a:ea typeface="맑은 고딕" panose="020B0503020000020004" pitchFamily="50" charset="-127"/>
              </a:rPr>
              <a:t>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좀 더 쉽게 볼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과거보다 훨씬 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패셔너블</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그것이 과거와 현재의 패션 트랜드 사이의 차이점입니다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44517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주변에 유행했던 패션과 지금 패션 비교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Fashion styles are always changing.</a:t>
            </a:r>
          </a:p>
          <a:p>
            <a:r>
              <a:rPr lang="en-US" altLang="ko-KR" sz="1100" b="0" i="0" u="none" strike="noStrike" kern="1200" baseline="0" dirty="0">
                <a:solidFill>
                  <a:srgbClr val="FF0000"/>
                </a:solidFill>
                <a:latin typeface="+mn-lt"/>
                <a:ea typeface="+mn-ea"/>
                <a:cs typeface="+mn-cs"/>
              </a:rPr>
              <a:t>Tell me about the kinds of clothes that were popular when you were younger.</a:t>
            </a:r>
          </a:p>
          <a:p>
            <a:r>
              <a:rPr lang="en-US" altLang="ko-KR" sz="1100" b="0" i="0" u="none" strike="noStrike" kern="1200" baseline="0" dirty="0">
                <a:solidFill>
                  <a:srgbClr val="FF0000"/>
                </a:solidFill>
                <a:latin typeface="+mn-lt"/>
                <a:ea typeface="+mn-ea"/>
                <a:cs typeface="+mn-cs"/>
              </a:rPr>
              <a:t>How are they different from what is popular now?</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was a kid, fashion styles were NOT stylish.</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now, there are many online shopping malls.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can see new fashion trends more easily.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a lot more fashionable than in the past.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that is the difference between fashion trends in the past and now.</a:t>
            </a:r>
          </a:p>
        </p:txBody>
      </p:sp>
    </p:spTree>
    <p:extLst>
      <p:ext uri="{BB962C8B-B14F-4D97-AF65-F5344CB8AC3E}">
        <p14:creationId xmlns:p14="http://schemas.microsoft.com/office/powerpoint/2010/main" val="36904038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364190"/>
            <a:ext cx="6858000" cy="5109091"/>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15 </a:t>
            </a: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Weather</a:t>
            </a:r>
          </a:p>
          <a:p>
            <a:pPr algn="ctr"/>
            <a:r>
              <a:rPr lang="en-US" altLang="ko-KR" sz="5400" b="1">
                <a:latin typeface="맑은 고딕" pitchFamily="50" charset="-127"/>
                <a:ea typeface="맑은 고딕" pitchFamily="50" charset="-127"/>
              </a:rPr>
              <a:t>Transportation</a:t>
            </a:r>
          </a:p>
          <a:p>
            <a:pPr algn="ctr"/>
            <a:endParaRPr lang="en-US" altLang="ko-KR" sz="5400" b="1">
              <a:solidFill>
                <a:schemeClr val="tx2"/>
              </a:solidFill>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날씨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r>
              <a:rPr lang="ko-KR" altLang="en-US" sz="2800" b="1">
                <a:solidFill>
                  <a:schemeClr val="tx2"/>
                </a:solidFill>
              </a:rPr>
              <a:t>교통 ★★</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D515B8F3-0372-734D-9DCB-3DBBD8D880B9}"/>
              </a:ext>
            </a:extLst>
          </p:cNvPr>
          <p:cNvSpPr>
            <a:spLocks noGrp="1"/>
          </p:cNvSpPr>
          <p:nvPr>
            <p:ph type="sldNum" sz="quarter" idx="12"/>
          </p:nvPr>
        </p:nvSpPr>
        <p:spPr/>
        <p:txBody>
          <a:bodyPr/>
          <a:lstStyle/>
          <a:p>
            <a:fld id="{18CC7079-95A2-4860-A138-51A9FC969471}" type="slidenum">
              <a:rPr lang="ko-KR" altLang="en-US" smtClean="0"/>
              <a:t>70</a:t>
            </a:fld>
            <a:endParaRPr lang="ko-KR" altLang="en-US"/>
          </a:p>
        </p:txBody>
      </p:sp>
    </p:spTree>
    <p:extLst>
      <p:ext uri="{BB962C8B-B14F-4D97-AF65-F5344CB8AC3E}">
        <p14:creationId xmlns:p14="http://schemas.microsoft.com/office/powerpoint/2010/main" val="13233395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71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3011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계절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사는 곳의 날씨에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각 계절의 날씨는 </a:t>
            </a:r>
            <a:r>
              <a:rPr lang="ko-KR" altLang="en-US" sz="1100" b="0" i="0" kern="1200" dirty="0" err="1">
                <a:solidFill>
                  <a:srgbClr val="0070C0"/>
                </a:solidFill>
                <a:effectLst/>
                <a:latin typeface="+mn-lt"/>
                <a:ea typeface="+mn-ea"/>
                <a:cs typeface="+mn-cs"/>
              </a:rPr>
              <a:t>어떤가요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개인적으로 어떤 계절을 좋아하세요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한국은 뚜렷한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4</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계절을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겨울</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날씨는 매우 좋습니다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봄과 가을에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온도는 매우 온화합니다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야외 활동에 좋습니다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반면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여름은 극도로 덥습니다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매우 습하고 끈적끈적합니다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여름에 장마철을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퍼붓습니다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겨울은 정반대입니다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그것은 매섭게 춥고</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우리는 겨울에 많은 눈이 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54547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계절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weather at where you live.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is the weather like in each season?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Which season do you personally like?</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Korea has four distinct seasons: spring, summer, fall, and winter.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weather is very nice in spring and fall.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temperatures are very mild.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great for outdoor activities.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 the other hand, summer is extremely hot.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very humid and sticky.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have the rainy season in summer and it pours.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Winter is the opposite.</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It is freezing cold and we get a lot of snow in winter.</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2083263"/>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오늘 날씨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있는 곳의 오늘 날씨는 어떻습니까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err="1">
                <a:solidFill>
                  <a:srgbClr val="0070C0"/>
                </a:solidFill>
                <a:effectLst/>
                <a:latin typeface="+mn-lt"/>
                <a:ea typeface="+mn-ea"/>
                <a:cs typeface="+mn-cs"/>
              </a:rPr>
              <a:t>추운가요</a:t>
            </a:r>
            <a:r>
              <a:rPr lang="en-US" altLang="ko-KR" sz="1100" b="0" i="0" kern="1200" dirty="0">
                <a:solidFill>
                  <a:srgbClr val="0070C0"/>
                </a:solidFill>
                <a:effectLst/>
                <a:latin typeface="+mn-lt"/>
                <a:ea typeface="+mn-ea"/>
                <a:cs typeface="+mn-cs"/>
              </a:rPr>
              <a:t>? </a:t>
            </a:r>
            <a:r>
              <a:rPr lang="ko-KR" altLang="en-US" sz="1100" b="0" i="0" kern="1200" dirty="0" err="1">
                <a:solidFill>
                  <a:srgbClr val="0070C0"/>
                </a:solidFill>
                <a:effectLst/>
                <a:latin typeface="+mn-lt"/>
                <a:ea typeface="+mn-ea"/>
                <a:cs typeface="+mn-cs"/>
              </a:rPr>
              <a:t>따뜻한가요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오늘의 날씨에 대해 자세히 이야기하세요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지금 바로 한국은 가을 중순입니다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오늘 매우 화창하고 우리는 맑은 하늘을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날씨는 매일 추워지고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일기예보는 내일 비가 온다고 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2083263"/>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02 [Int]</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오늘 날씨 묘사</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is the weather today at where you are?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Is it cold, or is it warm?</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today’s weather in detail.</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mid-fall here in Korea right now.</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very sunny today and we have clear skies.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weather is getting cooler every day.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weather forecast says it will rain tomorrow.</a:t>
            </a:r>
          </a:p>
        </p:txBody>
      </p:sp>
    </p:spTree>
    <p:extLst>
      <p:ext uri="{BB962C8B-B14F-4D97-AF65-F5344CB8AC3E}">
        <p14:creationId xmlns:p14="http://schemas.microsoft.com/office/powerpoint/2010/main" val="17186038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72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2845010"/>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날씨와 최근 날씨 비교</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나라의 날씨는 몇 년 동안 어떻게 변했나요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어렸을 때 날씨는 어땠나요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지금과 어떻게 달랐나요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아직 한국에서 뚜렷한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4</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계절을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봄과 가을은 과거보다 더 짧습니다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여름과 겨울은 과거보다 더 깁니다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여름은 매년 점점 더 더워지고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날씨 조건의 변화들입니다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344517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날씨와 최근 날씨 비교</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has the weather in your country changed over the years?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the weather like when you were a child?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was it different from what it is now?</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still have four distinct seasons in Korea.</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However, spring and fall are shorter than in the past.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 the other hand, summer and winter are longer than in the past.</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Plus, summer is getting hotter and hotter every year.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changes in weather conditions.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02225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극단적 날씨 관련 경험 설명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악천후는 많은 피해를 줄 수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혹독한 날씨와 관련된 경험을 말해보세요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아마도 도시가 물에 잠겼거나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폭설로 인해 기업체나 학교가 문을 닫았을 것입니다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뭐가 문제였죠</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사람들은 그 상황에 어떻게 대처했나요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이번 여름 한국에 강력한 태풍이 강타했을 때가 기억에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강한 바람과 폭우가 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여기저기에서 홍수가 났습니다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많은 집들과 차가 침수 되었습니다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아슬아슬 하였습니다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피해로부터 복구하기 위해 오랜 시간이 걸렸습니다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극단적 날씨 관련 경험 설명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Severe weather conditions can do a lot of damage.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an experience you had related to severe weather conditions.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Perhaps a city was flooded, or maybe businesses or schools were closed due to heavy snow.</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the problem?</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did people deal with the situation?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a strong typhoon hit Korea this summer.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were strong winds and heavy rainfall.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were floods here and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Many houses and cars went underwater.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very nerve-racking.</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took a long time to recover from the damage.</a:t>
            </a:r>
          </a:p>
        </p:txBody>
      </p:sp>
    </p:spTree>
    <p:extLst>
      <p:ext uri="{BB962C8B-B14F-4D97-AF65-F5344CB8AC3E}">
        <p14:creationId xmlns:p14="http://schemas.microsoft.com/office/powerpoint/2010/main" val="12492723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73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28386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사람들 교통 수단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나라에서 사람들이 어떻게 돌아다니는지에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자가용을 운전하나요 아니면 기차를 타나요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돌아다닐 수 있는 대표적인 교통수단은 무엇인가요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한국에서 다양한 방법으로 돌아 다닙니다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대중교통은 매우 잘 정비되어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버스를 타거나 지하철을 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사람들은 그들의 자신의 차로 운전을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가끔 교통체증은 매우 나쁩니다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주차 또한 문제가 있을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돌아다니기 위해 대중교통을 이용하거나 그들의 자신의 차를 운전합니다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36850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사람들 교통 수단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about how people get around in your country.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they drive their own cars or take trains?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are some typical means of transportation to get around?</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get around in various ways in Korea.</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Public transportation is very well-organized.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take the bus or take the subway.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some people drive their own cars.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traffic gets very bad sometimes.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Parking can be a problem as well.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people use public transportation or drive their own cars to get around.</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344517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자주 이용하는 교통 수단</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이동하기 위해 어떤 교통수단을 이용하나요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운전하나요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아니면 대중교통을 이용하나요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개인적으로 지하철을 가장 자주 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편리합니다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원하는 어디든 갈수 있기 때문에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그것은 돌아다니기 위해 가장 싼 방법 중의 하나입니다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나의 자신의 차로 운전합니다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2002</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년에 나의 운전 면허증을 땄습니다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주로 돌아다니기 위해 대중교통을 이용합니다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437479"/>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02 [Int]</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본인이 자주 이용하는 교통 수단</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spc="-60" dirty="0">
                <a:solidFill>
                  <a:srgbClr val="FF0000"/>
                </a:solidFill>
                <a:latin typeface="맑은 고딕" panose="020B0503020000020004" pitchFamily="50" charset="-127"/>
                <a:ea typeface="맑은 고딕" panose="020B0503020000020004" pitchFamily="50" charset="-127"/>
                <a:cs typeface="+mn-cs"/>
              </a:rPr>
              <a:t>What means of transportation do you use to get around?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Do you drive or take public transportation?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personally take the subway most often.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very convenient because I can go wherever I want to.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one of the cheapest ways to get around.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drive my own car.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my driver’s license in 2002.</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mostly use public transportation to get around.</a:t>
            </a:r>
          </a:p>
        </p:txBody>
      </p:sp>
    </p:spTree>
    <p:extLst>
      <p:ext uri="{BB962C8B-B14F-4D97-AF65-F5344CB8AC3E}">
        <p14:creationId xmlns:p14="http://schemas.microsoft.com/office/powerpoint/2010/main" val="32836202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74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때의 교통 수단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어렸을 때 어떻게 여행했나요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당시 교통수단은 어떻게 달랐나요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당신의 도시나 마을에서 사람들이 어떻게 돌아다녔는지 묘사 </a:t>
            </a:r>
            <a:r>
              <a:rPr lang="ko-KR" altLang="en-US" sz="1000" b="0" i="0" kern="1200" dirty="0" err="1">
                <a:solidFill>
                  <a:srgbClr val="0070C0"/>
                </a:solidFill>
                <a:effectLst/>
                <a:latin typeface="+mn-lt"/>
                <a:ea typeface="+mn-ea"/>
                <a:cs typeface="+mn-cs"/>
              </a:rPr>
              <a:t>하시오</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기차는 더 느리곤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지금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기차는 훨씬 더 빠릅니다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한국은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KTX</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와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SRT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라 불리는 고속열차를 가집니다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지금 시간을 반으로 걸립니다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내가 어렸을 때</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비행기 티켓은 매우 </a:t>
            </a:r>
            <a:r>
              <a:rPr lang="ko-KR" altLang="en-US" sz="1000" b="0" i="0" u="none" strike="noStrike" kern="1200" spc="-60" dirty="0" err="1">
                <a:solidFill>
                  <a:schemeClr val="tx1"/>
                </a:solidFill>
                <a:latin typeface="맑은 고딕" panose="020B0503020000020004" pitchFamily="50" charset="-127"/>
                <a:ea typeface="맑은 고딕" panose="020B0503020000020004" pitchFamily="50" charset="-127"/>
                <a:cs typeface="+mn-cs"/>
              </a:rPr>
              <a:t>바싸곤</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했습니다</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지금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비행기 티켓은 저가 항공사 덕분에 더 많이 싸졌습니다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비행기들은 단지 반값을 지불합니다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내가 어렸을 때</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사람들은 종이 지도를 사용하곤 했습니다</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요즈음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운전은 훨씬 더 쉽습니다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지금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GPS</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를 가지고 있기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GPS</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는 어디로 가야 하는지 알려줍니다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지금 교통은 훨씬 좋아졌습니다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98700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어렸을 때의 교통 수단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How did you travel when you were a child?</a:t>
            </a:r>
          </a:p>
          <a:p>
            <a:r>
              <a:rPr lang="en-US" altLang="ko-KR" sz="1000" b="0" i="0" u="none" strike="noStrike" kern="1200" baseline="0" dirty="0">
                <a:solidFill>
                  <a:srgbClr val="FF0000"/>
                </a:solidFill>
                <a:latin typeface="+mn-lt"/>
                <a:ea typeface="+mn-ea"/>
                <a:cs typeface="+mn-cs"/>
              </a:rPr>
              <a:t>How was transportation different back then?</a:t>
            </a:r>
          </a:p>
          <a:p>
            <a:r>
              <a:rPr lang="en-US" altLang="ko-KR" sz="1000" b="0" i="0" u="none" strike="noStrike" kern="1200" baseline="0" dirty="0">
                <a:solidFill>
                  <a:srgbClr val="FF0000"/>
                </a:solidFill>
                <a:latin typeface="+mn-lt"/>
                <a:ea typeface="+mn-ea"/>
                <a:cs typeface="+mn-cs"/>
              </a:rPr>
              <a:t>Describe how people used to get around in your city or town.</a:t>
            </a:r>
            <a:endParaRPr lang="en-US" altLang="ko-KR" sz="1000" b="0" baseline="0" dirty="0">
              <a:solidFill>
                <a:srgbClr val="FF0000"/>
              </a:solidFill>
              <a:latin typeface="맑은 고딕" pitchFamily="50" charset="-127"/>
              <a:ea typeface="맑은 고딕" pitchFamily="50" charset="-127"/>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was a kid, trains used to be slower.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now, trains are much faster.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Korea has bullet trains called the KTX and SRT.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takes half the time now.</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Plus, when I was a kid, plane tickets used to be very pricey.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now, plane tickets are a lot cheaper thanks to low-cost carriers.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 flights only cost half the price.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when I was a kid, people used to use paper maps.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these days, driving is much easier because we now have GPS.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GPS tells us where to go.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transportation is a lot better now.</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12228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교통편 사용 중 겪은 문제 설명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교통과 관련된 문제들이 종종 발생합니다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자동차가 고장 나거나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기차가 늦게 운행 되거나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교통이 나빠집니다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한때 교통수단과 관련된 문제에 대해 말해보세요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그 상황을 처리하기 위해 무엇을 했습니까</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연휴 동안 교통체증에 시달렸던 때가 기억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조부모님 댁으로 향하고 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평소 보다 나에게 훨씬 오래 걸렸습니다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목적지에 도착하기 위해 거의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5</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시간이 걸렸습니다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이후로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항상 연휴 동안 교통량 업데이트를 체크합니다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86067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교통편 사용 중 겪은 문제 설명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Problems related to transportation often arise.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Cars break down, trains run late, or traffic gets bad.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problem that you once had related to transportation.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you do to deal with the situation?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was stuck in traffic during the holidays.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heading to my grandparents’ place.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took me much longer than usual.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took almost five hours to get to my destination.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always check traffic updates during the holidays.</a:t>
            </a:r>
          </a:p>
        </p:txBody>
      </p:sp>
    </p:spTree>
    <p:extLst>
      <p:ext uri="{BB962C8B-B14F-4D97-AF65-F5344CB8AC3E}">
        <p14:creationId xmlns:p14="http://schemas.microsoft.com/office/powerpoint/2010/main" val="26075576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364190"/>
            <a:ext cx="6858000" cy="5109091"/>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16 </a:t>
            </a: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Appointment</a:t>
            </a:r>
          </a:p>
          <a:p>
            <a:pPr algn="ctr"/>
            <a:r>
              <a:rPr lang="en-US" altLang="ko-KR" sz="5400" b="1">
                <a:latin typeface="맑은 고딕" pitchFamily="50" charset="-127"/>
                <a:ea typeface="맑은 고딕" pitchFamily="50" charset="-127"/>
              </a:rPr>
              <a:t>Free Time</a:t>
            </a:r>
          </a:p>
          <a:p>
            <a:pPr algn="ctr"/>
            <a:endParaRPr lang="en-US" altLang="ko-KR" sz="5400" b="1">
              <a:solidFill>
                <a:schemeClr val="tx2"/>
              </a:solidFill>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예약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r>
              <a:rPr lang="ko-KR" altLang="en-US" sz="2800" b="1">
                <a:solidFill>
                  <a:schemeClr val="tx2"/>
                </a:solidFill>
              </a:rPr>
              <a:t>자유시간 ★</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6A80125E-DB31-67D7-B007-0F7CBC8CCEA1}"/>
              </a:ext>
            </a:extLst>
          </p:cNvPr>
          <p:cNvSpPr>
            <a:spLocks noGrp="1"/>
          </p:cNvSpPr>
          <p:nvPr>
            <p:ph type="sldNum" sz="quarter" idx="12"/>
          </p:nvPr>
        </p:nvSpPr>
        <p:spPr/>
        <p:txBody>
          <a:bodyPr/>
          <a:lstStyle/>
          <a:p>
            <a:fld id="{18CC7079-95A2-4860-A138-51A9FC969471}" type="slidenum">
              <a:rPr lang="ko-KR" altLang="en-US" smtClean="0"/>
              <a:t>75</a:t>
            </a:fld>
            <a:endParaRPr lang="ko-KR" altLang="en-US"/>
          </a:p>
        </p:txBody>
      </p:sp>
    </p:spTree>
    <p:extLst>
      <p:ext uri="{BB962C8B-B14F-4D97-AF65-F5344CB8AC3E}">
        <p14:creationId xmlns:p14="http://schemas.microsoft.com/office/powerpoint/2010/main" val="22741574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76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46083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평소에 하는 예약 종류들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살면서 어떤 종류의 약속을 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약속 잡으러 어디로 가세요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삶에서 다양한 종류의 예약을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의사와 예약을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아플 때 그것을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치과 의사와 예약을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치통을 가질 때 그것을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머리카락 예약을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머리를 자르거나 파마를 필요할 때 그것을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나의 삶에서 하는 예약들입니다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54547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평소에 하는 예약 종류들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What kinds of appointments do you make in your life?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Where do you go to make your appointments?</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make various types of appointments in my life.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I make doctor appointments.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 that when I am sick.</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make dentist appointments.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 that when I have a toothache.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make hair appointments.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 that when I need to get a haircut or get a perm.</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appointments I make in my life.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12228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평소에 예약을 하는 방법 구체적으로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당신은 약속을 할 때 어떤 종류의 일을 합니까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약속을 할 때 정확히 무슨 일을 하는지 말해주세요</a:t>
            </a:r>
            <a:r>
              <a:rPr lang="en-US" altLang="ko-KR" sz="1100" b="0" i="0" kern="1200" dirty="0">
                <a:solidFill>
                  <a:srgbClr val="0070C0"/>
                </a:solidFill>
                <a:effectLst/>
                <a:latin typeface="+mn-lt"/>
                <a:ea typeface="+mn-ea"/>
                <a:cs typeface="+mn-cs"/>
              </a:rPr>
              <a:t>.</a:t>
            </a:r>
            <a:endParaRPr lang="en-US" altLang="ko-KR" sz="1100" b="0" spc="-7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예약을 해야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처음 전화번호를 찾습니다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나의 핸드폰에 그것을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그렇지 않으면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온라인으로 검색을 해야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예약을 하기 위해 전화를 겁니다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그들에게 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방문을 원할 때를</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전화를 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나의 예약을 확인하는 문자를 받습니다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내가 예약을 할 때 하는 것입니다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0692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평소에 예약을 하는 방법 구체적으로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dirty="0">
                <a:solidFill>
                  <a:srgbClr val="FF0000"/>
                </a:solidFill>
                <a:latin typeface="맑은 고딕" panose="020B0503020000020004" pitchFamily="50" charset="-127"/>
                <a:ea typeface="맑은 고딕" panose="020B0503020000020004" pitchFamily="50" charset="-127"/>
                <a:cs typeface="+mn-cs"/>
              </a:rPr>
              <a:t>What kinds of things do you do when you make appointments?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what you do exactly when you make these appointments.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have to make appointments, I first look for a phone number.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have it on my phone.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not, I have to do a search online.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And then, I make a phone call to make an appointment.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tell them when I want to visit and hang up.</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often get a text confirming my appointment.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I do when I make appointments.</a:t>
            </a:r>
          </a:p>
        </p:txBody>
      </p:sp>
    </p:spTree>
    <p:extLst>
      <p:ext uri="{BB962C8B-B14F-4D97-AF65-F5344CB8AC3E}">
        <p14:creationId xmlns:p14="http://schemas.microsoft.com/office/powerpoint/2010/main" val="21872183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77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46083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했던 예약 경험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어렸을 때 한 약속에 대해 말해보세요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약속이 뭐였죠</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의사</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치과의사</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아니면 새로운 학교</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실제로 무엇을 했고 무슨 일이 일어났나요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약속 장소에 언제 도착했나요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머리 예약을 한 것이 기억 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어렸을 때</a:t>
            </a:r>
            <a:endPar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머리 손질이 필요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제시간에 미용실에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나의 머리를 샴푸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헤어 스타일리스가 나의 머리를 잘랐습니다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나의 머리를 다시 샴푸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나의 머리를 드라이 했고 스타일링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모습과 함께 행복했습니다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36850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했던 예약 경험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an appointment you made as a child.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the appointment for?</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Was it for a doctor, a dentist, or a new school?</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you actually do and what happened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you got to your appointment?</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making a hair appointment when I was a kid.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needed to get my haircut.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the hair salon on time.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they shampooed my hair.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And then, the hair stylist cut my hair.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After that, they shampooed my hair again.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And then, they dried and styled my hair.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happy with the new look.</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327589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예약 관련 기억에 남는 에피소드 설명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약속을 잡으면 예상치 못한 일이 생길 수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약속과 관련된 기억에 남는 사건에 대해 이야기하세요</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정확히 무슨 일이 일어났고 그 상황에 어떻게 대처했나요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머리 예약을 한 것이 기억에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 무슨 일이 생겼습니다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미용실에 전화했고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그들에게 말했습니다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갈수 없다고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결국</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예약을 했고 또 다른 시간에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44517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예약 관련 기억에 남는 에피소드 설명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Unexpected things can happen when you make an appointment.</a:t>
            </a:r>
          </a:p>
          <a:p>
            <a:r>
              <a:rPr lang="en-US" altLang="ko-KR" sz="1100" b="0" i="0" u="none" strike="noStrike" kern="1200" spc="-90" dirty="0">
                <a:solidFill>
                  <a:srgbClr val="FF0000"/>
                </a:solidFill>
                <a:latin typeface="맑은 고딕" panose="020B0503020000020004" pitchFamily="50" charset="-127"/>
                <a:ea typeface="맑은 고딕" panose="020B0503020000020004" pitchFamily="50" charset="-127"/>
                <a:cs typeface="+mn-cs"/>
              </a:rPr>
              <a:t>Talk about a memorable incident related to an appointment.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exactly happened and how did you deal with the situation?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making a hair appointment recently.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something came up suddenly.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called the hair salon and told them that I could NOT go.</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the end, I made a new appointment and went another time.</a:t>
            </a:r>
          </a:p>
        </p:txBody>
      </p:sp>
    </p:spTree>
    <p:extLst>
      <p:ext uri="{BB962C8B-B14F-4D97-AF65-F5344CB8AC3E}">
        <p14:creationId xmlns:p14="http://schemas.microsoft.com/office/powerpoint/2010/main" val="1944571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78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7161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우리나라 사람들이 자유시간에 가는 장소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우리나라 사람들이 자유시간에 하는 일들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당신의 나라 사람들은 여가 시간에 어디를 가나요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그들은 해변에 가나요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그들은 공원이나 다른 장소에 가나요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사람들이 여가 시간에 가는 인기 있는 장소는 어디인가요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사람들은 자유시간에 보통 무엇을 하나요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활동들의 특별한 점은 무엇입니까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종종 그들의 자유시간에 술집에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종종 사회 모임을 위해 술집에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그들의 친구들과 함께 술을 조금 마십니다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술은 서먹한 분위기를 없애고</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분위기를 더 좋게 만듭니다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때때로 술 마시기 게임을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때때로 여러 라운드를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사람들은 때때로 직원 저녁식사를 위해 술집에 갑니다</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동료들과 친해질 수 있는 좋은 기회입니다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때때로 생일파티와 같은 특별한 행사를 위해 술집에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사람들은 종종 그들의 자유시간에 술집에 갑니다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우리나라 사람들이 자유시간에 가는 장소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우리나라 사람들이 자유시간에 하는 일들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Where do people in your country go to in their free time?</a:t>
            </a:r>
          </a:p>
          <a:p>
            <a:r>
              <a:rPr lang="en-US" altLang="ko-KR" sz="1000" b="0" i="0" u="none" strike="noStrike" kern="1200" spc="-70" dirty="0">
                <a:solidFill>
                  <a:srgbClr val="FF0000"/>
                </a:solidFill>
                <a:latin typeface="맑은 고딕" panose="020B0503020000020004" pitchFamily="50" charset="-127"/>
                <a:ea typeface="맑은 고딕" panose="020B0503020000020004" pitchFamily="50" charset="-127"/>
                <a:cs typeface="+mn-cs"/>
              </a:rPr>
              <a:t>Do they go to beaches? Do they go to parks or any other places?</a:t>
            </a:r>
          </a:p>
          <a:p>
            <a:r>
              <a:rPr lang="en-US" altLang="ko-KR" sz="1000" b="0" i="0" u="none" strike="noStrike" kern="1200" spc="-100" dirty="0">
                <a:solidFill>
                  <a:srgbClr val="FF0000"/>
                </a:solidFill>
                <a:latin typeface="맑은 고딕" panose="020B0503020000020004" pitchFamily="50" charset="-127"/>
                <a:ea typeface="맑은 고딕" panose="020B0503020000020004" pitchFamily="50" charset="-127"/>
                <a:cs typeface="+mn-cs"/>
              </a:rPr>
              <a:t>What are some popular locations that people go to in their free time?</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people typically do in their free time?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is special about those activities?</a:t>
            </a:r>
            <a:endParaRPr lang="en-US" altLang="ko-KR" sz="1000" b="0" baseline="0" dirty="0">
              <a:solidFill>
                <a:srgbClr val="FF0000"/>
              </a:solidFill>
              <a:latin typeface="맑은 고딕" pitchFamily="50" charset="-127"/>
              <a:ea typeface="맑은 고딕" pitchFamily="50" charset="-127"/>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often go to bars in their free time.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often go to bars for social gatherings.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grab some drinks with their friends.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Drinks break the ice and make the mood better.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sometimes play drinking games.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sometimes do several rounds.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people sometimes go to bars for staff-dinners.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a good chance to bond with co-workers.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dirty="0">
                <a:solidFill>
                  <a:schemeClr val="tx1"/>
                </a:solidFill>
                <a:latin typeface="맑은 고딕" panose="020B0503020000020004" pitchFamily="50" charset="-127"/>
                <a:ea typeface="맑은 고딕" panose="020B0503020000020004" pitchFamily="50" charset="-127"/>
                <a:cs typeface="+mn-cs"/>
              </a:rPr>
              <a:t>Next, people sometimes go to bars for special occasions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such as birthday parties.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people often go to bars in their free time.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과거 자유시간이 어떠하였는지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과거의 자유 시간에 대해 이야기하세요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자유시간이 더 많았나요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적었나요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지금 너의 자유시간과 어떻게 달랐나요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많은 자유시간을 가지고 있지 않았습니다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밤낮으로 공부를 해야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아침에 일찍 학교에 갔고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저녁에 늦게 집으로 복귀했습니다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또한 수업 후에 입시 학원에 갔습니다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또한 시험을 위해 온라인 코스를 들었습니다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또한 조금의 과외도 받았습니다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특히 많은 자유 시간을 가지고 있지 않았습니다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고등학교 상급자일때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대학 입시 시험을 위해 공부해야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많은 자유시간을 가지고 있지 않았습니다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과거 자유시간이 어떠하였는지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your free time in the past.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Did you have more free time or less free time?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was it different from your free time now?</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did NOT have much free time when I was a kid.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study day and night.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school early in the morning and came back home late at night.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also went to cram schools after class.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also took online courses for exams.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also got some private tutoring.</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especially did NOT have much free time when I was a high school senior.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study for the college entrance exam.</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I did NOT have much free time when I was a kid.</a:t>
            </a:r>
          </a:p>
        </p:txBody>
      </p:sp>
    </p:spTree>
    <p:extLst>
      <p:ext uri="{BB962C8B-B14F-4D97-AF65-F5344CB8AC3E}">
        <p14:creationId xmlns:p14="http://schemas.microsoft.com/office/powerpoint/2010/main" val="14426874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79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9939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기억에 남는 최근 자유시간에 한 일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마지막으로 자유시간을 가졌던 시간에 대해 말해 줄 수 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이게 언제 였죠</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뭘 했는데요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누구와 시간을 보냈나요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음식점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술집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해변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최근에 나의 가족과 함께 영화 본 것이 기억납니다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영화를 보기 전에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팝콘과 청량음료를 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영화를 보고 난 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큰 멕시칸 레스토랑에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타운에서 베스트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타코를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주문한 새우는 즙이 많고 부드러웠습니다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식사와 함께 맥주를 마셨습니다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저녁식사였습니다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기억에 남는 최근 자유시간에 한 일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30" baseline="0" dirty="0">
                <a:solidFill>
                  <a:srgbClr val="FF0000"/>
                </a:solidFill>
                <a:latin typeface="맑은 고딕" panose="020B0503020000020004" pitchFamily="50" charset="-127"/>
                <a:ea typeface="맑은 고딕" panose="020B0503020000020004" pitchFamily="50" charset="-127"/>
                <a:cs typeface="+mn-cs"/>
              </a:rPr>
              <a:t>Can you tell me about the last time you had some free time?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was this? What did you do?</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Who did you spend time with?</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음식점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술집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해변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I remember watching a movie with my family recently.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Before watching the movie, we got some popcorn and soft drinks.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After watching the movie, we went to a great Mexican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the best tacos in town.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shrimp I ordered was very juicy and tender.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had some beer with the meal.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dinner.</a:t>
            </a:r>
          </a:p>
        </p:txBody>
      </p:sp>
    </p:spTree>
    <p:extLst>
      <p:ext uri="{BB962C8B-B14F-4D97-AF65-F5344CB8AC3E}">
        <p14:creationId xmlns:p14="http://schemas.microsoft.com/office/powerpoint/2010/main" val="37958845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364190"/>
            <a:ext cx="6858000" cy="5109091"/>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17 </a:t>
            </a: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Holidays</a:t>
            </a:r>
          </a:p>
          <a:p>
            <a:pPr algn="ctr"/>
            <a:r>
              <a:rPr lang="en-US" altLang="ko-KR" sz="5400" b="1">
                <a:latin typeface="맑은 고딕" pitchFamily="50" charset="-127"/>
                <a:ea typeface="맑은 고딕" pitchFamily="50" charset="-127"/>
              </a:rPr>
              <a:t>Family/Friends</a:t>
            </a:r>
          </a:p>
          <a:p>
            <a:pPr algn="ctr"/>
            <a:endParaRPr lang="en-US" altLang="ko-KR" sz="5400" b="1">
              <a:solidFill>
                <a:schemeClr val="tx2"/>
              </a:solidFill>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휴일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r>
              <a:rPr lang="ko-KR" altLang="en-US" sz="2800" b="1">
                <a:solidFill>
                  <a:schemeClr val="tx2"/>
                </a:solidFill>
              </a:rPr>
              <a:t>가족</a:t>
            </a:r>
            <a:r>
              <a:rPr lang="en-US" altLang="ko-KR" sz="2800" b="1">
                <a:solidFill>
                  <a:schemeClr val="tx2"/>
                </a:solidFill>
              </a:rPr>
              <a:t>/</a:t>
            </a:r>
            <a:r>
              <a:rPr lang="ko-KR" altLang="en-US" sz="2800" b="1">
                <a:solidFill>
                  <a:schemeClr val="tx2"/>
                </a:solidFill>
              </a:rPr>
              <a:t>친구 ★</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CAC188AA-9BDE-9554-59BE-72B696199427}"/>
              </a:ext>
            </a:extLst>
          </p:cNvPr>
          <p:cNvSpPr>
            <a:spLocks noGrp="1"/>
          </p:cNvSpPr>
          <p:nvPr>
            <p:ph type="sldNum" sz="quarter" idx="12"/>
          </p:nvPr>
        </p:nvSpPr>
        <p:spPr/>
        <p:txBody>
          <a:bodyPr/>
          <a:lstStyle/>
          <a:p>
            <a:fld id="{18CC7079-95A2-4860-A138-51A9FC969471}" type="slidenum">
              <a:rPr lang="ko-KR" altLang="en-US" smtClean="0"/>
              <a:t>80</a:t>
            </a:fld>
            <a:endParaRPr lang="ko-KR" altLang="en-US"/>
          </a:p>
        </p:txBody>
      </p:sp>
    </p:spTree>
    <p:extLst>
      <p:ext uri="{BB962C8B-B14F-4D97-AF65-F5344CB8AC3E}">
        <p14:creationId xmlns:p14="http://schemas.microsoft.com/office/powerpoint/2010/main" val="33567724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81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사람들이 휴일을 보내는 장소</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활동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나라에서 인기 있는 휴일에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사람들은 보통 어디에서 이 휴일들을 기념하나요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축하하기 위해 어떤 종류의 것들을 하나요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두개의 큰 가족 연휴가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하나는 설날이고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다른 하나는 한국 추수 감사절입니다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가족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맴버들은</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이 연휴에 축하하기 위해 모입니다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서로 어떻게 지내는지 물어보고 조금의 밀린 이야기를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명절 음식을 요리하고 함께 식사를 즐깁니다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많은 선물들을 교환합니다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한국에 두 개의 큰 가족 연휴 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46083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사람들이 휴일을 보내는 장소</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활동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about some popular holidays in your country.</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Where do people typically celebrate these holidays?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kinds of things do they do to celebrate?</a:t>
            </a:r>
            <a:endParaRPr lang="en-US" altLang="ko-KR" sz="1100" b="0" baseline="0" dirty="0">
              <a:solidFill>
                <a:srgbClr val="FF0000"/>
              </a:solidFill>
              <a:latin typeface="맑은 고딕" pitchFamily="50" charset="-127"/>
              <a:ea typeface="맑은 고딕" pitchFamily="50" charset="-127"/>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two big family holidays in Korea.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One is New Year’s Day and the other is Korean Thanksgiving.</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Family members get together to celebrate these holidays.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ask how each other is doing and do some catching up.</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cook holiday food and enjoy meals together.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exchange a lot of presents.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two big family holidays in Korea.</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3783728"/>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02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어렸을 때 휴일을 보냈던 장소</a:t>
            </a:r>
            <a:r>
              <a:rPr lang="en-US" altLang="ko-KR" sz="1100" b="1" spc="-50" baseline="0" dirty="0">
                <a:solidFill>
                  <a:srgbClr val="FF0000"/>
                </a:solidFill>
                <a:latin typeface="맑은 고딕" pitchFamily="50" charset="-127"/>
                <a:ea typeface="맑은 고딕" pitchFamily="50" charset="-127"/>
              </a:rPr>
              <a:t>/</a:t>
            </a:r>
            <a:r>
              <a:rPr lang="ko-KR" altLang="en-US" sz="1100" b="1" spc="-50" baseline="0" dirty="0">
                <a:solidFill>
                  <a:srgbClr val="FF0000"/>
                </a:solidFill>
                <a:latin typeface="맑은 고딕" pitchFamily="50" charset="-127"/>
                <a:ea typeface="맑은 고딕" pitchFamily="50" charset="-127"/>
              </a:rPr>
              <a:t>추억 묘사   </a:t>
            </a:r>
            <a:r>
              <a:rPr lang="en-US" altLang="ko-KR" sz="1100" b="1" spc="-50" dirty="0">
                <a:solidFill>
                  <a:schemeClr val="tx2"/>
                </a:solidFill>
                <a:latin typeface="+mn-lt"/>
                <a:ea typeface="+mn-ea"/>
              </a:rPr>
              <a:t>♣</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spc="-50" dirty="0">
                <a:solidFill>
                  <a:srgbClr val="0070C0"/>
                </a:solidFill>
                <a:effectLst/>
                <a:latin typeface="+mn-lt"/>
                <a:ea typeface="+mn-ea"/>
                <a:cs typeface="+mn-cs"/>
              </a:rPr>
              <a:t>당신의 어린 시절의 휴일의 추억에 대해 이야기하세요</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어디에 있었는지 그리고 그곳이 어땠는지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휴가 장면에서 기억나는 모든 것을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때문에 고생한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mn-lt"/>
                <a:ea typeface="+mn-ea"/>
                <a:cs typeface="+mn-cs"/>
              </a:rPr>
              <a:t>나는 상한 어떤 것을 먹은 것을 기억 납니다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내가 </a:t>
            </a:r>
            <a:r>
              <a:rPr lang="ko-KR" altLang="en-US" sz="1100" dirty="0"/>
              <a:t>어</a:t>
            </a:r>
            <a:r>
              <a:rPr lang="ko-KR" altLang="en-US" sz="1100" b="0" i="0" u="none" strike="noStrike" kern="1200" baseline="0" dirty="0">
                <a:solidFill>
                  <a:schemeClr val="tx1"/>
                </a:solidFill>
                <a:latin typeface="+mn-lt"/>
                <a:ea typeface="+mn-ea"/>
                <a:cs typeface="+mn-cs"/>
              </a:rPr>
              <a:t>렸을 때 연휴동안</a:t>
            </a:r>
            <a:endParaRPr lang="en-US" altLang="ko-KR" sz="1100" b="0" i="0" u="none" strike="noStrike" kern="1200" baseline="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나는 식중독에 걸렸고 그것은 매우 나빴습니다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속이 뒤집혔습니다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나아지기 위해 조금의 약을 먹었습니다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안에 머물고 많은 휴식을 취해야 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 이후로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더 조심하려고 노력했습니다</a:t>
            </a:r>
            <a:r>
              <a:rPr lang="en-US" altLang="ko-KR" sz="1100" b="0" i="0" u="none" strike="noStrike" kern="1200" baseline="0" dirty="0">
                <a:solidFill>
                  <a:schemeClr val="tx1"/>
                </a:solidFill>
                <a:latin typeface="+mn-lt"/>
                <a:ea typeface="+mn-ea"/>
                <a:cs typeface="+mn-cs"/>
              </a:rPr>
              <a:t>. </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783728"/>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02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어렸을 때 휴일을 보냈던 장소</a:t>
            </a:r>
            <a:r>
              <a:rPr lang="en-US" altLang="ko-KR" sz="1100" b="1" spc="-50" baseline="0" dirty="0">
                <a:solidFill>
                  <a:srgbClr val="FF0000"/>
                </a:solidFill>
                <a:latin typeface="맑은 고딕" pitchFamily="50" charset="-127"/>
                <a:ea typeface="맑은 고딕" pitchFamily="50" charset="-127"/>
              </a:rPr>
              <a:t>/</a:t>
            </a:r>
            <a:r>
              <a:rPr lang="ko-KR" altLang="en-US" sz="1100" b="1" spc="-50" baseline="0" dirty="0">
                <a:solidFill>
                  <a:srgbClr val="FF0000"/>
                </a:solidFill>
                <a:latin typeface="맑은 고딕" pitchFamily="50" charset="-127"/>
                <a:ea typeface="맑은 고딕" pitchFamily="50" charset="-127"/>
              </a:rPr>
              <a:t>추억 묘사   </a:t>
            </a:r>
            <a:r>
              <a:rPr lang="en-US" altLang="ko-KR" sz="1100" b="1" spc="-50" dirty="0">
                <a:solidFill>
                  <a:schemeClr val="tx2"/>
                </a:solidFill>
                <a:latin typeface="+mn-lt"/>
                <a:ea typeface="+mn-ea"/>
              </a:rPr>
              <a:t>♣</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 holiday memory from your childhood.</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where you were and what that place was like.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that you remember from that holiday scene.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때문에 고생한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eating something that went bad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during the holidays when I was a kid.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 and it was pretty bad.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took some medicine to get better.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stay inside and get a lot of rest.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7572632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82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5053306"/>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가장 최근 휴일에 있었던 일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spc="-50" dirty="0">
                <a:solidFill>
                  <a:srgbClr val="0070C0"/>
                </a:solidFill>
                <a:effectLst/>
                <a:latin typeface="+mn-lt"/>
                <a:ea typeface="+mn-ea"/>
                <a:cs typeface="+mn-cs"/>
              </a:rPr>
              <a:t>당신이 가장 최근에 기념한 휴일에 대해 이야기하세요</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그날 특별한 일이 있었나요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60" dirty="0">
                <a:solidFill>
                  <a:srgbClr val="0070C0"/>
                </a:solidFill>
                <a:effectLst/>
                <a:latin typeface="+mn-lt"/>
                <a:ea typeface="+mn-ea"/>
                <a:cs typeface="+mn-cs"/>
              </a:rPr>
              <a:t>그 휴일이 특히 잊을 수 없었던 이유에 대해 말해보세요</a:t>
            </a:r>
            <a:r>
              <a:rPr lang="en-US" altLang="ko-KR" sz="1100" b="0" i="0" kern="1200" spc="-60" dirty="0">
                <a:solidFill>
                  <a:srgbClr val="0070C0"/>
                </a:solidFill>
                <a:effectLst/>
                <a:latin typeface="+mn-lt"/>
                <a:ea typeface="+mn-ea"/>
                <a:cs typeface="+mn-cs"/>
              </a:rPr>
              <a:t>.</a:t>
            </a:r>
            <a:endParaRPr lang="en-US" altLang="ko-KR" sz="1100" b="0" spc="-6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음식점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술집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해변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나의 가족들과 함께 영화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보러간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것이 기억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영화를 보기 전에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팝콘과 청량음료를 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영화를 보고 난 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큰 멕시칸 레스토랑에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타운에서 베스트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타코를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주문한 새우는 즙이 많고 부드러웠습니다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식사와 함께 맥주를 마셨습니다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저녁식사였습니다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88402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가장 최근 휴일에 있었던 일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the most recent holiday you celebrated.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Was there anything special about that day?</a:t>
            </a:r>
          </a:p>
          <a:p>
            <a:r>
              <a:rPr lang="en-US" altLang="ko-KR" sz="1100" b="0" i="0" u="none" strike="noStrike" kern="1200" spc="-70" dirty="0">
                <a:solidFill>
                  <a:srgbClr val="FF0000"/>
                </a:solidFill>
                <a:latin typeface="맑은 고딕" panose="020B0503020000020004" pitchFamily="50" charset="-127"/>
                <a:ea typeface="맑은 고딕" panose="020B0503020000020004" pitchFamily="50" charset="-127"/>
                <a:cs typeface="+mn-cs"/>
              </a:rPr>
              <a:t>Talk about why that holiday was particularly unforgettable.</a:t>
            </a: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음식점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술집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해변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watching a movie with my family recently.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Before watching the movie, we got some popcorn and soft drinks.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After watching the movie, we went to a great Mexican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the best tacos in town.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shrimp I ordered was very juicy and tender.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had some beer with the meal.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dinner.</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88402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가족</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친구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가진 가족 구성원이나 친구를 묘사하세요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또는 그녀가 좋아하는 건 </a:t>
            </a:r>
            <a:r>
              <a:rPr lang="ko-KR" altLang="en-US" sz="1100" b="0" i="0" kern="1200" dirty="0" err="1">
                <a:solidFill>
                  <a:srgbClr val="0070C0"/>
                </a:solidFill>
                <a:effectLst/>
                <a:latin typeface="+mn-lt"/>
                <a:ea typeface="+mn-ea"/>
                <a:cs typeface="+mn-cs"/>
              </a:rPr>
              <a:t>뭔가요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 사람의 특별한 점은 무엇입니까</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너에게 나의 부모님에 관하여 이야기 하겠습니다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어머니와 아버지는 몇몇 면에서 비슷합니다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부모님은 가족에 관하여 매우 아낍니다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가족 모임을 가지는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둘 다 매우 활동적입니다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야외 활동하는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하이킹 가고 골프 치는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여행 가는 것을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반면</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나의 어머니와 아버지는 몇몇 면에서 다릅니다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어머니는 동물을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 나의 아버지는 그렇지 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이것이 나의 어머니와 아버지 성향입니다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503791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가족</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친구 묘사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a family member or a friend you have.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is he or she like? What is special about that person?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Let me tell you about my parents.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My mom and dad are similar in some ways.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my parents care about family very much.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like to have family gatherings.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they are both very active.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like to do outdoor activities.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like to go hiking and play golf.</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like to go on trips.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 the other hand, my mom and dad are different in some ways.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My mom likes animals, but my dad does NOT.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my mom and dad are like.</a:t>
            </a:r>
          </a:p>
        </p:txBody>
      </p:sp>
    </p:spTree>
    <p:extLst>
      <p:ext uri="{BB962C8B-B14F-4D97-AF65-F5344CB8AC3E}">
        <p14:creationId xmlns:p14="http://schemas.microsoft.com/office/powerpoint/2010/main" val="40990705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83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94531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가족</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친구를 만나면 주로 하는 일들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친구나 가족과 함께 있을 때 무엇을 하는지 나에게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사회 모임을 위해 술집에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친구들과 함께 술을 조금 마십니다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술은 서먹한 분위기를 없애고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분위기를 더 좋게 만듭니다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때때로 술 마시기 게임을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때때로 여러 라운드를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생일파티와 같은 특별한 행사를 위해 술집에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보통 나의 친구들이나 회사동료들과 어울리기 위해 술집에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3522118"/>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02 [Int]</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가족</a:t>
            </a:r>
            <a:r>
              <a:rPr lang="en-US" altLang="ko-KR" sz="1050" b="1" baseline="0" dirty="0">
                <a:solidFill>
                  <a:srgbClr val="FF0000"/>
                </a:solidFill>
                <a:latin typeface="맑은 고딕" pitchFamily="50" charset="-127"/>
                <a:ea typeface="맑은 고딕" pitchFamily="50" charset="-127"/>
              </a:rPr>
              <a:t>/</a:t>
            </a:r>
            <a:r>
              <a:rPr lang="ko-KR" altLang="en-US" sz="1050" b="1" baseline="0" dirty="0">
                <a:solidFill>
                  <a:srgbClr val="FF0000"/>
                </a:solidFill>
                <a:latin typeface="맑은 고딕" pitchFamily="50" charset="-127"/>
                <a:ea typeface="맑은 고딕" pitchFamily="50" charset="-127"/>
              </a:rPr>
              <a:t>친구를 만나면 주로 하는 일들 묘사</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Tell me about what you do with your friends or family members when you get together with them.</a:t>
            </a:r>
            <a:endParaRPr lang="en-US" altLang="ko-KR" sz="1100" b="0" baseline="0" dirty="0">
              <a:solidFill>
                <a:srgbClr val="FF0000"/>
              </a:solidFill>
              <a:latin typeface="맑은 고딕" pitchFamily="50" charset="-127"/>
              <a:ea typeface="맑은 고딕" pitchFamily="50" charset="-127"/>
            </a:endParaRP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often go to bars for social gatherings.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drinks with my friends.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Drinks break the ice and make the mood better.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play drinking games.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sometimes do several rounds.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go to bars for special occasions such as birthday parties.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often go to bars to hang out with my friends.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88402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가족</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친구와 최근에 했던 일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최근에 가족이나 친구들과 무엇을 했는지에 대해 이야기하세요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그들과 함께 했던 활동에 대해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음식점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술집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해변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나의 가족들과 함께 영화 보러 간 것이 기억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영화를 보기 전에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팝콘과 청량음료를 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영화를 보고 난 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큰 멕시칸 레스토랑에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타운에서 베스트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타코를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주문한 새우는 즙이 많고 부드러웠습니다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식사와 함께 맥주를 마셨습니다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저녁식사였습니다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22419"/>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03 [Adv]</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가족</a:t>
            </a:r>
            <a:r>
              <a:rPr lang="en-US" altLang="ko-KR" sz="1050" b="1" baseline="0" dirty="0">
                <a:solidFill>
                  <a:srgbClr val="FF0000"/>
                </a:solidFill>
                <a:latin typeface="맑은 고딕" pitchFamily="50" charset="-127"/>
                <a:ea typeface="맑은 고딕" pitchFamily="50" charset="-127"/>
              </a:rPr>
              <a:t>/</a:t>
            </a:r>
            <a:r>
              <a:rPr lang="ko-KR" altLang="en-US" sz="1050" b="1" baseline="0" dirty="0">
                <a:solidFill>
                  <a:srgbClr val="FF0000"/>
                </a:solidFill>
                <a:latin typeface="맑은 고딕" pitchFamily="50" charset="-127"/>
                <a:ea typeface="맑은 고딕" pitchFamily="50" charset="-127"/>
              </a:rPr>
              <a:t>친구와 최근에 했던 일 묘사</a:t>
            </a:r>
            <a:endParaRPr lang="en-US" altLang="ko-KR" sz="105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Talk</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about</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what</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you</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did</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with</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your</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family</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members</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or</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friends</a:t>
            </a:r>
            <a:r>
              <a:rPr lang="ko-KR" altLang="en-US" sz="1100" b="0" i="0" u="none" strike="noStrike" kern="1200" baseline="0" dirty="0">
                <a:solidFill>
                  <a:srgbClr val="FF0000"/>
                </a:solidFill>
                <a:latin typeface="+mn-lt"/>
                <a:ea typeface="+mn-ea"/>
                <a:cs typeface="+mn-cs"/>
              </a:rPr>
              <a:t> </a:t>
            </a:r>
            <a:r>
              <a:rPr lang="en-US" altLang="ko-KR" sz="1100" b="0" i="0" u="none" strike="noStrike" kern="1200" baseline="0" dirty="0">
                <a:solidFill>
                  <a:srgbClr val="FF0000"/>
                </a:solidFill>
                <a:latin typeface="+mn-lt"/>
                <a:ea typeface="+mn-ea"/>
                <a:cs typeface="+mn-cs"/>
              </a:rPr>
              <a:t>recently.</a:t>
            </a:r>
          </a:p>
          <a:p>
            <a:r>
              <a:rPr lang="en-US" altLang="ko-KR" sz="1100" b="0" i="0" u="none" strike="noStrike" kern="1200" baseline="0" dirty="0">
                <a:solidFill>
                  <a:srgbClr val="FF0000"/>
                </a:solidFill>
                <a:latin typeface="+mn-lt"/>
                <a:ea typeface="+mn-ea"/>
                <a:cs typeface="+mn-cs"/>
              </a:rPr>
              <a:t>Tell me about the activities you did with them.</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음식점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술집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해변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watching a movie with my family recently.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Before watching the movie, we got some popcorn and soft drinks.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After watching the movie, we went to a great Mexican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the best tacos in town.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shrimp I ordered was very juicy and tender.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had some beer with the meal.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dinner.</a:t>
            </a:r>
          </a:p>
        </p:txBody>
      </p:sp>
    </p:spTree>
    <p:extLst>
      <p:ext uri="{BB962C8B-B14F-4D97-AF65-F5344CB8AC3E}">
        <p14:creationId xmlns:p14="http://schemas.microsoft.com/office/powerpoint/2010/main" val="35563958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84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가족</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친구 집에 방문해서 하는 일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친구나 가족 집에 가는 것에 대해 알려 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그곳에 가면 보통 무엇을 하나요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mn-ea"/>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항상 나의 조부모님 댁에 갑니다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가족 연휴동안</a:t>
            </a:r>
            <a:endPar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두개의 큰 가족 연휴가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하나는 설날이고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다른 하나는 한국 추수 감사절입니다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가족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맴버들은</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이 연휴에 축하 하기 위해 모입니다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서로 어떻게 지내는지 물어보고 조금의 밀린 이야기를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명절 음식을 요리하고 함께 식사를 즐깁니다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많은 선물들을 교환합니다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 이것들은 내가 나의 조부모님 댁에 갔을 때 하는 일입니다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96866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가족</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친구 집에 방문해서 하는 일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visiting a friend’s or a family member’s house.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you normally do when you go there?</a:t>
            </a:r>
            <a:endParaRPr lang="en-US" altLang="ko-KR" sz="1100" b="0" baseline="0" dirty="0">
              <a:solidFill>
                <a:srgbClr val="FF0000"/>
              </a:solidFill>
              <a:latin typeface="맑은 고딕" pitchFamily="50" charset="-127"/>
              <a:ea typeface="맑은 고딕" pitchFamily="50" charset="-127"/>
            </a:endParaRPr>
          </a:p>
          <a:p>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always go to my grandparents’ place during the family holidays.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two big family holidays in Korea.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One is New Year’s Day and the other is Korean Thanksgiving.</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Family members get together to celebrate these holidays.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ask how each other is doing and do some catching up.</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cook holiday food and enjoy meals together.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exchange a lot of presents.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things I do when I go to my grandparents’ place.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05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가족</a:t>
            </a:r>
            <a:r>
              <a:rPr lang="en-US" altLang="ko-KR" sz="1000" b="1" baseline="0" dirty="0">
                <a:solidFill>
                  <a:srgbClr val="FF0000"/>
                </a:solidFill>
                <a:latin typeface="맑은 고딕" pitchFamily="50" charset="-127"/>
                <a:ea typeface="맑은 고딕" pitchFamily="50" charset="-127"/>
              </a:rPr>
              <a:t>/</a:t>
            </a:r>
            <a:r>
              <a:rPr lang="ko-KR" altLang="en-US" sz="1000" b="1" baseline="0" dirty="0">
                <a:solidFill>
                  <a:srgbClr val="FF0000"/>
                </a:solidFill>
                <a:latin typeface="맑은 고딕" pitchFamily="50" charset="-127"/>
                <a:ea typeface="맑은 고딕" pitchFamily="50" charset="-127"/>
              </a:rPr>
              <a:t>친구 집에 어렸을 때 방문했던 경험 설명</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어린 시절의 친구나 가족을 방문하는 것에 대해 이야기하세요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누구를 방문했고 누구와 함께 갔습니까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그 방문에 대해 무엇을 기억하나요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무엇이 그 방문을 특별하게 만들었나요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때문에 고생한 경험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체한경험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나의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할머니댁에</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간 것이 기억 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어렸을 때</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함께 저녁을 먹었습니다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너무 빨리 먹었는 것을</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소화불량에 걸렸고 그것은 꽤 나빴습니다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mn-lt"/>
                <a:ea typeface="+mn-ea"/>
                <a:cs typeface="+mn-cs"/>
              </a:rPr>
              <a:t>나는 속이 뒤집혔습니다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열이 났고 나는 어지러움을 느꼈습니다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나아지기 위해 조금의 약을 먹었습니다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안에 머물고 많은 휴식을 취해야 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그 이후로</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더 조심하려고 노력했습니다</a:t>
            </a:r>
            <a:r>
              <a:rPr lang="en-US" altLang="ko-KR" sz="1000" b="0" i="0" u="none" strike="noStrike" kern="1200" baseline="0" dirty="0">
                <a:solidFill>
                  <a:schemeClr val="tx1"/>
                </a:solidFill>
                <a:latin typeface="+mn-lt"/>
                <a:ea typeface="+mn-ea"/>
                <a:cs typeface="+mn-cs"/>
              </a:rPr>
              <a:t>. </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05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가족</a:t>
            </a:r>
            <a:r>
              <a:rPr lang="en-US" altLang="ko-KR" sz="1000" b="1" baseline="0" dirty="0">
                <a:solidFill>
                  <a:srgbClr val="FF0000"/>
                </a:solidFill>
                <a:latin typeface="맑은 고딕" pitchFamily="50" charset="-127"/>
                <a:ea typeface="맑은 고딕" pitchFamily="50" charset="-127"/>
              </a:rPr>
              <a:t>/</a:t>
            </a:r>
            <a:r>
              <a:rPr lang="ko-KR" altLang="en-US" sz="1000" b="1" baseline="0" dirty="0">
                <a:solidFill>
                  <a:srgbClr val="FF0000"/>
                </a:solidFill>
                <a:latin typeface="맑은 고딕" pitchFamily="50" charset="-127"/>
                <a:ea typeface="맑은 고딕" pitchFamily="50" charset="-127"/>
              </a:rPr>
              <a:t>친구 집에 어렸을 때 방문했던 경험 설명</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 visit to a friend or a family member from your childhood.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Who did you visit and whom did you go with?</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you remember about that visit?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made the visit special?</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때문에 고생한 경험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체한경험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my grandmother’s place when I was a kid.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had dinner together.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I think I ate too fast.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indigestion and it was pretty bad.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 fever and I felt light-headed.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took some medicine to get better.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stay inside and get a lot of rest.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15152389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85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6091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06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가족</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친구 집에 최근 방문했던 경험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최근에 친구나 가족을 방문했던 시기에 대해 이야기 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그들을 방문했을 때 무엇을 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방문에서 기억에 남는 것은 무엇입니까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처음부터 끝까지 모두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 취한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a:t>
            </a:r>
            <a:r>
              <a:rPr lang="ko-KR" altLang="en-US" sz="1100" b="0" i="0" u="none" strike="noStrike" kern="1200" spc="-60" dirty="0" err="1">
                <a:solidFill>
                  <a:schemeClr val="tx1"/>
                </a:solidFill>
                <a:latin typeface="맑은 고딕" panose="020B0503020000020004" pitchFamily="50" charset="-127"/>
                <a:ea typeface="맑은 고딕" panose="020B0503020000020004" pitchFamily="50" charset="-127"/>
                <a:cs typeface="+mn-cs"/>
              </a:rPr>
              <a:t>몇년전에</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나의 친구의 집에 간 것이 기억에 납니다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함께 저녁을 먹었고 조금의 술을 마셨습니다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그날 술을 많이 마셨습니다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매우 취했습니다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너무 많이 마셔서</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토할 것 같았습니다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4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spc="-4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40" baseline="0" dirty="0">
                <a:solidFill>
                  <a:schemeClr val="tx1"/>
                </a:solidFill>
                <a:latin typeface="맑은 고딕" panose="020B0503020000020004" pitchFamily="50" charset="-127"/>
                <a:ea typeface="맑은 고딕" panose="020B0503020000020004" pitchFamily="50" charset="-127"/>
                <a:cs typeface="+mn-cs"/>
              </a:rPr>
              <a:t>나는 현기증이 났고</a:t>
            </a:r>
            <a:r>
              <a:rPr lang="en-US" altLang="ko-KR" sz="1100" b="0" i="0" u="none" strike="noStrike" kern="1200" spc="-4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40" baseline="0" dirty="0">
                <a:solidFill>
                  <a:schemeClr val="tx1"/>
                </a:solidFill>
                <a:latin typeface="맑은 고딕" panose="020B0503020000020004" pitchFamily="50" charset="-127"/>
                <a:ea typeface="맑은 고딕" panose="020B0503020000020004" pitchFamily="50" charset="-127"/>
                <a:cs typeface="+mn-cs"/>
              </a:rPr>
              <a:t>나는 똑바로 걸을 수가 없었습니다</a:t>
            </a:r>
            <a:r>
              <a:rPr lang="en-US" altLang="ko-KR" sz="1100" b="0" i="0" u="none" strike="noStrike" kern="1200" spc="-4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다음날 숙취가 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내가 술을 깨는데 오랜 시간이 걸렸습니다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이후에</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더 조심하려고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84555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06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가족</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친구 집에 최근 방문했던 경험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 time when you visited a friend or a family member recently.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you do when you visited them?</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memorable about that visit?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from beginning to end.</a:t>
            </a:r>
            <a:endParaRPr lang="en-US" altLang="ko-KR" sz="1100" b="0" baseline="0" dirty="0">
              <a:solidFill>
                <a:srgbClr val="FF0000"/>
              </a:solidFill>
              <a:latin typeface="맑은 고딕" pitchFamily="50" charset="-127"/>
              <a:ea typeface="맑은 고딕" pitchFamily="50" charset="-127"/>
            </a:endParaRP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 취한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my friend’s house a few years ago.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had dinner together and had some drinks.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we drank a lot that day.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very drunk because I drank too much.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like throwing up.</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felt dizzy and I could NOT walk straight.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 hangover the next day.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took me a long time to sober up.</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111399031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364190"/>
            <a:ext cx="6858000" cy="5109091"/>
          </a:xfrm>
          <a:prstGeom prst="rect">
            <a:avLst/>
          </a:prstGeom>
          <a:noFill/>
        </p:spPr>
        <p:txBody>
          <a:bodyPr wrap="square" rtlCol="0">
            <a:spAutoFit/>
          </a:bodyPr>
          <a:lstStyle/>
          <a:p>
            <a:pPr algn="ctr"/>
            <a:r>
              <a:rPr lang="en-US" altLang="ko-KR" sz="5400" b="1">
                <a:solidFill>
                  <a:srgbClr val="FF0000"/>
                </a:solidFill>
                <a:latin typeface="맑은 고딕" pitchFamily="50" charset="-127"/>
                <a:ea typeface="맑은 고딕" pitchFamily="50" charset="-127"/>
              </a:rPr>
              <a:t>18 </a:t>
            </a:r>
            <a:r>
              <a:rPr lang="ko-KR" altLang="en-US" sz="5400" b="1">
                <a:solidFill>
                  <a:srgbClr val="FF0000"/>
                </a:solidFill>
                <a:latin typeface="맑은 고딕" pitchFamily="50" charset="-127"/>
                <a:ea typeface="맑은 고딕" pitchFamily="50" charset="-127"/>
              </a:rPr>
              <a:t>공통형 주제</a:t>
            </a:r>
            <a:endParaRPr lang="en-US" altLang="ko-KR" sz="5400" b="1">
              <a:solidFill>
                <a:srgbClr val="FF0000"/>
              </a:solidFill>
              <a:latin typeface="맑은 고딕" pitchFamily="50" charset="-127"/>
              <a:ea typeface="맑은 고딕" pitchFamily="50" charset="-127"/>
            </a:endParaRPr>
          </a:p>
          <a:p>
            <a:pPr algn="ctr"/>
            <a:endParaRPr lang="en-US" altLang="ko-KR" sz="5400" b="1">
              <a:latin typeface="맑은 고딕" pitchFamily="50" charset="-127"/>
              <a:ea typeface="맑은 고딕" pitchFamily="50" charset="-127"/>
            </a:endParaRPr>
          </a:p>
          <a:p>
            <a:pPr algn="ctr"/>
            <a:r>
              <a:rPr lang="en-US" altLang="ko-KR" sz="5400" b="1">
                <a:latin typeface="맑은 고딕" pitchFamily="50" charset="-127"/>
                <a:ea typeface="맑은 고딕" pitchFamily="50" charset="-127"/>
              </a:rPr>
              <a:t>Banks</a:t>
            </a:r>
          </a:p>
          <a:p>
            <a:pPr algn="ctr"/>
            <a:r>
              <a:rPr lang="en-US" altLang="ko-KR" sz="5400" b="1">
                <a:latin typeface="맑은 고딕" pitchFamily="50" charset="-127"/>
                <a:ea typeface="맑은 고딕" pitchFamily="50" charset="-127"/>
              </a:rPr>
              <a:t>Hotels</a:t>
            </a:r>
          </a:p>
          <a:p>
            <a:pPr algn="ctr"/>
            <a:endParaRPr lang="en-US" altLang="ko-KR" sz="5400" b="1">
              <a:solidFill>
                <a:schemeClr val="tx2"/>
              </a:solidFill>
              <a:latin typeface="맑은 고딕" pitchFamily="50" charset="-127"/>
              <a:ea typeface="맑은 고딕" pitchFamily="50" charset="-127"/>
            </a:endParaRPr>
          </a:p>
          <a:p>
            <a:pPr algn="ctr"/>
            <a:r>
              <a:rPr lang="ko-KR" altLang="en-US" sz="2800" b="1">
                <a:solidFill>
                  <a:schemeClr val="tx2"/>
                </a:solidFill>
                <a:latin typeface="맑은 고딕" pitchFamily="50" charset="-127"/>
                <a:ea typeface="맑은 고딕" pitchFamily="50" charset="-127"/>
              </a:rPr>
              <a:t>은행 </a:t>
            </a:r>
            <a:r>
              <a:rPr lang="ko-KR" altLang="en-US" sz="2800" b="1">
                <a:solidFill>
                  <a:schemeClr val="tx2"/>
                </a:solidFill>
              </a:rPr>
              <a:t>★★</a:t>
            </a:r>
            <a:endParaRPr lang="en-US" altLang="ko-KR" sz="2800" b="1">
              <a:solidFill>
                <a:schemeClr val="tx2"/>
              </a:solidFill>
              <a:latin typeface="맑은 고딕"/>
              <a:ea typeface="맑은 고딕"/>
            </a:endParaRPr>
          </a:p>
          <a:p>
            <a:pPr algn="ctr"/>
            <a:r>
              <a:rPr lang="ko-KR" altLang="en-US" sz="2800" b="1">
                <a:solidFill>
                  <a:schemeClr val="tx2"/>
                </a:solidFill>
              </a:rPr>
              <a:t>호텔 ★★</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BEE5366E-14B6-53FE-A888-2DAE27651695}"/>
              </a:ext>
            </a:extLst>
          </p:cNvPr>
          <p:cNvSpPr>
            <a:spLocks noGrp="1"/>
          </p:cNvSpPr>
          <p:nvPr>
            <p:ph type="sldNum" sz="quarter" idx="12"/>
          </p:nvPr>
        </p:nvSpPr>
        <p:spPr/>
        <p:txBody>
          <a:bodyPr/>
          <a:lstStyle/>
          <a:p>
            <a:fld id="{18CC7079-95A2-4860-A138-51A9FC969471}" type="slidenum">
              <a:rPr lang="ko-KR" altLang="en-US" smtClean="0"/>
              <a:t>86</a:t>
            </a:fld>
            <a:endParaRPr lang="ko-KR" altLang="en-US"/>
          </a:p>
        </p:txBody>
      </p:sp>
    </p:spTree>
    <p:extLst>
      <p:ext uri="{BB962C8B-B14F-4D97-AF65-F5344CB8AC3E}">
        <p14:creationId xmlns:p14="http://schemas.microsoft.com/office/powerpoint/2010/main" val="25612879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87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61445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보편적인 은행들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나라에 있는 은행에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그것들은 일반적으로 어떻게 생겼나요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그들은 보통 어디에 위치해 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한국에는 많은 은행들이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그들의 많은 수는 복잡한 거리에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spc="-50" dirty="0">
                <a:solidFill>
                  <a:schemeClr val="tx1"/>
                </a:solidFill>
                <a:latin typeface="+mn-lt"/>
                <a:ea typeface="+mn-ea"/>
                <a:cs typeface="+mn-cs"/>
              </a:rPr>
              <a:t>그들은 찾기 쉽습니다</a:t>
            </a:r>
            <a:r>
              <a:rPr lang="en-US" altLang="ko-KR" sz="1100" b="0" i="0" u="none" strike="noStrike" kern="1200" spc="-50" dirty="0">
                <a:solidFill>
                  <a:schemeClr val="tx1"/>
                </a:solidFill>
                <a:latin typeface="+mn-lt"/>
                <a:ea typeface="+mn-ea"/>
                <a:cs typeface="+mn-cs"/>
              </a:rPr>
              <a:t>. </a:t>
            </a:r>
            <a:r>
              <a:rPr lang="ko-KR" altLang="en-US" sz="1100" b="0" i="0" u="none" strike="noStrike" kern="1200" spc="-50" dirty="0">
                <a:solidFill>
                  <a:schemeClr val="tx1"/>
                </a:solidFill>
                <a:latin typeface="+mn-lt"/>
                <a:ea typeface="+mn-ea"/>
                <a:cs typeface="+mn-cs"/>
              </a:rPr>
              <a:t>그들이 어디에나 있기 때문에</a:t>
            </a:r>
            <a:endParaRPr lang="en-US" altLang="ko-KR" sz="1100" b="0" i="0" u="none" strike="noStrike" kern="1200" spc="-5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은행 안에는 카운터에 은행직원이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손님들이 앉아서 기다릴 수 있는 소파들이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현금을 인출할 수 있는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ATM</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들도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 있는 은행들은 이렇습니다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344517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보편적인 은행들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banks in your country.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they typically look like?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Where are they usually located?</a:t>
            </a:r>
            <a:endParaRPr lang="en-US" altLang="ko-KR" sz="1100" b="0" baseline="0" dirty="0">
              <a:solidFill>
                <a:srgbClr val="FF0000"/>
              </a:solidFill>
              <a:latin typeface="맑은 고딕" pitchFamily="50" charset="-127"/>
              <a:ea typeface="맑은 고딕" pitchFamily="50" charset="-127"/>
            </a:endParaRP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many banks in Korea.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Many of them are on busy streets.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easy to find because they are everywhere.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Inside the bank, there are tellers at the counters.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sofas where customers can sit and wait.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there are ATMs where you can get cash.</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banks in Korea are like.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은행에 가서 하는 업무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당신이 은행에 방문했을 때 하는 일에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들어가는 순간부터 나갈 때까지 무엇을 하나요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은행에 갈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처음 나의 차례를 위해 번호를 뽑고 기다립니다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그들이 나의 번호를 부를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은행직원에게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나의 사업을 돌봅니다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종종 나의 잔고를 확인하거나 돈을 송금합니다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돈을 입금하거나 출금합니다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환전을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때때로 카드를 발급 받기도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은행에 갈 때 하는 일입니다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은행에 가서 하는 업무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70" dirty="0">
                <a:solidFill>
                  <a:srgbClr val="FF0000"/>
                </a:solidFill>
                <a:latin typeface="맑은 고딕" panose="020B0503020000020004" pitchFamily="50" charset="-127"/>
                <a:ea typeface="맑은 고딕" panose="020B0503020000020004" pitchFamily="50" charset="-127"/>
                <a:cs typeface="+mn-cs"/>
              </a:rPr>
              <a:t>Tell me about the things you do when you visit the bank.</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do you do from the moment you walk in until you walk out?</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go to banks, I first pull out a number and wait for my turn.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they call my number, I go to the teller and take care of my business.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often check my balance or wire money.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deposit or withdraw money.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sometimes exchange currency.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sometimes get a card issued.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things I do when I go to banks.</a:t>
            </a:r>
          </a:p>
        </p:txBody>
      </p:sp>
    </p:spTree>
    <p:extLst>
      <p:ext uri="{BB962C8B-B14F-4D97-AF65-F5344CB8AC3E}">
        <p14:creationId xmlns:p14="http://schemas.microsoft.com/office/powerpoint/2010/main" val="25996499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88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은행과 지금 은행과의 비교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은행은 시간이 지남에 따라 확실히 변했습니다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어렸을 때 기억나는 은행에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그거 </a:t>
            </a:r>
            <a:r>
              <a:rPr lang="ko-KR" altLang="en-US" sz="1100" b="0" i="0" kern="1200" dirty="0" err="1">
                <a:solidFill>
                  <a:srgbClr val="0070C0"/>
                </a:solidFill>
                <a:effectLst/>
                <a:latin typeface="+mn-lt"/>
                <a:ea typeface="+mn-ea"/>
                <a:cs typeface="+mn-cs"/>
              </a:rPr>
              <a:t>어땠어요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오늘 은행과 어떻게 달랐나요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뱅킹은 과거보다 훨씬 쉬워졌습니다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어렸을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뱅킹을 하기 위해 실제 은행에 가야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지금</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모바일 뱅킹을 할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원할 때 마다</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시간과 에너지를 훨씬 덜 듭니다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모방일 뱅킹을 하기 위해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비밀번호와 보안카드가 필요합니다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모바일 뱅킹을 통해 가장 종종 돈을 송금합니다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모바일 뱅킹은 가장 큰 변화입니다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은행과 지금 은행과의 비교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Banks have definitely changed over time.</a:t>
            </a:r>
          </a:p>
          <a:p>
            <a:r>
              <a:rPr lang="en-US" altLang="ko-KR" sz="1100" b="0" i="0" u="none" strike="noStrike" kern="1200" spc="-70" dirty="0">
                <a:solidFill>
                  <a:srgbClr val="FF0000"/>
                </a:solidFill>
                <a:latin typeface="+mn-lt"/>
                <a:ea typeface="+mn-ea"/>
                <a:cs typeface="+mn-cs"/>
              </a:rPr>
              <a:t>Tell me about a bank you remember from your childhood.</a:t>
            </a:r>
          </a:p>
          <a:p>
            <a:r>
              <a:rPr lang="en-US" altLang="ko-KR" sz="1100" b="0" i="0" u="none" strike="noStrike" kern="1200" baseline="0" dirty="0">
                <a:solidFill>
                  <a:srgbClr val="FF0000"/>
                </a:solidFill>
                <a:latin typeface="+mn-lt"/>
                <a:ea typeface="+mn-ea"/>
                <a:cs typeface="+mn-cs"/>
              </a:rPr>
              <a:t>What was it like? How was it different from banks today?</a:t>
            </a:r>
            <a:endParaRPr lang="en-US" altLang="ko-KR" sz="1100" b="0" baseline="0" dirty="0">
              <a:solidFill>
                <a:srgbClr val="FF0000"/>
              </a:solidFill>
              <a:latin typeface="맑은 고딕" pitchFamily="50" charset="-127"/>
              <a:ea typeface="맑은 고딕" pitchFamily="50" charset="-127"/>
            </a:endParaRP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Banking is a lot easier than in the past.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was a kid, I had to go to actual banks to do banking.</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But now, I can do mobile banking whenever I want to.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takes much less time and energy.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To do mobile banking, I need a password and a security card.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wire money most often through mobile banking.</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mobile banking is the biggest change.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88402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은행 업무 중 있었던 문제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때때로</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당신이 은행에 있을 때 문제가 발생할 수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당신의 은행과 관련된 어떤 문제에 대해 당신이 경험한 것을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100" dirty="0">
                <a:solidFill>
                  <a:srgbClr val="0070C0"/>
                </a:solidFill>
                <a:effectLst/>
                <a:latin typeface="+mn-lt"/>
                <a:ea typeface="+mn-ea"/>
                <a:cs typeface="+mn-cs"/>
              </a:rPr>
              <a:t>은행이 문을 닫았거나 은행이 무슨 실수를 했을 수도 있다</a:t>
            </a:r>
            <a:r>
              <a:rPr lang="en-US" altLang="ko-KR" sz="1100" b="0" i="0" kern="1200" spc="-100" dirty="0">
                <a:solidFill>
                  <a:srgbClr val="0070C0"/>
                </a:solidFill>
                <a:effectLst/>
                <a:latin typeface="+mn-lt"/>
                <a:ea typeface="+mn-ea"/>
                <a:cs typeface="+mn-cs"/>
              </a:rPr>
              <a:t>.</a:t>
            </a:r>
          </a:p>
          <a:p>
            <a:r>
              <a:rPr lang="ko-KR" altLang="en-US" sz="1100" b="0" i="0" kern="1200" dirty="0">
                <a:solidFill>
                  <a:srgbClr val="0070C0"/>
                </a:solidFill>
                <a:effectLst/>
                <a:latin typeface="+mn-lt"/>
                <a:ea typeface="+mn-ea"/>
                <a:cs typeface="+mn-cs"/>
              </a:rPr>
              <a:t>그 문제를 어떻게 해결했는지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청구서를 지불하기 위해 은행에 갔던 것이 기억에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은행에 너무 많은 사람들이 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처음 번호보를 뽑았습니다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나의 앞에 많은 사람들이 기다리고 있었습니다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기다리고 기다렸습니다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나의 차례가 아직 아니었습니다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단지 은행을 떠나야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은행에서 바쁜 시간들을 피하기 위해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53778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04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은행 업무 중 있었던 문제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60" dirty="0">
                <a:solidFill>
                  <a:srgbClr val="FF0000"/>
                </a:solidFill>
                <a:latin typeface="맑은 고딕" panose="020B0503020000020004" pitchFamily="50" charset="-127"/>
                <a:ea typeface="맑은 고딕" panose="020B0503020000020004" pitchFamily="50" charset="-127"/>
                <a:cs typeface="+mn-cs"/>
              </a:rPr>
              <a:t>Sometimes, problems can rise when you are at the bank.</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problem you have experienced that involved your bank.</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Maybe the bank was closed or perhaps the bank might have made some kind of mistake. Tell me about how you solved that problem.</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the bank to pay a bill.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there were so many people at the bank.</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first pulled out a number.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there were many people waiting in front of me.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waited and waited, but it was still NOT my turn.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just had to leave the bank.</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avoid busy hours at the bank.</a:t>
            </a:r>
          </a:p>
        </p:txBody>
      </p:sp>
    </p:spTree>
    <p:extLst>
      <p:ext uri="{BB962C8B-B14F-4D97-AF65-F5344CB8AC3E}">
        <p14:creationId xmlns:p14="http://schemas.microsoft.com/office/powerpoint/2010/main" val="40419563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89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20692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보편적인 호텔들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당신의 나라에 있는 호텔에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그것들은 어떤 모습 인가요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한국에는 많은 호텔들이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그들의 많은 수는 복잡한 거리에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spc="-50" dirty="0">
                <a:solidFill>
                  <a:schemeClr val="tx1"/>
                </a:solidFill>
                <a:latin typeface="+mn-lt"/>
                <a:ea typeface="+mn-ea"/>
                <a:cs typeface="+mn-cs"/>
              </a:rPr>
              <a:t>그들은 찾기 쉽습니다</a:t>
            </a:r>
            <a:r>
              <a:rPr lang="en-US" altLang="ko-KR" sz="1100" b="0" i="0" u="none" strike="noStrike" kern="1200" spc="-50" dirty="0">
                <a:solidFill>
                  <a:schemeClr val="tx1"/>
                </a:solidFill>
                <a:latin typeface="+mn-lt"/>
                <a:ea typeface="+mn-ea"/>
                <a:cs typeface="+mn-cs"/>
              </a:rPr>
              <a:t>. </a:t>
            </a:r>
            <a:r>
              <a:rPr lang="ko-KR" altLang="en-US" sz="1100" b="0" i="0" u="none" strike="noStrike" kern="1200" spc="-50" dirty="0">
                <a:solidFill>
                  <a:schemeClr val="tx1"/>
                </a:solidFill>
                <a:latin typeface="+mn-lt"/>
                <a:ea typeface="+mn-ea"/>
                <a:cs typeface="+mn-cs"/>
              </a:rPr>
              <a:t>그들이 어디에나 있기 때문에</a:t>
            </a:r>
            <a:endParaRPr lang="en-US" altLang="ko-KR" sz="1100" b="0" i="0" u="none" strike="noStrike" kern="1200" spc="-5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많은 호텔들은 인기있는 휴양지에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매우 붐빕니다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피크시즌동안</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더 높은 요금을 부과합니다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호텔들은 매우 큽니다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수백개의 객실들을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반면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호텔들은 작습니다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 있는 호텔들은 이렇습니다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29155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우리나라 보편적인 호텔들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the hotels in your country.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are they like?</a:t>
            </a:r>
            <a:endParaRPr lang="en-US" altLang="ko-KR" sz="1100" b="0" baseline="0" dirty="0">
              <a:solidFill>
                <a:srgbClr val="FF0000"/>
              </a:solidFill>
              <a:latin typeface="맑은 고딕" pitchFamily="50" charset="-127"/>
              <a:ea typeface="맑은 고딕" pitchFamily="50" charset="-127"/>
            </a:endParaRP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many hotels in Korea.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Many of them are on busy streets.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easy to find because they are everywhere.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Plus, there are many hotels at popular vacation spots.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get very crowded during the peak season.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charge higher rates.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 hotels are very large.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have hundreds of guest rooms.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 the other hand, some hotels are small.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hotels in Korea are like.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79939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기억에 남는 호텔 묘사</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기억에 남는 이유 설명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사람들은 종종 특히 아름답고 흥미로운 호텔에 대한 기억을 가지고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어떤 이유에서 인지 당신이 기억하는 호텔에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어디 있었어요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그거 </a:t>
            </a:r>
            <a:r>
              <a:rPr lang="ko-KR" altLang="en-US" sz="1100" b="0" i="0" kern="1200" dirty="0" err="1">
                <a:solidFill>
                  <a:srgbClr val="0070C0"/>
                </a:solidFill>
                <a:effectLst/>
                <a:latin typeface="+mn-lt"/>
                <a:ea typeface="+mn-ea"/>
                <a:cs typeface="+mn-cs"/>
              </a:rPr>
              <a:t>어땠어요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가능한 한 자세히 설명해 주세요</a:t>
            </a:r>
            <a:r>
              <a:rPr lang="en-US" altLang="ko-KR" sz="1100" b="0" i="0" kern="1200" dirty="0" smtClean="0">
                <a:solidFill>
                  <a:srgbClr val="0070C0"/>
                </a:solidFill>
                <a:effectLst/>
                <a:latin typeface="+mn-lt"/>
                <a:ea typeface="+mn-ea"/>
                <a:cs typeface="+mn-cs"/>
              </a:rPr>
              <a:t>.</a:t>
            </a: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smtClean="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나는 몇 년 전에 해변가 호텔에 머문 것이 기억에 납니다</a:t>
            </a: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방으로부터의 풍경은 기가 막혔습니다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창문으로부터 일출과 일몰을 볼 수 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호텔에서의 음식은 놀랍도록 맛있었습니다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또한 스파에서 마사지를 받았습니다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또한 수영장에 수영하러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또한 호텔안에서 몇몇 레스토랑에서 먹었습니다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뒤돌아 보면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호텔이었습니다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9939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02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기억에 남는 호텔 묘사</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기억에 남는 이유 설명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People often have memories of especially beautiful and interesting hotels.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hotel that you remember for some reason.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Where was it? What was it like?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it for me in as much detail as possible.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staying at a beachside hotel a few years ago.</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view from the room was incredible.</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I could see the sunrise and the sunset from the window.</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the food at the hotel tasted amazing.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also got a massage at the spa.</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also went swimming in the swimming pool.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also ate at some restaurants in the hotel.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it was a very memorable hotel.</a:t>
            </a:r>
          </a:p>
        </p:txBody>
      </p:sp>
    </p:spTree>
    <p:extLst>
      <p:ext uri="{BB962C8B-B14F-4D97-AF65-F5344CB8AC3E}">
        <p14:creationId xmlns:p14="http://schemas.microsoft.com/office/powerpoint/2010/main" val="19742785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90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최근에 갔었던 호텔에 묵은 경험 설명</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마지막으로 호텔에 묵은 게 </a:t>
            </a:r>
            <a:r>
              <a:rPr lang="ko-KR" altLang="en-US" sz="1000" b="0" i="0" kern="1200" dirty="0" err="1">
                <a:solidFill>
                  <a:srgbClr val="0070C0"/>
                </a:solidFill>
                <a:effectLst/>
                <a:latin typeface="+mn-lt"/>
                <a:ea typeface="+mn-ea"/>
                <a:cs typeface="+mn-cs"/>
              </a:rPr>
              <a:t>언제죠</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어디에 있었고 왜 거기에 있었습니까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처음부터 끝까지 자초지종을 말해 주세요</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해변가 호텔에 머문 것이 기억납니다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가족과 함께 휴가를 갔습니다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호텔에 도착했을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처음 체크인을 하기 위해 프론트 데스크에 갔습니다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그들에게 나의 이름과 나의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카드를 주었습니다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방 키를 가지고 나의 방으로 갔습니다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나의 방에 도착했을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처음 주위를 둘러 보았습니다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물건들을 풀었습니다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후</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편안한 옷들로 갈아 입었습니다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마지막 시간이었습니다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호텔에 머물렀는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294509"/>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03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최근에 갔었던 호텔에 묵은 경험 설명</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was the last time you stayed at a hotel?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Where was it and why were you there?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the whole story from beginning to end.</a:t>
            </a:r>
            <a:endParaRPr lang="en-US" altLang="ko-KR" sz="1000" b="0" baseline="0" dirty="0">
              <a:solidFill>
                <a:srgbClr val="FF0000"/>
              </a:solidFill>
              <a:latin typeface="맑은 고딕" pitchFamily="50" charset="-127"/>
              <a:ea typeface="맑은 고딕" pitchFamily="50" charset="-127"/>
            </a:endParaRPr>
          </a:p>
          <a:p>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staying at a beachside hotel recently.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on a vacation with my family.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arrived at the hotel, I first went to the front desk to check in.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gave them my name and my credit card.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my room key and went to my room.</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got to my room, I first looked around.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And then, I unpacked my things.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After that, I changed into some comfortable clothes.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was the last time I stayed at a hotel.</a:t>
            </a:r>
          </a:p>
        </p:txBody>
      </p:sp>
    </p:spTree>
    <p:extLst>
      <p:ext uri="{BB962C8B-B14F-4D97-AF65-F5344CB8AC3E}">
        <p14:creationId xmlns:p14="http://schemas.microsoft.com/office/powerpoint/2010/main" val="9137463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302634"/>
            <a:ext cx="6858000" cy="5170646"/>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19 </a:t>
            </a:r>
            <a:r>
              <a:rPr lang="ko-KR" altLang="en-US" sz="5400" b="1">
                <a:solidFill>
                  <a:srgbClr val="FF0000"/>
                </a:solidFill>
                <a:latin typeface="맑은 고딕" pitchFamily="50" charset="-127"/>
                <a:ea typeface="맑은 고딕" pitchFamily="50" charset="-127"/>
              </a:rPr>
              <a:t>선택형 주제</a:t>
            </a:r>
            <a:endParaRPr lang="en-US" altLang="ko-KR" sz="5400" b="1">
              <a:solidFill>
                <a:srgbClr val="FF0000"/>
              </a:solidFill>
              <a:latin typeface="맑은 고딕" pitchFamily="50" charset="-127"/>
              <a:ea typeface="맑은 고딕" pitchFamily="50" charset="-127"/>
            </a:endParaRPr>
          </a:p>
          <a:p>
            <a:pPr algn="ctr">
              <a:lnSpc>
                <a:spcPct val="150000"/>
              </a:lnSpc>
            </a:pPr>
            <a:r>
              <a:rPr lang="en-US" altLang="ko-KR" sz="5400" b="1">
                <a:latin typeface="맑은 고딕" pitchFamily="50" charset="-127"/>
                <a:ea typeface="맑은 고딕" pitchFamily="50" charset="-127"/>
              </a:rPr>
              <a:t>Work</a:t>
            </a:r>
          </a:p>
          <a:p>
            <a:pPr algn="ctr">
              <a:lnSpc>
                <a:spcPct val="150000"/>
              </a:lnSpc>
            </a:pPr>
            <a:r>
              <a:rPr lang="ko-KR" altLang="en-US" sz="2800" b="1">
                <a:solidFill>
                  <a:schemeClr val="tx2"/>
                </a:solidFill>
                <a:latin typeface="맑은 고딕" pitchFamily="50" charset="-127"/>
                <a:ea typeface="맑은 고딕" pitchFamily="50" charset="-127"/>
              </a:rPr>
              <a:t>직장생활 </a:t>
            </a:r>
            <a:r>
              <a:rPr lang="ko-KR" altLang="en-US" sz="2800" b="1">
                <a:solidFill>
                  <a:schemeClr val="tx2"/>
                </a:solidFill>
                <a:latin typeface="맑은 고딕"/>
                <a:ea typeface="맑은 고딕"/>
              </a:rPr>
              <a:t>★</a:t>
            </a:r>
            <a:endParaRPr lang="en-US" altLang="ko-KR" sz="2800" b="1">
              <a:solidFill>
                <a:schemeClr val="tx2"/>
              </a:solidFill>
              <a:latin typeface="맑은 고딕"/>
              <a:ea typeface="맑은 고딕"/>
            </a:endParaRPr>
          </a:p>
          <a:p>
            <a:pPr algn="ctr">
              <a:lnSpc>
                <a:spcPct val="150000"/>
              </a:lnSpc>
            </a:pPr>
            <a:endParaRPr lang="en-US" altLang="ko-KR" sz="2800" b="1">
              <a:solidFill>
                <a:schemeClr val="tx2"/>
              </a:solidFill>
              <a:latin typeface="맑은 고딕"/>
              <a:ea typeface="맑은 고딕"/>
            </a:endParaRPr>
          </a:p>
          <a:p>
            <a:pPr>
              <a:lnSpc>
                <a:spcPct val="150000"/>
              </a:lnSpc>
            </a:pPr>
            <a:r>
              <a:rPr lang="en-US" altLang="ko-KR" sz="2800" b="1">
                <a:solidFill>
                  <a:schemeClr val="tx2"/>
                </a:solidFill>
                <a:latin typeface="맑은 고딕"/>
                <a:ea typeface="맑은 고딕"/>
              </a:rPr>
              <a:t> </a:t>
            </a:r>
            <a:r>
              <a:rPr lang="ko-KR" altLang="ko-KR" sz="2800" b="1">
                <a:solidFill>
                  <a:schemeClr val="tx2"/>
                </a:solidFill>
                <a:latin typeface="맑은 고딕"/>
                <a:ea typeface="맑은 고딕"/>
              </a:rPr>
              <a:t>☞</a:t>
            </a:r>
            <a:r>
              <a:rPr lang="en-US" altLang="ko-KR" sz="2800" b="1">
                <a:solidFill>
                  <a:schemeClr val="tx2"/>
                </a:solidFill>
                <a:latin typeface="맑은 고딕"/>
                <a:ea typeface="맑은 고딕"/>
              </a:rPr>
              <a:t> </a:t>
            </a:r>
            <a:r>
              <a:rPr lang="ko-KR" altLang="en-US" sz="2800" b="1">
                <a:solidFill>
                  <a:schemeClr val="tx2"/>
                </a:solidFill>
                <a:latin typeface="맑은 고딕"/>
                <a:ea typeface="맑은 고딕"/>
              </a:rPr>
              <a:t>일 경험 없음 선택 시 직장생활 문제</a:t>
            </a:r>
            <a:endParaRPr lang="en-US" altLang="ko-KR" sz="2800" b="1">
              <a:solidFill>
                <a:schemeClr val="tx2"/>
              </a:solidFill>
              <a:latin typeface="맑은 고딕"/>
              <a:ea typeface="맑은 고딕"/>
            </a:endParaRPr>
          </a:p>
          <a:p>
            <a:pPr>
              <a:lnSpc>
                <a:spcPct val="150000"/>
              </a:lnSpc>
            </a:pPr>
            <a:r>
              <a:rPr lang="en-US" altLang="ko-KR" sz="2800" b="1">
                <a:solidFill>
                  <a:schemeClr val="tx2"/>
                </a:solidFill>
                <a:latin typeface="맑은 고딕"/>
                <a:ea typeface="맑은 고딕"/>
              </a:rPr>
              <a:t>  </a:t>
            </a:r>
            <a:r>
              <a:rPr lang="ko-KR" altLang="en-US" sz="2800" b="1">
                <a:solidFill>
                  <a:schemeClr val="tx2"/>
                </a:solidFill>
                <a:latin typeface="맑은 고딕"/>
                <a:ea typeface="맑은 고딕"/>
              </a:rPr>
              <a:t>   안나옴</a:t>
            </a:r>
            <a:r>
              <a:rPr lang="en-US" altLang="ko-KR" sz="2800" b="1">
                <a:solidFill>
                  <a:schemeClr val="tx2"/>
                </a:solidFill>
                <a:latin typeface="맑은 고딕"/>
                <a:ea typeface="맑은 고딕"/>
              </a:rPr>
              <a:t>.</a:t>
            </a:r>
            <a:r>
              <a:rPr lang="ko-KR" altLang="en-US" sz="2800" b="1">
                <a:solidFill>
                  <a:schemeClr val="tx2"/>
                </a:solidFill>
                <a:latin typeface="맑은 고딕"/>
                <a:ea typeface="맑은 고딕"/>
              </a:rPr>
              <a:t> 따라서</a:t>
            </a:r>
            <a:r>
              <a:rPr lang="en-US" altLang="ko-KR" sz="2800" b="1">
                <a:solidFill>
                  <a:schemeClr val="tx2"/>
                </a:solidFill>
                <a:latin typeface="맑은 고딕"/>
                <a:ea typeface="맑은 고딕"/>
              </a:rPr>
              <a:t>, </a:t>
            </a:r>
            <a:r>
              <a:rPr lang="ko-KR" altLang="en-US" sz="2800" b="1">
                <a:solidFill>
                  <a:schemeClr val="tx2"/>
                </a:solidFill>
                <a:latin typeface="맑은 고딕"/>
                <a:ea typeface="맑은 고딕"/>
              </a:rPr>
              <a:t>직장생활은 생략함</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A7920AC5-6143-4DE8-6189-DD6149E02825}"/>
              </a:ext>
            </a:extLst>
          </p:cNvPr>
          <p:cNvSpPr>
            <a:spLocks noGrp="1"/>
          </p:cNvSpPr>
          <p:nvPr>
            <p:ph type="sldNum" sz="quarter" idx="12"/>
          </p:nvPr>
        </p:nvSpPr>
        <p:spPr/>
        <p:txBody>
          <a:bodyPr/>
          <a:lstStyle/>
          <a:p>
            <a:fld id="{18CC7079-95A2-4860-A138-51A9FC969471}" type="slidenum">
              <a:rPr lang="ko-KR" altLang="en-US" smtClean="0"/>
              <a:t>91</a:t>
            </a:fld>
            <a:endParaRPr lang="ko-KR" altLang="en-US"/>
          </a:p>
        </p:txBody>
      </p:sp>
    </p:spTree>
    <p:extLst>
      <p:ext uri="{BB962C8B-B14F-4D97-AF65-F5344CB8AC3E}">
        <p14:creationId xmlns:p14="http://schemas.microsoft.com/office/powerpoint/2010/main" val="35807149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3080792"/>
            <a:ext cx="6858000" cy="3231654"/>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20 </a:t>
            </a:r>
            <a:r>
              <a:rPr lang="ko-KR" altLang="en-US" sz="5400" b="1">
                <a:solidFill>
                  <a:srgbClr val="FF0000"/>
                </a:solidFill>
                <a:latin typeface="맑은 고딕" pitchFamily="50" charset="-127"/>
                <a:ea typeface="맑은 고딕" pitchFamily="50" charset="-127"/>
              </a:rPr>
              <a:t>역으로 질문하기</a:t>
            </a:r>
            <a:endParaRPr lang="en-US" altLang="ko-KR" sz="5400" b="1">
              <a:solidFill>
                <a:srgbClr val="FF0000"/>
              </a:solidFill>
              <a:latin typeface="맑은 고딕" pitchFamily="50" charset="-127"/>
              <a:ea typeface="맑은 고딕" pitchFamily="50" charset="-127"/>
            </a:endParaRPr>
          </a:p>
          <a:p>
            <a:pPr algn="ctr">
              <a:lnSpc>
                <a:spcPct val="150000"/>
              </a:lnSpc>
            </a:pPr>
            <a:r>
              <a:rPr lang="en-US" altLang="ko-KR" sz="5400" b="1">
                <a:latin typeface="맑은 고딕" pitchFamily="50" charset="-127"/>
                <a:ea typeface="맑은 고딕" pitchFamily="50" charset="-127"/>
              </a:rPr>
              <a:t>Master Key </a:t>
            </a:r>
            <a:r>
              <a:rPr lang="ko-KR" altLang="en-US" sz="5400" b="1">
                <a:latin typeface="맑은 고딕" pitchFamily="50" charset="-127"/>
                <a:ea typeface="맑은 고딕" pitchFamily="50" charset="-127"/>
              </a:rPr>
              <a:t>템플릿</a:t>
            </a:r>
            <a:endParaRPr lang="en-US" altLang="ko-KR" sz="5400" b="1">
              <a:latin typeface="맑은 고딕" pitchFamily="50" charset="-127"/>
              <a:ea typeface="맑은 고딕" pitchFamily="50" charset="-127"/>
            </a:endParaRPr>
          </a:p>
          <a:p>
            <a:pPr algn="ctr">
              <a:lnSpc>
                <a:spcPct val="150000"/>
              </a:lnSpc>
            </a:pPr>
            <a:r>
              <a:rPr lang="en-US" altLang="ko-KR" sz="2800" b="1">
                <a:solidFill>
                  <a:schemeClr val="tx2"/>
                </a:solidFill>
                <a:latin typeface="맑은 고딕" pitchFamily="50" charset="-127"/>
                <a:ea typeface="맑은 고딕" pitchFamily="50" charset="-127"/>
              </a:rPr>
              <a:t>14, 15</a:t>
            </a:r>
            <a:r>
              <a:rPr lang="ko-KR" altLang="en-US" sz="2800" b="1">
                <a:solidFill>
                  <a:schemeClr val="tx2"/>
                </a:solidFill>
                <a:latin typeface="맑은 고딕" pitchFamily="50" charset="-127"/>
                <a:ea typeface="맑은 고딕" pitchFamily="50" charset="-127"/>
              </a:rPr>
              <a:t>번 </a:t>
            </a:r>
            <a:r>
              <a:rPr lang="ko-KR" altLang="en-US" sz="2800" b="1">
                <a:solidFill>
                  <a:schemeClr val="tx2"/>
                </a:solidFill>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17EFC7A2-9585-825A-FA7F-520543E5371C}"/>
              </a:ext>
            </a:extLst>
          </p:cNvPr>
          <p:cNvSpPr>
            <a:spLocks noGrp="1"/>
          </p:cNvSpPr>
          <p:nvPr>
            <p:ph type="sldNum" sz="quarter" idx="12"/>
          </p:nvPr>
        </p:nvSpPr>
        <p:spPr/>
        <p:txBody>
          <a:bodyPr/>
          <a:lstStyle/>
          <a:p>
            <a:fld id="{18CC7079-95A2-4860-A138-51A9FC969471}" type="slidenum">
              <a:rPr lang="ko-KR" altLang="en-US" smtClean="0"/>
              <a:t>92</a:t>
            </a:fld>
            <a:endParaRPr lang="ko-KR" altLang="en-US"/>
          </a:p>
        </p:txBody>
      </p:sp>
    </p:spTree>
    <p:extLst>
      <p:ext uri="{BB962C8B-B14F-4D97-AF65-F5344CB8AC3E}">
        <p14:creationId xmlns:p14="http://schemas.microsoft.com/office/powerpoint/2010/main" val="1048967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93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30114"/>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문제 유형</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14. [Int]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본인의 성향묘사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장소묘사</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일반주제 각 세트의 첫번째 문제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15. [Int]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해당주제에 대해 상대방에게 질문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3~4</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가지</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취향</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장소에 대한 질문</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15. [Int]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좋아하는 음식점들에 대해 질문을 하라</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최근경험에대한질문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15. [Int]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최근에 본 영화에 대해 질문을 하라</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1"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공통형주제</a:t>
            </a:r>
            <a:endPar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음식점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건강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인터넷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전화기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기술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패션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교통</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휴일</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1"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선택형주제</a:t>
            </a:r>
            <a:endPar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집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술집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커피숍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여행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공원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음악</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122282"/>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취향 </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장소 질문 </a:t>
            </a:r>
            <a:r>
              <a:rPr lang="en-US" altLang="ko-KR" sz="1100" b="1" baseline="0" dirty="0">
                <a:solidFill>
                  <a:srgbClr val="FF0000"/>
                </a:solidFill>
                <a:latin typeface="맑은 고딕" pitchFamily="50" charset="-127"/>
                <a:ea typeface="맑은 고딕" pitchFamily="50" charset="-127"/>
              </a:rPr>
              <a:t>[1]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종류</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종류의 식당을 좋아합니까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종류의 집에 살고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가장 좋아하는 요리는 무엇입니까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어떤것을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추천할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선호도</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해산물 식당을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어떻습니까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해외여행을 좋아합니다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어떻습니까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해산물 음식점을 좋아합니까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너의 집을 좋아합니까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왜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그렇가요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왜 그렇지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않은가요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122282"/>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취향 </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장소 질문 </a:t>
            </a:r>
            <a:r>
              <a:rPr lang="en-US" altLang="ko-KR" sz="1100" b="1" baseline="0" dirty="0">
                <a:solidFill>
                  <a:srgbClr val="FF0000"/>
                </a:solidFill>
                <a:latin typeface="맑은 고딕" pitchFamily="50" charset="-127"/>
                <a:ea typeface="맑은 고딕" pitchFamily="50" charset="-127"/>
              </a:rPr>
              <a:t>[1]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종류</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restaurants do you like?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 of house do you live in?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is your favorite dish?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선호도</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 seafood restaurants. How about you?</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 to travel overseas. How about you?</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like seafood restaurants?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like your house?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or why not?</a:t>
            </a:r>
          </a:p>
        </p:txBody>
      </p:sp>
    </p:spTree>
    <p:extLst>
      <p:ext uri="{BB962C8B-B14F-4D97-AF65-F5344CB8AC3E}">
        <p14:creationId xmlns:p14="http://schemas.microsoft.com/office/powerpoint/2010/main" val="23827788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94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868367"/>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취향 </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장소 질문 </a:t>
            </a:r>
            <a:r>
              <a:rPr lang="en-US" altLang="ko-KR" sz="1100" b="1" baseline="0" dirty="0">
                <a:solidFill>
                  <a:srgbClr val="FF0000"/>
                </a:solidFill>
                <a:latin typeface="맑은 고딕" pitchFamily="50" charset="-127"/>
                <a:ea typeface="맑은 고딕" pitchFamily="50" charset="-127"/>
              </a:rPr>
              <a:t>[2]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빈도</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얼마나 자주 외식을 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얼마나 자주 여행을 갑니까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위치</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식당은 어디에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집은 어디에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복잡한 지역에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누구와 종종 외식을 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종종 누구와 여행을 갑니까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누구와 함께 사나요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3868367"/>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취향 </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장소 질문 </a:t>
            </a:r>
            <a:r>
              <a:rPr lang="en-US" altLang="ko-KR" sz="1100" b="1" baseline="0" dirty="0">
                <a:solidFill>
                  <a:srgbClr val="FF0000"/>
                </a:solidFill>
                <a:latin typeface="맑은 고딕" pitchFamily="50" charset="-127"/>
                <a:ea typeface="맑은 고딕" pitchFamily="50" charset="-127"/>
              </a:rPr>
              <a:t>[2]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빈도</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often do you eat out?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often do you go on trips?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위치</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is the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is your house?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in a busy area?</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Who do you often eat out with?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Who do you often go on trips with?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Who do you live with?</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14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우리나라 보편적인 음식점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15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내가 좋아하는 음식점들에 대해 질문하라</a:t>
            </a:r>
            <a:endParaRPr lang="en-US" altLang="ko-KR" sz="1000" b="1" baseline="0" dirty="0">
              <a:solidFill>
                <a:srgbClr val="FF0000"/>
              </a:solidFill>
              <a:latin typeface="맑은 고딕" pitchFamily="50" charset="-127"/>
              <a:ea typeface="맑은 고딕" pitchFamily="50" charset="-127"/>
            </a:endParaRPr>
          </a:p>
          <a:p>
            <a:r>
              <a:rPr lang="en-US" altLang="ko-KR" sz="1000" b="0" i="0" kern="1200" dirty="0">
                <a:solidFill>
                  <a:srgbClr val="0070C0"/>
                </a:solidFill>
                <a:effectLst/>
                <a:latin typeface="+mn-lt"/>
                <a:ea typeface="+mn-ea"/>
                <a:cs typeface="+mn-cs"/>
              </a:rPr>
              <a:t>14 </a:t>
            </a:r>
            <a:r>
              <a:rPr lang="ko-KR" altLang="en-US" sz="1000" b="0" i="0" kern="1200" dirty="0">
                <a:solidFill>
                  <a:srgbClr val="0070C0"/>
                </a:solidFill>
                <a:effectLst/>
                <a:latin typeface="+mn-lt"/>
                <a:ea typeface="+mn-ea"/>
                <a:cs typeface="+mn-cs"/>
              </a:rPr>
              <a:t>나는 당신의 나라에 있는 레스토랑에 대해 알고 싶다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전형적인 레스토랑은 어떤 곳인가요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en-US" altLang="ko-KR" sz="1000" b="0" dirty="0">
                <a:solidFill>
                  <a:srgbClr val="0070C0"/>
                </a:solidFill>
              </a:rPr>
              <a:t>15 </a:t>
            </a:r>
            <a:r>
              <a:rPr lang="ko-KR" altLang="en-US" sz="1000" b="0" i="0" kern="1200" dirty="0">
                <a:solidFill>
                  <a:srgbClr val="0070C0"/>
                </a:solidFill>
                <a:effectLst/>
                <a:latin typeface="+mn-lt"/>
                <a:ea typeface="+mn-ea"/>
                <a:cs typeface="+mn-cs"/>
              </a:rPr>
              <a:t>나는 또한 식당에서 먹는 것을 즐긴다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내가 좋아하는 음식점에 대해 </a:t>
            </a:r>
            <a:r>
              <a:rPr lang="en-US" altLang="ko-KR" sz="1000" b="0" i="0" kern="1200" dirty="0">
                <a:solidFill>
                  <a:srgbClr val="0070C0"/>
                </a:solidFill>
                <a:effectLst/>
                <a:latin typeface="+mn-lt"/>
                <a:ea typeface="+mn-ea"/>
                <a:cs typeface="+mn-cs"/>
              </a:rPr>
              <a:t>3~4</a:t>
            </a:r>
            <a:r>
              <a:rPr lang="ko-KR" altLang="en-US" sz="1000" b="0" i="0" kern="1200" dirty="0">
                <a:solidFill>
                  <a:srgbClr val="0070C0"/>
                </a:solidFill>
                <a:effectLst/>
                <a:latin typeface="+mn-lt"/>
                <a:ea typeface="+mn-ea"/>
                <a:cs typeface="+mn-cs"/>
              </a:rPr>
              <a:t>가지 질문을 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어떤 종류의 식당을 좋아합니까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해산물 레스토랑을 좋아합니다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어떻습니까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가장 좋아하는 음식은 무엇입니까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얼마나 자주 외식을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일주일에 한 번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레스토랑은 어디에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그것은 복잡한 지역에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종종 누구와 함께 외식을 하나요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너의 가족과 함께 하나요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너 혼자 하나요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14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우리나라 보편적인 음식점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15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내가 좋아하는 음식점들에 대해 질문하라</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14 I want to know about restaurants in your country.</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What are typical restaurants like?</a:t>
            </a:r>
          </a:p>
          <a:p>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15 I enjoy eating at restaurants as well.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Ask me three to four questions about the places I like to eat at.</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restaurants do you like?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 seafood restaurants. How about you?</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is your favorite dish?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how often do you eat 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do that once a week?</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is the restaurant? Is it in a busy area?</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Who do you often eat out with?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do that with your family?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do that by yourself?</a:t>
            </a:r>
          </a:p>
        </p:txBody>
      </p:sp>
    </p:spTree>
    <p:extLst>
      <p:ext uri="{BB962C8B-B14F-4D97-AF65-F5344CB8AC3E}">
        <p14:creationId xmlns:p14="http://schemas.microsoft.com/office/powerpoint/2010/main" val="9590943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95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14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현재 살고 있는 집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15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나의 새 집에 대해서 질문하라</a:t>
            </a:r>
            <a:endParaRPr lang="en-US" altLang="ko-KR" sz="1000" b="1" baseline="0" dirty="0">
              <a:solidFill>
                <a:srgbClr val="FF0000"/>
              </a:solidFill>
              <a:latin typeface="맑은 고딕" pitchFamily="50" charset="-127"/>
              <a:ea typeface="맑은 고딕" pitchFamily="50" charset="-127"/>
            </a:endParaRPr>
          </a:p>
          <a:p>
            <a:r>
              <a:rPr lang="en-US" altLang="ko-KR" sz="1000" b="0" i="0" kern="1200" dirty="0">
                <a:solidFill>
                  <a:srgbClr val="0070C0"/>
                </a:solidFill>
                <a:effectLst/>
                <a:latin typeface="+mn-lt"/>
                <a:ea typeface="+mn-ea"/>
                <a:cs typeface="+mn-cs"/>
              </a:rPr>
              <a:t>14 </a:t>
            </a:r>
            <a:r>
              <a:rPr lang="ko-KR" altLang="en-US" sz="1000" b="0" i="0" kern="1200" dirty="0">
                <a:solidFill>
                  <a:srgbClr val="0070C0"/>
                </a:solidFill>
                <a:effectLst/>
                <a:latin typeface="+mn-lt"/>
                <a:ea typeface="+mn-ea"/>
                <a:cs typeface="+mn-cs"/>
              </a:rPr>
              <a:t>나는 네가 어디에 사는지 알고 싶다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나에게 당신의 집을 설명해 줄 수 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어떤 느낌이에요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방이 몇 개 있습니까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en-US" altLang="ko-KR" sz="1000" b="0" dirty="0">
                <a:solidFill>
                  <a:srgbClr val="0070C0"/>
                </a:solidFill>
              </a:rPr>
              <a:t>15 </a:t>
            </a:r>
            <a:r>
              <a:rPr lang="ko-KR" altLang="en-US" sz="1000" b="0" i="0" kern="1200" dirty="0">
                <a:solidFill>
                  <a:srgbClr val="0070C0"/>
                </a:solidFill>
                <a:effectLst/>
                <a:latin typeface="+mn-lt"/>
                <a:ea typeface="+mn-ea"/>
                <a:cs typeface="+mn-cs"/>
              </a:rPr>
              <a:t>나는 최근에 새집으로 이사했다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내 새 집에 대해 </a:t>
            </a:r>
            <a:r>
              <a:rPr lang="en-US" altLang="ko-KR" sz="1000" b="0" i="0" kern="1200" dirty="0">
                <a:solidFill>
                  <a:srgbClr val="0070C0"/>
                </a:solidFill>
                <a:effectLst/>
                <a:latin typeface="+mn-lt"/>
                <a:ea typeface="+mn-ea"/>
                <a:cs typeface="+mn-cs"/>
              </a:rPr>
              <a:t>3~4</a:t>
            </a:r>
            <a:r>
              <a:rPr lang="ko-KR" altLang="en-US" sz="1000" b="0" i="0" kern="1200" dirty="0">
                <a:solidFill>
                  <a:srgbClr val="0070C0"/>
                </a:solidFill>
                <a:effectLst/>
                <a:latin typeface="+mn-lt"/>
                <a:ea typeface="+mn-ea"/>
                <a:cs typeface="+mn-cs"/>
              </a:rPr>
              <a:t>가지 물어보세요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어떤 종류의 집에 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얼마나 많은 방을 당신은 가지나요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얼마나 많은 침실을 당신은 가지고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집은 얼마나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큰가요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발코니를 가지고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집은 어디인가요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복잡한 지역에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누구와 함께 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너의 가족과 함께 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너 혼자 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당신의 집을 좋아하나요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왜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그런가요</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혹은 왜 그렇지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않은가요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14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현재 살고 있는 집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15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나의 새 집에 대해서 질문하라</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14 I want to know where you live.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Can you describe your home to me?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What is it like? How many rooms does it have?</a:t>
            </a:r>
          </a:p>
          <a:p>
            <a:endPar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15 I moved into a new house recently.</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a:t>
            </a:r>
            <a:r>
              <a:rPr lang="en-US" altLang="ko-KR" sz="1000" b="0" i="0" u="none" strike="noStrike" kern="1200" spc="-10" dirty="0">
                <a:solidFill>
                  <a:srgbClr val="FF0000"/>
                </a:solidFill>
                <a:latin typeface="맑은 고딕" panose="020B0503020000020004" pitchFamily="50" charset="-127"/>
                <a:ea typeface="맑은 고딕" panose="020B0503020000020004" pitchFamily="50" charset="-127"/>
                <a:cs typeface="+mn-cs"/>
              </a:rPr>
              <a:t>Ask me three to four questions about my new house.</a:t>
            </a: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 of house do you live in?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many rooms do you have?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many bathrooms do you have?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big is your house?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have a balcony?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is your house? Is it in a busy area?</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Who do you live with?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live with your family?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live by yourself?</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do you like your house? Why or why not?</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940840"/>
          </a:xfrm>
          <a:prstGeom prst="rect">
            <a:avLst/>
          </a:prstGeom>
          <a:noFill/>
        </p:spPr>
        <p:txBody>
          <a:bodyPr wrap="square" rtlCol="0">
            <a:spAutoFit/>
          </a:bodyPr>
          <a:lstStyle/>
          <a:p>
            <a:pPr latinLnBrk="1">
              <a:lnSpc>
                <a:spcPct val="100000"/>
              </a:lnSpc>
            </a:pPr>
            <a:r>
              <a:rPr lang="ko-KR" altLang="en-US" sz="1000" b="1" baseline="0" dirty="0">
                <a:solidFill>
                  <a:srgbClr val="FF0000"/>
                </a:solidFill>
                <a:latin typeface="맑은 고딕" pitchFamily="50" charset="-127"/>
                <a:ea typeface="맑은 고딕" pitchFamily="50" charset="-127"/>
              </a:rPr>
              <a:t>최근 경험 질문                                    </a:t>
            </a: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종류</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어떤 종류의 영화를 보셨나요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종류의 물건을 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종류의 바에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위치와 이동수단</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쇼핑몰은 어디에 있었나요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영화관은 어디에 있었나요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복잡한 지역에 있었나요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거기에 어떻게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운전해서 갔나요 혹은 걸어서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누구와 함께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너의 친구들과 함께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기타소감</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거기에서 또 뭐 하셨나요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좋은 시간을 가졌나요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894673"/>
          </a:xfrm>
          <a:prstGeom prst="rect">
            <a:avLst/>
          </a:prstGeom>
          <a:noFill/>
        </p:spPr>
        <p:txBody>
          <a:bodyPr wrap="square" rtlCol="0">
            <a:spAutoFit/>
          </a:bodyPr>
          <a:lstStyle/>
          <a:p>
            <a:pPr latinLnBrk="1">
              <a:lnSpc>
                <a:spcPct val="100000"/>
              </a:lnSpc>
            </a:pPr>
            <a:r>
              <a:rPr lang="ko-KR" altLang="en-US" sz="1000" b="1" baseline="0" dirty="0">
                <a:solidFill>
                  <a:srgbClr val="FF0000"/>
                </a:solidFill>
                <a:latin typeface="맑은 고딕" pitchFamily="50" charset="-127"/>
                <a:ea typeface="맑은 고딕" pitchFamily="50" charset="-127"/>
              </a:rPr>
              <a:t>최근 경험 질문                                    </a:t>
            </a:r>
            <a:r>
              <a:rPr lang="en-US" altLang="ko-KR" sz="1000" b="1" baseline="0" dirty="0">
                <a:solidFill>
                  <a:srgbClr val="FF0000"/>
                </a:solidFill>
                <a:latin typeface="맑은 고딕" pitchFamily="50" charset="-127"/>
                <a:ea typeface="맑은 고딕" pitchFamily="50" charset="-127"/>
              </a:rPr>
              <a:t>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종류</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 of movie did you watch?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things did you buy?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 of bar did you go to?</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위치와 이동수단</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was the shopping mall?</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was the movie theater?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Was it in a busy area?</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did you get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drive or walk?</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Who did you go with?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go with your friends?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기타소감</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else did you do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have a good time?</a:t>
            </a:r>
          </a:p>
        </p:txBody>
      </p:sp>
    </p:spTree>
    <p:extLst>
      <p:ext uri="{BB962C8B-B14F-4D97-AF65-F5344CB8AC3E}">
        <p14:creationId xmlns:p14="http://schemas.microsoft.com/office/powerpoint/2010/main" val="356967396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96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25451"/>
          </a:xfrm>
          <a:prstGeom prst="rect">
            <a:avLst/>
          </a:prstGeom>
          <a:noFill/>
        </p:spPr>
        <p:txBody>
          <a:bodyPr wrap="square" rtlCol="0">
            <a:spAutoFit/>
          </a:bodyPr>
          <a:lstStyle/>
          <a:p>
            <a:pPr latinLnBrk="1">
              <a:lnSpc>
                <a:spcPct val="100000"/>
              </a:lnSpc>
            </a:pPr>
            <a:r>
              <a:rPr lang="en-US" altLang="ko-KR" sz="1000" b="1" spc="-80" dirty="0">
                <a:solidFill>
                  <a:schemeClr val="tx2"/>
                </a:solidFill>
                <a:latin typeface="맑은 고딕" pitchFamily="50" charset="-127"/>
                <a:ea typeface="맑은 고딕" pitchFamily="50" charset="-127"/>
              </a:rPr>
              <a:t>14 [Int]</a:t>
            </a:r>
            <a:r>
              <a:rPr lang="en-US" altLang="ko-KR" sz="1000" b="1" spc="-80" baseline="0" dirty="0">
                <a:solidFill>
                  <a:schemeClr val="tx2"/>
                </a:solidFill>
                <a:latin typeface="맑은 고딕" pitchFamily="50" charset="-127"/>
                <a:ea typeface="맑은 고딕" pitchFamily="50" charset="-127"/>
              </a:rPr>
              <a:t> </a:t>
            </a:r>
            <a:r>
              <a:rPr lang="ko-KR" altLang="en-US" sz="1000" b="1" spc="-80" baseline="0" dirty="0">
                <a:solidFill>
                  <a:srgbClr val="FF0000"/>
                </a:solidFill>
                <a:latin typeface="맑은 고딕" pitchFamily="50" charset="-127"/>
                <a:ea typeface="맑은 고딕" pitchFamily="50" charset="-127"/>
              </a:rPr>
              <a:t>본인이 가장 좋아하는 영화 장르와 좋아하는 이유 설명</a:t>
            </a:r>
            <a:endParaRPr lang="en-US" altLang="ko-KR" sz="1000" b="1" spc="-80"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15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내가 최근에 본 영화에 대해 질문하라</a:t>
            </a:r>
            <a:endParaRPr lang="en-US" altLang="ko-KR" sz="1000" b="1" baseline="0" dirty="0">
              <a:solidFill>
                <a:srgbClr val="FF0000"/>
              </a:solidFill>
              <a:latin typeface="맑은 고딕" pitchFamily="50" charset="-127"/>
              <a:ea typeface="맑은 고딕" pitchFamily="50" charset="-127"/>
            </a:endParaRPr>
          </a:p>
          <a:p>
            <a:r>
              <a:rPr lang="en-US" altLang="ko-KR" sz="1000" b="0" i="0" kern="1200" dirty="0">
                <a:solidFill>
                  <a:srgbClr val="0070C0"/>
                </a:solidFill>
                <a:effectLst/>
                <a:latin typeface="+mn-lt"/>
                <a:ea typeface="+mn-ea"/>
                <a:cs typeface="+mn-cs"/>
              </a:rPr>
              <a:t>14 </a:t>
            </a:r>
            <a:r>
              <a:rPr lang="ko-KR" altLang="en-US" sz="1000" b="0" i="0" kern="1200" dirty="0">
                <a:solidFill>
                  <a:srgbClr val="0070C0"/>
                </a:solidFill>
                <a:effectLst/>
                <a:latin typeface="+mn-lt"/>
                <a:ea typeface="+mn-ea"/>
                <a:cs typeface="+mn-cs"/>
              </a:rPr>
              <a:t>당신은 설문조사에서 당신이 영화 보는 것을 좋아한다고 말했습니다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당신은 어떤 종류의 영화를 보는 것을 좋아합니까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왜 그런 종류의 영화를 좋아하나요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en-US" altLang="ko-KR" sz="1000" b="0" dirty="0">
                <a:solidFill>
                  <a:srgbClr val="0070C0"/>
                </a:solidFill>
              </a:rPr>
              <a:t>15 </a:t>
            </a:r>
            <a:r>
              <a:rPr lang="ko-KR" altLang="en-US" sz="1000" b="0" i="0" kern="1200" dirty="0">
                <a:solidFill>
                  <a:srgbClr val="0070C0"/>
                </a:solidFill>
                <a:effectLst/>
                <a:latin typeface="+mn-lt"/>
                <a:ea typeface="+mn-ea"/>
                <a:cs typeface="+mn-cs"/>
              </a:rPr>
              <a:t>나도 영화 보는 것을 좋아합니다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내가 최근에 본 영화에 대해 </a:t>
            </a:r>
            <a:r>
              <a:rPr lang="en-US" altLang="ko-KR" sz="1000" b="0" i="0" kern="1200" dirty="0">
                <a:solidFill>
                  <a:srgbClr val="0070C0"/>
                </a:solidFill>
                <a:effectLst/>
                <a:latin typeface="+mn-lt"/>
                <a:ea typeface="+mn-ea"/>
                <a:cs typeface="+mn-cs"/>
              </a:rPr>
              <a:t>3~4</a:t>
            </a:r>
            <a:r>
              <a:rPr lang="ko-KR" altLang="en-US" sz="1000" b="0" i="0" kern="1200" dirty="0">
                <a:solidFill>
                  <a:srgbClr val="0070C0"/>
                </a:solidFill>
                <a:effectLst/>
                <a:latin typeface="+mn-lt"/>
                <a:ea typeface="+mn-ea"/>
                <a:cs typeface="+mn-cs"/>
              </a:rPr>
              <a:t>가지 물어보세요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종류의 영화를 봤나요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엑션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영화 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혹은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로멘틱</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코미디 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영화관은 어디에 있었나요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복잡한 지역에 있었나요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거기에 어떻게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운전했나요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누구와 함께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너의 친구와 함께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거기에서 또 뭐 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좋은 시간을 가졌나요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863896"/>
          </a:xfrm>
          <a:prstGeom prst="rect">
            <a:avLst/>
          </a:prstGeom>
          <a:noFill/>
        </p:spPr>
        <p:txBody>
          <a:bodyPr wrap="square" rtlCol="0">
            <a:spAutoFit/>
          </a:bodyPr>
          <a:lstStyle/>
          <a:p>
            <a:pPr latinLnBrk="1">
              <a:lnSpc>
                <a:spcPct val="100000"/>
              </a:lnSpc>
            </a:pPr>
            <a:r>
              <a:rPr lang="en-US" altLang="ko-KR" sz="1000" b="1" spc="-80" dirty="0">
                <a:solidFill>
                  <a:schemeClr val="tx2"/>
                </a:solidFill>
                <a:latin typeface="맑은 고딕" pitchFamily="50" charset="-127"/>
                <a:ea typeface="맑은 고딕" pitchFamily="50" charset="-127"/>
              </a:rPr>
              <a:t>14 [Int]</a:t>
            </a:r>
            <a:r>
              <a:rPr lang="en-US" altLang="ko-KR" sz="1000" b="1" spc="-80" baseline="0" dirty="0">
                <a:solidFill>
                  <a:schemeClr val="tx2"/>
                </a:solidFill>
                <a:latin typeface="맑은 고딕" pitchFamily="50" charset="-127"/>
                <a:ea typeface="맑은 고딕" pitchFamily="50" charset="-127"/>
              </a:rPr>
              <a:t> </a:t>
            </a:r>
            <a:r>
              <a:rPr lang="ko-KR" altLang="en-US" sz="1000" b="1" spc="-80" baseline="0" dirty="0">
                <a:solidFill>
                  <a:srgbClr val="FF0000"/>
                </a:solidFill>
                <a:latin typeface="맑은 고딕" pitchFamily="50" charset="-127"/>
                <a:ea typeface="맑은 고딕" pitchFamily="50" charset="-127"/>
              </a:rPr>
              <a:t>본인이 가장 좋아하는 영화 장르와 좋아하는 이유 설명</a:t>
            </a:r>
            <a:endParaRPr lang="en-US" altLang="ko-KR" sz="1000" b="1" spc="-80"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15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내가 최근에 본 영화에 대해 질문하라</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dirty="0">
                <a:solidFill>
                  <a:srgbClr val="FF0000"/>
                </a:solidFill>
                <a:latin typeface="맑은 고딕" panose="020B0503020000020004" pitchFamily="50" charset="-127"/>
                <a:ea typeface="맑은 고딕" panose="020B0503020000020004" pitchFamily="50" charset="-127"/>
                <a:cs typeface="+mn-cs"/>
              </a:rPr>
              <a:t>14 You indicated in the survey that you like to watch movies.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What kinds of movies do you like to watch?</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Why do you like those types of movies?</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15 I like to watch movies as well.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Ask me three to four questions about the movie I recently watched.</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0" spc="-1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 of movie did you watch?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Was it an action movie or a romantic comedy?</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was the movie theater?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Was it in a busy area?</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did you get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drive or walk?</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who did you go with?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go with your friends?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what else did you do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have a good time?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92545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14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본인의 쇼핑 습관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15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나의 최근 쇼핑 경험에 대해 질문하라</a:t>
            </a:r>
            <a:endParaRPr lang="en-US" altLang="ko-KR" sz="1000" b="1" baseline="0" dirty="0">
              <a:solidFill>
                <a:srgbClr val="FF0000"/>
              </a:solidFill>
              <a:latin typeface="맑은 고딕" pitchFamily="50" charset="-127"/>
              <a:ea typeface="맑은 고딕" pitchFamily="50" charset="-127"/>
            </a:endParaRPr>
          </a:p>
          <a:p>
            <a:r>
              <a:rPr lang="en-US" altLang="ko-KR" sz="1000" b="0" i="0" kern="1200" spc="-90" dirty="0">
                <a:solidFill>
                  <a:srgbClr val="0070C0"/>
                </a:solidFill>
                <a:effectLst/>
                <a:latin typeface="+mn-lt"/>
                <a:ea typeface="+mn-ea"/>
                <a:cs typeface="+mn-cs"/>
              </a:rPr>
              <a:t>14 </a:t>
            </a:r>
            <a:r>
              <a:rPr lang="ko-KR" altLang="en-US" sz="1000" b="0" i="0" kern="1200" spc="-90" baseline="0" dirty="0">
                <a:solidFill>
                  <a:srgbClr val="0070C0"/>
                </a:solidFill>
                <a:effectLst/>
                <a:latin typeface="+mn-lt"/>
                <a:ea typeface="+mn-ea"/>
                <a:cs typeface="+mn-cs"/>
              </a:rPr>
              <a:t>당신은 설문조사에서 쇼핑하는 것을 좋아한다고 말했습니다</a:t>
            </a:r>
            <a:r>
              <a:rPr lang="en-US" altLang="ko-KR" sz="1000" b="0" i="0" kern="1200" spc="-90" baseline="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나는 당신의 쇼핑 습관에 대해 알고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당신은 얼마나 자주 쇼핑을 가시나요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당신은 쇼핑할 때 어디로 갑니까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en-US" altLang="ko-KR" sz="1000" b="0" dirty="0">
                <a:solidFill>
                  <a:srgbClr val="0070C0"/>
                </a:solidFill>
              </a:rPr>
              <a:t>15 </a:t>
            </a:r>
            <a:r>
              <a:rPr lang="ko-KR" altLang="en-US" sz="1000" b="0" i="0" kern="1200" dirty="0">
                <a:solidFill>
                  <a:srgbClr val="0070C0"/>
                </a:solidFill>
                <a:effectLst/>
                <a:latin typeface="+mn-lt"/>
                <a:ea typeface="+mn-ea"/>
                <a:cs typeface="+mn-cs"/>
              </a:rPr>
              <a:t>나도 쇼핑하는 것을 좋아합니다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t>
            </a:r>
            <a:r>
              <a:rPr lang="ko-KR" altLang="en-US" sz="1000" b="0" i="0" kern="1200" dirty="0">
                <a:solidFill>
                  <a:srgbClr val="0070C0"/>
                </a:solidFill>
                <a:effectLst/>
                <a:latin typeface="+mn-lt"/>
                <a:ea typeface="+mn-ea"/>
                <a:cs typeface="+mn-cs"/>
              </a:rPr>
              <a:t>최근 쇼핑 경험에 대해 </a:t>
            </a:r>
            <a:r>
              <a:rPr lang="en-US" altLang="ko-KR" sz="1000" b="0" i="0" kern="1200" dirty="0">
                <a:solidFill>
                  <a:srgbClr val="0070C0"/>
                </a:solidFill>
                <a:effectLst/>
                <a:latin typeface="+mn-lt"/>
                <a:ea typeface="+mn-ea"/>
                <a:cs typeface="+mn-cs"/>
              </a:rPr>
              <a:t>3~4</a:t>
            </a:r>
            <a:r>
              <a:rPr lang="ko-KR" altLang="en-US" sz="1000" b="0" i="0" kern="1200" dirty="0">
                <a:solidFill>
                  <a:srgbClr val="0070C0"/>
                </a:solidFill>
                <a:effectLst/>
                <a:latin typeface="+mn-lt"/>
                <a:ea typeface="+mn-ea"/>
                <a:cs typeface="+mn-cs"/>
              </a:rPr>
              <a:t>가지 질문을 해주세요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당신은 어떤 종류의 물건을 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몇몇 옷 혹은 신발을 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쇼핑몰은 어디에 있었나요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복잡한 지역에 있었나요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거기에 어떻게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운전했나요 혹은 걸었나요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누구와 함께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너의 친구들과 함께 갔나요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거기서 또 무엇을 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좋은 시간을 보냈나요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86389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14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본인의 쇼핑 습관 묘사</a:t>
            </a:r>
            <a:endParaRPr lang="en-US" altLang="ko-KR" sz="1000" b="1"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2"/>
                </a:solidFill>
                <a:latin typeface="맑은 고딕" pitchFamily="50" charset="-127"/>
                <a:ea typeface="맑은 고딕" pitchFamily="50" charset="-127"/>
              </a:rPr>
              <a:t>15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나의 최근 쇼핑 경험에 대해 질문하라</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14 You indicated in the survey that you like to go shopping.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I want to know about your shopping habits.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How often do you go shopping?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Where do you go when you shop?</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15 I like to go shopping as well.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    Ask me three to four questions about my recent shopping experience.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things did you buy?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buy some clothes or shoes?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was the shopping mall?</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Was it in a busy area?</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did you get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drive or walk?</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who did you go with?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go with your friends?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what else did you do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have a good time?</a:t>
            </a:r>
          </a:p>
        </p:txBody>
      </p:sp>
    </p:spTree>
    <p:extLst>
      <p:ext uri="{BB962C8B-B14F-4D97-AF65-F5344CB8AC3E}">
        <p14:creationId xmlns:p14="http://schemas.microsoft.com/office/powerpoint/2010/main" val="24147912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3080792"/>
            <a:ext cx="6858000" cy="3231654"/>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21 ROLE PLAY</a:t>
            </a:r>
          </a:p>
          <a:p>
            <a:pPr algn="ctr">
              <a:lnSpc>
                <a:spcPct val="150000"/>
              </a:lnSpc>
            </a:pPr>
            <a:r>
              <a:rPr lang="en-US" altLang="ko-KR" sz="5400" b="1">
                <a:latin typeface="맑은 고딕" pitchFamily="50" charset="-127"/>
                <a:ea typeface="맑은 고딕" pitchFamily="50" charset="-127"/>
              </a:rPr>
              <a:t>Master Key </a:t>
            </a:r>
            <a:r>
              <a:rPr lang="ko-KR" altLang="en-US" sz="5400" b="1">
                <a:latin typeface="맑은 고딕" pitchFamily="50" charset="-127"/>
                <a:ea typeface="맑은 고딕" pitchFamily="50" charset="-127"/>
              </a:rPr>
              <a:t>템플릿</a:t>
            </a:r>
            <a:endParaRPr lang="en-US" altLang="ko-KR" sz="5400" b="1">
              <a:latin typeface="맑은 고딕" pitchFamily="50" charset="-127"/>
              <a:ea typeface="맑은 고딕" pitchFamily="50" charset="-127"/>
            </a:endParaRPr>
          </a:p>
          <a:p>
            <a:pPr algn="ctr">
              <a:lnSpc>
                <a:spcPct val="150000"/>
              </a:lnSpc>
            </a:pPr>
            <a:r>
              <a:rPr lang="en-US" altLang="ko-KR" sz="2800" b="1">
                <a:solidFill>
                  <a:schemeClr val="tx2"/>
                </a:solidFill>
                <a:latin typeface="맑은 고딕" pitchFamily="50" charset="-127"/>
                <a:ea typeface="맑은 고딕" pitchFamily="50" charset="-127"/>
              </a:rPr>
              <a:t>11, 12, 13</a:t>
            </a:r>
            <a:r>
              <a:rPr lang="ko-KR" altLang="en-US" sz="2800" b="1">
                <a:solidFill>
                  <a:schemeClr val="tx2"/>
                </a:solidFill>
                <a:latin typeface="맑은 고딕" pitchFamily="50" charset="-127"/>
                <a:ea typeface="맑은 고딕" pitchFamily="50" charset="-127"/>
              </a:rPr>
              <a:t>번 </a:t>
            </a:r>
            <a:r>
              <a:rPr lang="ko-KR" altLang="en-US" sz="2800" b="1">
                <a:solidFill>
                  <a:schemeClr val="tx2"/>
                </a:solidFill>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849F9114-0A70-3966-8A32-320B12E4510D}"/>
              </a:ext>
            </a:extLst>
          </p:cNvPr>
          <p:cNvSpPr>
            <a:spLocks noGrp="1"/>
          </p:cNvSpPr>
          <p:nvPr>
            <p:ph type="sldNum" sz="quarter" idx="12"/>
          </p:nvPr>
        </p:nvSpPr>
        <p:spPr/>
        <p:txBody>
          <a:bodyPr/>
          <a:lstStyle/>
          <a:p>
            <a:fld id="{18CC7079-95A2-4860-A138-51A9FC969471}" type="slidenum">
              <a:rPr lang="ko-KR" altLang="en-US" smtClean="0"/>
              <a:t>97</a:t>
            </a:fld>
            <a:endParaRPr lang="ko-KR" altLang="en-US"/>
          </a:p>
        </p:txBody>
      </p:sp>
    </p:spTree>
    <p:extLst>
      <p:ext uri="{BB962C8B-B14F-4D97-AF65-F5344CB8AC3E}">
        <p14:creationId xmlns:p14="http://schemas.microsoft.com/office/powerpoint/2010/main" val="6660718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98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5140895"/>
          </a:xfrm>
          <a:prstGeom prst="rect">
            <a:avLst/>
          </a:prstGeom>
          <a:noFill/>
        </p:spPr>
        <p:txBody>
          <a:bodyPr wrap="square" rtlCol="0">
            <a:spAutoFit/>
          </a:bodyPr>
          <a:lstStyle/>
          <a:p>
            <a:pPr latinLnBrk="1">
              <a:lnSpc>
                <a:spcPct val="100000"/>
              </a:lnSpc>
            </a:pPr>
            <a:r>
              <a:rPr lang="ko-KR" altLang="en-US" sz="1000" b="1" baseline="0" dirty="0">
                <a:solidFill>
                  <a:srgbClr val="FF0000"/>
                </a:solidFill>
                <a:latin typeface="맑은 고딕" pitchFamily="50" charset="-127"/>
                <a:ea typeface="맑은 고딕" pitchFamily="50" charset="-127"/>
              </a:rPr>
              <a:t>문제 유형 </a:t>
            </a:r>
            <a:r>
              <a:rPr lang="en-US" altLang="ko-KR" sz="1000" b="1" baseline="0" dirty="0">
                <a:solidFill>
                  <a:srgbClr val="FF0000"/>
                </a:solidFill>
                <a:latin typeface="맑은 고딕" pitchFamily="50" charset="-127"/>
                <a:ea typeface="맑은 고딕" pitchFamily="50" charset="-127"/>
              </a:rPr>
              <a:t>[1]</a:t>
            </a: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유형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01</a:t>
            </a:r>
            <a:endPar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제품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환불요청</a:t>
            </a:r>
          </a:p>
          <a:p>
            <a:pPr>
              <a:lnSpc>
                <a:spcPct val="150000"/>
              </a:lnSpc>
            </a:pP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예</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휴대폰 대리점 </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가구점 </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상점 </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음식점 </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커피숍 </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영화관</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11.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제품문의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현장</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12.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제품문제점설명</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환불요청</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13.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본인유사경험묘사</a:t>
            </a:r>
            <a:endPar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유형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02</a:t>
            </a:r>
            <a:endPar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서비스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일정변경요청</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여행사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병원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회사면접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피트니스센터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헬스클럽</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11.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서비스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일정문의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현장</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12.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서비스일정변경요청</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13.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본인유사경험묘사</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유형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03</a:t>
            </a:r>
            <a:endPar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제품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서비스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분실물도움요청</a:t>
            </a:r>
            <a:endPar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상점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식료품점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음식점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택시회사</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11.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제품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서비스문의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12.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분실물도움요청</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13.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본인유사경험묘사</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5140895"/>
          </a:xfrm>
          <a:prstGeom prst="rect">
            <a:avLst/>
          </a:prstGeom>
          <a:noFill/>
        </p:spPr>
        <p:txBody>
          <a:bodyPr wrap="square" rtlCol="0">
            <a:spAutoFit/>
          </a:bodyPr>
          <a:lstStyle/>
          <a:p>
            <a:pPr latinLnBrk="1">
              <a:lnSpc>
                <a:spcPct val="100000"/>
              </a:lnSpc>
            </a:pPr>
            <a:r>
              <a:rPr lang="ko-KR" altLang="en-US" sz="1000" b="1" baseline="0" dirty="0">
                <a:solidFill>
                  <a:srgbClr val="FF0000"/>
                </a:solidFill>
                <a:latin typeface="맑은 고딕" pitchFamily="50" charset="-127"/>
                <a:ea typeface="맑은 고딕" pitchFamily="50" charset="-127"/>
              </a:rPr>
              <a:t>문제 유형 </a:t>
            </a:r>
            <a:r>
              <a:rPr lang="en-US" altLang="ko-KR" sz="1000" b="1" baseline="0" dirty="0">
                <a:solidFill>
                  <a:srgbClr val="FF0000"/>
                </a:solidFill>
                <a:latin typeface="맑은 고딕" pitchFamily="50" charset="-127"/>
                <a:ea typeface="맑은 고딕" pitchFamily="50" charset="-127"/>
              </a:rPr>
              <a:t>[2]</a:t>
            </a:r>
          </a:p>
          <a:p>
            <a:pPr latinLnBrk="1">
              <a:lnSpc>
                <a:spcPct val="100000"/>
              </a:lnSpc>
            </a:pPr>
            <a:endParaRPr lang="en-US" altLang="ko-KR" sz="800" b="0" spc="-1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유형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04</a:t>
            </a:r>
            <a:endPar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영업점문의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지인에게문제상황설명</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대안제시</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공연장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호텔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여행사</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11.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영업점에 문의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12.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지인에게 문제상황설명</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대안제시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13.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본인유사경험묘사</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유형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05</a:t>
            </a:r>
            <a:endPar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불참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지각통보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대안제시</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해변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공원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친구약속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술집</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생일파티</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11.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지인에게 질문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12.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지인에게 불참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지각통보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대안제시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13.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본인유사경험묘사</a:t>
            </a:r>
            <a:endPar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유형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06</a:t>
            </a:r>
            <a:endPar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문제상황설명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대안제시</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MP3 /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자전거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친척집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재활용</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11.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지인에게 질문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12.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지인에게 특수상황에 대한 문제설명</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대안제시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전화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13.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본인유사경험묘사</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940840"/>
          </a:xfrm>
          <a:prstGeom prst="rect">
            <a:avLst/>
          </a:prstGeom>
          <a:noFill/>
        </p:spPr>
        <p:txBody>
          <a:bodyPr wrap="square" rtlCol="0">
            <a:spAutoFit/>
          </a:bodyPr>
          <a:lstStyle/>
          <a:p>
            <a:pPr latinLnBrk="1">
              <a:lnSpc>
                <a:spcPct val="100000"/>
              </a:lnSpc>
            </a:pPr>
            <a:r>
              <a:rPr lang="ko-KR" altLang="en-US" sz="1000" b="1" baseline="0" dirty="0">
                <a:solidFill>
                  <a:srgbClr val="FF0000"/>
                </a:solidFill>
                <a:latin typeface="맑은 고딕" pitchFamily="50" charset="-127"/>
                <a:ea typeface="맑은 고딕" pitchFamily="50" charset="-127"/>
              </a:rPr>
              <a:t>족보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템플릿 </a:t>
            </a:r>
            <a:r>
              <a:rPr lang="en-US" altLang="ko-KR" sz="1000" b="1" baseline="0" dirty="0">
                <a:solidFill>
                  <a:srgbClr val="FF0000"/>
                </a:solidFill>
                <a:latin typeface="맑은 고딕" pitchFamily="50" charset="-127"/>
                <a:ea typeface="맑은 고딕" pitchFamily="50" charset="-127"/>
              </a:rPr>
              <a:t>[1]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전화 문의 시작</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오늘밤의 영화에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2</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장의 티켓을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커피숍에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친구들과 함께 거기에 가기를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현장 문의 시작</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조금의 새로운 옷들을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세일에 관하여 묻기를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전화</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현장 문의 시작</a:t>
            </a:r>
          </a:p>
          <a:p>
            <a:pPr>
              <a:lnSpc>
                <a:spcPct val="150000"/>
              </a:lnSpc>
            </a:pP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나는 너의 가게에서 새로운 침대를 산 사람입니다</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패키지 여행을 예약한 사람입니다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지난밤에 너의 레스토랑에 갔던 사람입니다</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12</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전화 마무리</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이것을 받을 때 나에게 전화를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79230"/>
          </a:xfrm>
          <a:prstGeom prst="rect">
            <a:avLst/>
          </a:prstGeom>
          <a:noFill/>
        </p:spPr>
        <p:txBody>
          <a:bodyPr wrap="square" rtlCol="0">
            <a:spAutoFit/>
          </a:bodyPr>
          <a:lstStyle/>
          <a:p>
            <a:pPr latinLnBrk="1">
              <a:lnSpc>
                <a:spcPct val="100000"/>
              </a:lnSpc>
            </a:pPr>
            <a:r>
              <a:rPr lang="ko-KR" altLang="en-US" sz="1000" b="1" baseline="0" dirty="0">
                <a:solidFill>
                  <a:srgbClr val="FF0000"/>
                </a:solidFill>
                <a:latin typeface="맑은 고딕" pitchFamily="50" charset="-127"/>
                <a:ea typeface="맑은 고딕" pitchFamily="50" charset="-127"/>
              </a:rPr>
              <a:t>족보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템플릿 </a:t>
            </a:r>
            <a:r>
              <a:rPr lang="en-US" altLang="ko-KR" sz="1000" b="1" baseline="0" dirty="0">
                <a:solidFill>
                  <a:srgbClr val="FF0000"/>
                </a:solidFill>
                <a:latin typeface="맑은 고딕" pitchFamily="50" charset="-127"/>
                <a:ea typeface="맑은 고딕" pitchFamily="50" charset="-127"/>
              </a:rPr>
              <a:t>[1]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전화 문의 시작</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tonight’s movie.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two tickets.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your coffee shop.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go there with my friends.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현장 문의 시작</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want to get some new clothes.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want to ask about the sale.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전화</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현장 문의 시작</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got a new bed at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booked a package trip.</a:t>
            </a: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Hello, I’m a person who went to your restaurant last night.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12</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전화 마무리</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543106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99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122282"/>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[2]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일반 전화</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현장 질문</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상품 종류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침대들이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상품 종류</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거기에 무슨 종류의 전화기들이 있습니까</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상품 종류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패키지 여행들이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가격</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얼마입니까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추천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홈페이지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프로모션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위치 전화 질문</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사무실로 가는 방향을 나에게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줄수</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지하철역과 가깝습니까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122282"/>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[2]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일반 전화</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현장 질문</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상품 종류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What kinds of beds are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상품 종류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What kinds of phones are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상품 종류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What kinds of package trips are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가격</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How much are they?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추천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Can you recommend anything?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홈페이지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Is there a website I can see?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프로모션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Are there any promotions?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위치 전화 질문</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give me directions to your office?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3868367"/>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[3]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교환</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요청</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침대에 무엇인가 문제가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침대를 잘못 샀다고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교환을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환불을 받을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내가 원한다면</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가게에 방문할 수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868367"/>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[3]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교환</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요청</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bed.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got the wrong bed.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an exchange.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get a refund if I want to?</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store?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late are you open?</a:t>
            </a:r>
          </a:p>
        </p:txBody>
      </p:sp>
    </p:spTree>
    <p:extLst>
      <p:ext uri="{BB962C8B-B14F-4D97-AF65-F5344CB8AC3E}">
        <p14:creationId xmlns:p14="http://schemas.microsoft.com/office/powerpoint/2010/main" val="14376798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100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614451"/>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[4]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일정 변경 요청</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여행에 못 갈 것 같습니다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 무슨 일이 생겼습니다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여행 일정을 다시 잡기를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사무실에 방문할 수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3868367"/>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[4]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일정 변경 요청</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DON'T think I can make it to my trip.</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Something came up suddenly.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reschedule my trip.</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office?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late are you open?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630114"/>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[5]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분실물 도움 요청</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너의 레스토랑에 나의 신용카드를 놓고 왔다고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하얀색 비자 카드입니다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제발 체크해줄 수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나의 신용카드를 가졌는지</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그렇다면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당장 그것을 가지러 거기에 가겠습니다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식당에 방문할 수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868367"/>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[5]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영업점 분실물 도움 요청</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left my credit card at your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It’s a white VISA card.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Could you please check if you have my credit card?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I’ll go there to get it right away.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late are you open?</a:t>
            </a:r>
          </a:p>
        </p:txBody>
      </p:sp>
    </p:spTree>
    <p:extLst>
      <p:ext uri="{BB962C8B-B14F-4D97-AF65-F5344CB8AC3E}">
        <p14:creationId xmlns:p14="http://schemas.microsoft.com/office/powerpoint/2010/main" val="7465778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101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5063950"/>
          </a:xfrm>
          <a:prstGeom prst="rect">
            <a:avLst/>
          </a:prstGeom>
          <a:noFill/>
        </p:spPr>
        <p:txBody>
          <a:bodyPr wrap="square" rtlCol="0">
            <a:spAutoFit/>
          </a:bodyPr>
          <a:lstStyle/>
          <a:p>
            <a:pPr latinLnBrk="1">
              <a:lnSpc>
                <a:spcPct val="100000"/>
              </a:lnSpc>
            </a:pPr>
            <a:r>
              <a:rPr lang="ko-KR" altLang="en-US" sz="1000" b="1" baseline="0" dirty="0">
                <a:solidFill>
                  <a:srgbClr val="FF0000"/>
                </a:solidFill>
                <a:latin typeface="맑은 고딕" pitchFamily="50" charset="-127"/>
                <a:ea typeface="맑은 고딕" pitchFamily="50" charset="-127"/>
              </a:rPr>
              <a:t>족보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템플릿 </a:t>
            </a:r>
            <a:r>
              <a:rPr lang="en-US" altLang="ko-KR" sz="1000" b="1" baseline="0" dirty="0">
                <a:solidFill>
                  <a:srgbClr val="FF0000"/>
                </a:solidFill>
                <a:latin typeface="맑은 고딕" pitchFamily="50" charset="-127"/>
                <a:ea typeface="맑은 고딕" pitchFamily="50" charset="-127"/>
              </a:rPr>
              <a:t>[6]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전화 메시지 시작</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피터 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너의 생일파티에 관하여 묻기 위해 전화하고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나는 새로운 레스토랑에 관하여 묻기 위해 전화하고 있습니다</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MP3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플레이어에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해변에 가는 것에 관하여 묻기 위해 전화하고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전화 메시지 시작</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 피터</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파울입니다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나쁜 뉴스를 가지고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전화 메시지 마무리</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전화 메시지 마무리</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다시 전화주세요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833118"/>
          </a:xfrm>
          <a:prstGeom prst="rect">
            <a:avLst/>
          </a:prstGeom>
          <a:noFill/>
        </p:spPr>
        <p:txBody>
          <a:bodyPr wrap="square" rtlCol="0">
            <a:spAutoFit/>
          </a:bodyPr>
          <a:lstStyle/>
          <a:p>
            <a:pPr latinLnBrk="1">
              <a:lnSpc>
                <a:spcPct val="100000"/>
              </a:lnSpc>
            </a:pPr>
            <a:r>
              <a:rPr lang="ko-KR" altLang="en-US" sz="1000" b="1" baseline="0" dirty="0">
                <a:solidFill>
                  <a:srgbClr val="FF0000"/>
                </a:solidFill>
                <a:latin typeface="맑은 고딕" pitchFamily="50" charset="-127"/>
                <a:ea typeface="맑은 고딕" pitchFamily="50" charset="-127"/>
              </a:rPr>
              <a:t>족보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템플릿 </a:t>
            </a:r>
            <a:r>
              <a:rPr lang="en-US" altLang="ko-KR" sz="1000" b="1" baseline="0" dirty="0">
                <a:solidFill>
                  <a:srgbClr val="FF0000"/>
                </a:solidFill>
                <a:latin typeface="맑은 고딕" pitchFamily="50" charset="-127"/>
                <a:ea typeface="맑은 고딕" pitchFamily="50" charset="-127"/>
              </a:rPr>
              <a:t>[6]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전화 메시지 시작</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your birthday party.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the new restaurant.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your MP3 player.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going to the beach.</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전화 메시지 시작</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Peter. This is Paul.</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전화 메시지 마무리</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전화 메시지 마무리</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3360535"/>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[7]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지인과 시간 약속 전화 질문</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언제 가기를 원하나요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토요일에 한가합니다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그날 시간을 가지고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그렇지 않다면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일요일에 몇몇시간을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만들수</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하고 싶은 일 전화 질문</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하기를 원하나요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소풍 가기를 원하나요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조금의 샌드위치를 사기를 원하나요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106620"/>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[7]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지인과 시간 약속 전화 질문</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do you want to go?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free on Saturday.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have time that day?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not, I can make some time on Sunday.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11</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 하고 싶은 일 전화 질문</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want to do?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want to go on a picnic?</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want to get some sandwiches?</a:t>
            </a:r>
          </a:p>
        </p:txBody>
      </p:sp>
    </p:spTree>
    <p:extLst>
      <p:ext uri="{BB962C8B-B14F-4D97-AF65-F5344CB8AC3E}">
        <p14:creationId xmlns:p14="http://schemas.microsoft.com/office/powerpoint/2010/main" val="13329011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102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376198"/>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[8]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지인에게 약속 불참</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지각 전화 통보</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생일파티에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못갈것</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같습니다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장소에 제시간에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못갈것</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같습니다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 무슨 일이 생겼습니다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지인에게 불참</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지각 대안 제시</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불참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하기를 원합니까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다음 번에 가는게 </a:t>
            </a:r>
            <a:r>
              <a:rPr lang="ko-KR" altLang="en-US" sz="1100" b="0" i="0" u="none" strike="noStrike" kern="1200" baseline="0" dirty="0" err="1">
                <a:solidFill>
                  <a:schemeClr val="tx1"/>
                </a:solidFill>
                <a:latin typeface="맑은 고딕" panose="020B0503020000020004" pitchFamily="50" charset="-127"/>
                <a:ea typeface="+mn-ea"/>
                <a:cs typeface="+mn-cs"/>
              </a:rPr>
              <a:t>어떤가요</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다음주에 가는게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우리는 다른 시간에 갈 수 있어요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지각</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하기를 원합니까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저녁을 혼자 먹는게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나중에 술을 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마시는게</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우리는 그냥 커피나 마시지요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43537" y="0"/>
            <a:ext cx="3429000" cy="4630114"/>
          </a:xfrm>
          <a:prstGeom prst="rect">
            <a:avLst/>
          </a:prstGeom>
          <a:noFill/>
        </p:spPr>
        <p:txBody>
          <a:bodyPr wrap="square" rtlCol="0">
            <a:spAutoFit/>
          </a:bodyPr>
          <a:lstStyle/>
          <a:p>
            <a:pPr latinLnBrk="1">
              <a:lnSpc>
                <a:spcPct val="100000"/>
              </a:lnSpc>
            </a:pPr>
            <a:r>
              <a:rPr lang="ko-KR" altLang="en-US" sz="1100" b="1" baseline="0" dirty="0">
                <a:solidFill>
                  <a:srgbClr val="FF0000"/>
                </a:solidFill>
                <a:latin typeface="맑은 고딕" pitchFamily="50" charset="-127"/>
                <a:ea typeface="맑은 고딕" pitchFamily="50" charset="-127"/>
              </a:rPr>
              <a:t>족보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템플릿 </a:t>
            </a:r>
            <a:r>
              <a:rPr lang="en-US" altLang="ko-KR" sz="1100" b="1" baseline="0" dirty="0">
                <a:solidFill>
                  <a:srgbClr val="FF0000"/>
                </a:solidFill>
                <a:latin typeface="맑은 고딕" pitchFamily="50" charset="-127"/>
                <a:ea typeface="맑은 고딕" pitchFamily="50" charset="-127"/>
              </a:rPr>
              <a:t>[8]                                           </a:t>
            </a:r>
            <a:r>
              <a:rPr lang="en-US" altLang="ko-KR" sz="1100" b="1" dirty="0">
                <a:solidFill>
                  <a:schemeClr val="tx2"/>
                </a:solidFill>
                <a:latin typeface="+mn-lt"/>
                <a:ea typeface="+mn-ea"/>
              </a:rPr>
              <a:t>♣</a:t>
            </a:r>
            <a:endParaRPr lang="en-US" altLang="ko-KR" sz="1100" b="1"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지인에게 약속 불참</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지각 전화 통보</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DON'T think I can make it to your birthday party.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DON'T think I can make it to your place on time.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Something came up suddenly.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12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번 </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지인에게 불참</a:t>
            </a:r>
            <a:r>
              <a:rPr lang="en-US" altLang="ko-KR"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1" i="0" u="none" strike="noStrike" kern="1200" baseline="0" dirty="0">
                <a:solidFill>
                  <a:schemeClr val="tx1"/>
                </a:solidFill>
                <a:latin typeface="맑은 고딕" panose="020B0503020000020004" pitchFamily="50" charset="-127"/>
                <a:ea typeface="맑은 고딕" panose="020B0503020000020004" pitchFamily="50" charset="-127"/>
                <a:cs typeface="+mn-cs"/>
              </a:rPr>
              <a:t>지각 대안 제시</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불참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What do you want to do?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go next time?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go next week?</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go another time.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지각</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What do you want to do?</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you have dinner by yourself?</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have some drinks later on?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just have coffee.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3147477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936777"/>
            <a:ext cx="6858000" cy="3924151"/>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22 ROLE PLAY</a:t>
            </a: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solidFill>
                  <a:schemeClr val="tx2"/>
                </a:solidFill>
                <a:latin typeface="맑은 고딕" pitchFamily="50" charset="-127"/>
                <a:ea typeface="맑은 고딕" pitchFamily="50" charset="-127"/>
              </a:rPr>
              <a:t>전화기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공연 </a:t>
            </a:r>
            <a:r>
              <a:rPr lang="ko-KR" altLang="en-US" sz="2800" b="1">
                <a:solidFill>
                  <a:schemeClr val="tx2"/>
                </a:solidFill>
              </a:rPr>
              <a:t>★★★</a:t>
            </a:r>
            <a:endParaRPr lang="ko-KR" altLang="en-US" sz="2800" b="1">
              <a:solidFill>
                <a:schemeClr val="tx2"/>
              </a:solidFill>
              <a:latin typeface="맑은 고딕" panose="020B0503020000020004" pitchFamily="50" charset="-127"/>
              <a:ea typeface="맑은 고딕" panose="020B0503020000020004" pitchFamily="50" charset="-127"/>
            </a:endParaRPr>
          </a:p>
          <a:p>
            <a:pPr algn="ctr">
              <a:lnSpc>
                <a:spcPct val="150000"/>
              </a:lnSpc>
            </a:pPr>
            <a:r>
              <a:rPr lang="ko-KR" altLang="en-US" sz="2800" b="1">
                <a:solidFill>
                  <a:schemeClr val="tx2"/>
                </a:solidFill>
                <a:latin typeface="맑은 고딕" panose="020B0503020000020004" pitchFamily="50" charset="-127"/>
                <a:ea typeface="맑은 고딕" panose="020B0503020000020004" pitchFamily="50" charset="-127"/>
              </a:rPr>
              <a:t>영화 </a:t>
            </a:r>
            <a:r>
              <a:rPr lang="ko-KR" altLang="en-US" sz="2800" b="1">
                <a:solidFill>
                  <a:schemeClr val="tx2"/>
                </a:solidFill>
              </a:rPr>
              <a:t>★★★</a:t>
            </a:r>
            <a:endParaRPr lang="ko-KR" altLang="en-US" sz="2800" b="1">
              <a:solidFill>
                <a:schemeClr val="tx2"/>
              </a:solidFill>
              <a:latin typeface="맑은 고딕" panose="020B0503020000020004" pitchFamily="50" charset="-127"/>
              <a:ea typeface="맑은 고딕" panose="020B0503020000020004" pitchFamily="50" charset="-127"/>
            </a:endParaRPr>
          </a:p>
        </p:txBody>
      </p:sp>
      <p:sp>
        <p:nvSpPr>
          <p:cNvPr id="3" name="슬라이드 번호 개체 틀 2">
            <a:extLst>
              <a:ext uri="{FF2B5EF4-FFF2-40B4-BE49-F238E27FC236}">
                <a16:creationId xmlns:a16="http://schemas.microsoft.com/office/drawing/2014/main" xmlns="" id="{7FE6B65E-824B-B083-B628-F4573D63B82A}"/>
              </a:ext>
            </a:extLst>
          </p:cNvPr>
          <p:cNvSpPr>
            <a:spLocks noGrp="1"/>
          </p:cNvSpPr>
          <p:nvPr>
            <p:ph type="sldNum" sz="quarter" idx="12"/>
          </p:nvPr>
        </p:nvSpPr>
        <p:spPr/>
        <p:txBody>
          <a:bodyPr/>
          <a:lstStyle/>
          <a:p>
            <a:fld id="{18CC7079-95A2-4860-A138-51A9FC969471}" type="slidenum">
              <a:rPr lang="ko-KR" altLang="en-US" smtClean="0"/>
              <a:t>103</a:t>
            </a:fld>
            <a:endParaRPr lang="ko-KR" altLang="en-US"/>
          </a:p>
        </p:txBody>
      </p:sp>
    </p:spTree>
    <p:extLst>
      <p:ext uri="{BB962C8B-B14F-4D97-AF65-F5344CB8AC3E}">
        <p14:creationId xmlns:p14="http://schemas.microsoft.com/office/powerpoint/2010/main" val="38701679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104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8695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휴대전화 대리점에 신규 휴대전화 구매 문의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너는 새 핸드폰을 사고 싶어 합니다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상점에 전화해서 당신이 구매하고 싶은 새 전화기에 대해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휴대폰에 관하여 물어보기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 휴대폰을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휴대폰이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어떤것을</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볼수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너는 나에게 너의 가게로 가는 방향을 줄 수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817729"/>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휴대전화 대리점에 신규 휴대전화 구매 문의</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would like to buy a new cell phone. Call a store and ask three or four questions about a new phone you would like to purchase.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new cell phones.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 new phone.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phones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694619"/>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구매한 휴대전화 기능 마음에 들지 않음</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교환 요청</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새 전화기를 받았으나 기능이 기대했던 것과 다릅니다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새 전화기를 얻기 위해 그것을 반품하고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매장에 전화해서 상황을 설명하고 새 제품을 받을 수 있도록 준비하세요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너의 가게에서 새로운 휴대폰을 샀는 사람입니다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나의 휴대폰은 어떤 문제가 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생각합니다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내가 잘못된 휴대폰을 샀다고</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교환하기를 원합니다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환불 받을 수 있나요</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만약 내가 원하면</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그것은 가능한가요</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err="1">
                <a:solidFill>
                  <a:schemeClr val="tx1"/>
                </a:solidFill>
                <a:latin typeface="+mn-lt"/>
                <a:ea typeface="+mn-ea"/>
                <a:cs typeface="+mn-cs"/>
              </a:rPr>
              <a:t>심여를</a:t>
            </a:r>
            <a:r>
              <a:rPr lang="ko-KR" altLang="en-US" sz="1000" b="0" i="0" u="none" strike="noStrike" kern="1200" baseline="0" dirty="0">
                <a:solidFill>
                  <a:schemeClr val="tx1"/>
                </a:solidFill>
                <a:latin typeface="+mn-lt"/>
                <a:ea typeface="+mn-ea"/>
                <a:cs typeface="+mn-cs"/>
              </a:rPr>
              <a:t> 끼쳐 죄송합니다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가게에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mn-lt"/>
              <a:ea typeface="+mn-ea"/>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940840"/>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구매한 휴대전화 기능 마음에 들지 않음</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교환 요청</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received the new phone but the features are not what you expected.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would like to return it to get a new phone.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store, explain the situation and make arrangements to get a new product.</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mn-lt"/>
                <a:ea typeface="+mn-ea"/>
                <a:cs typeface="+mn-cs"/>
              </a:rPr>
              <a:t>Hello, I’m a person who got a new phone at your store.</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There is something wrong with my phone.</a:t>
            </a:r>
          </a:p>
          <a:p>
            <a:pPr>
              <a:lnSpc>
                <a:spcPct val="150000"/>
              </a:lnSpc>
            </a:pPr>
            <a:r>
              <a:rPr lang="en-US" altLang="ko-KR" sz="1000" b="0" i="0" u="none" strike="noStrike" kern="1200" baseline="0" dirty="0">
                <a:solidFill>
                  <a:schemeClr val="tx1"/>
                </a:solidFill>
                <a:latin typeface="+mn-lt"/>
                <a:ea typeface="+mn-ea"/>
                <a:cs typeface="+mn-cs"/>
              </a:rPr>
              <a:t>I think I got the wrong phone.</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I want to get an exchange.</a:t>
            </a:r>
          </a:p>
          <a:p>
            <a:pPr>
              <a:lnSpc>
                <a:spcPct val="150000"/>
              </a:lnSpc>
            </a:pPr>
            <a:r>
              <a:rPr lang="en-US" altLang="ko-KR" sz="1000" b="0" i="0" u="none" strike="noStrike" kern="1200" baseline="0" dirty="0">
                <a:solidFill>
                  <a:schemeClr val="tx1"/>
                </a:solidFill>
                <a:latin typeface="+mn-lt"/>
                <a:ea typeface="+mn-ea"/>
                <a:cs typeface="+mn-cs"/>
              </a:rPr>
              <a:t>Can I get a refund if I want to?</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Would that be possible?</a:t>
            </a:r>
          </a:p>
          <a:p>
            <a:pPr>
              <a:lnSpc>
                <a:spcPct val="150000"/>
              </a:lnSpc>
            </a:pPr>
            <a:r>
              <a:rPr lang="en-US" altLang="ko-KR" sz="1000" b="0" i="0" u="none" strike="noStrike" kern="1200" baseline="0" dirty="0">
                <a:solidFill>
                  <a:schemeClr val="tx1"/>
                </a:solidFill>
                <a:latin typeface="+mn-lt"/>
                <a:ea typeface="+mn-ea"/>
                <a:cs typeface="+mn-cs"/>
              </a:rPr>
              <a:t>I’m sorry for the trouble.</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When can I visit your store?</a:t>
            </a:r>
          </a:p>
          <a:p>
            <a:pPr>
              <a:lnSpc>
                <a:spcPct val="150000"/>
              </a:lnSpc>
            </a:pPr>
            <a:r>
              <a:rPr lang="en-US" altLang="ko-KR" sz="1000" b="0" i="0" u="none" strike="noStrike" kern="1200" baseline="0" dirty="0">
                <a:solidFill>
                  <a:schemeClr val="tx1"/>
                </a:solidFill>
                <a:latin typeface="+mn-lt"/>
                <a:ea typeface="+mn-ea"/>
                <a:cs typeface="+mn-cs"/>
              </a:rPr>
              <a:t>What are your business hours? How late are you open?</a:t>
            </a:r>
          </a:p>
          <a:p>
            <a:pPr>
              <a:lnSpc>
                <a:spcPct val="150000"/>
              </a:lnSpc>
            </a:pPr>
            <a:endParaRPr lang="en-US" altLang="ko-KR" sz="8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Give me a call when you get this. Thanks.</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7657020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105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새로운 제품</a:t>
            </a:r>
            <a:r>
              <a:rPr lang="en-US" altLang="ko-KR" sz="1000" b="1" baseline="0" dirty="0">
                <a:solidFill>
                  <a:srgbClr val="FF0000"/>
                </a:solidFill>
                <a:latin typeface="맑은 고딕" pitchFamily="50" charset="-127"/>
                <a:ea typeface="맑은 고딕" pitchFamily="50" charset="-127"/>
              </a:rPr>
              <a:t>/</a:t>
            </a:r>
            <a:r>
              <a:rPr lang="ko-KR" altLang="en-US" sz="1000" b="1" baseline="0" dirty="0">
                <a:solidFill>
                  <a:srgbClr val="FF0000"/>
                </a:solidFill>
                <a:latin typeface="맑은 고딕" pitchFamily="50" charset="-127"/>
                <a:ea typeface="맑은 고딕" pitchFamily="50" charset="-127"/>
              </a:rPr>
              <a:t>기술이 마음에 들지 않았던 경험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원했던 것이 아니거나 당신이 기대했던 것과 다른 기술을 산 적이 있습니까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기능이 당신이 원하는 기능이 아니었나요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아니면 제대로 작동하지 않았나요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새로운 기술을 샀던 시기에 대해 말해주세요</a:t>
            </a:r>
            <a:r>
              <a:rPr lang="en-US" altLang="ko-KR" sz="1000" b="0" i="0" kern="1200" dirty="0">
                <a:solidFill>
                  <a:srgbClr val="0070C0"/>
                </a:solidFill>
                <a:effectLst/>
                <a:latin typeface="+mn-lt"/>
                <a:ea typeface="+mn-ea"/>
                <a:cs typeface="+mn-cs"/>
              </a:rPr>
              <a:t>.</a:t>
            </a:r>
            <a:endParaRPr lang="en-US" altLang="ko-KR" sz="1000" b="0" spc="-3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 년 전에 새로운 휴대폰을 샀는 것이 기억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휴대폰은 너무 빨리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밧데리가</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나갔습니다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한번은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휴대폰은 죽었습니다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밖에 있을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불편했습니다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폰이 죽었기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000" b="0" i="0" u="none" strike="noStrike" kern="1200" spc="0" baseline="0" dirty="0" err="1">
                <a:solidFill>
                  <a:schemeClr val="tx1"/>
                </a:solidFill>
                <a:latin typeface="맑은 고딕" panose="020B0503020000020004" pitchFamily="50" charset="-127"/>
                <a:ea typeface="맑은 고딕" panose="020B0503020000020004" pitchFamily="50" charset="-127"/>
                <a:cs typeface="+mn-cs"/>
              </a:rPr>
              <a:t>누군가에</a:t>
            </a:r>
            <a:r>
              <a:rPr lang="ko-KR" altLang="en-US"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 전화를 해야 했습니다</a:t>
            </a:r>
            <a:r>
              <a:rPr lang="en-US" altLang="ko-KR"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그러나 나는 할 수 없었습니다</a:t>
            </a:r>
            <a:r>
              <a:rPr lang="en-US" altLang="ko-KR"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메시지를 체크해야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할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결국에는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휴대폰을 체크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집에 도착한 후에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 이후로</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종종 나의 충전기를 가지고 다니곤 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06367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새로운 제품</a:t>
            </a:r>
            <a:r>
              <a:rPr lang="en-US" altLang="ko-KR" sz="1000" b="1" baseline="0" dirty="0">
                <a:solidFill>
                  <a:srgbClr val="FF0000"/>
                </a:solidFill>
                <a:latin typeface="맑은 고딕" pitchFamily="50" charset="-127"/>
                <a:ea typeface="맑은 고딕" pitchFamily="50" charset="-127"/>
              </a:rPr>
              <a:t>/</a:t>
            </a:r>
            <a:r>
              <a:rPr lang="ko-KR" altLang="en-US" sz="1000" b="1" baseline="0" dirty="0">
                <a:solidFill>
                  <a:srgbClr val="FF0000"/>
                </a:solidFill>
                <a:latin typeface="맑은 고딕" pitchFamily="50" charset="-127"/>
                <a:ea typeface="맑은 고딕" pitchFamily="50" charset="-127"/>
              </a:rPr>
              <a:t>기술이 마음에 들지 않았던 경험</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That’s the end of the situation.</a:t>
            </a:r>
          </a:p>
          <a:p>
            <a:r>
              <a:rPr lang="en-US" altLang="ko-KR" sz="1000" b="0" i="0" u="none" strike="noStrike" kern="1200" baseline="0" dirty="0">
                <a:solidFill>
                  <a:srgbClr val="FF0000"/>
                </a:solidFill>
                <a:latin typeface="+mn-lt"/>
                <a:ea typeface="+mn-ea"/>
                <a:cs typeface="+mn-cs"/>
              </a:rPr>
              <a:t>Have you ever bought a piece of technology which was not what you wanted or different from what you had expected?</a:t>
            </a:r>
          </a:p>
          <a:p>
            <a:r>
              <a:rPr lang="en-US" altLang="ko-KR" sz="1000" b="0" i="0" u="none" strike="noStrike" kern="1200" baseline="0" dirty="0">
                <a:solidFill>
                  <a:srgbClr val="FF0000"/>
                </a:solidFill>
                <a:latin typeface="+mn-lt"/>
                <a:ea typeface="+mn-ea"/>
                <a:cs typeface="+mn-cs"/>
              </a:rPr>
              <a:t>Was the feature not what you wanted or did it just not work properly?</a:t>
            </a:r>
          </a:p>
          <a:p>
            <a:r>
              <a:rPr lang="en-US" altLang="ko-KR" sz="1000" b="0" i="0" u="none" strike="noStrike" kern="1200" spc="-60" dirty="0">
                <a:solidFill>
                  <a:srgbClr val="FF0000"/>
                </a:solidFill>
                <a:latin typeface="+mn-lt"/>
                <a:ea typeface="+mn-ea"/>
                <a:cs typeface="+mn-cs"/>
              </a:rPr>
              <a:t>Tell me about a time when you bought some new technology.</a:t>
            </a:r>
            <a:endParaRPr lang="en-US" altLang="ko-KR" sz="1000" b="0" spc="-6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getting a new phone a few years ago.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the phone ran out of battery too fast.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my phone died when I was outside.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very inconvenient because my phone was dead.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call someone, but I could NOT.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check some messages, but I could NOT.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the end, I checked my phone after I got home.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often carry around my charger.</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78695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공연장에 공연 티켓 구매 문의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휴가 동안 공연을 보기 위해 두 장의 티켓을 얻기를 원합니다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70" dirty="0">
                <a:solidFill>
                  <a:srgbClr val="0070C0"/>
                </a:solidFill>
                <a:effectLst/>
                <a:latin typeface="+mn-lt"/>
                <a:ea typeface="+mn-ea"/>
                <a:cs typeface="+mn-cs"/>
              </a:rPr>
              <a:t>매표소에 전화해서 표를 구하기 위해 </a:t>
            </a:r>
            <a:r>
              <a:rPr lang="en-US" altLang="ko-KR" sz="1000" b="0" i="0" kern="1200" spc="-70" dirty="0">
                <a:solidFill>
                  <a:srgbClr val="0070C0"/>
                </a:solidFill>
                <a:effectLst/>
                <a:latin typeface="+mn-lt"/>
                <a:ea typeface="+mn-ea"/>
                <a:cs typeface="+mn-cs"/>
              </a:rPr>
              <a:t>3~4 </a:t>
            </a:r>
            <a:r>
              <a:rPr lang="ko-KR" altLang="en-US" sz="1000" b="0" i="0" kern="1200" spc="-70" dirty="0">
                <a:solidFill>
                  <a:srgbClr val="0070C0"/>
                </a:solidFill>
                <a:effectLst/>
                <a:latin typeface="+mn-lt"/>
                <a:ea typeface="+mn-ea"/>
                <a:cs typeface="+mn-cs"/>
              </a:rPr>
              <a:t>가지 질문을 하세요</a:t>
            </a:r>
            <a:r>
              <a:rPr lang="en-US" altLang="ko-KR" sz="1000" b="0" i="0" kern="1200" spc="-70" dirty="0">
                <a:solidFill>
                  <a:srgbClr val="0070C0"/>
                </a:solidFill>
                <a:effectLst/>
                <a:latin typeface="+mn-lt"/>
                <a:ea typeface="+mn-ea"/>
                <a:cs typeface="+mn-cs"/>
              </a:rPr>
              <a:t>.</a:t>
            </a:r>
            <a:endParaRPr lang="en-US" altLang="ko-KR" sz="1000" b="0" spc="-7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공연에 관하여 물어보기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표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2</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장을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표가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너는 나에게 너의 극장으로 가는 방향을 줄 수 있나요</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공연장에 공연 티켓 구매 문의</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I’d like to give you a situation and ask you to act it out.</a:t>
            </a:r>
          </a:p>
          <a:p>
            <a:r>
              <a:rPr lang="en-US" altLang="ko-KR" sz="1000" b="0" i="0" u="none" strike="noStrike" kern="1200" baseline="0" dirty="0">
                <a:solidFill>
                  <a:srgbClr val="FF0000"/>
                </a:solidFill>
                <a:latin typeface="+mn-lt"/>
                <a:ea typeface="+mn-ea"/>
                <a:cs typeface="+mn-cs"/>
              </a:rPr>
              <a:t>You want to get two tickets to see a performance during your vacation.</a:t>
            </a:r>
          </a:p>
          <a:p>
            <a:r>
              <a:rPr lang="en-US" altLang="ko-KR" sz="1000" b="0" i="0" u="none" strike="noStrike" kern="1200" baseline="0" dirty="0">
                <a:solidFill>
                  <a:srgbClr val="FF0000"/>
                </a:solidFill>
                <a:latin typeface="+mn-lt"/>
                <a:ea typeface="+mn-ea"/>
                <a:cs typeface="+mn-cs"/>
              </a:rPr>
              <a:t>Call the box office and ask three or four questions to get tickets.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tonight’s performance.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two tickets.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tickets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your theater?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71571093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106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3714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친구에게 공연 아파서 못 가게 되어 설명</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공연이 있는 날</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당신은 매우 아픕니다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설명하고 이 상황을 해결하기 위해 두 가지 다른 옵션을 제공하세요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 짐</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피터입니다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오늘밤 공연에 </a:t>
            </a:r>
            <a:r>
              <a:rPr lang="ko-KR" altLang="en-US" sz="1000" b="0" i="0" u="none" strike="noStrike" kern="1200" baseline="0" dirty="0" err="1">
                <a:solidFill>
                  <a:schemeClr val="tx1"/>
                </a:solidFill>
                <a:latin typeface="+mn-lt"/>
                <a:ea typeface="+mn-ea"/>
                <a:cs typeface="+mn-cs"/>
              </a:rPr>
              <a:t>못갈</a:t>
            </a:r>
            <a:r>
              <a:rPr lang="ko-KR" altLang="en-US" sz="1000" b="0" i="0" u="none" strike="noStrike" kern="1200" baseline="0" dirty="0">
                <a:solidFill>
                  <a:schemeClr val="tx1"/>
                </a:solidFill>
                <a:latin typeface="+mn-lt"/>
                <a:ea typeface="+mn-ea"/>
                <a:cs typeface="+mn-cs"/>
              </a:rPr>
              <a:t> 것 같습니다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지금 매우 아픕니다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하기를 원합니까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왜 우리는 다음 번에 안가나요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다음주에 가는게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우리는 다른 시간에 갈 수 있어요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mn-lt"/>
                <a:ea typeface="+mn-ea"/>
                <a:cs typeface="+mn-cs"/>
              </a:rPr>
              <a:t/>
            </a:r>
            <a:br>
              <a:rPr lang="en-US" altLang="ko-KR" sz="1000" b="0" i="0" u="none" strike="noStrike" kern="1200" baseline="0" dirty="0">
                <a:solidFill>
                  <a:schemeClr val="tx1"/>
                </a:solidFill>
                <a:latin typeface="+mn-lt"/>
                <a:ea typeface="+mn-ea"/>
                <a:cs typeface="+mn-cs"/>
              </a:rPr>
            </a:b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다시 전화주세요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125232"/>
          </a:xfrm>
          <a:prstGeom prst="rect">
            <a:avLst/>
          </a:prstGeom>
          <a:noFill/>
        </p:spPr>
        <p:txBody>
          <a:bodyPr wrap="square" rtlCol="0">
            <a:spAutoFit/>
          </a:bodyPr>
          <a:lstStyle/>
          <a:p>
            <a:pPr latinLnBrk="1">
              <a:lnSpc>
                <a:spcPct val="100000"/>
              </a:lnSpc>
            </a:pPr>
            <a:r>
              <a:rPr lang="en-US" altLang="ko-KR" sz="900" b="1" dirty="0">
                <a:solidFill>
                  <a:schemeClr val="tx2"/>
                </a:solidFill>
                <a:latin typeface="맑은 고딕" pitchFamily="50" charset="-127"/>
                <a:ea typeface="맑은 고딕" pitchFamily="50" charset="-127"/>
              </a:rPr>
              <a:t>12 [Adv]</a:t>
            </a:r>
            <a:r>
              <a:rPr lang="en-US" altLang="ko-KR" sz="900" b="1" baseline="0" dirty="0">
                <a:solidFill>
                  <a:schemeClr val="tx2"/>
                </a:solidFill>
                <a:latin typeface="맑은 고딕" pitchFamily="50" charset="-127"/>
                <a:ea typeface="맑은 고딕" pitchFamily="50" charset="-127"/>
              </a:rPr>
              <a:t> </a:t>
            </a:r>
            <a:r>
              <a:rPr lang="ko-KR" altLang="en-US" sz="900" b="1" baseline="0" dirty="0">
                <a:solidFill>
                  <a:srgbClr val="FF0000"/>
                </a:solidFill>
                <a:latin typeface="맑은 고딕" pitchFamily="50" charset="-127"/>
                <a:ea typeface="맑은 고딕" pitchFamily="50" charset="-127"/>
              </a:rPr>
              <a:t>친구에게 공연 아파서 못 가게 되어 설명</a:t>
            </a:r>
            <a:endParaRPr lang="en-US" altLang="ko-KR" sz="9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On the day of the performance, you are very sick.</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explain the situation and offer two different options to resolve this situation.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mn-lt"/>
                <a:ea typeface="+mn-ea"/>
                <a:cs typeface="+mn-cs"/>
              </a:rPr>
              <a:t>Hello, Jim. This is Peter.</a:t>
            </a:r>
          </a:p>
          <a:p>
            <a:pPr>
              <a:lnSpc>
                <a:spcPct val="150000"/>
              </a:lnSpc>
            </a:pPr>
            <a:r>
              <a:rPr lang="en-US" altLang="ko-KR" sz="1000" b="0" i="0" u="none" strike="noStrike" kern="1200" baseline="0" dirty="0">
                <a:solidFill>
                  <a:schemeClr val="tx1"/>
                </a:solidFill>
                <a:latin typeface="+mn-lt"/>
                <a:ea typeface="+mn-ea"/>
                <a:cs typeface="+mn-cs"/>
              </a:rPr>
              <a:t>I have some bad news.</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I DON'T think I can make it to the performance tonight.</a:t>
            </a:r>
          </a:p>
          <a:p>
            <a:pPr>
              <a:lnSpc>
                <a:spcPct val="150000"/>
              </a:lnSpc>
            </a:pPr>
            <a:r>
              <a:rPr lang="en-US" altLang="ko-KR" sz="1000" b="0" i="0" u="none" strike="noStrike" kern="1200" baseline="0" dirty="0">
                <a:solidFill>
                  <a:schemeClr val="tx1"/>
                </a:solidFill>
                <a:latin typeface="+mn-lt"/>
                <a:ea typeface="+mn-ea"/>
                <a:cs typeface="+mn-cs"/>
              </a:rPr>
              <a:t>I am very sick right now.</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What do you want to do?</a:t>
            </a:r>
          </a:p>
          <a:p>
            <a:pPr>
              <a:lnSpc>
                <a:spcPct val="150000"/>
              </a:lnSpc>
            </a:pPr>
            <a:r>
              <a:rPr lang="en-US" altLang="ko-KR" sz="1000" b="0" i="0" u="none" strike="noStrike" kern="1200" baseline="0" dirty="0">
                <a:solidFill>
                  <a:schemeClr val="tx1"/>
                </a:solidFill>
                <a:latin typeface="+mn-lt"/>
                <a:ea typeface="+mn-ea"/>
                <a:cs typeface="+mn-cs"/>
              </a:rPr>
              <a:t>Why DON'T we go next time?</a:t>
            </a:r>
          </a:p>
          <a:p>
            <a:pPr>
              <a:lnSpc>
                <a:spcPct val="150000"/>
              </a:lnSpc>
            </a:pPr>
            <a:r>
              <a:rPr lang="en-US" altLang="ko-KR" sz="1000" b="0" i="0" u="none" strike="noStrike" kern="1200" baseline="0" dirty="0">
                <a:solidFill>
                  <a:schemeClr val="tx1"/>
                </a:solidFill>
                <a:latin typeface="+mn-lt"/>
                <a:ea typeface="+mn-ea"/>
                <a:cs typeface="+mn-cs"/>
              </a:rPr>
              <a:t>How about we go next week?</a:t>
            </a:r>
          </a:p>
          <a:p>
            <a:pPr>
              <a:lnSpc>
                <a:spcPct val="150000"/>
              </a:lnSpc>
            </a:pPr>
            <a:r>
              <a:rPr lang="en-US" altLang="ko-KR" sz="1000" b="0" i="0" u="none" strike="noStrike" kern="1200" baseline="0" dirty="0">
                <a:solidFill>
                  <a:schemeClr val="tx1"/>
                </a:solidFill>
                <a:latin typeface="+mn-lt"/>
                <a:ea typeface="+mn-ea"/>
                <a:cs typeface="+mn-cs"/>
              </a:rPr>
              <a:t>Or, maybe we could go another time.</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en-US" altLang="ko-KR" sz="1000" b="0" i="0" u="none" strike="noStrike" kern="1200" baseline="0" dirty="0">
                <a:solidFill>
                  <a:schemeClr val="tx1"/>
                </a:solidFill>
                <a:latin typeface="+mn-lt"/>
                <a:ea typeface="+mn-ea"/>
                <a:cs typeface="+mn-cs"/>
              </a:rPr>
              <a:t>What do you think? I’m fine with whatever you decide.</a:t>
            </a:r>
          </a:p>
          <a:p>
            <a:pPr>
              <a:lnSpc>
                <a:spcPct val="150000"/>
              </a:lnSpc>
            </a:pPr>
            <a:r>
              <a:rPr lang="en-US" altLang="ko-KR" sz="1000" b="0" i="0" u="none" strike="noStrike" kern="1200" baseline="0" dirty="0">
                <a:solidFill>
                  <a:schemeClr val="tx1"/>
                </a:solidFill>
                <a:latin typeface="+mn-lt"/>
                <a:ea typeface="+mn-ea"/>
                <a:cs typeface="+mn-cs"/>
              </a:rPr>
              <a:t>Call me back when you get this. Thanks.</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679230"/>
          </a:xfrm>
          <a:prstGeom prst="rect">
            <a:avLst/>
          </a:prstGeom>
          <a:noFill/>
        </p:spPr>
        <p:txBody>
          <a:bodyPr wrap="square" rtlCol="0">
            <a:spAutoFit/>
          </a:bodyPr>
          <a:lstStyle/>
          <a:p>
            <a:pPr latinLnBrk="1">
              <a:lnSpc>
                <a:spcPct val="100000"/>
              </a:lnSpc>
            </a:pPr>
            <a:r>
              <a:rPr lang="en-US" altLang="ko-KR" sz="900" b="1" dirty="0">
                <a:solidFill>
                  <a:schemeClr val="tx2"/>
                </a:solidFill>
                <a:latin typeface="맑은 고딕" pitchFamily="50" charset="-127"/>
                <a:ea typeface="맑은 고딕" pitchFamily="50" charset="-127"/>
              </a:rPr>
              <a:t>13 [Adv]</a:t>
            </a:r>
            <a:r>
              <a:rPr lang="en-US" altLang="ko-KR" sz="900" b="1" baseline="0" dirty="0">
                <a:solidFill>
                  <a:schemeClr val="tx2"/>
                </a:solidFill>
                <a:latin typeface="맑은 고딕" pitchFamily="50" charset="-127"/>
                <a:ea typeface="맑은 고딕" pitchFamily="50" charset="-127"/>
              </a:rPr>
              <a:t> </a:t>
            </a:r>
            <a:r>
              <a:rPr lang="ko-KR" altLang="en-US" sz="900" b="1" baseline="0" dirty="0">
                <a:solidFill>
                  <a:srgbClr val="FF0000"/>
                </a:solidFill>
                <a:latin typeface="맑은 고딕" pitchFamily="50" charset="-127"/>
                <a:ea typeface="맑은 고딕" pitchFamily="50" charset="-127"/>
              </a:rPr>
              <a:t>본인의 과거 계획 취소 경험 묘사                       </a:t>
            </a:r>
            <a:r>
              <a:rPr lang="en-US" altLang="ko-KR" sz="900" b="1" dirty="0">
                <a:solidFill>
                  <a:schemeClr val="tx2"/>
                </a:solidFill>
                <a:latin typeface="+mn-lt"/>
                <a:ea typeface="+mn-ea"/>
              </a:rPr>
              <a:t>♣</a:t>
            </a:r>
            <a:endParaRPr lang="en-US" altLang="ko-KR" sz="9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콘서트 티켓을 구입하거나 여행 계획을 세우거나 다른 계획을 세웠는데</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못 가서 취소해야 했던 적이 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그게 언제 였나요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무슨 일입니까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그것을 해결하기 위해 한 모든 것을 말해주세요</a:t>
            </a:r>
            <a:r>
              <a:rPr lang="en-US" altLang="ko-KR" sz="1000" b="0" i="0" kern="1200" dirty="0">
                <a:solidFill>
                  <a:srgbClr val="0070C0"/>
                </a:solidFill>
                <a:effectLst/>
                <a:latin typeface="+mn-lt"/>
                <a:ea typeface="+mn-ea"/>
                <a:cs typeface="+mn-cs"/>
              </a:rPr>
              <a:t>.</a:t>
            </a:r>
            <a:endParaRPr lang="en-US" altLang="ko-KR" sz="1000" b="0" spc="-3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친구들과 함께 모임을 가지기로 한 때가 기억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아팠습니다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상한 어떤 것을 먹었기 때문에</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mn-lt"/>
                <a:ea typeface="+mn-ea"/>
                <a:cs typeface="+mn-cs"/>
              </a:rPr>
              <a:t>나는 식중독에 걸렸습니다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속이 뒤집혔습니다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화장실에 다시 또 다시 갔습니다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설사를 했기 때문에</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모임을 놓친 것에 관하여 나쁜 감정을 느꼈습니다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아무것도 할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친구들에게 말했습니다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갈수 없고 나는 미안하다고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그 시간에 모임을 놓친 것을 후회합니다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본인의 과거 계획 취소 경험 묘사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bought concert tickets or made plans for a trip, or made plans for other things, but had to cancel because you could not make it?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was it? What happened? Tell me everything that you did to resolve it.</a:t>
            </a:r>
            <a:endParaRPr lang="en-US" altLang="ko-KR" sz="1000" b="0" spc="-3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was supposed to have a gathering with my friends.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However, I got sick because I ate something that went bad.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the bathroom again and again because I had the runs.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bad about missing the gathering, but there was nothing I could do.</a:t>
            </a: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I told my friends that I could NOT go and said I was sorry.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 regret missing the gathering that time.</a:t>
            </a:r>
          </a:p>
        </p:txBody>
      </p:sp>
    </p:spTree>
    <p:extLst>
      <p:ext uri="{BB962C8B-B14F-4D97-AF65-F5344CB8AC3E}">
        <p14:creationId xmlns:p14="http://schemas.microsoft.com/office/powerpoint/2010/main" val="411251148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107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4084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영화관에 친구와 함께 볼 </a:t>
            </a:r>
            <a:r>
              <a:rPr lang="ko-KR" altLang="en-US" sz="1000" b="1" baseline="0" dirty="0" err="1">
                <a:solidFill>
                  <a:srgbClr val="FF0000"/>
                </a:solidFill>
                <a:latin typeface="맑은 고딕" pitchFamily="50" charset="-127"/>
                <a:ea typeface="맑은 고딕" pitchFamily="50" charset="-127"/>
              </a:rPr>
              <a:t>영화표</a:t>
            </a:r>
            <a:r>
              <a:rPr lang="ko-KR" altLang="en-US" sz="1000" b="1" baseline="0" dirty="0">
                <a:solidFill>
                  <a:srgbClr val="FF0000"/>
                </a:solidFill>
                <a:latin typeface="맑은 고딕" pitchFamily="50" charset="-127"/>
                <a:ea typeface="맑은 고딕" pitchFamily="50" charset="-127"/>
              </a:rPr>
              <a:t> 구매 전화 문의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당신의 친구를 영화관에 데려가기를 원합니다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영화관에 전화해서 서너 가지 질문을 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극장에 전화해서 당신과 당신의 친구를 위한 표를 구하기 위해 두세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오늘밤의 영화에 관하여 물어보기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표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2</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장을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표가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너는 나에게 너의 극장으로 가는 방향을 줄 수 있나요</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영화관에 친구와 함께 볼 </a:t>
            </a:r>
            <a:r>
              <a:rPr lang="ko-KR" altLang="en-US" sz="1000" b="1" baseline="0" dirty="0" err="1">
                <a:solidFill>
                  <a:srgbClr val="FF0000"/>
                </a:solidFill>
                <a:latin typeface="맑은 고딕" pitchFamily="50" charset="-127"/>
                <a:ea typeface="맑은 고딕" pitchFamily="50" charset="-127"/>
              </a:rPr>
              <a:t>영화표</a:t>
            </a:r>
            <a:r>
              <a:rPr lang="ko-KR" altLang="en-US" sz="1000" b="1" baseline="0" dirty="0">
                <a:solidFill>
                  <a:srgbClr val="FF0000"/>
                </a:solidFill>
                <a:latin typeface="맑은 고딕" pitchFamily="50" charset="-127"/>
                <a:ea typeface="맑은 고딕" pitchFamily="50" charset="-127"/>
              </a:rPr>
              <a:t> 구매 전화 문의</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want to take your friend to the movies. Call the movie theater and ask three or four questions.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theater and ask two to three questions to get tickets for you and your friend.</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tonight’s movie.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two tickets.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tickets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your theater?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영화관 현장에서 그 쪽에서 잘못 판매한 표 설명</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문제해결</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죄송하지만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당신이 해결해야 할 문제가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당신과 당신의 친구가 극장에 도착했을 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그들이 당신에게 잘못된 표를 팔았음을 알게 됩니다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부스에서 티켓 판매자에게 상황을 설명하세요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문제를 해결하기 위해 두세 가지 대안을 제시하세요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안녕하세요</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오늘 밤을 위한 표를 받았는 사람입니다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나의 표는 어떤 문제가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생각합니다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내가 잘못된 표를 샀다고</a:t>
            </a:r>
            <a:endParaRPr lang="en-US" altLang="ko-KR" sz="1100" b="0" i="0" u="none" strike="noStrike" kern="1200" baseline="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나는 교환하기를 원합니다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환불 받을 수 있나요</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만약 내가 원하면</a:t>
            </a:r>
            <a:endParaRPr lang="en-US" altLang="ko-KR" sz="1100" b="0" i="0" u="none" strike="noStrike" kern="1200" baseline="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그것은 가능한가요</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err="1">
                <a:solidFill>
                  <a:schemeClr val="tx1"/>
                </a:solidFill>
                <a:latin typeface="+mn-lt"/>
                <a:ea typeface="+mn-ea"/>
                <a:cs typeface="+mn-cs"/>
              </a:rPr>
              <a:t>심여를</a:t>
            </a:r>
            <a:r>
              <a:rPr lang="ko-KR" altLang="en-US" sz="1100" b="0" i="0" u="none" strike="noStrike" kern="1200" baseline="0" dirty="0">
                <a:solidFill>
                  <a:schemeClr val="tx1"/>
                </a:solidFill>
                <a:latin typeface="+mn-lt"/>
                <a:ea typeface="+mn-ea"/>
                <a:cs typeface="+mn-cs"/>
              </a:rPr>
              <a:t> 끼쳐 죄송합니다</a:t>
            </a:r>
            <a:r>
              <a:rPr lang="en-US" altLang="ko-KR" sz="1100" b="0" i="0" u="none" strike="noStrike" kern="1200" baseline="0" dirty="0">
                <a:solidFill>
                  <a:schemeClr val="tx1"/>
                </a:solidFill>
                <a:latin typeface="+mn-lt"/>
                <a:ea typeface="+mn-ea"/>
                <a:cs typeface="+mn-cs"/>
              </a:rPr>
              <a:t>.</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영화관 현장에서 그 쪽에서 잘못 판매한 표 설명</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문제해결</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100" b="0" i="0" u="none" strike="noStrike" kern="1200" spc="-50" baseline="0" dirty="0">
                <a:solidFill>
                  <a:srgbClr val="FF0000"/>
                </a:solidFill>
                <a:latin typeface="맑은 고딕" panose="020B0503020000020004" pitchFamily="50" charset="-127"/>
                <a:ea typeface="맑은 고딕" panose="020B0503020000020004" pitchFamily="50" charset="-127"/>
                <a:cs typeface="+mn-cs"/>
              </a:rPr>
              <a:t>When you and your friend arrive at the theater </a:t>
            </a:r>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you discover that they’ve sold the wrong tickets to you. </a:t>
            </a:r>
          </a:p>
          <a:p>
            <a:r>
              <a:rPr lang="en-US" altLang="ko-KR" sz="1100" b="0" i="0" u="none" strike="noStrike" kern="1200" spc="-30" dirty="0">
                <a:solidFill>
                  <a:srgbClr val="FF0000"/>
                </a:solidFill>
                <a:latin typeface="맑은 고딕" panose="020B0503020000020004" pitchFamily="50" charset="-127"/>
                <a:ea typeface="맑은 고딕" panose="020B0503020000020004" pitchFamily="50" charset="-127"/>
                <a:cs typeface="+mn-cs"/>
              </a:rPr>
              <a:t>Explain the situation to the ticket seller at the booth.</a:t>
            </a:r>
          </a:p>
          <a:p>
            <a:r>
              <a:rPr lang="en-US" altLang="ko-KR" sz="1100" b="0" i="0" u="none" strike="noStrike" kern="1200" spc="-30" dirty="0">
                <a:solidFill>
                  <a:srgbClr val="FF0000"/>
                </a:solidFill>
                <a:latin typeface="맑은 고딕" panose="020B0503020000020004" pitchFamily="50" charset="-127"/>
                <a:ea typeface="맑은 고딕" panose="020B0503020000020004" pitchFamily="50" charset="-127"/>
                <a:cs typeface="+mn-cs"/>
              </a:rPr>
              <a:t>Offer two or three alternatives to solve the problem.</a:t>
            </a:r>
            <a:endParaRPr lang="en-US" altLang="ko-KR" sz="1100" b="0" spc="-3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got tickets for tonight’s movie.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tickets.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got the wrong tickets.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an exchange.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get a refund if I want to?</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p:txBody>
      </p:sp>
    </p:spTree>
    <p:extLst>
      <p:ext uri="{BB962C8B-B14F-4D97-AF65-F5344CB8AC3E}">
        <p14:creationId xmlns:p14="http://schemas.microsoft.com/office/powerpoint/2010/main" val="93679221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108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본인의 과거 계획 취소 경험 설명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콘서트 티켓을 구입하거나 여행 계획을 세우거나 다른 계획을 세웠는데</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못 가서 취소해야 했던 적이 있나요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그게 언제 였나요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무슨 일입니까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그것을 해결하기 위해 한 모든 것을 말해주세요</a:t>
            </a:r>
            <a:r>
              <a:rPr lang="en-US" altLang="ko-KR" sz="1000" b="0" i="0" kern="1200" dirty="0">
                <a:solidFill>
                  <a:srgbClr val="0070C0"/>
                </a:solidFill>
                <a:effectLst/>
                <a:latin typeface="+mn-lt"/>
                <a:ea typeface="+mn-ea"/>
                <a:cs typeface="+mn-cs"/>
              </a:rPr>
              <a:t>.</a:t>
            </a:r>
            <a:endParaRPr lang="en-US" altLang="ko-KR" sz="1000" b="0" spc="-3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친구들과 함께 모임을 가지기로 한 때가 기억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아팠습니다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상한 어떤 것을 먹었기 때문에</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mn-lt"/>
                <a:ea typeface="+mn-ea"/>
                <a:cs typeface="+mn-cs"/>
              </a:rPr>
              <a:t>나는 식중독에 걸렸습니다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속이 뒤집혔습니다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spc="-90" dirty="0">
                <a:solidFill>
                  <a:schemeClr val="tx1"/>
                </a:solidFill>
                <a:latin typeface="+mn-lt"/>
                <a:ea typeface="+mn-ea"/>
                <a:cs typeface="+mn-cs"/>
              </a:rPr>
              <a:t>나는 화장실에 다시 또 다시 갔습니다</a:t>
            </a:r>
            <a:r>
              <a:rPr lang="en-US" altLang="ko-KR" sz="1000" b="0" i="0" u="none" strike="noStrike" kern="1200" spc="-90" dirty="0">
                <a:solidFill>
                  <a:schemeClr val="tx1"/>
                </a:solidFill>
                <a:latin typeface="+mn-lt"/>
                <a:ea typeface="+mn-ea"/>
                <a:cs typeface="+mn-cs"/>
              </a:rPr>
              <a:t>. </a:t>
            </a:r>
            <a:r>
              <a:rPr lang="ko-KR" altLang="en-US" sz="1000" b="0" i="0" u="none" strike="noStrike" kern="1200" spc="-90" dirty="0">
                <a:solidFill>
                  <a:schemeClr val="tx1"/>
                </a:solidFill>
                <a:latin typeface="+mn-lt"/>
                <a:ea typeface="+mn-ea"/>
                <a:cs typeface="+mn-cs"/>
              </a:rPr>
              <a:t>나는 설사를 했기 때문에</a:t>
            </a:r>
            <a:endParaRPr lang="en-US" altLang="ko-KR" sz="1000" b="0" i="0" u="none" strike="noStrike" kern="1200" spc="-9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모임을 놓친 것에 관하여 나쁜 감정을 느꼈습니다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아무것도 할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친구들에게 말했습니다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갈수 없고 나는 미안하다고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그 시간에 모임을 놓친 것을 후회합니다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본인의 과거 계획 취소 경험 설명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bought concert tickets or made plans for a trip, or made plans for other things, but had to cancel because you could not make it? When was it?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happened? Tell me everything that you did to resolve it.</a:t>
            </a:r>
            <a:endParaRPr lang="en-US" altLang="ko-KR" sz="1000" b="0" spc="-3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was supposed to have a gathering with my friends.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However, I got sick because I ate something that went bad.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the bathroom again and again because I had the runs.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bad about missing the gathering, but there was nothing I could do.</a:t>
            </a: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I told my friends that I could NOT go and said I was sorry.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 regret missing the gathering that time.</a:t>
            </a:r>
          </a:p>
        </p:txBody>
      </p:sp>
    </p:spTree>
    <p:extLst>
      <p:ext uri="{BB962C8B-B14F-4D97-AF65-F5344CB8AC3E}">
        <p14:creationId xmlns:p14="http://schemas.microsoft.com/office/powerpoint/2010/main" val="38433044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614766"/>
            <a:ext cx="6858000" cy="4570482"/>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23 ROLE PLAY</a:t>
            </a: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solidFill>
                  <a:schemeClr val="tx2"/>
                </a:solidFill>
                <a:latin typeface="맑은 고딕" pitchFamily="50" charset="-127"/>
                <a:ea typeface="맑은 고딕" pitchFamily="50" charset="-127"/>
              </a:rPr>
              <a:t>상점 </a:t>
            </a:r>
            <a:r>
              <a:rPr lang="ko-KR" altLang="en-US" sz="2800" b="1">
                <a:solidFill>
                  <a:schemeClr val="tx2"/>
                </a:solidFill>
              </a:rPr>
              <a:t>★★★</a:t>
            </a:r>
            <a:endParaRPr lang="en-US" altLang="ko-KR" sz="2800" b="1">
              <a:solidFill>
                <a:schemeClr val="tx2"/>
              </a:solidFill>
            </a:endParaRP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latin typeface="맑은 고딕" pitchFamily="50" charset="-127"/>
                <a:ea typeface="맑은 고딕" pitchFamily="50" charset="-127"/>
              </a:rPr>
              <a:t>상점 현장 문의</a:t>
            </a:r>
            <a:endParaRPr lang="en-US" altLang="ko-KR" sz="2800" b="1">
              <a:latin typeface="맑은 고딕" pitchFamily="50" charset="-127"/>
              <a:ea typeface="맑은 고딕" pitchFamily="50" charset="-127"/>
            </a:endParaRPr>
          </a:p>
          <a:p>
            <a:pPr algn="ctr">
              <a:lnSpc>
                <a:spcPct val="150000"/>
              </a:lnSpc>
            </a:pPr>
            <a:r>
              <a:rPr lang="ko-KR" altLang="en-US" sz="2800" b="1">
                <a:latin typeface="맑은 고딕" pitchFamily="50" charset="-127"/>
                <a:ea typeface="맑은 고딕" pitchFamily="50" charset="-127"/>
              </a:rPr>
              <a:t>친구에게 상점 질문</a:t>
            </a:r>
          </a:p>
        </p:txBody>
      </p:sp>
      <p:sp>
        <p:nvSpPr>
          <p:cNvPr id="3" name="슬라이드 번호 개체 틀 2">
            <a:extLst>
              <a:ext uri="{FF2B5EF4-FFF2-40B4-BE49-F238E27FC236}">
                <a16:creationId xmlns:a16="http://schemas.microsoft.com/office/drawing/2014/main" xmlns="" id="{8E21BAC6-D1F8-9428-24CD-54FF0ECC7225}"/>
              </a:ext>
            </a:extLst>
          </p:cNvPr>
          <p:cNvSpPr>
            <a:spLocks noGrp="1"/>
          </p:cNvSpPr>
          <p:nvPr>
            <p:ph type="sldNum" sz="quarter" idx="12"/>
          </p:nvPr>
        </p:nvSpPr>
        <p:spPr/>
        <p:txBody>
          <a:bodyPr/>
          <a:lstStyle/>
          <a:p>
            <a:fld id="{18CC7079-95A2-4860-A138-51A9FC969471}" type="slidenum">
              <a:rPr lang="ko-KR" altLang="en-US" smtClean="0"/>
              <a:t>109</a:t>
            </a:fld>
            <a:endParaRPr lang="ko-KR" altLang="en-US"/>
          </a:p>
        </p:txBody>
      </p:sp>
    </p:spTree>
    <p:extLst>
      <p:ext uri="{BB962C8B-B14F-4D97-AF65-F5344CB8AC3E}">
        <p14:creationId xmlns:p14="http://schemas.microsoft.com/office/powerpoint/2010/main" val="48297909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529812"/>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11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옷 가게 현장 직원에게 옷 구매에 대해 문의</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나는 너에게 상황을 주고 그것을 행동으로 보여 달라고 부탁하고 싶습니다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지금 옷가게에 있는데 옷을 사야 합니다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당신이 사고 싶은 옷에 대해 두세 가지 질문을 하세요</a:t>
            </a:r>
            <a:r>
              <a:rPr lang="en-US" altLang="ko-KR" sz="1100" b="0" i="0" kern="1200" spc="-50" dirty="0">
                <a:solidFill>
                  <a:srgbClr val="0070C0"/>
                </a:solidFill>
                <a:effectLst/>
                <a:latin typeface="+mn-lt"/>
                <a:ea typeface="+mn-ea"/>
                <a:cs typeface="+mn-cs"/>
              </a:rPr>
              <a:t>.</a:t>
            </a:r>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조금의 새 옷 사기를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 셔츠를 사기를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셔츠가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3529812"/>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11 [Int]</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옷 가게 현장 직원에게 옷 구매에 대해 문의</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100" b="0" i="0" u="none" strike="noStrike" kern="1200" spc="-70" dirty="0">
                <a:solidFill>
                  <a:srgbClr val="FF0000"/>
                </a:solidFill>
                <a:latin typeface="맑은 고딕" panose="020B0503020000020004" pitchFamily="50" charset="-127"/>
                <a:ea typeface="맑은 고딕" panose="020B0503020000020004" pitchFamily="50" charset="-127"/>
                <a:cs typeface="+mn-cs"/>
              </a:rPr>
              <a:t>You are at a clothing store and need to get some clothes.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Ask two to three questions about the clothes you would like to buy.</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want to get some new clothes.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 new shirt.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shirts are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배달된 여러 옷 중 셔츠에 문제가 있음</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전화로 문제해결</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60" dirty="0">
                <a:solidFill>
                  <a:srgbClr val="0070C0"/>
                </a:solidFill>
                <a:effectLst/>
                <a:latin typeface="+mn-lt"/>
                <a:ea typeface="+mn-ea"/>
                <a:cs typeface="+mn-cs"/>
              </a:rPr>
              <a:t>주문하신 옷이 도착했는데</a:t>
            </a:r>
            <a:r>
              <a:rPr lang="en-US" altLang="ko-KR" sz="1000" b="0" i="0" kern="1200" spc="-60" dirty="0">
                <a:solidFill>
                  <a:srgbClr val="0070C0"/>
                </a:solidFill>
                <a:effectLst/>
                <a:latin typeface="+mn-lt"/>
                <a:ea typeface="+mn-ea"/>
                <a:cs typeface="+mn-cs"/>
              </a:rPr>
              <a:t>, </a:t>
            </a:r>
            <a:r>
              <a:rPr lang="ko-KR" altLang="en-US" sz="1000" b="0" i="0" kern="1200" spc="-60" dirty="0">
                <a:solidFill>
                  <a:srgbClr val="0070C0"/>
                </a:solidFill>
                <a:effectLst/>
                <a:latin typeface="+mn-lt"/>
                <a:ea typeface="+mn-ea"/>
                <a:cs typeface="+mn-cs"/>
              </a:rPr>
              <a:t>셔츠 중 하나에 문제가 있습니다</a:t>
            </a:r>
            <a:r>
              <a:rPr lang="en-US" altLang="ko-KR" sz="1000" b="0" i="0" kern="1200" spc="-6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옷가게에 전화해서 문제를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문제를 해결하기 위해 </a:t>
            </a:r>
            <a:r>
              <a:rPr lang="en-US" altLang="ko-KR" sz="1000" b="0" i="0" kern="1200" dirty="0">
                <a:solidFill>
                  <a:srgbClr val="0070C0"/>
                </a:solidFill>
                <a:effectLst/>
                <a:latin typeface="+mn-lt"/>
                <a:ea typeface="+mn-ea"/>
                <a:cs typeface="+mn-cs"/>
              </a:rPr>
              <a:t>2~3</a:t>
            </a:r>
            <a:r>
              <a:rPr lang="ko-KR" altLang="en-US" sz="1000" b="0" i="0" kern="1200" dirty="0">
                <a:solidFill>
                  <a:srgbClr val="0070C0"/>
                </a:solidFill>
                <a:effectLst/>
                <a:latin typeface="+mn-lt"/>
                <a:ea typeface="+mn-ea"/>
                <a:cs typeface="+mn-cs"/>
              </a:rPr>
              <a:t>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70" dirty="0">
                <a:solidFill>
                  <a:schemeClr val="tx1"/>
                </a:solidFill>
                <a:latin typeface="+mn-lt"/>
                <a:ea typeface="+mn-ea"/>
                <a:cs typeface="+mn-cs"/>
              </a:rPr>
              <a:t>안녕하세요</a:t>
            </a:r>
            <a:r>
              <a:rPr lang="en-US" altLang="ko-KR" sz="1000" b="0" i="0" u="none" strike="noStrike" kern="1200" spc="-70" dirty="0">
                <a:solidFill>
                  <a:schemeClr val="tx1"/>
                </a:solidFill>
                <a:latin typeface="+mn-lt"/>
                <a:ea typeface="+mn-ea"/>
                <a:cs typeface="+mn-cs"/>
              </a:rPr>
              <a:t>. </a:t>
            </a:r>
            <a:r>
              <a:rPr lang="ko-KR" altLang="en-US" sz="1000" b="0" i="0" u="none" strike="noStrike" kern="1200" spc="-70" dirty="0">
                <a:solidFill>
                  <a:schemeClr val="tx1"/>
                </a:solidFill>
                <a:latin typeface="+mn-lt"/>
                <a:ea typeface="+mn-ea"/>
                <a:cs typeface="+mn-cs"/>
              </a:rPr>
              <a:t>나는 너의 가게에서 새로운 옷을 샀는 사람입니다</a:t>
            </a:r>
            <a:r>
              <a:rPr lang="en-US" altLang="ko-KR" sz="1000" b="0" i="0" u="none" strike="noStrike" kern="1200" spc="-7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나의 셔츠에 어떤 문제가 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생각합니다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내가 잘못된 셔츠를 샀다고</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교환하기를 원합니다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환불 받을 수 있나요</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만약 내가 원하면</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그것은 가능한가요</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err="1">
                <a:solidFill>
                  <a:schemeClr val="tx1"/>
                </a:solidFill>
                <a:latin typeface="+mn-lt"/>
                <a:ea typeface="+mn-ea"/>
                <a:cs typeface="+mn-cs"/>
              </a:rPr>
              <a:t>심여를</a:t>
            </a:r>
            <a:r>
              <a:rPr lang="ko-KR" altLang="en-US" sz="1000" b="0" i="0" u="none" strike="noStrike" kern="1200" baseline="0" dirty="0">
                <a:solidFill>
                  <a:schemeClr val="tx1"/>
                </a:solidFill>
                <a:latin typeface="+mn-lt"/>
                <a:ea typeface="+mn-ea"/>
                <a:cs typeface="+mn-cs"/>
              </a:rPr>
              <a:t> 끼쳐 죄송합니다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가게에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배달된 여러 옷 중 셔츠에 문제가 있음</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전화로 문제해결</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 clothes you have ordered have arrived, but one of the shirts has a problem.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clothing store and explain the problem.</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two to three alternatives to solve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Hello, I’m a person who got some new clothes at your store.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shirt.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got the wrong shirt.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an exchange.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get a refund if I want to?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4652423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25341"/>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13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본인의 구매 물건 혹은 받은 서비스 불만 경험 묘사</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p>
          <a:p>
            <a:r>
              <a:rPr lang="ko-KR" altLang="en-US" sz="1000" b="0" i="0" kern="1200" dirty="0">
                <a:solidFill>
                  <a:srgbClr val="0070C0"/>
                </a:solidFill>
                <a:effectLst/>
                <a:latin typeface="+mn-lt"/>
                <a:ea typeface="+mn-ea"/>
                <a:cs typeface="+mn-cs"/>
              </a:rPr>
              <a:t>구입한 물건이나 받은 서비스에 불만이 있었던 적이 있습니까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뭐가 문제였죠</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상황에 어떻게 대처했나요</a:t>
            </a:r>
            <a:r>
              <a:rPr lang="en-US" altLang="ko-KR" sz="1000" b="0" i="0" kern="1200" dirty="0">
                <a:solidFill>
                  <a:srgbClr val="0070C0"/>
                </a:solidFill>
                <a:effectLst/>
                <a:latin typeface="+mn-lt"/>
                <a:ea typeface="+mn-ea"/>
                <a:cs typeface="+mn-cs"/>
              </a:rPr>
              <a:t>? </a:t>
            </a:r>
          </a:p>
          <a:p>
            <a:r>
              <a:rPr lang="ko-KR" altLang="en-US" sz="1000" b="0" i="0" kern="1200" dirty="0">
                <a:solidFill>
                  <a:srgbClr val="0070C0"/>
                </a:solidFill>
                <a:effectLst/>
                <a:latin typeface="+mn-lt"/>
                <a:ea typeface="+mn-ea"/>
                <a:cs typeface="+mn-cs"/>
              </a:rPr>
              <a:t>모든 것을 자세히 말해 주세요</a:t>
            </a:r>
            <a:r>
              <a:rPr lang="en-US" altLang="ko-KR" sz="1000" b="0" i="0" kern="1200" dirty="0">
                <a:solidFill>
                  <a:schemeClr val="lt1"/>
                </a:solidFill>
                <a:effectLst/>
                <a:latin typeface="+mn-lt"/>
                <a:ea typeface="+mn-ea"/>
                <a:cs typeface="+mn-cs"/>
              </a:rPr>
              <a:t>.</a:t>
            </a:r>
            <a:endParaRPr lang="en-US" altLang="ko-KR" sz="1000" b="0" spc="-3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품절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운동화를 쇼핑한 것이 기억에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신발 한 켤레가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정말 좋아하는</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 가게는 나의 사이즈를 가지는 재고가 없었습니다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다 팔렸습니다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신발을 살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원했던</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나중에 그들을 온라인으로 사야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온라인으로 셔츠를 산 것이 기억에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집에서 그것을 입는 것을 시도하였습니다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그것은 나에게 맞지 않았습니다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너무 타이트하고 너무 짧았습니다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환불을 받기 위해 그것을 돌려 보냈습니다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294509"/>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13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본인의 구매 물건 혹은 받은 서비스 불만 경험 묘사</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 Have you ever been unhappy with something that you bought or some service you received? What was the problem?</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did you deal with the situation? Tell me everything in detail.</a:t>
            </a:r>
            <a:endParaRPr lang="en-US" altLang="ko-KR" sz="1000" b="0" spc="-3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품절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shopping for some running shoes recently.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were a pair of shoes I really liked.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the store did NOT have my size in stock.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were sold-out.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could NOT get the shoes I wanted.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get them online later on.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remember getting a shirt online.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tried to</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wear</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at home, but it did NOT fit 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too tight and too short.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sent it back to get a refund.</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좋아하는 상점에 직접 가서 세일 관련 질문</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나는 너에게 상황을 주고 그것을 행동으로 보여 달라고 부탁하고 싶습니다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당신이 가장 좋아하는 상점에서 큰 세일을 하고 있다는 팻말을 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매장에 가서 서너 가지 질문을 해서 판매에 대한 가능한 많은 정보를 얻으세요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세일에 관하여 묻기를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 셔츠를 사기를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셔츠가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좋아하는 상점에 직접 가서 세일 관련 질문</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mn-lt"/>
                <a:ea typeface="+mn-ea"/>
                <a:cs typeface="+mn-cs"/>
              </a:rPr>
              <a:t>I’d like to give you a situation and ask you to act it out.</a:t>
            </a:r>
          </a:p>
          <a:p>
            <a:r>
              <a:rPr lang="en-US" altLang="ko-KR" sz="1100" b="0" i="0" u="none" strike="noStrike" kern="1200" baseline="0" dirty="0">
                <a:solidFill>
                  <a:srgbClr val="FF0000"/>
                </a:solidFill>
                <a:latin typeface="+mn-lt"/>
                <a:ea typeface="+mn-ea"/>
                <a:cs typeface="+mn-cs"/>
              </a:rPr>
              <a:t>You see a sign at your favorite store that says that they are having a big sale.</a:t>
            </a:r>
          </a:p>
          <a:p>
            <a:r>
              <a:rPr lang="en-US" altLang="ko-KR" sz="1100" b="0" i="0" u="none" strike="noStrike" kern="1200" spc="-50" dirty="0">
                <a:solidFill>
                  <a:srgbClr val="FF0000"/>
                </a:solidFill>
                <a:latin typeface="+mn-lt"/>
                <a:ea typeface="+mn-ea"/>
                <a:cs typeface="+mn-cs"/>
              </a:rPr>
              <a:t>Go to the store and ask three or four questions to get as much information as possible about the sale.</a:t>
            </a:r>
            <a:endParaRPr lang="en-US" altLang="ko-KR" sz="1100" b="0" spc="-5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want to ask about the sale.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 new shirt.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shirts are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p:txBody>
      </p:sp>
    </p:spTree>
    <p:extLst>
      <p:ext uri="{BB962C8B-B14F-4D97-AF65-F5344CB8AC3E}">
        <p14:creationId xmlns:p14="http://schemas.microsoft.com/office/powerpoint/2010/main" val="26999110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구매한 물품이 손상 되어 있음</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상점에 전화로 문제 해결</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일단 당신이 산 물건을 가지고 집에 돌아오면</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당신은 그 물건이 손상되었다는 것을 알게 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매장에 전화해서 상황을 설명하고 상황을 해결하기 위해 무엇을 하고 </a:t>
            </a:r>
            <a:r>
              <a:rPr lang="ko-KR" altLang="en-US" sz="1000" b="0" i="0" kern="1200" dirty="0" err="1">
                <a:solidFill>
                  <a:srgbClr val="0070C0"/>
                </a:solidFill>
                <a:effectLst/>
                <a:latin typeface="+mn-lt"/>
                <a:ea typeface="+mn-ea"/>
                <a:cs typeface="+mn-cs"/>
              </a:rPr>
              <a:t>싶은지</a:t>
            </a:r>
            <a:r>
              <a:rPr lang="ko-KR" altLang="en-US" sz="1000" b="0" i="0" kern="1200" dirty="0">
                <a:solidFill>
                  <a:srgbClr val="0070C0"/>
                </a:solidFill>
                <a:effectLst/>
                <a:latin typeface="+mn-lt"/>
                <a:ea typeface="+mn-ea"/>
                <a:cs typeface="+mn-cs"/>
              </a:rPr>
              <a:t> 말하세요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너의 가게에서 셔츠를 샀는 사람입니다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나의 셔츠에 어떤 문제가 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왼쪽 소매에 찢어짐이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교환하기를 원합니다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환불 받을 수 있나요</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만약 내가 원하면</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그것은 가능한가요</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err="1">
                <a:solidFill>
                  <a:schemeClr val="tx1"/>
                </a:solidFill>
                <a:latin typeface="+mn-lt"/>
                <a:ea typeface="+mn-ea"/>
                <a:cs typeface="+mn-cs"/>
              </a:rPr>
              <a:t>심여를</a:t>
            </a:r>
            <a:r>
              <a:rPr lang="ko-KR" altLang="en-US" sz="1000" b="0" i="0" u="none" strike="noStrike" kern="1200" baseline="0" dirty="0">
                <a:solidFill>
                  <a:schemeClr val="tx1"/>
                </a:solidFill>
                <a:latin typeface="+mn-lt"/>
                <a:ea typeface="+mn-ea"/>
                <a:cs typeface="+mn-cs"/>
              </a:rPr>
              <a:t> 끼쳐 죄송합니다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가게에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503317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구매한 물품이 손상 되어 있음</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상점에 전화로 문제 해결</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Once you get home with an item you bought, you realize that the item is damaged.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store and explain the situation and state what you want to do to resolve the situation.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got a shirt at your store.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shirt.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a rip on the left sleeve.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an exchange.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get a refund if I want to?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2769" y="4954964"/>
            <a:ext cx="3429000" cy="292195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고장이 나거나 손상된 물건을 구매했던 경험 설명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작동하지 않거나 손상된 것을 산 적이 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항목이 무엇이었는지</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무엇이 잘못되었는지</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상황을 해결하기 위해 무엇을 했는지 설명하십시오</a:t>
            </a:r>
            <a:r>
              <a:rPr lang="en-US" altLang="ko-KR" sz="1100" b="0" i="0" kern="1200" dirty="0">
                <a:solidFill>
                  <a:srgbClr val="0070C0"/>
                </a:solidFill>
                <a:effectLst/>
                <a:latin typeface="+mn-lt"/>
                <a:ea typeface="+mn-ea"/>
                <a:cs typeface="+mn-cs"/>
              </a:rPr>
              <a:t>.</a:t>
            </a:r>
            <a:endParaRPr lang="en-US" altLang="ko-KR" sz="1100" b="0" spc="-3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솔직히 나는 그런 경험의 종류를 절대 가지고 있지 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행운이라고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정말 이 토픽에 관하여 말할 것이 별로 없습니다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283731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고장이 나거나 손상된 물건을 구매했던 경험 설명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bought something that did not work or was damaged?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Explain what the item was, what was wrong and what you did to resolve the situation.</a:t>
            </a:r>
            <a:endParaRPr lang="en-US" altLang="ko-KR" sz="1100" b="0" spc="-3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Frankly, I have never had that kind of experience.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was lucky.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really don’t have much to say about this topic.</a:t>
            </a:r>
          </a:p>
        </p:txBody>
      </p:sp>
    </p:spTree>
    <p:extLst>
      <p:ext uri="{BB962C8B-B14F-4D97-AF65-F5344CB8AC3E}">
        <p14:creationId xmlns:p14="http://schemas.microsoft.com/office/powerpoint/2010/main" val="32379581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8695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새로 오픈한 상점에 대해 친구에게 전화로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새로 문을 연 가게가 있습니다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새로운 가게에 대해 알고 있는 친구에게 전화해서 가게에 대한 몇 가지 질문을 해서 정보를 얻으세요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리즈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새로운 가게에 관하여 물어보기 위해 전화하고 있습니다</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몇몇의 새 옷을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옷들이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너는 나에게 너의 가게로 가는 방향을 줄 수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817729"/>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새로 오픈한 상점에 대해 친구에게 전화로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There is a newly opened store. Call your friend who knows about the new store and ask some questions about the store to get some information.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Liz.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the new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some new clothes.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clothes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the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then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940840"/>
          </a:xfrm>
          <a:prstGeom prst="rect">
            <a:avLst/>
          </a:prstGeom>
          <a:noFill/>
        </p:spPr>
        <p:txBody>
          <a:bodyPr wrap="square" rtlCol="0">
            <a:spAutoFit/>
          </a:bodyPr>
          <a:lstStyle/>
          <a:p>
            <a:pPr latinLnBrk="1">
              <a:lnSpc>
                <a:spcPct val="100000"/>
              </a:lnSpc>
            </a:pPr>
            <a:r>
              <a:rPr lang="en-US" altLang="ko-KR" sz="1000" b="1" spc="-60" dirty="0">
                <a:solidFill>
                  <a:schemeClr val="tx2"/>
                </a:solidFill>
                <a:latin typeface="맑은 고딕" pitchFamily="50" charset="-127"/>
                <a:ea typeface="맑은 고딕" pitchFamily="50" charset="-127"/>
              </a:rPr>
              <a:t>12 [Adv]</a:t>
            </a:r>
            <a:r>
              <a:rPr lang="en-US" altLang="ko-KR" sz="1000" b="1" spc="-60" baseline="0" dirty="0">
                <a:solidFill>
                  <a:schemeClr val="tx2"/>
                </a:solidFill>
                <a:latin typeface="맑은 고딕" pitchFamily="50" charset="-127"/>
                <a:ea typeface="맑은 고딕" pitchFamily="50" charset="-127"/>
              </a:rPr>
              <a:t> </a:t>
            </a:r>
            <a:r>
              <a:rPr lang="ko-KR" altLang="en-US" sz="1000" b="1" spc="-60" baseline="0" dirty="0">
                <a:solidFill>
                  <a:srgbClr val="FF0000"/>
                </a:solidFill>
                <a:latin typeface="맑은 고딕" pitchFamily="50" charset="-127"/>
                <a:ea typeface="맑은 고딕" pitchFamily="50" charset="-127"/>
              </a:rPr>
              <a:t>구매한 물건 중 하나 상점에 두고 옴</a:t>
            </a:r>
            <a:r>
              <a:rPr lang="en-US" altLang="ko-KR" sz="1000" b="1" spc="-60" baseline="0" dirty="0">
                <a:solidFill>
                  <a:srgbClr val="FF0000"/>
                </a:solidFill>
                <a:latin typeface="맑은 고딕" pitchFamily="50" charset="-127"/>
                <a:ea typeface="맑은 고딕" pitchFamily="50" charset="-127"/>
              </a:rPr>
              <a:t>. </a:t>
            </a:r>
            <a:r>
              <a:rPr lang="ko-KR" altLang="en-US" sz="1000" b="1" spc="-60" baseline="0" dirty="0">
                <a:solidFill>
                  <a:srgbClr val="FF0000"/>
                </a:solidFill>
                <a:latin typeface="맑은 고딕" pitchFamily="50" charset="-127"/>
                <a:ea typeface="맑은 고딕" pitchFamily="50" charset="-127"/>
              </a:rPr>
              <a:t>전화 도움 요청</a:t>
            </a:r>
            <a:endParaRPr lang="en-US" altLang="ko-KR" sz="1000" b="1" spc="-6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가게에서 물건을 몇 개 받았는데</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실수로 한 개를 놓고 가셨네요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가게에 전화해서 상황을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잃어버린 물건을 언제 찾으러 가게에 갈 수 있는지 그들에게 물어보세요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나는 너의 가게에서 몇몇의 옷들을 샀는 사람입니다</a:t>
            </a:r>
            <a:r>
              <a:rPr lang="en-US" altLang="ko-KR"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너의 가게에 나의 새로운 셔츠를 놓고 왔다고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검은색 티 셔츠입니다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너는 제발 체크해줄 수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나의 셔츠를 가졌는지</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만약 그렇다면</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당장 그것을 가지러 거기에 갈 것입니다</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가게에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17674"/>
          </a:xfrm>
          <a:prstGeom prst="rect">
            <a:avLst/>
          </a:prstGeom>
          <a:noFill/>
        </p:spPr>
        <p:txBody>
          <a:bodyPr wrap="square" rtlCol="0">
            <a:spAutoFit/>
          </a:bodyPr>
          <a:lstStyle/>
          <a:p>
            <a:pPr latinLnBrk="1">
              <a:lnSpc>
                <a:spcPct val="100000"/>
              </a:lnSpc>
            </a:pPr>
            <a:r>
              <a:rPr lang="en-US" altLang="ko-KR" sz="1000" b="1" spc="-60" dirty="0">
                <a:solidFill>
                  <a:schemeClr val="tx2"/>
                </a:solidFill>
                <a:latin typeface="맑은 고딕" pitchFamily="50" charset="-127"/>
                <a:ea typeface="맑은 고딕" pitchFamily="50" charset="-127"/>
              </a:rPr>
              <a:t>12 [Adv]</a:t>
            </a:r>
            <a:r>
              <a:rPr lang="en-US" altLang="ko-KR" sz="1000" b="1" spc="-60" baseline="0" dirty="0">
                <a:solidFill>
                  <a:schemeClr val="tx2"/>
                </a:solidFill>
                <a:latin typeface="맑은 고딕" pitchFamily="50" charset="-127"/>
                <a:ea typeface="맑은 고딕" pitchFamily="50" charset="-127"/>
              </a:rPr>
              <a:t> </a:t>
            </a:r>
            <a:r>
              <a:rPr lang="ko-KR" altLang="en-US" sz="1000" b="1" spc="-60" baseline="0" dirty="0">
                <a:solidFill>
                  <a:srgbClr val="FF0000"/>
                </a:solidFill>
                <a:latin typeface="맑은 고딕" pitchFamily="50" charset="-127"/>
                <a:ea typeface="맑은 고딕" pitchFamily="50" charset="-127"/>
              </a:rPr>
              <a:t>구매한 물건 중 하나 상점에 두고 옴</a:t>
            </a:r>
            <a:r>
              <a:rPr lang="en-US" altLang="ko-KR" sz="1000" b="1" spc="-60" baseline="0" dirty="0">
                <a:solidFill>
                  <a:srgbClr val="FF0000"/>
                </a:solidFill>
                <a:latin typeface="맑은 고딕" pitchFamily="50" charset="-127"/>
                <a:ea typeface="맑은 고딕" pitchFamily="50" charset="-127"/>
              </a:rPr>
              <a:t>. </a:t>
            </a:r>
            <a:r>
              <a:rPr lang="ko-KR" altLang="en-US" sz="1000" b="1" spc="-60" baseline="0" dirty="0">
                <a:solidFill>
                  <a:srgbClr val="FF0000"/>
                </a:solidFill>
                <a:latin typeface="맑은 고딕" pitchFamily="50" charset="-127"/>
                <a:ea typeface="맑은 고딕" pitchFamily="50" charset="-127"/>
              </a:rPr>
              <a:t>전화 도움 요청</a:t>
            </a:r>
            <a:endParaRPr lang="en-US" altLang="ko-KR" sz="1000" b="1" spc="-6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got some items from the store, but you accidently left one item behind.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store and explain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Ask them when you can visit the store to get your missing item.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got some clothes at your store.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left my new shirt at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It’s a black T-shirt.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Could you please check if you have my shirt?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I’ll go there to get it right away.</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83860746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기억에 남는 본인 쇼핑 경험 묘사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기억에 남는 쇼핑 사건은 무엇입니까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당신은 누군가에게 선물로 무언가를 받았을지도 모릅니다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뭐 받았어요</a:t>
            </a:r>
            <a:r>
              <a:rPr lang="en-US" altLang="ko-KR" sz="1000" b="0" i="0" kern="1200" dirty="0">
                <a:solidFill>
                  <a:srgbClr val="0070C0"/>
                </a:solidFill>
                <a:effectLst/>
                <a:latin typeface="+mn-lt"/>
                <a:ea typeface="+mn-ea"/>
                <a:cs typeface="+mn-cs"/>
              </a:rPr>
              <a:t>? </a:t>
            </a:r>
            <a:r>
              <a:rPr lang="ko-KR" altLang="en-US" sz="1000" b="0" i="0" kern="1200" dirty="0" err="1">
                <a:solidFill>
                  <a:srgbClr val="0070C0"/>
                </a:solidFill>
                <a:effectLst/>
                <a:latin typeface="+mn-lt"/>
                <a:ea typeface="+mn-ea"/>
                <a:cs typeface="+mn-cs"/>
              </a:rPr>
              <a:t>누구랑</a:t>
            </a:r>
            <a:r>
              <a:rPr lang="ko-KR" altLang="en-US" sz="1000" b="0" i="0" kern="1200" dirty="0">
                <a:solidFill>
                  <a:srgbClr val="0070C0"/>
                </a:solidFill>
                <a:effectLst/>
                <a:latin typeface="+mn-lt"/>
                <a:ea typeface="+mn-ea"/>
                <a:cs typeface="+mn-cs"/>
              </a:rPr>
              <a:t> 같이 </a:t>
            </a:r>
            <a:r>
              <a:rPr lang="ko-KR" altLang="en-US" sz="1000" b="0" i="0" kern="1200" dirty="0" err="1">
                <a:solidFill>
                  <a:srgbClr val="0070C0"/>
                </a:solidFill>
                <a:effectLst/>
                <a:latin typeface="+mn-lt"/>
                <a:ea typeface="+mn-ea"/>
                <a:cs typeface="+mn-cs"/>
              </a:rPr>
              <a:t>갔었어요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나에게 그 쇼핑 경험에 대해 자세히 말해 줘</a:t>
            </a:r>
            <a:r>
              <a:rPr lang="en-US" altLang="ko-KR" sz="1000" b="0" i="0" kern="1200" dirty="0">
                <a:solidFill>
                  <a:srgbClr val="0070C0"/>
                </a:solidFill>
                <a:effectLst/>
                <a:latin typeface="+mn-lt"/>
                <a:ea typeface="+mn-ea"/>
                <a:cs typeface="+mn-cs"/>
              </a:rPr>
              <a:t>.</a:t>
            </a:r>
            <a:endParaRPr lang="en-US" altLang="ko-KR" sz="1000" b="0" spc="-3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품절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운동화를 쇼핑한 것이 기억에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신발 한 켤레가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정말 좋아하는</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가게는 나의 사이즈를 가지는 재고가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다 팔렸습니다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신발을 살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원했던</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온라인으로 그들을 나중에 사야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온라인으로 셔츠를 산 것이 기억에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집에서 그것을 입는 것을 시도하였습니다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그것은 나에게 맞지 않았습니다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너무 타이트하고 너무 짧았습니다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환불을 받기 위해 그것을 돌려 보냈습니다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20217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기억에 남는 본인 쇼핑 경험 묘사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mn-lt"/>
                <a:ea typeface="+mn-ea"/>
                <a:cs typeface="+mn-cs"/>
              </a:rPr>
              <a:t>That’s the end of the situation.</a:t>
            </a:r>
          </a:p>
          <a:p>
            <a:r>
              <a:rPr lang="en-US" altLang="ko-KR" sz="1000" b="0" i="0" u="none" strike="noStrike" kern="1200" baseline="0" dirty="0">
                <a:solidFill>
                  <a:srgbClr val="FF0000"/>
                </a:solidFill>
                <a:latin typeface="+mn-lt"/>
                <a:ea typeface="+mn-ea"/>
                <a:cs typeface="+mn-cs"/>
              </a:rPr>
              <a:t>What was a memorable shopping incident you had?</a:t>
            </a:r>
          </a:p>
          <a:p>
            <a:r>
              <a:rPr lang="en-US" altLang="ko-KR" sz="1000" b="0" i="0" u="none" strike="noStrike" kern="1200" baseline="0" dirty="0">
                <a:solidFill>
                  <a:srgbClr val="FF0000"/>
                </a:solidFill>
                <a:latin typeface="+mn-lt"/>
                <a:ea typeface="+mn-ea"/>
                <a:cs typeface="+mn-cs"/>
              </a:rPr>
              <a:t>You might have gotten something as a gift for someone.</a:t>
            </a:r>
          </a:p>
          <a:p>
            <a:r>
              <a:rPr lang="en-US" altLang="ko-KR" sz="1000" b="0" i="0" u="none" strike="noStrike" kern="1200" baseline="0" dirty="0">
                <a:solidFill>
                  <a:srgbClr val="FF0000"/>
                </a:solidFill>
                <a:latin typeface="+mn-lt"/>
                <a:ea typeface="+mn-ea"/>
                <a:cs typeface="+mn-cs"/>
              </a:rPr>
              <a:t>What did you get? Who did you go with?</a:t>
            </a:r>
          </a:p>
          <a:p>
            <a:r>
              <a:rPr lang="en-US" altLang="ko-KR" sz="1000" b="0" i="0" u="none" strike="noStrike" kern="1200" baseline="0" dirty="0">
                <a:solidFill>
                  <a:srgbClr val="FF0000"/>
                </a:solidFill>
                <a:latin typeface="+mn-lt"/>
                <a:ea typeface="+mn-ea"/>
                <a:cs typeface="+mn-cs"/>
              </a:rPr>
              <a:t>Tell me about that shopping experience in detail.</a:t>
            </a:r>
            <a:endParaRPr lang="en-US" altLang="ko-KR" sz="1000" b="0" spc="-3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품절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교환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환불 경험</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shopping for some running shoes recently.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were a pair of shoes I really liked.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the store did NOT have my size in stock.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were sold-out.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could NOT get the shoes I wanted.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get them online later on.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remember getting a shirt online.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tried to</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wear</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at home, but it did NOT fit 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too tight and too short.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sent it back to get a refund.</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98700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새로 오픈한 상점에 대해 친구에게 전화로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새로 문을 연 가게가 있습니다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새로운 가게에 대해 알고 있는 친구에게 전화해서 가게에 대한 몇 가지 질문을 해서 정보를 얻으세요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리즈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새로운 가게에 관하여 물어보기 위해 전화하고 있습니다</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몇몇의 새 옷을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옷들이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너는 나에게 너의 가게로 가는 방향을 줄 수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새로 오픈한 상점에 대해 친구에게 전화로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There is a newly opened store. Call your friend who knows about the new store and ask some questions about the store to get some information.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Liz.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the new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some new clothes.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clothes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the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420625805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지갑을 상점에 두고 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전화로 도움 요청</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가게에 지갑을 두고 왔어요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가게에 전화해서 당신의 상황을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문제를 해결하기 위해 몇 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나는 너의 가게에서 몇몇의 옷들을 샀는 사람입니다</a:t>
            </a:r>
            <a:r>
              <a:rPr lang="en-US" altLang="ko-KR" sz="1000" b="0" i="0" u="none" strike="noStrike" kern="1200" spc="-10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너의 가게에 나의 지갑을 놓고 왔다고</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검은색 가죽 지갑입니다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너는 제발 체크해줄 수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나의 지갑을 가졌는지</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만약 그렇다면</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당장 그것을 가지러 거기에 갈 것입니다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가게에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5868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지갑을 상점에 두고 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전화로 도움 요청</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left your wallet at the store.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store and explain your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several alternatives to solve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got some clothes at your store.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left my wallet at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It’s a black leather wallet.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Could you please check if you have my wallet?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I’ll go there to get it right away.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무엇인가를 어디에 두고 온 경험 묘사                                                         </a:t>
            </a:r>
            <a:r>
              <a:rPr lang="en-US" altLang="ko-KR" sz="1100" b="1" dirty="0">
                <a:solidFill>
                  <a:schemeClr val="tx2"/>
                </a:solidFill>
                <a:latin typeface="+mn-lt"/>
                <a:ea typeface="+mn-ea"/>
              </a:rPr>
              <a:t>♣</a:t>
            </a:r>
            <a:r>
              <a:rPr lang="ko-KR" altLang="en-US" sz="1100" b="1" baseline="0" dirty="0">
                <a:solidFill>
                  <a:srgbClr val="FF0000"/>
                </a:solidFill>
                <a:latin typeface="맑은 고딕" pitchFamily="50" charset="-127"/>
                <a:ea typeface="맑은 고딕" pitchFamily="50" charset="-127"/>
              </a:rPr>
              <a:t>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레스토랑이나 가게에 무언가를 두고 간 적이 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그것은 당신의 지갑</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휴대폰</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또는 중요한 어떤 것이 될 수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모든 세부 사항을 말해 주세요</a:t>
            </a:r>
            <a:r>
              <a:rPr lang="en-US" altLang="ko-KR" sz="1100" b="0" i="0" kern="1200" dirty="0">
                <a:solidFill>
                  <a:srgbClr val="0070C0"/>
                </a:solidFill>
                <a:effectLst/>
                <a:latin typeface="+mn-lt"/>
                <a:ea typeface="+mn-ea"/>
                <a:cs typeface="+mn-cs"/>
              </a:rPr>
              <a:t>.</a:t>
            </a:r>
            <a:endParaRPr lang="en-US" altLang="ko-KR" sz="1100" b="0" spc="-3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가게에 나의 우산을 놓고 왔을 때가 기억에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그것을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팩하는</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것을 완벽하게 잊었습니다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가게에 나올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밖에 비가 억수같이 쏟아졌고</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약간 젖었습니다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이후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주의하려고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52981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무엇인가를 어디에 두고 온 경험 묘사                                                         </a:t>
            </a:r>
            <a:r>
              <a:rPr lang="en-US" altLang="ko-KR" sz="1100" b="1" dirty="0">
                <a:solidFill>
                  <a:schemeClr val="tx2"/>
                </a:solidFill>
                <a:latin typeface="+mn-lt"/>
                <a:ea typeface="+mn-ea"/>
              </a:rPr>
              <a:t>♣</a:t>
            </a:r>
            <a:r>
              <a:rPr lang="ko-KR" altLang="en-US" sz="1100" b="1" baseline="0" dirty="0">
                <a:solidFill>
                  <a:srgbClr val="FF0000"/>
                </a:solidFill>
                <a:latin typeface="맑은 고딕" pitchFamily="50" charset="-127"/>
                <a:ea typeface="맑은 고딕" pitchFamily="50" charset="-127"/>
              </a:rPr>
              <a:t>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left something at a restaurant or at a store?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It could be your wallet, your cell phone, or anything that was important.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me all the details.</a:t>
            </a:r>
            <a:endParaRPr lang="en-US" altLang="ko-KR" sz="1100" b="0" spc="-3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left my umbrella at a store.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completely forgot to pack it when I left the store.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pouring outside and I got a little wet.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395510843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515628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친구가 말한 식료품점에 대해 전화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당신의 친구는 그나 그녀가 가는 음식점에 대해 당신에게 말했습니다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친구에게 전화해서 음식점에 대해 물어보고 정보를 얻으세요</a:t>
            </a:r>
            <a:r>
              <a:rPr lang="en-US" altLang="ko-KR" sz="1000" b="0" i="0" kern="1200" spc="-50" dirty="0">
                <a:solidFill>
                  <a:srgbClr val="0070C0"/>
                </a:solidFill>
                <a:effectLst/>
                <a:latin typeface="+mn-lt"/>
                <a:ea typeface="+mn-ea"/>
                <a:cs typeface="+mn-cs"/>
              </a:rPr>
              <a:t>.</a:t>
            </a:r>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리즈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너가 말한 음식점에 관하여 물어보기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거기에서 식료품을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식료품이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어떤것을</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볼수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나에게 가게로 가는 방향을 줄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78695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친구가 말한 식료품점에 대해 전화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Your friend told you about a food store that he or she goes to.</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ask about the food store to get some information.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0" spc="-1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Liz. This is Peter.</a:t>
            </a:r>
          </a:p>
          <a:p>
            <a:pPr>
              <a:lnSpc>
                <a:spcPct val="150000"/>
              </a:lnSpc>
            </a:pPr>
            <a:r>
              <a:rPr lang="en-US" altLang="ko-KR" sz="1000" b="0" i="0" u="none" strike="noStrike" kern="1200" spc="-20" dirty="0">
                <a:solidFill>
                  <a:schemeClr val="tx1"/>
                </a:solidFill>
                <a:latin typeface="맑은 고딕" panose="020B0503020000020004" pitchFamily="50" charset="-127"/>
                <a:ea typeface="맑은 고딕" panose="020B0503020000020004" pitchFamily="50" charset="-127"/>
                <a:cs typeface="+mn-cs"/>
              </a:rPr>
              <a:t>I’m calling to ask about the food store you talked about.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groceries there.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groceries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the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602286"/>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식료품점에 구매한 물품 두고 옴</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전화 도움 요청</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실수로 식료품점에 식료품을 두고 왔습니다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식품점에 전화해서 상황을 설명하세요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두세 가지 해결책을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7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spc="-7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baseline="0" dirty="0">
                <a:solidFill>
                  <a:schemeClr val="tx1"/>
                </a:solidFill>
                <a:latin typeface="맑은 고딕" panose="020B0503020000020004" pitchFamily="50" charset="-127"/>
                <a:ea typeface="맑은 고딕" panose="020B0503020000020004" pitchFamily="50" charset="-127"/>
                <a:cs typeface="+mn-cs"/>
              </a:rPr>
              <a:t>나는 너의 가게에 식료품을 샀는 사람입니다</a:t>
            </a:r>
            <a:r>
              <a:rPr lang="en-US" altLang="ko-KR" sz="1000" b="0" i="0" u="none" strike="noStrike" kern="1200" spc="-7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너의 가게에 식료품을 놓고 왔다고</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빵</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고기</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와인을 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너는 제발 체크해줄 수 있나요</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너가 나의 식료품을 가졌는지</a:t>
            </a:r>
            <a:endPar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만약 그렇다면</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당장 그것을 가지러 거기에 갈 것입니다</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가게에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02286"/>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식료품점에 구매한 물품 두고 옴</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전화 도움 요청</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You have accidently left your groceries at the food store.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food store and explain the situation. Give two to three solutions.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got groceries at your store.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left my groceries at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some bread, meat, and some wine.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Could you please check if you have my groceries?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I’ll go there to get it right away.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28386530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05468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가는 식료품점에 대한 설명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가는 식품점에 대해 이야기하세요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어떻게 그곳에 처음 갔습니까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그곳의 특별한 점은 무엇입니까</a:t>
            </a:r>
            <a:r>
              <a:rPr lang="en-US" altLang="ko-KR" sz="1100" b="0" i="0" kern="1200" dirty="0">
                <a:solidFill>
                  <a:srgbClr val="0070C0"/>
                </a:solidFill>
                <a:effectLst/>
                <a:latin typeface="+mn-lt"/>
                <a:ea typeface="+mn-ea"/>
                <a:cs typeface="+mn-cs"/>
              </a:rPr>
              <a:t>?</a:t>
            </a:r>
            <a:endParaRPr lang="en-US" altLang="ko-KR" sz="1100" b="0" spc="-3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지역 슈퍼마켓에서 식료품들을 삽니다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거기에 갑니다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그것은 나의 집에서 가깝기 때문에</a:t>
            </a:r>
            <a:endPar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좋은 가격과 질의 상품들은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거기에서 큰 거래를 할 수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거기의 단골입니다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평균적으로 한달에 한번 거기에 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327589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가는 식료품점에 대한 설명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the food store you go to.</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did you first go there?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special about that place?</a:t>
            </a:r>
            <a:endParaRPr lang="en-US" altLang="ko-KR" sz="1100" b="0" spc="-3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get groceries at a local supermarket .</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 there because it is close to my house.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have good prices and quality goods.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can get great deals there.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a regular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go there once a month on average.</a:t>
            </a:r>
          </a:p>
        </p:txBody>
      </p:sp>
    </p:spTree>
    <p:extLst>
      <p:ext uri="{BB962C8B-B14F-4D97-AF65-F5344CB8AC3E}">
        <p14:creationId xmlns:p14="http://schemas.microsoft.com/office/powerpoint/2010/main" val="353426779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216697"/>
            <a:ext cx="6858000" cy="5216813"/>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24 ROLE PLAY</a:t>
            </a: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solidFill>
                  <a:schemeClr val="tx2"/>
                </a:solidFill>
                <a:latin typeface="맑은 고딕" pitchFamily="50" charset="-127"/>
                <a:ea typeface="맑은 고딕" pitchFamily="50" charset="-127"/>
              </a:rPr>
              <a:t>여행 </a:t>
            </a:r>
            <a:r>
              <a:rPr lang="ko-KR" altLang="en-US" sz="2800" b="1">
                <a:solidFill>
                  <a:schemeClr val="tx2"/>
                </a:solidFill>
              </a:rPr>
              <a:t>★★★</a:t>
            </a:r>
            <a:endParaRPr lang="en-US" altLang="ko-KR" sz="2800" b="1">
              <a:solidFill>
                <a:schemeClr val="tx2"/>
              </a:solidFill>
            </a:endParaRP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latin typeface="맑은 고딕" pitchFamily="50" charset="-127"/>
                <a:ea typeface="맑은 고딕" pitchFamily="50" charset="-127"/>
              </a:rPr>
              <a:t>여행사 문의</a:t>
            </a:r>
            <a:endParaRPr lang="en-US" altLang="ko-KR" sz="2800" b="1">
              <a:latin typeface="맑은 고딕" pitchFamily="50" charset="-127"/>
              <a:ea typeface="맑은 고딕" pitchFamily="50" charset="-127"/>
            </a:endParaRPr>
          </a:p>
          <a:p>
            <a:pPr algn="ctr">
              <a:lnSpc>
                <a:spcPct val="150000"/>
              </a:lnSpc>
            </a:pPr>
            <a:r>
              <a:rPr lang="ko-KR" altLang="en-US" sz="2800" b="1">
                <a:latin typeface="맑은 고딕" pitchFamily="50" charset="-127"/>
                <a:ea typeface="맑은 고딕" pitchFamily="50" charset="-127"/>
              </a:rPr>
              <a:t>기차역 표 구매</a:t>
            </a:r>
            <a:endParaRPr lang="en-US" altLang="ko-KR" sz="2800" b="1">
              <a:latin typeface="맑은 고딕" pitchFamily="50" charset="-127"/>
              <a:ea typeface="맑은 고딕" pitchFamily="50" charset="-127"/>
            </a:endParaRPr>
          </a:p>
          <a:p>
            <a:pPr algn="ctr">
              <a:lnSpc>
                <a:spcPct val="150000"/>
              </a:lnSpc>
            </a:pPr>
            <a:r>
              <a:rPr lang="ko-KR" altLang="en-US" sz="2800" b="1">
                <a:latin typeface="맑은 고딕" pitchFamily="50" charset="-127"/>
                <a:ea typeface="맑은 고딕" pitchFamily="50" charset="-127"/>
              </a:rPr>
              <a:t>해외 친구 방문</a:t>
            </a:r>
          </a:p>
        </p:txBody>
      </p:sp>
      <p:sp>
        <p:nvSpPr>
          <p:cNvPr id="3" name="슬라이드 번호 개체 틀 2">
            <a:extLst>
              <a:ext uri="{FF2B5EF4-FFF2-40B4-BE49-F238E27FC236}">
                <a16:creationId xmlns:a16="http://schemas.microsoft.com/office/drawing/2014/main" xmlns="" id="{B41A879F-C41F-9303-D73F-A301E445578B}"/>
              </a:ext>
            </a:extLst>
          </p:cNvPr>
          <p:cNvSpPr>
            <a:spLocks noGrp="1"/>
          </p:cNvSpPr>
          <p:nvPr>
            <p:ph type="sldNum" sz="quarter" idx="12"/>
          </p:nvPr>
        </p:nvSpPr>
        <p:spPr/>
        <p:txBody>
          <a:bodyPr/>
          <a:lstStyle/>
          <a:p>
            <a:fld id="{18CC7079-95A2-4860-A138-51A9FC969471}" type="slidenum">
              <a:rPr lang="ko-KR" altLang="en-US" smtClean="0"/>
              <a:t>118</a:t>
            </a:fld>
            <a:endParaRPr lang="ko-KR" altLang="en-US"/>
          </a:p>
        </p:txBody>
      </p:sp>
    </p:spTree>
    <p:extLst>
      <p:ext uri="{BB962C8B-B14F-4D97-AF65-F5344CB8AC3E}">
        <p14:creationId xmlns:p14="http://schemas.microsoft.com/office/powerpoint/2010/main" val="7062072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119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여행사에 전화해서 여행 상품 문의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여행을 갈 계획입니다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여행사에 전화해서 가고 싶은 여행에 대해 서너 가지 물어보세요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패키지 여행에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휴가 가기를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패키지 여행들이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얼마입니까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어떤것을</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볼수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너는 나에게 너의 사무실로 가는 방향을 줄 수 있나요</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여행사에 전화해서 여행 상품 문의</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are planning on going on a trip. Call a travel agency and ask three or four questions about the trip you want to go on.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package trips.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go on a vacation.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package trips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your office?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친구에게 여행 상품 문제 설명</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대안제시</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여행사로부터 전화를 받았고 당신이 가고자 했던 여행에 문제가 있어서 지금은 이용할 수 없다는 연락을 받았습니다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설명하고 </a:t>
            </a:r>
            <a:r>
              <a:rPr lang="en-US" altLang="ko-KR" sz="1000" b="0" i="0" kern="1200" dirty="0">
                <a:solidFill>
                  <a:srgbClr val="0070C0"/>
                </a:solidFill>
                <a:effectLst/>
                <a:latin typeface="+mn-lt"/>
                <a:ea typeface="+mn-ea"/>
                <a:cs typeface="+mn-cs"/>
              </a:rPr>
              <a:t>2~3</a:t>
            </a:r>
            <a:r>
              <a:rPr lang="ko-KR" altLang="en-US" sz="1000" b="0" i="0" kern="1200" dirty="0">
                <a:solidFill>
                  <a:srgbClr val="0070C0"/>
                </a:solidFill>
                <a:effectLst/>
                <a:latin typeface="+mn-lt"/>
                <a:ea typeface="+mn-ea"/>
                <a:cs typeface="+mn-cs"/>
              </a:rPr>
              <a:t>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 짐</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피터입니다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여행사와 단지 얘기했습니다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그들은 나에게 말했습니다</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패키지 여행이 모두 예약 되었다고</a:t>
            </a:r>
            <a:endPar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하기를 원합니까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다음 번에 가는게 </a:t>
            </a:r>
            <a:r>
              <a:rPr lang="ko-KR" altLang="en-US" sz="1000" b="0" i="0" u="none" strike="noStrike" kern="1200" baseline="0" dirty="0" err="1">
                <a:solidFill>
                  <a:schemeClr val="tx1"/>
                </a:solidFill>
                <a:latin typeface="맑은 고딕" panose="020B0503020000020004" pitchFamily="50" charset="-127"/>
                <a:ea typeface="+mn-ea"/>
                <a:cs typeface="+mn-cs"/>
              </a:rPr>
              <a:t>어떤가요</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다음주에 가는게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우리는 다른 시간에 갈 수 있어요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다시 전화주세요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43300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친구에게 여행 상품 문제 설명</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대안제시</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got a phone call from a travel agent and you have been informed that there is a problem with the trip that you wanted to go on and it is not available now.</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explain the situation and then give two to three alternatives.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just talked to the travel agency.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told me that the package trip is fully booked.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go next time?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go next week?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go another time.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202736134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 계획 변경 필요</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여행사 전화해서 대안제시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환불되지 않는 비행기 표를 예약했습니다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가는 것을 방해하는 일이 생겼습니다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여행사에 전화해서 무슨 일이 일어났는지 설명하고 문제를 해결하기 위한 두세 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패키지 여행을 예약한 사람입니다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여행에 못 갈 것 같습니다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무슨일이</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생겼습니다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여행 일정을 다시 잡기를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사무실에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98700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 계획 변경 필요</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여행사 전화해서 대안제시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booked a non-refundable plane ticket. However, something has happened that prevents you from going. Call the travel agent, explain what has happened, and offer two or three alternatives to resolve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booked a package trip.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I DON'T think I can make it to my trip.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Something came up suddenly.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reschedule my trip.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office?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89467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공항 도착했는데 항공편 취소 됨</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여행사에 전화 문제해결</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공항에 도착했을 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당신은 당신의 비행기가 취소되었고 다른 비행기들은 완전히 예약되었다는 말을 들었습니다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여행사에 전화해서 상황을 설명하고 두세 가지 제안을 해서 해결하세요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나는 너의 여행사에서 비행기표를 샀는 사람입니다</a:t>
            </a:r>
            <a:r>
              <a:rPr lang="en-US" altLang="ko-KR"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공항에 도착했습니다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나의 비행기는 취소 되었습니다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다른 비행기들은 또한 완전히 예약 되었습니다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여행 일정을 다시 잡기를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사무실에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방문할수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86389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공항 도착했는데 항공편 취소 됨</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여행사에 전화 문제해결</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you arrived at the airport, you were told that your flight is canceled and other flights are completely booked. Call your travel agency, explain the situation, and make two or three suggestions to resolve the situation.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Hello, I’m a person who got a plane ticket at your travel agency.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I have arrived at the airport, but my flight has been canceled.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Other flights are fully booked as well.</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reschedule my trip.</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office?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111255689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여행을 계획하는 단계에서 겪어본 어려움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당신은 여행을 계획하는 동안 문제가 있었을지도 모릅니다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무엇이 문제였고 당신은 그 상황을 어떻게 처리했습니까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나의 친구들과 함께 여행을 가기로 했던 때를 기억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아팠습니다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상한 어떤 것을 먹었기 때문에</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mn-lt"/>
                <a:ea typeface="+mn-ea"/>
                <a:cs typeface="+mn-cs"/>
              </a:rPr>
              <a:t>나는 식중독에 걸렸습니다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속이 뒤집혔습니다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화장실에 다시 또 다시 갔습니다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설사를 했기 때문에</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여행을 놓친 것에 관하여 나쁜 감정을 느꼈습니다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아무것도 할 수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친구들에게 말했습니다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갈수 없고 나는 미안하다고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나는 그 시간에 여행을 놓친 것을 후회합니다</a:t>
            </a: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여행을 계획하는 단계에서 겪어본 어려움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You may have had problems while you were planning a trip.</a:t>
            </a:r>
          </a:p>
          <a:p>
            <a:r>
              <a:rPr lang="en-US" altLang="ko-KR" sz="1000" b="0" i="0" u="none" strike="noStrike" kern="1200" spc="-60" dirty="0">
                <a:solidFill>
                  <a:srgbClr val="FF0000"/>
                </a:solidFill>
                <a:latin typeface="맑은 고딕" panose="020B0503020000020004" pitchFamily="50" charset="-127"/>
                <a:ea typeface="맑은 고딕" panose="020B0503020000020004" pitchFamily="50" charset="-127"/>
                <a:cs typeface="+mn-cs"/>
              </a:rPr>
              <a:t>What was the problem and how did you deal with the situation?</a:t>
            </a:r>
            <a:endParaRPr lang="en-US" altLang="ko-KR" sz="1000" b="0" spc="-6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was supposed to go on a trip with my friends.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However, I got sick because I ate something that went bad.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the bathroom again and again because I had the runs.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bad about missing the trip, but there was nothing I could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told my friends that I could NOT go and said I was sorry.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 regret missing the trip that time.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54547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여행 중에 있었던 특이했던 에피소드 자세히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여행을 하다 보면 심상치 않은 일이 생길 때가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저는 여러분이 여행 중에 놀랍거나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예상치 못하거나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특이한 것을 경험한 적이 있는지 궁금합니다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나에게 그 경험의 이야기를 자세히 들려주세요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때문에 고생한 경험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술에 취한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여행동안 상한 음식을 먹은 것이 기억에 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mn-lt"/>
                <a:ea typeface="+mn-ea"/>
                <a:cs typeface="+mn-cs"/>
              </a:rPr>
              <a:t>나는 식중독에 걸렸고 그것은 매우 나빴습니다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속이 뒤집혔습니다</a:t>
            </a:r>
            <a:r>
              <a:rPr lang="en-US" altLang="ko-KR" sz="1100" b="0" i="0" u="none" strike="noStrike" kern="1200" baseline="0" dirty="0">
                <a:solidFill>
                  <a:schemeClr val="tx1"/>
                </a:solidFill>
                <a:latin typeface="+mn-lt"/>
                <a:ea typeface="+mn-ea"/>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mn-lt"/>
                <a:ea typeface="+mn-ea"/>
                <a:cs typeface="+mn-cs"/>
              </a:rPr>
              <a:t>나는 화장실에 다시 또 다시 갔습니다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설사를 했기 때문에</a:t>
            </a: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나는 나아지기 위해 조금의 약을 먹었습니다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안에 머물고 많은 휴식을 취해야 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 이후로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더 조심하려고 노력했습니다</a:t>
            </a:r>
            <a:r>
              <a:rPr lang="en-US" altLang="ko-KR" sz="1100" b="0" i="0" u="none" strike="noStrike" kern="1200" baseline="0" dirty="0">
                <a:solidFill>
                  <a:schemeClr val="tx1"/>
                </a:solidFill>
                <a:latin typeface="+mn-lt"/>
                <a:ea typeface="+mn-ea"/>
                <a:cs typeface="+mn-cs"/>
              </a:rPr>
              <a:t>. </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3783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여행 중에 있었던 특이했던 에피소드 자세히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There are times when something out of the ordinary happens while traveling.</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 wonder if you have ever experienced anything surprising,</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unexpected or unusual during a trip.</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the story of that experience in detail.</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때문에 고생한 경험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술에 취한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eating something that went bad during a trip.</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 and it was pretty bad.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the bathroom again and again because I had the runs.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took some medicine to get better.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stay inside and get a lot of rest.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275919109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27589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항공편이 취소 되어 본인이 겪어 본 불편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결항된 항공편으로 인한 문제를 해결해야 했던 적이 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경험을 자세히 묘사하세요</a:t>
            </a:r>
            <a:r>
              <a:rPr lang="en-US" altLang="ko-KR" sz="1100" b="0" i="0" kern="1200" dirty="0">
                <a:solidFill>
                  <a:srgbClr val="0070C0"/>
                </a:solidFill>
                <a:effectLst/>
                <a:latin typeface="+mn-lt"/>
                <a:ea typeface="+mn-ea"/>
                <a:cs typeface="+mn-cs"/>
              </a:rPr>
              <a:t>.</a:t>
            </a:r>
          </a:p>
          <a:p>
            <a:r>
              <a:rPr lang="ko-KR" altLang="en-US" sz="1100" b="0" i="0" kern="1200" spc="-50" dirty="0">
                <a:solidFill>
                  <a:srgbClr val="0070C0"/>
                </a:solidFill>
                <a:effectLst/>
                <a:latin typeface="+mn-lt"/>
                <a:ea typeface="+mn-ea"/>
                <a:cs typeface="+mn-cs"/>
              </a:rPr>
              <a:t>언제 어디서 무슨 일이 일어났는지 정확히 말해주세요</a:t>
            </a:r>
            <a:r>
              <a:rPr lang="en-US" altLang="ko-KR" sz="1100" b="0" i="0" kern="1200" spc="-50" dirty="0">
                <a:solidFill>
                  <a:srgbClr val="0070C0"/>
                </a:solidFill>
                <a:effectLst/>
                <a:latin typeface="+mn-lt"/>
                <a:ea typeface="+mn-ea"/>
                <a:cs typeface="+mn-cs"/>
              </a:rPr>
              <a:t>. </a:t>
            </a:r>
          </a:p>
          <a:p>
            <a:r>
              <a:rPr lang="ko-KR" altLang="en-US" sz="1100" b="0" i="0" kern="1200" dirty="0">
                <a:solidFill>
                  <a:srgbClr val="0070C0"/>
                </a:solidFill>
                <a:effectLst/>
                <a:latin typeface="+mn-lt"/>
                <a:ea typeface="+mn-ea"/>
                <a:cs typeface="+mn-cs"/>
              </a:rPr>
              <a:t>그 이야기를 처음부터 끝까지 해보세요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솔직히 나는 그런 경험의 종류를 절대 가지고 있지 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행운이라고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정말 이 토픽에 관하여 말할 것이 별로 없습니다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302198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항공편이 취소 되어 본인이 겪어 본 불편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had to deal with problems caused by canceled flights?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that experience in detail. Tell me when and where this took place and what exactly </a:t>
            </a:r>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happened. Talk about that story from beginning to end.</a:t>
            </a:r>
            <a:endParaRPr lang="en-US" altLang="ko-KR" sz="1100" b="0" spc="-5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Frankly, I have never had that kind of experience.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was lucky.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really don’t have much to say about this topic.</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3699090"/>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기차역 창구에 가서 기차표 사는 방법 문의</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나는 너에게 상황을 주고 그것을 행동으로 보여 달라고 부탁하고 싶습니다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이번 주말에 친구를 만나러 가려면 기차표를 사야 한다</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기차역 매표소에 가서 서너 가지 질문을 하면 표를 예매하는 데 필요한 정보를 얻을 수 있습니다</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표를 사기를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7</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시 기차를 타기를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표가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기차역 창구에 가서 기차표 사는 방법 문의</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need to buy a train ticket to go visit your friend this weekend.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Go to the ticket counter at the train station and ask three or four questions to get the information you need to book a ticket.</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want to get a ticket.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on the 7 o’clock train.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tickets are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p:txBody>
      </p:sp>
    </p:spTree>
    <p:extLst>
      <p:ext uri="{BB962C8B-B14F-4D97-AF65-F5344CB8AC3E}">
        <p14:creationId xmlns:p14="http://schemas.microsoft.com/office/powerpoint/2010/main" val="324068201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기차를 놓쳐서 친구 만날 약속 늦게 되어 설명</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대안제시</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기차역에 도착하면 기차를 놓쳐서 친구를 만나기 위해 늦을 것이다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설명하고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 짐</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피터입니다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오늘 제시간에 너의 장소에 못 갈 것 같습니다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단지 내가 타야 할 기차를 놓쳤습니다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하기를 원합니까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혼자 저녁을 먹을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나중에 술을 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마시는게</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우리는 그냥 커피나 마시지요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다시 전화주세요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294509"/>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기차를 놓쳐서 친구 만날 약속 늦게 되어 설명</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대안제시</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you get to the train station, you miss your train and will be late to meet your friend. </a:t>
            </a:r>
          </a:p>
          <a:p>
            <a:r>
              <a:rPr lang="en-US" altLang="ko-KR" sz="1000" b="0" i="0" u="none" strike="noStrike" kern="1200" spc="-70" dirty="0">
                <a:solidFill>
                  <a:srgbClr val="FF0000"/>
                </a:solidFill>
                <a:latin typeface="맑은 고딕" panose="020B0503020000020004" pitchFamily="50" charset="-127"/>
                <a:ea typeface="맑은 고딕" panose="020B0503020000020004" pitchFamily="50" charset="-127"/>
                <a:cs typeface="+mn-cs"/>
              </a:rPr>
              <a:t>Call your friend, explain your situation and offer some alternatives.</a:t>
            </a:r>
            <a:endParaRPr lang="en-US" altLang="ko-KR" sz="1000" b="0" spc="-7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I DON'T think I can make it to your place on time today.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just missed the train I had to take.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you have dinner by yourself?</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have some drinks later 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just have coffee.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376833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여행 중 교통편을 놓쳐서 생긴 문제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버스</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기차</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비행기를 놓쳤지만 어딘가를 여행해 본 적이 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당신이 목적지에 도착하기 힘들었을 때 겪은 경험에 대해 말해주세요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어디로 가셨는지</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왜 그렇게 되었는지 말씀부터 시작하세요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그럼</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최종적으로 목적지에 도착하기 위해 무엇을 해야 했는지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솔직히 나는 그런 경험의 종류를 절대 가지고 있지 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행운이라고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정말 이 토픽에 관하여 말할 것이 별로 없습니다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51442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여행 중 교통편을 놓쳐서 생긴 문제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traveled somewhere but missed a bus, a train or a plane?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an experience you have had when you had difficulty getting to your destination.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Start by telling me where you were going and why that happened.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Then, tell me what you had to do to finally get to your destination.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Frankly, I have never had that kind of experience.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was lucky.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really don’t have much to say about this topic.</a:t>
            </a:r>
          </a:p>
        </p:txBody>
      </p:sp>
    </p:spTree>
    <p:extLst>
      <p:ext uri="{BB962C8B-B14F-4D97-AF65-F5344CB8AC3E}">
        <p14:creationId xmlns:p14="http://schemas.microsoft.com/office/powerpoint/2010/main" val="23916089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448397"/>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11 [Int]</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해외 친구 방문 계획 중</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전화로 현지 지형</a:t>
            </a:r>
            <a:r>
              <a:rPr lang="en-US" altLang="ko-KR" sz="1000" b="1" spc="-50" baseline="0" dirty="0">
                <a:solidFill>
                  <a:srgbClr val="FF0000"/>
                </a:solidFill>
                <a:latin typeface="맑은 고딕" pitchFamily="50" charset="-127"/>
                <a:ea typeface="맑은 고딕" pitchFamily="50" charset="-127"/>
              </a:rPr>
              <a:t>/</a:t>
            </a:r>
            <a:r>
              <a:rPr lang="ko-KR" altLang="en-US" sz="1000" b="1" spc="-50" baseline="0" dirty="0">
                <a:solidFill>
                  <a:srgbClr val="FF0000"/>
                </a:solidFill>
                <a:latin typeface="맑은 고딕" pitchFamily="50" charset="-127"/>
                <a:ea typeface="맑은 고딕" pitchFamily="50" charset="-127"/>
              </a:rPr>
              <a:t>계획 질문</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친구가 사는 나라로 여행을 갈 계획입니다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그곳의 지리에 대해 물어보세요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그리고 나서</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당신의 여행 계획에 대해 두세 가지 질문을 더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리즈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나의 여행에 관하여 물어보기 위해 전화하고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지형에 관하여 묻기를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산이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그렇다면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하이킹이나 캠핑을 가지 않겠어요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해변이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그렇다면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우리는 소풍을 갈수 있을 것입니다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다시 전화주세요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371453"/>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11 [Int]</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해외 친구 방문 계획 중</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전화로 현지 지형</a:t>
            </a:r>
            <a:r>
              <a:rPr lang="en-US" altLang="ko-KR" sz="1000" b="1" spc="-50" baseline="0" dirty="0">
                <a:solidFill>
                  <a:srgbClr val="FF0000"/>
                </a:solidFill>
                <a:latin typeface="맑은 고딕" pitchFamily="50" charset="-127"/>
                <a:ea typeface="맑은 고딕" pitchFamily="50" charset="-127"/>
              </a:rPr>
              <a:t>/</a:t>
            </a:r>
            <a:r>
              <a:rPr lang="ko-KR" altLang="en-US" sz="1000" b="1" spc="-50" baseline="0" dirty="0">
                <a:solidFill>
                  <a:srgbClr val="FF0000"/>
                </a:solidFill>
                <a:latin typeface="맑은 고딕" pitchFamily="50" charset="-127"/>
                <a:ea typeface="맑은 고딕" pitchFamily="50" charset="-127"/>
              </a:rPr>
              <a:t>계획 질문</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are planning on going on a trip to a country where your friend lives.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ask about the geography there.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And then, ask two or three more questions regarding your travel plans.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Liz.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my trip.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ask about the geography.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are there any mountains?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why DON'T we go hiking or camping?</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are there any beaches?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maybe we could go on a picnic.</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371453"/>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문제가 생겨서 여행 못 가게 됨</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전화해서</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대안제시</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어떤 이유로 여행을 갈 수 없습니다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설명하세요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두세 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리즈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짐입니다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나쁜 뉴스를 가지고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여행에 못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갈것</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같습니다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무슨일이</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생겼습니다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여행 일정을 다시 잡기를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다시 전화주세요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94509"/>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mn-ea"/>
              </a:rPr>
              <a:t>문제가 생겨서 여행 못 가게 됨</a:t>
            </a:r>
            <a:r>
              <a:rPr lang="en-US" altLang="ko-KR" sz="1000" b="1" spc="-50" baseline="0" dirty="0">
                <a:solidFill>
                  <a:srgbClr val="FF0000"/>
                </a:solidFill>
                <a:latin typeface="맑은 고딕" pitchFamily="50" charset="-127"/>
                <a:ea typeface="+mn-ea"/>
              </a:rPr>
              <a:t>. </a:t>
            </a:r>
            <a:r>
              <a:rPr lang="ko-KR" altLang="en-US" sz="1000" b="1" spc="-50" baseline="0" dirty="0">
                <a:solidFill>
                  <a:srgbClr val="FF0000"/>
                </a:solidFill>
                <a:latin typeface="맑은 고딕" pitchFamily="50" charset="-127"/>
                <a:ea typeface="+mn-ea"/>
              </a:rPr>
              <a:t>전화해서</a:t>
            </a:r>
            <a:r>
              <a:rPr lang="en-US" altLang="ko-KR" sz="1000" b="1" spc="-50" baseline="0" dirty="0">
                <a:solidFill>
                  <a:srgbClr val="FF0000"/>
                </a:solidFill>
                <a:latin typeface="맑은 고딕" pitchFamily="50" charset="-127"/>
                <a:ea typeface="+mn-ea"/>
              </a:rPr>
              <a:t> </a:t>
            </a:r>
            <a:r>
              <a:rPr lang="ko-KR" altLang="en-US" sz="1000" b="1" spc="-50" baseline="0" dirty="0">
                <a:solidFill>
                  <a:srgbClr val="FF0000"/>
                </a:solidFill>
                <a:latin typeface="맑은 고딕" pitchFamily="50" charset="-127"/>
                <a:ea typeface="+mn-ea"/>
              </a:rPr>
              <a:t>대안제시</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cannot go on the trip because of some reason.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explain the situation. Give two to three alternatives.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Liz. This is Jim.</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DON'T think I can make it to my trip.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Something came up suddenly.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reschedule my trip.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Tree>
    <p:extLst>
      <p:ext uri="{BB962C8B-B14F-4D97-AF65-F5344CB8AC3E}">
        <p14:creationId xmlns:p14="http://schemas.microsoft.com/office/powerpoint/2010/main" val="5876660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외국 국가와 우리나라의 지형적 특징 비교</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다른 나라로 여행을 가 본 적이 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그곳의 지리는 당신의 나라와 어떻게 다릅니까</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mn-lt"/>
                <a:ea typeface="+mn-ea"/>
                <a:cs typeface="+mn-cs"/>
              </a:rPr>
              <a:t>일본은 우리의 가장 가까운 이웃 나라들 중 하나입니다</a:t>
            </a:r>
            <a:r>
              <a:rPr lang="en-US" altLang="ko-KR" sz="1100" b="0" i="0" u="none" strike="noStrike" kern="1200" spc="-5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dirty="0">
                <a:solidFill>
                  <a:schemeClr val="tx1"/>
                </a:solidFill>
                <a:latin typeface="+mn-lt"/>
                <a:ea typeface="+mn-ea"/>
                <a:cs typeface="+mn-cs"/>
              </a:rPr>
              <a:t>그것은 한국과 매우 비슷합니다</a:t>
            </a:r>
            <a:r>
              <a:rPr lang="en-US" altLang="ko-KR" sz="1100" b="0" i="0" u="none" strike="noStrike" kern="1200" dirty="0">
                <a:solidFill>
                  <a:schemeClr val="tx1"/>
                </a:solidFill>
                <a:latin typeface="+mn-lt"/>
                <a:ea typeface="+mn-ea"/>
                <a:cs typeface="+mn-cs"/>
              </a:rPr>
              <a:t>. </a:t>
            </a:r>
            <a:r>
              <a:rPr lang="ko-KR" altLang="en-US" sz="1100" b="0" i="0" u="none" strike="noStrike" kern="1200" dirty="0">
                <a:solidFill>
                  <a:schemeClr val="tx1"/>
                </a:solidFill>
                <a:latin typeface="+mn-lt"/>
                <a:ea typeface="+mn-ea"/>
                <a:cs typeface="+mn-cs"/>
              </a:rPr>
              <a:t>그것의 지리에 있어서</a:t>
            </a:r>
            <a:endParaRPr lang="en-US" altLang="ko-KR" sz="1100" b="0" i="0" u="none" strike="noStrike" kern="1200" dirty="0">
              <a:solidFill>
                <a:schemeClr val="tx1"/>
              </a:solidFill>
              <a:latin typeface="+mn-lt"/>
              <a:ea typeface="+mn-ea"/>
              <a:cs typeface="+mn-cs"/>
            </a:endParaRP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일본에는 많은 산이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사실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일본의 절반은 산들입니다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또한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일본에는 많은 해변들이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해변들은 인기 있는 휴양지입니다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해안선은 매우 아름답습니다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외국 국가와 우리나라의 지형적 특징 비교</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been on a trip to another country?</a:t>
            </a:r>
          </a:p>
          <a:p>
            <a:r>
              <a:rPr lang="en-US" altLang="ko-KR" sz="1100" b="0" i="0" u="none" strike="noStrike" kern="1200" spc="-70" dirty="0">
                <a:solidFill>
                  <a:srgbClr val="FF0000"/>
                </a:solidFill>
                <a:latin typeface="맑은 고딕" panose="020B0503020000020004" pitchFamily="50" charset="-127"/>
                <a:ea typeface="맑은 고딕" panose="020B0503020000020004" pitchFamily="50" charset="-127"/>
                <a:cs typeface="+mn-cs"/>
              </a:rPr>
              <a:t>How is the geography there different from your country’s?</a:t>
            </a:r>
            <a:endParaRPr lang="en-US" altLang="ko-KR" sz="1100" b="0" spc="-7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Japan is one of our closest neighboring countries.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very similar to Korea when it comes to its geography.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many mountains in Japan.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fact, half of Japan is mountains.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there are many beaches in Japan.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 beaches are popular vacation spots.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coastline is very scenic.</a:t>
            </a:r>
          </a:p>
        </p:txBody>
      </p:sp>
    </p:spTree>
    <p:extLst>
      <p:ext uri="{BB962C8B-B14F-4D97-AF65-F5344CB8AC3E}">
        <p14:creationId xmlns:p14="http://schemas.microsoft.com/office/powerpoint/2010/main" val="211752255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504728"/>
            <a:ext cx="6858000" cy="4570482"/>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25 ROLE PLAY</a:t>
            </a: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solidFill>
                  <a:schemeClr val="tx2"/>
                </a:solidFill>
                <a:latin typeface="맑은 고딕" pitchFamily="50" charset="-127"/>
                <a:ea typeface="맑은 고딕" pitchFamily="50" charset="-127"/>
              </a:rPr>
              <a:t>호텔 </a:t>
            </a:r>
            <a:r>
              <a:rPr lang="ko-KR" altLang="en-US" sz="2800" b="1">
                <a:solidFill>
                  <a:schemeClr val="tx2"/>
                </a:solidFill>
              </a:rPr>
              <a:t>★★★</a:t>
            </a:r>
            <a:endParaRPr lang="en-US" altLang="ko-KR" sz="2800" b="1">
              <a:solidFill>
                <a:schemeClr val="tx2"/>
              </a:solidFill>
            </a:endParaRP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latin typeface="맑은 고딕" pitchFamily="50" charset="-127"/>
                <a:ea typeface="맑은 고딕" pitchFamily="50" charset="-127"/>
              </a:rPr>
              <a:t>호텔 현장 문의</a:t>
            </a:r>
            <a:endParaRPr lang="en-US" altLang="ko-KR" sz="2800" b="1">
              <a:latin typeface="맑은 고딕" pitchFamily="50" charset="-127"/>
              <a:ea typeface="맑은 고딕" pitchFamily="50" charset="-127"/>
            </a:endParaRPr>
          </a:p>
          <a:p>
            <a:pPr algn="ctr">
              <a:lnSpc>
                <a:spcPct val="150000"/>
              </a:lnSpc>
            </a:pPr>
            <a:r>
              <a:rPr lang="ko-KR" altLang="en-US" sz="2800" b="1">
                <a:latin typeface="맑은 고딕" pitchFamily="50" charset="-127"/>
                <a:ea typeface="맑은 고딕" pitchFamily="50" charset="-127"/>
              </a:rPr>
              <a:t>호텔 전화 문의</a:t>
            </a:r>
          </a:p>
        </p:txBody>
      </p:sp>
      <p:sp>
        <p:nvSpPr>
          <p:cNvPr id="3" name="슬라이드 번호 개체 틀 2">
            <a:extLst>
              <a:ext uri="{FF2B5EF4-FFF2-40B4-BE49-F238E27FC236}">
                <a16:creationId xmlns:a16="http://schemas.microsoft.com/office/drawing/2014/main" xmlns="" id="{0321BF5C-984F-EF21-2DC2-CAB33E1C8B0B}"/>
              </a:ext>
            </a:extLst>
          </p:cNvPr>
          <p:cNvSpPr>
            <a:spLocks noGrp="1"/>
          </p:cNvSpPr>
          <p:nvPr>
            <p:ph type="sldNum" sz="quarter" idx="12"/>
          </p:nvPr>
        </p:nvSpPr>
        <p:spPr/>
        <p:txBody>
          <a:bodyPr/>
          <a:lstStyle/>
          <a:p>
            <a:fld id="{18CC7079-95A2-4860-A138-51A9FC969471}" type="slidenum">
              <a:rPr lang="ko-KR" altLang="en-US" smtClean="0"/>
              <a:t>126</a:t>
            </a:fld>
            <a:endParaRPr lang="ko-KR" altLang="en-US"/>
          </a:p>
        </p:txBody>
      </p:sp>
    </p:spTree>
    <p:extLst>
      <p:ext uri="{BB962C8B-B14F-4D97-AF65-F5344CB8AC3E}">
        <p14:creationId xmlns:p14="http://schemas.microsoft.com/office/powerpoint/2010/main" val="394858119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68668"/>
          </a:xfrm>
          <a:prstGeom prst="rect">
            <a:avLst/>
          </a:prstGeom>
          <a:noFill/>
        </p:spPr>
        <p:txBody>
          <a:bodyPr wrap="square" rtlCol="0">
            <a:spAutoFit/>
          </a:bodyPr>
          <a:lstStyle/>
          <a:p>
            <a:pPr latinLnBrk="1">
              <a:lnSpc>
                <a:spcPct val="100000"/>
              </a:lnSpc>
            </a:pPr>
            <a:r>
              <a:rPr lang="en-US" altLang="ko-KR" sz="1100" b="1" spc="-90" dirty="0">
                <a:solidFill>
                  <a:schemeClr val="tx2"/>
                </a:solidFill>
                <a:latin typeface="맑은 고딕" pitchFamily="50" charset="-127"/>
                <a:ea typeface="맑은 고딕" pitchFamily="50" charset="-127"/>
              </a:rPr>
              <a:t>11 [Int]</a:t>
            </a:r>
            <a:r>
              <a:rPr lang="en-US" altLang="ko-KR" sz="1100" b="1" spc="-90" baseline="0" dirty="0">
                <a:solidFill>
                  <a:schemeClr val="tx2"/>
                </a:solidFill>
                <a:latin typeface="맑은 고딕" pitchFamily="50" charset="-127"/>
                <a:ea typeface="맑은 고딕" pitchFamily="50" charset="-127"/>
              </a:rPr>
              <a:t> </a:t>
            </a:r>
            <a:r>
              <a:rPr lang="ko-KR" altLang="en-US" sz="1100" b="1" spc="-90" baseline="0" dirty="0">
                <a:solidFill>
                  <a:srgbClr val="FF0000"/>
                </a:solidFill>
                <a:latin typeface="맑은 고딕" pitchFamily="50" charset="-127"/>
                <a:ea typeface="맑은 고딕" pitchFamily="50" charset="-127"/>
              </a:rPr>
              <a:t>호텔에 예약 없이 감</a:t>
            </a:r>
            <a:r>
              <a:rPr lang="en-US" altLang="ko-KR" sz="1100" b="1" spc="-90" baseline="0" dirty="0">
                <a:solidFill>
                  <a:srgbClr val="FF0000"/>
                </a:solidFill>
                <a:latin typeface="맑은 고딕" pitchFamily="50" charset="-127"/>
                <a:ea typeface="맑은 고딕" pitchFamily="50" charset="-127"/>
              </a:rPr>
              <a:t>. </a:t>
            </a:r>
            <a:r>
              <a:rPr lang="ko-KR" altLang="en-US" sz="1100" b="1" spc="-90" baseline="0" dirty="0">
                <a:solidFill>
                  <a:srgbClr val="FF0000"/>
                </a:solidFill>
                <a:latin typeface="맑은 고딕" pitchFamily="50" charset="-127"/>
                <a:ea typeface="맑은 고딕" pitchFamily="50" charset="-127"/>
              </a:rPr>
              <a:t>프론트에 그 호텔 숙박 문의</a:t>
            </a:r>
            <a:endParaRPr lang="en-US" altLang="ko-KR" sz="1100" b="1" spc="-9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나는 너와 그것을 행동하라고 요청한 상황을 주고 싶습니다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새로운 도시에 하룻밤은 호텔 찾으려고 하는 도착했습니다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호텔의 프론트 데스크로 이동합니다</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당신이 원하는 방을 묘사하세요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그리고 이용 가능한 것에 대한 정보를 얻기 위해 서너 가지 질문을 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이 호텔에 머물기를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오늘밤을 위한 어떤 빈방이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이틀밤을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머물길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6</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시쯤에</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체크인 하기를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방이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어떤것을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추천해 줄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볼수</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있는 웹사이트가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968668"/>
          </a:xfrm>
          <a:prstGeom prst="rect">
            <a:avLst/>
          </a:prstGeom>
          <a:noFill/>
        </p:spPr>
        <p:txBody>
          <a:bodyPr wrap="square" rtlCol="0">
            <a:spAutoFit/>
          </a:bodyPr>
          <a:lstStyle/>
          <a:p>
            <a:pPr latinLnBrk="1">
              <a:lnSpc>
                <a:spcPct val="100000"/>
              </a:lnSpc>
            </a:pPr>
            <a:r>
              <a:rPr lang="en-US" altLang="ko-KR" sz="1100" b="1" spc="-90" dirty="0">
                <a:solidFill>
                  <a:schemeClr val="tx2"/>
                </a:solidFill>
                <a:latin typeface="맑은 고딕" pitchFamily="50" charset="-127"/>
                <a:ea typeface="맑은 고딕" pitchFamily="50" charset="-127"/>
              </a:rPr>
              <a:t>11 [Int]</a:t>
            </a:r>
            <a:r>
              <a:rPr lang="en-US" altLang="ko-KR" sz="1100" b="1" spc="-90" baseline="0" dirty="0">
                <a:solidFill>
                  <a:schemeClr val="tx2"/>
                </a:solidFill>
                <a:latin typeface="맑은 고딕" pitchFamily="50" charset="-127"/>
                <a:ea typeface="맑은 고딕" pitchFamily="50" charset="-127"/>
              </a:rPr>
              <a:t> </a:t>
            </a:r>
            <a:r>
              <a:rPr lang="ko-KR" altLang="en-US" sz="1100" b="1" spc="-90" baseline="0" dirty="0">
                <a:solidFill>
                  <a:srgbClr val="FF0000"/>
                </a:solidFill>
                <a:latin typeface="맑은 고딕" pitchFamily="50" charset="-127"/>
                <a:ea typeface="맑은 고딕" pitchFamily="50" charset="-127"/>
              </a:rPr>
              <a:t>호텔에 예약 없이 감</a:t>
            </a:r>
            <a:r>
              <a:rPr lang="en-US" altLang="ko-KR" sz="1100" b="1" spc="-90" baseline="0" dirty="0">
                <a:solidFill>
                  <a:srgbClr val="FF0000"/>
                </a:solidFill>
                <a:latin typeface="맑은 고딕" pitchFamily="50" charset="-127"/>
                <a:ea typeface="맑은 고딕" pitchFamily="50" charset="-127"/>
              </a:rPr>
              <a:t>. </a:t>
            </a:r>
            <a:r>
              <a:rPr lang="ko-KR" altLang="en-US" sz="1100" b="1" spc="-90" baseline="0" dirty="0">
                <a:solidFill>
                  <a:srgbClr val="FF0000"/>
                </a:solidFill>
                <a:latin typeface="맑은 고딕" pitchFamily="50" charset="-127"/>
                <a:ea typeface="맑은 고딕" pitchFamily="50" charset="-127"/>
              </a:rPr>
              <a:t>프론트에 그 호텔 숙박 문의</a:t>
            </a:r>
            <a:endParaRPr lang="en-US" altLang="ko-KR" sz="1100" b="1" spc="-9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arrived in a new city and you’re trying to find a hotel the night.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Go to the reception desk of a hotel. Describe the room you want and ask three or four questions to get information about what is available.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want to stay at this hotel.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vacancies for tonight?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stay for two nights.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check in around 6pm.</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rooms are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 일행들에게 호텔 </a:t>
            </a:r>
            <a:r>
              <a:rPr lang="ko-KR" altLang="en-US" sz="1000" b="1" baseline="0" dirty="0" err="1">
                <a:solidFill>
                  <a:srgbClr val="FF0000"/>
                </a:solidFill>
                <a:latin typeface="맑은 고딕" pitchFamily="50" charset="-127"/>
                <a:ea typeface="맑은 고딕" pitchFamily="50" charset="-127"/>
              </a:rPr>
              <a:t>만실</a:t>
            </a:r>
            <a:r>
              <a:rPr lang="ko-KR" altLang="en-US" sz="1000" b="1" baseline="0" dirty="0">
                <a:solidFill>
                  <a:srgbClr val="FF0000"/>
                </a:solidFill>
                <a:latin typeface="맑은 고딕" pitchFamily="50" charset="-127"/>
                <a:ea typeface="맑은 고딕" pitchFamily="50" charset="-127"/>
              </a:rPr>
              <a:t> 알리기</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대안제시</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이 호텔에 이용 가능한 방이 없다는 것을 알게 되었습니다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여행 동료들에게 전화해서 상황을 알려주십시오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메시지를 남겨 상황을 설명하고 문제에 대한 대안적인 해결책을 제안합니다</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여러분</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나는 몇몇 나쁜 뉴스들을 가지고 있습니다</a:t>
            </a:r>
            <a:r>
              <a:rPr lang="en-US" altLang="ko-KR" sz="1000" b="0" i="0" u="none" strike="noStrike" kern="1200" spc="-7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방금 호텔과 이야기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나에게 말했습니다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호텔은 완전히 예약 되었다고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하기를 원합니까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다음번에 가는게 어때요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다음주에 가는게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우리는 다른 시간에 갈 수 있어요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다시 전화주세요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35606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 일행들에게 호텔 </a:t>
            </a:r>
            <a:r>
              <a:rPr lang="ko-KR" altLang="en-US" sz="1000" b="1" baseline="0" dirty="0" err="1">
                <a:solidFill>
                  <a:srgbClr val="FF0000"/>
                </a:solidFill>
                <a:latin typeface="맑은 고딕" pitchFamily="50" charset="-127"/>
                <a:ea typeface="맑은 고딕" pitchFamily="50" charset="-127"/>
              </a:rPr>
              <a:t>만실</a:t>
            </a:r>
            <a:r>
              <a:rPr lang="ko-KR" altLang="en-US" sz="1000" b="1" baseline="0" dirty="0">
                <a:solidFill>
                  <a:srgbClr val="FF0000"/>
                </a:solidFill>
                <a:latin typeface="맑은 고딕" pitchFamily="50" charset="-127"/>
                <a:ea typeface="맑은 고딕" pitchFamily="50" charset="-127"/>
              </a:rPr>
              <a:t> 알리기</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대안제시</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You’ve learned that there are no rooms available in this hotel.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travel companions to let them know about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Leave a message to describe the situation and propose alternative solutions to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guys. 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just talked to the hotel.</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told me that the hotel is fully booked.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go next time?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go next week?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go another time.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1933279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 계획이 뜻대로 되지 않은 경험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당신의 여행 계획이 예상대로 되지 않았던 때를 생각해 보세요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당신과 다른 사람들이 한 일</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그리고 그 상황이 어떻게 최종적으로 해결되었는지에 대해 모두 말해 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친구와 함께 여행 갔던 때가 기억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아팠습니다</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내가 상한 어떤 것을 먹었기 때문에</a:t>
            </a:r>
            <a:endPar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mn-lt"/>
                <a:ea typeface="+mn-ea"/>
                <a:cs typeface="+mn-cs"/>
              </a:rPr>
              <a:t>나는 식중독에 걸렸습니다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속이 뒤집혔습니다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화장실에 다시 또 다시 갔습니다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설사를 했기 때문에</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여행을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놓친것에</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관하여 나쁜 감정을 느꼈습니다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아무것도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친구들에게 말했습니다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갈수 없고 나는 미안하다고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돌이켜 보면</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그 시간에 여행을 놓친 것을 후회합니다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여행 계획이 뜻대로 되지 않은 경험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Think about a time when your travel plans did not work out as expected. Tell me all about the circumstances, what you and the others did, and how the situation was finally resolved.</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was supposed to go on a trip with my friends.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However, I got sick because I ate something that went bad.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the bathroom again and again because I had the runs.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bad about missing the trip, but there was nothing I could do.</a:t>
            </a: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I told my friends that I could NOT go and said I was sorry.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 regret missing the trip that time.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3832844"/>
          </a:xfrm>
          <a:prstGeom prst="rect">
            <a:avLst/>
          </a:prstGeom>
          <a:noFill/>
        </p:spPr>
        <p:txBody>
          <a:bodyPr wrap="square" rtlCol="0">
            <a:spAutoFit/>
          </a:bodyPr>
          <a:lstStyle/>
          <a:p>
            <a:pPr latinLnBrk="1">
              <a:lnSpc>
                <a:spcPct val="100000"/>
              </a:lnSpc>
            </a:pPr>
            <a:r>
              <a:rPr lang="en-US" altLang="ko-KR" sz="1000" b="1" spc="-60" dirty="0">
                <a:solidFill>
                  <a:schemeClr val="tx2"/>
                </a:solidFill>
                <a:latin typeface="맑은 고딕" pitchFamily="50" charset="-127"/>
                <a:ea typeface="맑은 고딕" pitchFamily="50" charset="-127"/>
              </a:rPr>
              <a:t>11 [Int]</a:t>
            </a:r>
            <a:r>
              <a:rPr lang="en-US" altLang="ko-KR" sz="1000" b="1" spc="-60" baseline="0" dirty="0">
                <a:solidFill>
                  <a:schemeClr val="tx2"/>
                </a:solidFill>
                <a:latin typeface="맑은 고딕" pitchFamily="50" charset="-127"/>
                <a:ea typeface="맑은 고딕" pitchFamily="50" charset="-127"/>
              </a:rPr>
              <a:t> </a:t>
            </a:r>
            <a:r>
              <a:rPr lang="ko-KR" altLang="en-US" sz="1000" b="1" spc="-60" baseline="0" dirty="0">
                <a:solidFill>
                  <a:srgbClr val="FF0000"/>
                </a:solidFill>
                <a:latin typeface="맑은 고딕" pitchFamily="50" charset="-127"/>
                <a:ea typeface="맑은 고딕" pitchFamily="50" charset="-127"/>
              </a:rPr>
              <a:t>호텔 프론트에 가서 자유시간에 할 수 있는 활동 문의</a:t>
            </a:r>
            <a:endParaRPr lang="en-US" altLang="ko-KR" sz="1000" b="1" spc="-60" baseline="0" dirty="0">
              <a:solidFill>
                <a:srgbClr val="FF0000"/>
              </a:solidFill>
              <a:latin typeface="맑은 고딕" pitchFamily="50" charset="-127"/>
              <a:ea typeface="맑은 고딕" pitchFamily="50" charset="-127"/>
            </a:endParaRPr>
          </a:p>
          <a:p>
            <a:r>
              <a:rPr lang="ko-KR" altLang="en-US" sz="1000" b="0" i="0" kern="1200" spc="-50" dirty="0">
                <a:solidFill>
                  <a:srgbClr val="0070C0"/>
                </a:solidFill>
                <a:effectLst/>
                <a:latin typeface="+mn-lt"/>
                <a:ea typeface="+mn-ea"/>
                <a:cs typeface="+mn-cs"/>
              </a:rPr>
              <a:t>나는 너와 그것을 행동하라고 요청한 상황을 주고 싶습니다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호텔에서 머물면서 도시를 탐구 하기 위한 자유로운 날을 가졌습니다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프론트 데스크에게 어떻게 할지에 대해 </a:t>
            </a:r>
            <a:r>
              <a:rPr lang="en-US" altLang="ko-KR" sz="1000" b="0" i="0" kern="1200" dirty="0">
                <a:solidFill>
                  <a:srgbClr val="0070C0"/>
                </a:solidFill>
                <a:effectLst/>
                <a:latin typeface="+mn-lt"/>
                <a:ea typeface="+mn-ea"/>
                <a:cs typeface="+mn-cs"/>
              </a:rPr>
              <a:t>3~4 </a:t>
            </a:r>
            <a:r>
              <a:rPr lang="ko-KR" altLang="en-US" sz="1000" b="0" i="0" kern="1200" dirty="0">
                <a:solidFill>
                  <a:srgbClr val="0070C0"/>
                </a:solidFill>
                <a:effectLst/>
                <a:latin typeface="+mn-lt"/>
                <a:ea typeface="+mn-ea"/>
                <a:cs typeface="+mn-cs"/>
              </a:rPr>
              <a:t>가지 질문을 하세요</a:t>
            </a:r>
            <a:r>
              <a:rPr lang="en-US" altLang="ko-KR" sz="1000" b="0" i="0" kern="1200" dirty="0">
                <a:solidFill>
                  <a:schemeClr val="lt1"/>
                </a:solidFill>
                <a:effectLst/>
                <a:latin typeface="+mn-lt"/>
                <a:ea typeface="+mn-ea"/>
                <a:cs typeface="+mn-cs"/>
              </a:rPr>
              <a:t>.</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spc="-7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spc="-7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70" baseline="0" dirty="0">
                <a:solidFill>
                  <a:schemeClr val="tx1"/>
                </a:solidFill>
                <a:latin typeface="맑은 고딕" panose="020B0503020000020004" pitchFamily="50" charset="-127"/>
                <a:ea typeface="맑은 고딕" panose="020B0503020000020004" pitchFamily="50" charset="-127"/>
                <a:cs typeface="+mn-cs"/>
              </a:rPr>
              <a:t>나는 나의 자유시간에 어떤 것을 하기를 원합니다</a:t>
            </a:r>
            <a:r>
              <a:rPr lang="en-US" altLang="ko-KR" sz="1000" b="0" i="0" u="none" strike="noStrike" kern="1200" spc="-7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도시를 탐험하기 위한 자유로운 날을 가지고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도시 투어 가기를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투어가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832844"/>
          </a:xfrm>
          <a:prstGeom prst="rect">
            <a:avLst/>
          </a:prstGeom>
          <a:noFill/>
        </p:spPr>
        <p:txBody>
          <a:bodyPr wrap="square" rtlCol="0">
            <a:spAutoFit/>
          </a:bodyPr>
          <a:lstStyle/>
          <a:p>
            <a:pPr latinLnBrk="1">
              <a:lnSpc>
                <a:spcPct val="100000"/>
              </a:lnSpc>
            </a:pPr>
            <a:r>
              <a:rPr lang="en-US" altLang="ko-KR" sz="1000" b="1" spc="-60" dirty="0">
                <a:solidFill>
                  <a:schemeClr val="tx2"/>
                </a:solidFill>
                <a:latin typeface="맑은 고딕" pitchFamily="50" charset="-127"/>
                <a:ea typeface="맑은 고딕" pitchFamily="50" charset="-127"/>
              </a:rPr>
              <a:t>11 [Int]</a:t>
            </a:r>
            <a:r>
              <a:rPr lang="en-US" altLang="ko-KR" sz="1000" b="1" spc="-60" baseline="0" dirty="0">
                <a:solidFill>
                  <a:schemeClr val="tx2"/>
                </a:solidFill>
                <a:latin typeface="맑은 고딕" pitchFamily="50" charset="-127"/>
                <a:ea typeface="맑은 고딕" pitchFamily="50" charset="-127"/>
              </a:rPr>
              <a:t> </a:t>
            </a:r>
            <a:r>
              <a:rPr lang="ko-KR" altLang="en-US" sz="1000" b="1" spc="-60" baseline="0" dirty="0">
                <a:solidFill>
                  <a:srgbClr val="FF0000"/>
                </a:solidFill>
                <a:latin typeface="맑은 고딕" pitchFamily="50" charset="-127"/>
                <a:ea typeface="맑은 고딕" pitchFamily="50" charset="-127"/>
              </a:rPr>
              <a:t>호텔 프론트에 가서 자유시간에 할 수 있는 활동 문의</a:t>
            </a:r>
            <a:endParaRPr lang="en-US" altLang="ko-KR" sz="1000" b="1" spc="-6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are staying at a hotel and have a free day to explore the city.</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Go to the front desk and ask three or four questions about what to do.</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want to do something in my free time.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a free day to explore the city.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go on a city tour.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tours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p:txBody>
      </p:sp>
    </p:spTree>
    <p:extLst>
      <p:ext uri="{BB962C8B-B14F-4D97-AF65-F5344CB8AC3E}">
        <p14:creationId xmlns:p14="http://schemas.microsoft.com/office/powerpoint/2010/main" val="368308729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129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택시에 가방을 두고 내림</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택시회사에 전화</a:t>
            </a:r>
            <a:r>
              <a:rPr lang="en-US" altLang="ko-KR" sz="1000" b="1" baseline="0" dirty="0">
                <a:solidFill>
                  <a:srgbClr val="FF0000"/>
                </a:solidFill>
                <a:latin typeface="맑은 고딕" pitchFamily="50" charset="-127"/>
                <a:ea typeface="맑은 고딕" pitchFamily="50" charset="-127"/>
              </a:rPr>
              <a:t>/</a:t>
            </a:r>
            <a:r>
              <a:rPr lang="ko-KR" altLang="en-US" sz="1000" b="1" baseline="0" dirty="0">
                <a:solidFill>
                  <a:srgbClr val="FF0000"/>
                </a:solidFill>
                <a:latin typeface="맑은 고딕" pitchFamily="50" charset="-127"/>
                <a:ea typeface="맑은 고딕" pitchFamily="50" charset="-127"/>
              </a:rPr>
              <a:t>도움 요청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호텔로 돌아온 택시에 가방을 두고 내렸습니다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택시 회사에 전화해서 무슨 일이 있었는지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어떻게 돌려받을 수 있는지 물어보세요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택시 하나에 탄 사람입니다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내가 너의 택시에 나의 가방을 남겨 놓았다고</a:t>
            </a:r>
            <a:endPar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검정색 가죽 가방입니다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너는 제발 체크해줄 수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나의 가방을 가졌는지</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만약 그렇다면</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당장 그것을 가지러 거기에 가겠습니다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사무실에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택시에 가방을 두고 내림</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택시회사에 전화</a:t>
            </a:r>
            <a:r>
              <a:rPr lang="en-US" altLang="ko-KR" sz="1000" b="1" baseline="0" dirty="0">
                <a:solidFill>
                  <a:srgbClr val="FF0000"/>
                </a:solidFill>
                <a:latin typeface="맑은 고딕" pitchFamily="50" charset="-127"/>
                <a:ea typeface="맑은 고딕" pitchFamily="50" charset="-127"/>
              </a:rPr>
              <a:t>/</a:t>
            </a:r>
            <a:r>
              <a:rPr lang="ko-KR" altLang="en-US" sz="1000" b="1" baseline="0" dirty="0">
                <a:solidFill>
                  <a:srgbClr val="FF0000"/>
                </a:solidFill>
                <a:latin typeface="맑은 고딕" pitchFamily="50" charset="-127"/>
                <a:ea typeface="맑은 고딕" pitchFamily="50" charset="-127"/>
              </a:rPr>
              <a:t>도움 요청                                                            </a:t>
            </a:r>
            <a:r>
              <a:rPr lang="en-US" altLang="ko-KR" sz="1000" b="1" dirty="0">
                <a:solidFill>
                  <a:schemeClr val="tx2"/>
                </a:solidFill>
                <a:latin typeface="+mn-lt"/>
                <a:ea typeface="+mn-ea"/>
              </a:rPr>
              <a:t>♣</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spc="-60" dirty="0">
                <a:solidFill>
                  <a:srgbClr val="FF0000"/>
                </a:solidFill>
                <a:latin typeface="맑은 고딕" panose="020B0503020000020004" pitchFamily="50" charset="-127"/>
                <a:ea typeface="맑은 고딕" panose="020B0503020000020004" pitchFamily="50" charset="-127"/>
                <a:cs typeface="+mn-cs"/>
              </a:rPr>
              <a:t>You left your bag in the taxi that brought you back to the hotel.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taxi company and explain what happened.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Ask them how you can get it back.</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took one of your taxis.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left my bag in the taxi.</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It’s a black leather bag.</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Could you please check if you have my bag?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I’ll go there to get it right away.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office?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3699090"/>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무언가를 어디에 두고 온 본인 경험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어디선가 무언가를 잃어버리거나 중요한 것을 찾지 못한 적이 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중요한 것을 잃어버리거나 잊어버렸을 때를 얘기해주세요</a:t>
            </a:r>
            <a:r>
              <a:rPr lang="en-US" altLang="ko-KR" sz="1100" b="0" i="0" kern="1200" dirty="0">
                <a:solidFill>
                  <a:schemeClr val="lt1"/>
                </a:solidFill>
                <a:effectLst/>
                <a:latin typeface="+mn-lt"/>
                <a:ea typeface="+mn-ea"/>
                <a:cs typeface="+mn-cs"/>
              </a:rPr>
              <a:t>.</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가게에 나의 우산을 남겨 놓은 때를 기억이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그것을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팩하는</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것을 완벽히 잊었습니다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가게를 떠날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밖에 폭우가 왔고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조금 젖었습니다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이후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주의하려고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19125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무언가를 어디에 두고 온 본인 경험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dirty="0">
                <a:solidFill>
                  <a:srgbClr val="FF0000"/>
                </a:solidFill>
                <a:latin typeface="맑은 고딕" panose="020B0503020000020004" pitchFamily="50" charset="-127"/>
                <a:ea typeface="맑은 고딕" panose="020B0503020000020004" pitchFamily="50" charset="-127"/>
                <a:cs typeface="+mn-cs"/>
              </a:rPr>
              <a:t>Have you ever lost something somewhere or could not </a:t>
            </a:r>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find something important?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when you lost or forgot something important.</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left my umbrella at a store.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completely forgot to pack it when I left the store.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pouring outside and I got a little wet.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161715394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9467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호텔 투숙 전화 문의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새로운 도시를 방문 중이고 하룻밤 묵을 호텔 방이 필요합니다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호텔에 전화해서 객실과 서비스에 대해 알아보기 위해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호텔에 머무는 것에 관하여 물어보기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휴가동안 거기에 머무는 것을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이번 주말을 위한 어떤 빈방이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이틀 밤을 머물길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6</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시쯤에</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체크인 하기를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방이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호텔 투숙 전화 문의</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are visiting a new city and need a hotel room for the night.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a hotel and ask three or four questions to find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about its rooms and services.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staying at your hotel.</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stay there for my vacation.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vacancies for this weekend?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stay for two nights.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check in around 6pm.</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rooms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호텔 객실 작고 지저분함</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전화로 문제해결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당신의 호텔 방에 도착했을 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그것은 매우 작고 전혀 깨끗하지 않습니다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프런트 데스크에 전화를 걸어 발견한 내용을 자세히 설명하십시오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그런 다음 이 상황을 해결할 수 있는 방법에 대해 몇 가지 제안을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이 호텔에 머물고 있는 사람입니다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방과 함께 무엇인가 문제가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방은 제대로 청소되지 않았습니다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또한 내가 생각했던 것 보다 더 작습니다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교환을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환불을 받을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내가 원한다면</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호텔 객실 작고 지저분함</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전화로 문제해결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you get to your hotel room, it is very small and not clean at all.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front desk and describe what you have found in detail.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Then make some suggestions as to how you can resolve the situation.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is staying at this hotel.</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room.</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room is NOT cleaned properly.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also smaller than I thought.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an exchange.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get a refund if I want to?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19253147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78372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호텔에서 기억에 남는 에피소드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때때로</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여러분이 호텔에 머물 때 놀랍거나 예상치 못한 일들이 일어날 수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호텔에 머무르면서 기억에 남는 경험을 말해주세요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고생 경험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 취한 경험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우연히 지인 만난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호텔에서 상한 음식을 먹은 것이 기억에 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mn-lt"/>
                <a:ea typeface="+mn-ea"/>
                <a:cs typeface="+mn-cs"/>
              </a:rPr>
              <a:t>나는 식중독에 걸렸고 그것은 매우 나빴습니다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속이 뒤집혔습니다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나아지기 위해 조금의 약을 먹었습니다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안에 머물고 많은 휴식을 취해야 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 이후로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더 조심하려고 노력했습니다</a:t>
            </a:r>
            <a:r>
              <a:rPr lang="en-US" altLang="ko-KR" sz="1100" b="0" i="0" u="none" strike="noStrike" kern="1200" baseline="0" dirty="0">
                <a:solidFill>
                  <a:schemeClr val="tx1"/>
                </a:solidFill>
                <a:latin typeface="+mn-lt"/>
                <a:ea typeface="+mn-ea"/>
                <a:cs typeface="+mn-cs"/>
              </a:rPr>
              <a:t>. </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395300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호텔에서 기억에 남는 에피소드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Sometimes, surprising or unexpected things can happen when you stay at a hotel.</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a memorable experience you had while staying at a hotel.</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고생 경험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 취한 경험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우연히 지인 만난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I remember eating something that went bad at a hotel.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 and it was pretty bad.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took some medicine to get better.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stay inside and get a lot of rest.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79939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호텔에 전화해서 현지 날씨 문의</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나는 너에게 상황을 주고 그것을 행동으로 보여 달라고 부탁하고 싶습니다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다른 나라로 휴가를 갑니다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당신의 여행에 어떤 옷을 가져가야 하는지 알고 싶습니다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나라의 호텔에 전화해서 그곳의 날씨가 </a:t>
            </a:r>
            <a:r>
              <a:rPr lang="ko-KR" altLang="en-US" sz="1100" b="0" i="0" kern="1200" dirty="0" err="1">
                <a:solidFill>
                  <a:srgbClr val="0070C0"/>
                </a:solidFill>
                <a:effectLst/>
                <a:latin typeface="+mn-lt"/>
                <a:ea typeface="+mn-ea"/>
                <a:cs typeface="+mn-cs"/>
              </a:rPr>
              <a:t>어떤지</a:t>
            </a:r>
            <a:r>
              <a:rPr lang="ko-KR" altLang="en-US" sz="1100" b="0" i="0" kern="1200" dirty="0">
                <a:solidFill>
                  <a:srgbClr val="0070C0"/>
                </a:solidFill>
                <a:effectLst/>
                <a:latin typeface="+mn-lt"/>
                <a:ea typeface="+mn-ea"/>
                <a:cs typeface="+mn-cs"/>
              </a:rPr>
              <a:t> 두세 가지 더 물어보세요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호텔 근처의 날씨에 관하여 묻기 위해 전화하고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기온은 어떻습니까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덥고 습합니까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화창하고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따뜻한가요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비가 오거나 바람이 부나요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알기를 원합니다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내가 무슨 옷을 입어야 하는지</a:t>
            </a:r>
            <a:endPar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1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96866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호텔에 전화해서 현지 날씨 문의</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are going on a vacation to another country.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want to know what clothes you should bring on your trip.</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Call a hotel in that country and ask two or three more questions about what the weather is like there.</a:t>
            </a:r>
            <a:endParaRPr lang="en-US" altLang="ko-KR" sz="1100" b="0" spc="-5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the weather near the hotel.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the temperatures like?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hot and humid?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sunny and warm?</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rainy or windy?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know what clothes I should take.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96143123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8700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현지 옷가게에 옷 관련 문의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미안하지만 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휴가 때 가지고 온 옷은 날씨에 맞지 않습니다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옷가게에 전화해서 상황을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세일 중인 옷의 종류에 대해 두세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새로운 옷들에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새로운 옷들을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옷들이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너는 나에게 너의 가게로 가는 방향을 줄 수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현지 옷가게에 옷 관련 문의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 clothes that you have brought with you on your vacation are not suitable for the weather.</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a clothing store and explain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Ask two or three questions about the kinds of clothes they have on sale.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some new clothes.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some new clothes.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clothes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3529812"/>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13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예상치 못한 날씨로 인한 본인 에피소드 묘사</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예상치 못한 날씨로 인해 어려움을 겪은 적이 있습니까</a:t>
            </a:r>
            <a:r>
              <a:rPr lang="en-US" altLang="ko-KR" sz="1100" b="0" i="0" kern="1200" spc="-5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예상치 못한 날씨로 인해 무슨 일이 일어났는지 모든 것을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가게에 나의 우산을 남겨 놓은 때를 기억이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그것을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팩하는</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것을 완벽히 잊었습니다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가게를 떠날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밖에 폭우가 왔고</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조금 젖었습니다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이후</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주의하려고 노력합니다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021981"/>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13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예상치 못한 날씨로 인한 본인 에피소드 묘사</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spc="-80" dirty="0">
                <a:solidFill>
                  <a:srgbClr val="FF0000"/>
                </a:solidFill>
                <a:latin typeface="맑은 고딕" panose="020B0503020000020004" pitchFamily="50" charset="-127"/>
                <a:ea typeface="맑은 고딕" panose="020B0503020000020004" pitchFamily="50" charset="-127"/>
                <a:cs typeface="+mn-cs"/>
              </a:rPr>
              <a:t>Have you ever had any trouble due to unexpected weather?</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about what happened due to the unexpected weather.</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left my umbrella at a store.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completely forgot to pack it when I left the store.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pouring outside and I got a little wet.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164296829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720753"/>
            <a:ext cx="6858000" cy="3924151"/>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26 ROLE PLAY</a:t>
            </a: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solidFill>
                  <a:schemeClr val="tx2"/>
                </a:solidFill>
                <a:latin typeface="맑은 고딕" pitchFamily="50" charset="-127"/>
                <a:ea typeface="맑은 고딕" pitchFamily="50" charset="-127"/>
              </a:rPr>
              <a:t>커피숍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음식점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술집 </a:t>
            </a:r>
            <a:r>
              <a:rPr lang="ko-KR" altLang="en-US" sz="2800" b="1">
                <a:solidFill>
                  <a:schemeClr val="tx2"/>
                </a:solidFill>
              </a:rPr>
              <a:t>★</a:t>
            </a:r>
            <a:endParaRPr lang="en-US" altLang="ko-KR" sz="2800" b="1">
              <a:solidFill>
                <a:schemeClr val="tx2"/>
              </a:solidFill>
              <a:latin typeface="맑은 고딕" pitchFamily="50" charset="-127"/>
              <a:ea typeface="맑은 고딕" pitchFamily="50" charset="-127"/>
            </a:endParaRPr>
          </a:p>
        </p:txBody>
      </p:sp>
      <p:sp>
        <p:nvSpPr>
          <p:cNvPr id="3" name="슬라이드 번호 개체 틀 2">
            <a:extLst>
              <a:ext uri="{FF2B5EF4-FFF2-40B4-BE49-F238E27FC236}">
                <a16:creationId xmlns:a16="http://schemas.microsoft.com/office/drawing/2014/main" xmlns="" id="{7B318716-B532-9C93-6BA5-B29CDC0AE2BD}"/>
              </a:ext>
            </a:extLst>
          </p:cNvPr>
          <p:cNvSpPr>
            <a:spLocks noGrp="1"/>
          </p:cNvSpPr>
          <p:nvPr>
            <p:ph type="sldNum" sz="quarter" idx="12"/>
          </p:nvPr>
        </p:nvSpPr>
        <p:spPr/>
        <p:txBody>
          <a:bodyPr/>
          <a:lstStyle/>
          <a:p>
            <a:fld id="{18CC7079-95A2-4860-A138-51A9FC969471}" type="slidenum">
              <a:rPr lang="ko-KR" altLang="en-US" smtClean="0"/>
              <a:t>133</a:t>
            </a:fld>
            <a:endParaRPr lang="ko-KR" altLang="en-US"/>
          </a:p>
        </p:txBody>
      </p:sp>
    </p:spTree>
    <p:extLst>
      <p:ext uri="{BB962C8B-B14F-4D97-AF65-F5344CB8AC3E}">
        <p14:creationId xmlns:p14="http://schemas.microsoft.com/office/powerpoint/2010/main" val="302330282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커피숍 메뉴 전화로 문의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당신의 이웃에 새로운 카페에 대해 들어본 적이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카페에 전화해서 그 모든 것을 알기 위해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커피숍에 관하여 물어보기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친구들과 함께 거기에 가기를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음료들이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너는 나에게 너의 커피숍으로 가는 방향을 줄 수 있나요</a:t>
            </a:r>
            <a:r>
              <a:rPr lang="en-US" altLang="ko-KR" sz="1000" b="0" i="0" u="none" strike="noStrike" kern="1200" spc="-9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5868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커피숍 메뉴 전화로 문의</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heard about a new cafe in your neighborhood.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cafe and ask three or four questions to find out all about it.</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your coffee shop.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go there with my friends.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drinks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your coffee shop?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잘못 배달된 커피 전화로 문제 해결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새로운 카페에서 배달 주문을 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주문이 도착하면</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그것은 올바른 주문이 아닙니다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카페에 전화해서 무슨 일이 일어났는지 설명하고 그 문제에 대한 두세 가지 가능한 해결책을 제안하세요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너의 커피숍에서 커피를 주문했던 사람입니다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나의 커피에 어떤 문제가 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생각합니다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내가 잘못된 음료를 샀다고</a:t>
            </a: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아이스 커피를 주문했습니다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그러나 나는 뜨거운 것을 받았습니다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교환하기를 원합니다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환불 받을 수 있나요</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만약 내가 원하면</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그것은 가능한가요</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err="1">
                <a:solidFill>
                  <a:schemeClr val="tx1"/>
                </a:solidFill>
                <a:latin typeface="+mn-lt"/>
                <a:ea typeface="+mn-ea"/>
                <a:cs typeface="+mn-cs"/>
              </a:rPr>
              <a:t>심여를</a:t>
            </a:r>
            <a:r>
              <a:rPr lang="ko-KR" altLang="en-US" sz="1000" b="0" i="0" u="none" strike="noStrike" kern="1200" baseline="0" dirty="0">
                <a:solidFill>
                  <a:schemeClr val="tx1"/>
                </a:solidFill>
                <a:latin typeface="+mn-lt"/>
                <a:ea typeface="+mn-ea"/>
                <a:cs typeface="+mn-cs"/>
              </a:rPr>
              <a:t> 끼쳐 죄송합니다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3714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잘못 배달된 커피 전화로 문제 해결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placed an order for a delivery from a new cafe.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the order arrives, it is not the right order.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cafe and explain what happened and suggest two or three possible solutions to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ordered coffee from your coffee shop.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coffee.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got the wrong drink.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ordered iced coffee, but the one I got is hot.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an exchange.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get a refund if I want to?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229092450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2937343"/>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사전 주문해 놓은 것이 가보니 없었던 경험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혹시 미리 주문했는데 도착해 보니 주문이 안 되는 상황이었던 적이 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무엇을 주문하셨습니까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왜 준비가 안 됐나요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결국 무슨 일이 일어났나요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솔직히 나는 그런 경험의 종류를 절대 가지고 있지 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행운이라고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정말 이 토픽에 관하여 말할 것이 별로 없습니다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285270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사전 주문해 놓은 것이 가보니 없었던 경험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been in a situation where you had ordered something in advance but when you arrive, it wasn’t available?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did you order? Why wasn’t it ready? What happened in the end?</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Frankly, I have never had that kind of experience.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was lucky.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really don’t have much to say about this topic.</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512550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친구의 가족분이 새로 오픈 한 음식점에 대해 친구에게 전화로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 친구의 가족이 새로운 식당을 열었습니다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전화를 걸어 그 곳에서 음식을 주문하고 </a:t>
            </a:r>
            <a:r>
              <a:rPr lang="ko-KR" altLang="en-US" sz="1000" b="0" i="0" kern="1200" dirty="0" err="1">
                <a:solidFill>
                  <a:srgbClr val="0070C0"/>
                </a:solidFill>
                <a:effectLst/>
                <a:latin typeface="+mn-lt"/>
                <a:ea typeface="+mn-ea"/>
                <a:cs typeface="+mn-cs"/>
              </a:rPr>
              <a:t>싶은지</a:t>
            </a:r>
            <a:r>
              <a:rPr lang="ko-KR" altLang="en-US" sz="1000" b="0" i="0" kern="1200" dirty="0">
                <a:solidFill>
                  <a:srgbClr val="0070C0"/>
                </a:solidFill>
                <a:effectLst/>
                <a:latin typeface="+mn-lt"/>
                <a:ea typeface="+mn-ea"/>
                <a:cs typeface="+mn-cs"/>
              </a:rPr>
              <a:t> 아닌지를 알기 위해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8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삼촌의 새로운 레스토랑에 관하여 물어보기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파티를 위해 몇몇 음식을 주문하기를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6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메뉴가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6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6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너는 나에게 레스토랑으로 가는 방향을 줄 수 있나요</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6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89467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친구의 가족분이 새로 오픈 한 음식점에 대해 친구에게 전화로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Your friend’s family member opened a new restaurant.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ask three or four questions to find out whether you want to order food from that place.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your uncle’s new restaurant.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order some food for a party.</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menus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the restaurant?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09753065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잘못 배달된 점심 도시락 전화해서 문제 해결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당신은 사무실에서 점심 회의를 위해 점심을 주문했습니다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그런데 배달원이 다른 사람의 도시락을 가져다 줬어요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식당 지배인에게 전화해서 상황을 설명하고</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그리고 그 문제에 대한 두세 가지 해결책을 제시합니다</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너의 레스토랑에 점심을 주문했던 사람입니다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나의 점심에 어떤 문제가 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생각합니다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내가 잘못된 메뉴를 샀다고</a:t>
            </a: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치킨 </a:t>
            </a:r>
            <a:r>
              <a:rPr lang="ko-KR" altLang="en-US" sz="1000" b="0" i="0" u="none" strike="noStrike" kern="1200" baseline="0" dirty="0" err="1">
                <a:solidFill>
                  <a:schemeClr val="tx1"/>
                </a:solidFill>
                <a:latin typeface="+mn-lt"/>
                <a:ea typeface="+mn-ea"/>
                <a:cs typeface="+mn-cs"/>
              </a:rPr>
              <a:t>셀러드를</a:t>
            </a:r>
            <a:r>
              <a:rPr lang="ko-KR" altLang="en-US" sz="1000" b="0" i="0" u="none" strike="noStrike" kern="1200" baseline="0" dirty="0">
                <a:solidFill>
                  <a:schemeClr val="tx1"/>
                </a:solidFill>
                <a:latin typeface="+mn-lt"/>
                <a:ea typeface="+mn-ea"/>
                <a:cs typeface="+mn-cs"/>
              </a:rPr>
              <a:t> 주문했습니다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그러나 나는 해산물 </a:t>
            </a:r>
            <a:r>
              <a:rPr lang="ko-KR" altLang="en-US" sz="1000" b="0" i="0" u="none" strike="noStrike" kern="1200" baseline="0" dirty="0" err="1">
                <a:solidFill>
                  <a:schemeClr val="tx1"/>
                </a:solidFill>
                <a:latin typeface="+mn-lt"/>
                <a:ea typeface="+mn-ea"/>
                <a:cs typeface="+mn-cs"/>
              </a:rPr>
              <a:t>셀러드를</a:t>
            </a:r>
            <a:r>
              <a:rPr lang="ko-KR" altLang="en-US" sz="1000" b="0" i="0" u="none" strike="noStrike" kern="1200" baseline="0" dirty="0">
                <a:solidFill>
                  <a:schemeClr val="tx1"/>
                </a:solidFill>
                <a:latin typeface="+mn-lt"/>
                <a:ea typeface="+mn-ea"/>
                <a:cs typeface="+mn-cs"/>
              </a:rPr>
              <a:t> 받았습니다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교환하기를 원합니다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환불 받을 수 있나요</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만약 내가 원하면</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그것은 가능한가요</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err="1">
                <a:solidFill>
                  <a:schemeClr val="tx1"/>
                </a:solidFill>
                <a:latin typeface="+mn-lt"/>
                <a:ea typeface="+mn-ea"/>
                <a:cs typeface="+mn-cs"/>
              </a:rPr>
              <a:t>심여를</a:t>
            </a:r>
            <a:r>
              <a:rPr lang="ko-KR" altLang="en-US" sz="1000" b="0" i="0" u="none" strike="noStrike" kern="1200" baseline="0" dirty="0">
                <a:solidFill>
                  <a:schemeClr val="tx1"/>
                </a:solidFill>
                <a:latin typeface="+mn-lt"/>
                <a:ea typeface="+mn-ea"/>
                <a:cs typeface="+mn-cs"/>
              </a:rPr>
              <a:t> 끼쳐 죄송합니다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잘못 배달된 점심 도시락 전화해서 문제 해결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You have ordered lunch for a lunch meeting at your office.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However, the delivery person brought you someone else's lunch box.</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Call the manager of the restaurant, explain the situation, and give two to three solutions to the problem.</a:t>
            </a:r>
            <a:endParaRPr lang="en-US" altLang="ko-KR" sz="1000" b="0" spc="-3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Hello, I’m a person who ordered lunch from your restaurant.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lunch.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got the wrong menu.</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ordered a chicken salad, but the one I got is a seafood salad.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an exchange.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get a refund if I want to?</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395300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최근에 간 음식점에서 한 일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최근에 친구나 가족과 함께 외식하러 간 것에 대해 이야기하세요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어디에 누구와 함께 갔습니까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뭘 </a:t>
            </a:r>
            <a:r>
              <a:rPr lang="ko-KR" altLang="en-US" sz="1100" b="0" i="0" kern="1200" dirty="0" err="1">
                <a:solidFill>
                  <a:srgbClr val="0070C0"/>
                </a:solidFill>
                <a:effectLst/>
                <a:latin typeface="+mn-lt"/>
                <a:ea typeface="+mn-ea"/>
                <a:cs typeface="+mn-cs"/>
              </a:rPr>
              <a:t>드셨나요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경험의 모든 것을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가족과 나는 지난 주말에 저녁을 먹었습니다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굉장한 멕시칸 레스토랑에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타운에서 베스트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타코를</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가졌습니다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음식은 맛있었습니다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배가 너무 고팠기 때문에</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주문한 새우는 즙이 많고 부드러웠습니다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식사와 함께 맥주를 마셨습니다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매우 기억에 남는 저녁 식사였습니다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최근에 간 음식점에서 한 일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 recent time you went out to eat with your friends or family.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Where did you go and who did you go with? What did you eat?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about that experience.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My family and I had dinner last weekend.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went to a great Mexican restaurant.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had the best tacos in town.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food tasted good because I was so hungry.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shrimp I ordered was very juicy and tender.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we had some beer with the meal.</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a very memorable dinner.</a:t>
            </a:r>
          </a:p>
        </p:txBody>
      </p:sp>
    </p:spTree>
    <p:extLst>
      <p:ext uri="{BB962C8B-B14F-4D97-AF65-F5344CB8AC3E}">
        <p14:creationId xmlns:p14="http://schemas.microsoft.com/office/powerpoint/2010/main" val="266933609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8700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새로 오픈한 술집에 대해 친구에게 전화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60" dirty="0">
                <a:solidFill>
                  <a:srgbClr val="0070C0"/>
                </a:solidFill>
                <a:effectLst/>
                <a:latin typeface="+mn-lt"/>
                <a:ea typeface="+mn-ea"/>
                <a:cs typeface="+mn-cs"/>
              </a:rPr>
              <a:t>당신의 친구가 당신에게 새로운 바가 문을 연다고 말했습니다</a:t>
            </a:r>
            <a:r>
              <a:rPr lang="en-US" altLang="ko-KR" sz="1000" b="0" i="0" kern="1200" spc="-6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당신의 친구에게 전화해서 바에 대해 더 알아보기 위해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새로운 바에 관하여 물어보기 위해 전화하고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친구들과 함께 거기에 가기를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음료들이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나에게 술집으로 가는 방향을 줄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다시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97161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새로 오픈한 술집에 대해 친구에게 전화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 friend of yours has told you that a new bar is opening.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ask three or four questions to find out more about the bar.</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the new bar.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go there with my friends.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drinks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the bar?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친구에게 아파서 술집에 못 가게 되어 설명</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대안제시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오늘 밤 이 새로운 술집에서 친구를 만나기로 되어 있지만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당신은 몸이 좋지 않아요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설명하고 다음에 바에 가자고 두세 가지 제안을 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 짐</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피터입니다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오늘밤 바에 못 </a:t>
            </a:r>
            <a:r>
              <a:rPr lang="ko-KR" altLang="en-US" sz="1000" b="0" i="0" u="none" strike="noStrike" kern="1200" baseline="0" dirty="0" err="1">
                <a:solidFill>
                  <a:schemeClr val="tx1"/>
                </a:solidFill>
                <a:latin typeface="+mn-lt"/>
                <a:ea typeface="+mn-ea"/>
                <a:cs typeface="+mn-cs"/>
              </a:rPr>
              <a:t>갈것</a:t>
            </a:r>
            <a:r>
              <a:rPr lang="ko-KR" altLang="en-US" sz="1000" b="0" i="0" u="none" strike="noStrike" kern="1200" baseline="0" dirty="0">
                <a:solidFill>
                  <a:schemeClr val="tx1"/>
                </a:solidFill>
                <a:latin typeface="+mn-lt"/>
                <a:ea typeface="+mn-ea"/>
                <a:cs typeface="+mn-cs"/>
              </a:rPr>
              <a:t> 같습니다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지금 매우 아픕니다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하기를 원합니까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 번에 가는게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다음주에 가는게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우리는 다른 시간에 갈 수 있어요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mn-lt"/>
                <a:ea typeface="+mn-ea"/>
                <a:cs typeface="+mn-cs"/>
              </a:rPr>
              <a:t/>
            </a:r>
            <a:br>
              <a:rPr lang="en-US" altLang="ko-KR" sz="1000" b="0" i="0" u="none" strike="noStrike" kern="1200" baseline="0" dirty="0">
                <a:solidFill>
                  <a:schemeClr val="tx1"/>
                </a:solidFill>
                <a:latin typeface="+mn-lt"/>
                <a:ea typeface="+mn-ea"/>
                <a:cs typeface="+mn-cs"/>
              </a:rPr>
            </a:b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다시 전화주세요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친구에게 아파서 술집에 못 가게 되어 설명</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대안제시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are supposed to meet your friend at this new bar tonight, but you are not feeling well.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explain the situation, and make two or three suggestions to go to a bar another time.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DON'T think I can make it to the bar tonight.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very sick right now.</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go next time?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go next week?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go another time.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Tree>
    <p:extLst>
      <p:ext uri="{BB962C8B-B14F-4D97-AF65-F5344CB8AC3E}">
        <p14:creationId xmlns:p14="http://schemas.microsoft.com/office/powerpoint/2010/main" val="53214776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294509"/>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술집에서 있었던 기억에 남는 에피소드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우리는 모두 특정한 술집이나 </a:t>
            </a:r>
            <a:r>
              <a:rPr lang="ko-KR" altLang="en-US" sz="1000" b="0" i="0" kern="1200" dirty="0" err="1">
                <a:solidFill>
                  <a:srgbClr val="0070C0"/>
                </a:solidFill>
                <a:effectLst/>
                <a:latin typeface="+mn-lt"/>
                <a:ea typeface="+mn-ea"/>
                <a:cs typeface="+mn-cs"/>
              </a:rPr>
              <a:t>펍</a:t>
            </a:r>
            <a:r>
              <a:rPr lang="ko-KR" altLang="en-US" sz="1000" b="0" i="0" kern="1200" dirty="0">
                <a:solidFill>
                  <a:srgbClr val="0070C0"/>
                </a:solidFill>
                <a:effectLst/>
                <a:latin typeface="+mn-lt"/>
                <a:ea typeface="+mn-ea"/>
                <a:cs typeface="+mn-cs"/>
              </a:rPr>
              <a:t> 방문을 기억합니다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특히 기억에 남는 술집 방문에 대해 모두 말해주세요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거기 누가 있었어요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무슨 일입니까</a:t>
            </a:r>
            <a:r>
              <a:rPr lang="en-US" altLang="ko-KR" sz="1000" b="0" i="0" kern="1200" dirty="0">
                <a:solidFill>
                  <a:srgbClr val="0070C0"/>
                </a:solidFill>
                <a:effectLst/>
                <a:latin typeface="+mn-lt"/>
                <a:ea typeface="+mn-ea"/>
                <a:cs typeface="+mn-cs"/>
              </a:rPr>
              <a:t>?</a:t>
            </a:r>
          </a:p>
          <a:p>
            <a:r>
              <a:rPr lang="ko-KR" altLang="en-US" sz="1000" b="0" i="0" kern="1200" dirty="0">
                <a:solidFill>
                  <a:srgbClr val="0070C0"/>
                </a:solidFill>
                <a:effectLst/>
                <a:latin typeface="+mn-lt"/>
                <a:ea typeface="+mn-ea"/>
                <a:cs typeface="+mn-cs"/>
              </a:rPr>
              <a:t>그날 저녁에 대해 자세히 설명해 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모임에 간 것을 기억합니다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dirty="0">
                <a:solidFill>
                  <a:schemeClr val="tx1"/>
                </a:solidFill>
                <a:latin typeface="맑은 고딕" panose="020B0503020000020004" pitchFamily="50" charset="-127"/>
                <a:ea typeface="맑은 고딕" panose="020B0503020000020004" pitchFamily="50" charset="-127"/>
                <a:cs typeface="+mn-cs"/>
              </a:rPr>
              <a:t>그것은 한국 술집에서 열렸고</a:t>
            </a:r>
            <a:r>
              <a:rPr lang="en-US" altLang="ko-KR" sz="1000" b="0" i="0" u="none" strike="noStrike" kern="120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dirty="0">
                <a:solidFill>
                  <a:schemeClr val="tx1"/>
                </a:solidFill>
                <a:latin typeface="맑은 고딕" panose="020B0503020000020004" pitchFamily="50" charset="-127"/>
                <a:ea typeface="맑은 고딕" panose="020B0503020000020004" pitchFamily="50" charset="-127"/>
                <a:cs typeface="+mn-cs"/>
              </a:rPr>
              <a:t>우리는 거기에서 맥주를 마셨습니다</a:t>
            </a:r>
            <a:r>
              <a:rPr lang="en-US" altLang="ko-KR" sz="1000" b="0" i="0" u="none" strike="noStrike" kern="120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그날 술을 많이 마셨습니다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매우 취했습니다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너무 많이 마셨기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토할 것 같았습니다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현기증이 났고</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나는 똑바로 걸을 수가 없었습니다</a:t>
            </a:r>
            <a:r>
              <a:rPr lang="en-US" altLang="ko-KR" sz="1000" b="0" i="0" u="none" strike="noStrike" kern="1200" spc="-8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기억이 나지 않았습니다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어떻게 집에 갔는지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다음날 숙취가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내가 술을 깨는데 오랜 시간이 걸렸습니다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그후</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조심하려고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20217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술집에서 있었던 기억에 남는 에피소드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We all remember specific bar or pub visits.</a:t>
            </a: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all about the bar visit that was particularly memorable.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Who was there? What happened? Describe that evening in detail.</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a gathering recently.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held at a Korean bar and we drank beer there.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I drank a lot that 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very drunk because I drank too much.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like throwing up.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felt dizzy and I could NOT walk straight.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 NOT even remember how I got home.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 hangover the next day. It took me a long time to sober up.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89467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친구한테 생일 파티를 하게 될 술집에 대해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 생일 파티에 초대받았습니다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 파티는 바에서 열릴 것입니다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파티가 열리는 장소에 대해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생일 축하합니다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파티에 나를 초대해 주셔서 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그것이 바에 열릴 것이라고 들었습니다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음료들이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나에게 술집으로 가는 방향을 줄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다시 전화주세요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친구한테 생일 파티를 하게 될 술집에 대해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been invited to a friend’s birthday party.</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 party will be held at a bar.</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ask three or four questions about the place that the party is going to be held at.</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Happy Birthday!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Thanks for inviting me to your party.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heard it is going to be held at a bar.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drinks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the bar?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Tree>
    <p:extLst>
      <p:ext uri="{BB962C8B-B14F-4D97-AF65-F5344CB8AC3E}">
        <p14:creationId xmlns:p14="http://schemas.microsoft.com/office/powerpoint/2010/main" val="65099564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139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시험 때문에 친구 생일 파티 불참 전화로 설명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내일 시험이 있어서 생일 파티에 갈 수 없어요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전화를 걸어 상황을 설명하고 상황에 대해 </a:t>
            </a:r>
            <a:r>
              <a:rPr lang="en-US" altLang="ko-KR" sz="1000" b="0" i="0" kern="1200" dirty="0">
                <a:solidFill>
                  <a:srgbClr val="0070C0"/>
                </a:solidFill>
                <a:effectLst/>
                <a:latin typeface="+mn-lt"/>
                <a:ea typeface="+mn-ea"/>
                <a:cs typeface="+mn-cs"/>
              </a:rPr>
              <a:t>2~3</a:t>
            </a:r>
            <a:r>
              <a:rPr lang="ko-KR" altLang="en-US" sz="1000" b="0" i="0" kern="1200" dirty="0">
                <a:solidFill>
                  <a:srgbClr val="0070C0"/>
                </a:solidFill>
                <a:effectLst/>
                <a:latin typeface="+mn-lt"/>
                <a:ea typeface="+mn-ea"/>
                <a:cs typeface="+mn-cs"/>
              </a:rPr>
              <a:t>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나쁜 뉴스들을 가지고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생일에 못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갈것</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같습니다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내일 시험이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매우 죄송합니다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나중에 너에게 보상하기를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언제 만나기를 원합니까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토요일에 자유롭습니다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그날 시간을 가지고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만약 없다면</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일요일에 몇몇 시간을 만들 수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아뭏튼</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제발 파티에서 즐거움을 가지세요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다시한번 생일 축하합니다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5099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시험 때문에 친구 생일 파티 불참 전화로 설명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a test coming up tomorrow and cannot make it to the birthday party.</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explain the situation, and give two to three alternatives regarding the situation.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DON'T think I can make it to your birthday party.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a test coming up tomorrow.</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so sorry. I want to make it up to you later on.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do you want to meet?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free on Saturday.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have time that 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not, I can make some time on Sunday.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Anyway, please have fun at the party.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Happy birthday once again!</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80234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술집에서 지갑이 없어서 직원에게 외상 요청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술집에서 술값을 지불하고 싶지만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지갑을 가지고 있지 않다는 것을 알게 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점원에게 상황을 설명하고 문제를 해결할 수 있는 몇 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너무 죄송합니다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나의 지갑을 찾을 수가 없습니다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집에 그것을 놓고 왔다고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나에게 지금 바로 어떤 현금도 가지고 있지 않습니다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식사를 위해 지불할 수 없을 것이라고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내일 지불할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 가는 길에 멈출 것이다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전화번호를 너에게 줄 것입니다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여기는 나의 명함입니다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638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술집에서 지갑이 없어서 직원에게 외상 요청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want to pay for the drinks at a bar, but you find out that you DON'T have your wallet with you.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Explain your situation to the clerk and give several alternatives to solve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so sorry but I cannot find my wallet.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left it at home.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 NOT have any cash on me right now.</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do NOT think I can pay for the meal.</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pay tomorrow?</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will stop by on my way home.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will give you my phone number.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Here is my business card.</a:t>
            </a:r>
          </a:p>
        </p:txBody>
      </p:sp>
    </p:spTree>
    <p:extLst>
      <p:ext uri="{BB962C8B-B14F-4D97-AF65-F5344CB8AC3E}">
        <p14:creationId xmlns:p14="http://schemas.microsoft.com/office/powerpoint/2010/main" val="35615363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140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3714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가장 좋아하는 술집 묘사</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가고 싶은 바에 대해 이야기하세요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왜 그 바에 가는 것을 좋아합니까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그곳의 특별한 점은 무엇입니까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한국에는 많은 술집이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mn-lt"/>
                <a:ea typeface="+mn-ea"/>
                <a:cs typeface="+mn-cs"/>
              </a:rPr>
              <a:t>그들의 많은 수는 복잡한 거리에 있습니다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그들은 찾기 쉽습니다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그들이 어디에나 있기 때문에</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개인적으로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사무실 근처 술집에 종종 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다양한 타입의 맥주를 제공하는 멋진 술집입니다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그 장소를 좋아합니다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음식과 분위기가 좋아서</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사무실과 가깝습니다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직원들은 매우 친절합니다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다른 술집들 보다 더 쌉니다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거기에 단골입니다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평균적으로 한달에 한번은 거기에 간다고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내가 가장 좋아하는 바입니다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5099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가장 좋아하는 술집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Talk about a bar you like to go to.</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Why do you like to go to that bar? What is special about that place?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are many bars in Korea.</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Many of them are on busy streets.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easy to find because they are everywhere.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Personally, I like going to a pub near my office.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a nice pub that serves various beer.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like that place because I like the food and the mood.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it is close to my office.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the staff are very friendly.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it is cheaper than other pubs.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a regular there. I think I go there once a month on average.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what my favorite bar is like.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309898"/>
          </a:xfrm>
          <a:prstGeom prst="rect">
            <a:avLst/>
          </a:prstGeom>
          <a:noFill/>
        </p:spPr>
        <p:txBody>
          <a:bodyPr wrap="square" rtlCol="0">
            <a:spAutoFit/>
          </a:bodyPr>
          <a:lstStyle/>
          <a:p>
            <a:pPr latinLnBrk="1">
              <a:lnSpc>
                <a:spcPct val="100000"/>
              </a:lnSpc>
            </a:pPr>
            <a:r>
              <a:rPr lang="en-US" altLang="ko-KR" sz="900" b="1" dirty="0">
                <a:solidFill>
                  <a:schemeClr val="tx2"/>
                </a:solidFill>
                <a:latin typeface="맑은 고딕" pitchFamily="50" charset="-127"/>
                <a:ea typeface="맑은 고딕" pitchFamily="50" charset="-127"/>
              </a:rPr>
              <a:t>13 [Adv]</a:t>
            </a:r>
            <a:r>
              <a:rPr lang="en-US" altLang="ko-KR" sz="900" b="1" baseline="0" dirty="0">
                <a:solidFill>
                  <a:schemeClr val="tx2"/>
                </a:solidFill>
                <a:latin typeface="맑은 고딕" pitchFamily="50" charset="-127"/>
                <a:ea typeface="맑은 고딕" pitchFamily="50" charset="-127"/>
              </a:rPr>
              <a:t> </a:t>
            </a:r>
            <a:r>
              <a:rPr lang="ko-KR" altLang="en-US" sz="900" b="1" baseline="0" dirty="0">
                <a:solidFill>
                  <a:srgbClr val="FF0000"/>
                </a:solidFill>
                <a:latin typeface="맑은 고딕" pitchFamily="50" charset="-127"/>
                <a:ea typeface="맑은 고딕" pitchFamily="50" charset="-127"/>
              </a:rPr>
              <a:t>술집에서 있었던 기억에 남는 에피소드 묘사</a:t>
            </a:r>
            <a:endParaRPr lang="en-US" altLang="ko-KR" sz="9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가고 싶은 바에 대해 이야기하세요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왜 그 바에 가는 것을 좋아합니까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그곳의 특별한 점은 무엇입니까</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모임에 간 것을 기억합니다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그것은 한국 술집에서 열렸고</a:t>
            </a:r>
            <a:r>
              <a:rPr lang="en-US" altLang="ko-KR"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우리는 거기에서 맥주를 마셨습니다</a:t>
            </a:r>
            <a:r>
              <a:rPr lang="en-US" altLang="ko-KR" sz="1000" b="0" i="0" u="none" strike="noStrike" kern="1200" spc="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9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그날 술을 많이 마셨습니다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매우 취했습니다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너무 많이 마셔서</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토할 것 같았습니다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현기증이 났고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똑바로 걸을 수가 없었습니다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만취상태이고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필름이 끊겼습니다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다음날 숙취가 있었습니다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내가 술을 깨는데 오랜 시간이 걸렸습니다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9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그후</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조심하려고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894399"/>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술집에서 있었던 기억에 남는 에피소드 묘사</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Talk about a memorable incident that happened at a bar.</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Why was that incident unforgettable? Give me all the details.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going to a gathering recently.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held at a Korean bar and we drank beer there.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drank a lot that 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very drunk because I drank too much.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like throwing up.</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felt dizzy and I could NOT walk straight.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wasted and blacked 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 hangover the next day. It took me a long time to sober up.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276267212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720753"/>
            <a:ext cx="6858000" cy="3924151"/>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27 ROLE PLAY</a:t>
            </a: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solidFill>
                  <a:schemeClr val="tx2"/>
                </a:solidFill>
                <a:latin typeface="맑은 고딕" pitchFamily="50" charset="-127"/>
                <a:ea typeface="맑은 고딕" pitchFamily="50" charset="-127"/>
              </a:rPr>
              <a:t>인터넷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면접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피트니스 센터 </a:t>
            </a:r>
            <a:r>
              <a:rPr lang="ko-KR" altLang="en-US" sz="2800" b="1">
                <a:solidFill>
                  <a:schemeClr val="tx2"/>
                </a:solidFill>
              </a:rPr>
              <a:t>★</a:t>
            </a:r>
            <a:endParaRPr lang="en-US" altLang="ko-KR" sz="2800" b="1">
              <a:solidFill>
                <a:schemeClr val="tx2"/>
              </a:solidFill>
              <a:latin typeface="맑은 고딕" pitchFamily="50" charset="-127"/>
              <a:ea typeface="맑은 고딕" pitchFamily="50" charset="-127"/>
            </a:endParaRPr>
          </a:p>
        </p:txBody>
      </p:sp>
      <p:sp>
        <p:nvSpPr>
          <p:cNvPr id="3" name="슬라이드 번호 개체 틀 2">
            <a:extLst>
              <a:ext uri="{FF2B5EF4-FFF2-40B4-BE49-F238E27FC236}">
                <a16:creationId xmlns:a16="http://schemas.microsoft.com/office/drawing/2014/main" xmlns="" id="{B60B54B8-2886-679F-901C-8ABF9B216D18}"/>
              </a:ext>
            </a:extLst>
          </p:cNvPr>
          <p:cNvSpPr>
            <a:spLocks noGrp="1"/>
          </p:cNvSpPr>
          <p:nvPr>
            <p:ph type="sldNum" sz="quarter" idx="12"/>
          </p:nvPr>
        </p:nvSpPr>
        <p:spPr/>
        <p:txBody>
          <a:bodyPr/>
          <a:lstStyle/>
          <a:p>
            <a:fld id="{18CC7079-95A2-4860-A138-51A9FC969471}" type="slidenum">
              <a:rPr lang="ko-KR" altLang="en-US" smtClean="0"/>
              <a:t>141</a:t>
            </a:fld>
            <a:endParaRPr lang="ko-KR" altLang="en-US"/>
          </a:p>
        </p:txBody>
      </p:sp>
    </p:spTree>
    <p:extLst>
      <p:ext uri="{BB962C8B-B14F-4D97-AF65-F5344CB8AC3E}">
        <p14:creationId xmlns:p14="http://schemas.microsoft.com/office/powerpoint/2010/main" val="278557226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142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099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친구가 찾은 웹사이트에 대해 전화로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당신의 친구가 멋진 웹사이트를 찾았습니다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친구에게 전화를 걸어 그가 찾은 웹사이트에 대해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너가 말한 웹사이트에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그것을 확인하기를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무슨 종류의 사이트입니까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소셜네트워크</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사이트인가요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사람들을 친구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팔로우</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할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사진이나 비디오 클립을 포스트 할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메시지를 남길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정말 그 웹사이트를 확인하기를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27912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친구가 찾은 웹사이트에 대해 전화로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Your friend has found a cool website. Call your friend and ask three or four questions about the website he/she has found.</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John.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the website you talked about.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check it out.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 of site is it?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a social networking site?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“friend” or “follow” people?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post pictures or video clips?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leave messages?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really want to check out that website.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79939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웹 브라우저의 문제</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인터넷 회사 전화 도움 요청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죄송하지만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당신이 해결해야 할 문제가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해당 웹 사이트에 로그온 하려고 했지만 웹 브라우저에 문제가 있습니다</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인터넷 </a:t>
            </a:r>
            <a:r>
              <a:rPr lang="ko-KR" altLang="en-US" sz="1100" b="0" i="0" kern="1200" dirty="0" err="1">
                <a:solidFill>
                  <a:srgbClr val="0070C0"/>
                </a:solidFill>
                <a:effectLst/>
                <a:latin typeface="+mn-lt"/>
                <a:ea typeface="+mn-ea"/>
                <a:cs typeface="+mn-cs"/>
              </a:rPr>
              <a:t>헬프</a:t>
            </a:r>
            <a:r>
              <a:rPr lang="ko-KR" altLang="en-US" sz="1100" b="0" i="0" kern="1200" dirty="0">
                <a:solidFill>
                  <a:srgbClr val="0070C0"/>
                </a:solidFill>
                <a:effectLst/>
                <a:latin typeface="+mn-lt"/>
                <a:ea typeface="+mn-ea"/>
                <a:cs typeface="+mn-cs"/>
              </a:rPr>
              <a:t> 데스크에 전화해서 도움을 요청하세요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가능한 한 빨리 도움을 받아야 하는 이유를 설명하십시오</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mn-lt"/>
                <a:ea typeface="+mn-ea"/>
                <a:cs typeface="+mn-cs"/>
              </a:rPr>
              <a:t>안녕하세요</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몇몇 도움을 위한 질문을 위해서 전화를 하고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나의 웹 브라우저에 어떤 문제가 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몇몇 연결 문제를 가지고 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나는 몇몇 도움을 받기를 원합니다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사무실에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방문할수</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웹 브라우저의 문제</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인터넷 회사 전화 도움 요청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tried to log on to that website, but there is something wrong with your web browser. Call the internet help desk and ask for help.</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Explain why you need to get help as soon as possible.</a:t>
            </a:r>
            <a:endParaRPr lang="en-US" altLang="ko-KR" sz="1100" b="0" spc="-5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for some help.</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web browser.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having some connection problems.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some help.</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office?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late are you open?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192688986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143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25341"/>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그</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사이트가 접속이 안 되어 친구에게 도움 요청  </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해당 웹 사이트를 확인하려고 했지만 사용할 수 없습니다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설명하고 문제를 해결하기 위해 몇 가지 제안을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나쁜 뉴스들을 가지고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웹사이트에 로깅을 하는데 어려움을 가지고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나를 도와 줄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만나는게</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언제 만나기를 원합니까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토요일에 자유롭습니다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그날 시간을 가지고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만약 없다면</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일요일에 몇몇 시간을 만들 수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371453"/>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그</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사이트가 접속이 안 되어 친구에게 도움 요청  </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spc="-60" dirty="0">
                <a:solidFill>
                  <a:srgbClr val="FF0000"/>
                </a:solidFill>
                <a:latin typeface="맑은 고딕" panose="020B0503020000020004" pitchFamily="50" charset="-127"/>
                <a:ea typeface="맑은 고딕" panose="020B0503020000020004" pitchFamily="50" charset="-127"/>
                <a:cs typeface="+mn-cs"/>
              </a:rPr>
              <a:t>You have tried to check out that website, but it is not available.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explain the situation and make some suggestions to solve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John.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having trouble logging on to the website.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help me out?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meet up?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do you want to meet?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free on Saturday.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have time that 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not, I can make some time on Sunday.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714752"/>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13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인터넷을 이용해서 최근에 한 프로젝트 묘사</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과거에 프로젝트를 수행하기 위해 인터넷을 어떻게 사용했습니까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그게 언제 였나요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 프로젝트는 무엇에 관한 것이었나요</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모든 세부 사항을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업무에서 프로젝트를 한 것이 기억에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프로젝트를 위해서 리포트를 작성해야 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인터넷과 몇몇 검색을 서핑 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데이터를 모으고 그들을 나의 레포트에 사용하였습니다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레포트는 더 좋게 되었습니다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 안에 많은 정보가 있어서</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그것은 시간과 에너지를 들일 만한 가치가 있었습니다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인터넷을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서핑하는</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것은 매우 도움이 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나의 프로젝트를 할 때</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06921"/>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13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인터넷을 이용해서 최근에 한 프로젝트 묘사</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did you use the internet to get a project done in the past?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was it? What was the project about? Give me all the details.</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doing a project at work recently.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write a report for the project.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surfed the internet and did some searches.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gathered some data and used them in my report.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report became better because there was a lot of information in it.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worth the time and energy.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surfing the internet was very helpful when I was doing my project.</a:t>
            </a:r>
          </a:p>
        </p:txBody>
      </p:sp>
    </p:spTree>
    <p:extLst>
      <p:ext uri="{BB962C8B-B14F-4D97-AF65-F5344CB8AC3E}">
        <p14:creationId xmlns:p14="http://schemas.microsoft.com/office/powerpoint/2010/main" val="185591617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144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36053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인터넷을 하면서 겪은 불편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인터넷에서 어떤 문제를 겪은 적이 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아마도 당신은 웹사이트를 사용하는 데 어려움을 겪었거나 인터넷 연결이 끊겼을 것입니다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정확한 문제가 무엇이었고</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 상황을 어떻게 처리했나요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요즈음 스팸메일이 너무 많이 받습니다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항상 나에게 스팸 메일을 보내는 사람들을 차단합니다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너무 짜증납니다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이것은 문제입니다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인터넷에서 가지고 있는</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285270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인터넷을 하면서 겪은 불편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had any trouble on the internet?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Perhaps, you had difficulty using a website or you lost internet connection.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the exact problem and how did you deal with the situation?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get so many spam mails these days.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always block people who send me spam mail.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so annoying.</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is the problem I had on the internet.</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54547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인터뷰를 보러 가야 하는 회사에 대해 질문</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나는 너에게 상황을 주고 그것을 행동으로 보여 달라고 부탁하고 싶습니다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회사에서 면접을 보고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회사에 전화해서 회사에 대해 서너 가지 질문을 하세요</a:t>
            </a:r>
            <a:r>
              <a:rPr lang="en-US" altLang="ko-KR" sz="1100" b="0" i="0" kern="1200" spc="-50" dirty="0">
                <a:solidFill>
                  <a:srgbClr val="0070C0"/>
                </a:solidFill>
                <a:effectLst/>
                <a:latin typeface="+mn-lt"/>
                <a:ea typeface="+mn-ea"/>
                <a:cs typeface="+mn-cs"/>
              </a:rPr>
              <a:t>.</a:t>
            </a:r>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이름은 피터입니다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그곳에서 인터뷰를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회사에 관하여 묻기를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몇몇 종업원 혜택은 무엇인가요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사람들은 얼마나 많은 돈을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받는가요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휴가는 얼마나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긴가요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너는 나에게 회사로 가는 방향을 줄 수 있나요</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0705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인터뷰를 보러 가야 하는 회사에 대해 질문</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are have an interview at a company.</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company and ask three or four questions about the company.</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my name is Peter.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an interview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ask about your company.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what are some employee benefits?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how much do people get paid?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how long are the vacations?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your company?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52942392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145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3011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인터뷰 못 가는 긴급 상황</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전화로 상황 설명 대안제시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죄송하지만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당신이 해결해야 할 문제가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급한 일이 있어서 인터뷰에 참석할 수 없습니다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회사에 전화해서 상황을 설명하세요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일정 변경을 위한 준비를 할 수 있는 몇 가지 대안을 제시하세요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이름은 피터입니다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그곳에서 인터뷰를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인터뷰에 못 갈 것 같습니다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 무슨 일이 생겼습니다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인터뷰를 다시 잡기를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79939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인터뷰 못 가는 긴급 상황</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전화로 상황 설명 대안제시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There is an emergency and you cannot make it to the interview.</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company and explain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some alternatives to make arrangements for a schedule change.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my name is Peter.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an interview there.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However, I DON'T think I can make it to my interview.</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Something urgent came up suddenly.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reschedule my interview.</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2591094"/>
          </a:xfrm>
          <a:prstGeom prst="rect">
            <a:avLst/>
          </a:prstGeom>
          <a:noFill/>
        </p:spPr>
        <p:txBody>
          <a:bodyPr wrap="square" rtlCol="0">
            <a:spAutoFit/>
          </a:bodyPr>
          <a:lstStyle/>
          <a:p>
            <a:pPr latinLnBrk="1">
              <a:lnSpc>
                <a:spcPct val="100000"/>
              </a:lnSpc>
            </a:pPr>
            <a:r>
              <a:rPr lang="en-US" altLang="ko-KR" sz="1050" b="1" dirty="0">
                <a:solidFill>
                  <a:schemeClr val="tx2"/>
                </a:solidFill>
                <a:latin typeface="맑은 고딕" pitchFamily="50" charset="-127"/>
                <a:ea typeface="맑은 고딕" pitchFamily="50" charset="-127"/>
              </a:rPr>
              <a:t>13 [Adv]</a:t>
            </a:r>
            <a:r>
              <a:rPr lang="en-US" altLang="ko-KR" sz="1050" b="1" baseline="0" dirty="0">
                <a:solidFill>
                  <a:schemeClr val="tx2"/>
                </a:solidFill>
                <a:latin typeface="맑은 고딕" pitchFamily="50" charset="-127"/>
                <a:ea typeface="맑은 고딕" pitchFamily="50" charset="-127"/>
              </a:rPr>
              <a:t> </a:t>
            </a:r>
            <a:r>
              <a:rPr lang="ko-KR" altLang="en-US" sz="1050" b="1" baseline="0" dirty="0">
                <a:solidFill>
                  <a:srgbClr val="FF0000"/>
                </a:solidFill>
                <a:latin typeface="맑은 고딕" pitchFamily="50" charset="-127"/>
                <a:ea typeface="맑은 고딕" pitchFamily="50" charset="-127"/>
              </a:rPr>
              <a:t>중요한 약속이나 미팅 취소한 경험 묘사</a:t>
            </a:r>
            <a:endParaRPr lang="en-US" altLang="ko-KR" sz="105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어떤 이유로 약속이나 회의를 취소한 적이 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왜 그렇게 해야 했고</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그 상황에 어떻게 대처했나요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솔직히 나는 그런 경험의 종류를 절대 가지고 있지 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행운이라고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정말 이 토픽에 관하여 말할 것이 별로 없습니다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267573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중요한 약속이나 미팅 취소한 경험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cancelled an appointment or a meeting for any reason?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Why did you have to do that and how did you deal with the situation?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Frankly, I have never had that kind of experience.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was lucky.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really don’t have much to say about this topic.</a:t>
            </a:r>
          </a:p>
        </p:txBody>
      </p:sp>
    </p:spTree>
    <p:extLst>
      <p:ext uri="{BB962C8B-B14F-4D97-AF65-F5344CB8AC3E}">
        <p14:creationId xmlns:p14="http://schemas.microsoft.com/office/powerpoint/2010/main" val="421981780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146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6389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피트니스 센터 강습 전화 문의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피트니스 센터 수업에 등록하기를 원합니다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피트니스 센터에 전화해서 프로그램에 대해 물어보세요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8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피트니스 센터에 관하여 물어보기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맴버쉽을</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위한 사인을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프로그램이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어떤것을</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볼수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나에게 너의 피트니스 센터로 가는 방향을 줄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지하철역에서 가깝나요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피트니스 센터 강습 전화 문의</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want to enroll for a class at a fitness center.</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fitness center and ask questions about their programs.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your fitness center.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sign up for a membership.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programs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your fitness center?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79939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트레이너에게 긴급 상황 때문에 불참통보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대안제시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죄송하지만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당신이 해결해야 할 문제가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긴급 상황이 발생하여 개인 트레이너와 함께 세션에 참석할 수 없습니다</a:t>
            </a:r>
            <a:r>
              <a:rPr lang="en-US" altLang="ko-KR" sz="1100" b="0" i="0" kern="1200" dirty="0">
                <a:solidFill>
                  <a:srgbClr val="0070C0"/>
                </a:solidFill>
                <a:effectLst/>
                <a:latin typeface="+mn-lt"/>
                <a:ea typeface="+mn-ea"/>
                <a:cs typeface="+mn-cs"/>
              </a:rPr>
              <a:t>.</a:t>
            </a:r>
          </a:p>
          <a:p>
            <a:r>
              <a:rPr lang="ko-KR" altLang="en-US" sz="1100" b="0" i="0" kern="1200" dirty="0">
                <a:solidFill>
                  <a:srgbClr val="0070C0"/>
                </a:solidFill>
                <a:effectLst/>
                <a:latin typeface="+mn-lt"/>
                <a:ea typeface="+mn-ea"/>
                <a:cs typeface="+mn-cs"/>
              </a:rPr>
              <a:t>강사에게 전화를 걸어 상황을 설명하십시오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일정 변경을 위한 준비를 할 수 있는 몇 가지 대안을 제시하세요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이름은 피터입니다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그곳에서 트레이닝 세션을 가집니다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세션에 못 갈 것 같습니다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 무슨 일이 생겼습니다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세션을 다시 잡기를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나에게 전화주세요</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이것을 받았을 때</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3780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트레이너에게 긴급 상황 때문에 불참통보</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대안제시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There is an emergency and you cannot make it to the session with your personal trainer. Call your trainer and explain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some alternatives to make arrangements for a schedule change.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my name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a training session there.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However, I DON'T think I can make it to the session.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Something urgent has come up suddenly.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reschedule my session.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233543262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147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5079339"/>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건강을 위해 한 일들 설명</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80" dirty="0">
                <a:solidFill>
                  <a:srgbClr val="0070C0"/>
                </a:solidFill>
                <a:effectLst/>
                <a:latin typeface="+mn-lt"/>
                <a:ea typeface="+mn-ea"/>
                <a:cs typeface="+mn-cs"/>
              </a:rPr>
              <a:t>여러분은 더 건강해지기 위해 어떤 것을 시도해 본 적이 있나요</a:t>
            </a:r>
            <a:r>
              <a:rPr lang="en-US" altLang="ko-KR" sz="1000" b="0" i="0" kern="1200" spc="-8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당신의 건강을 증진시키기 위해 한 모든 것을 말해주세요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8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건강하게 먹는 것은 내가 건강을 유지하는 것과 몸무게를 빼는 것을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돕습니다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첫째</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있을때</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마다 야채와 과일을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그들안에</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많은 비타민과 섬유질을 포함합니다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생선과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닭가슴살을</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내가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있는 한 많이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건강한 단백질이 풍부합니다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유기농 음식을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먹을려고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가능할때</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마다</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화학물질로 자리지 않습니다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 그들은 훨씬 더 건강합니다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건강하게 먹는 것은 내가 건강을 유지하는 것과 몸무게를 빼는 것을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돕습니다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89467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건강을 위해 한 일들 설명</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tried anything to become healthier?</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that you did to improve your health.</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Eating healthy helped me stay healthy and lose some weight.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First, I tried to eat vegetables and fruits as often as I could.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contain a lot of vitamins and fiber.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tried to eat fish and chicken breasts as much as I could.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rich in healthy protein.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tried to eat organic food whenever I could.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are NOT grown with chemicals, so they are much healthier.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eating healthy helped me stay healthy and lose some weight.</a:t>
            </a:r>
          </a:p>
        </p:txBody>
      </p:sp>
    </p:spTree>
    <p:extLst>
      <p:ext uri="{BB962C8B-B14F-4D97-AF65-F5344CB8AC3E}">
        <p14:creationId xmlns:p14="http://schemas.microsoft.com/office/powerpoint/2010/main" val="150290983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720753"/>
            <a:ext cx="6858000" cy="3924151"/>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28 ROLE PLAY</a:t>
            </a: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solidFill>
                  <a:schemeClr val="tx2"/>
                </a:solidFill>
                <a:latin typeface="맑은 고딕" pitchFamily="50" charset="-127"/>
                <a:ea typeface="맑은 고딕" pitchFamily="50" charset="-127"/>
              </a:rPr>
              <a:t>은행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병원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가구점 </a:t>
            </a:r>
            <a:r>
              <a:rPr lang="ko-KR" altLang="en-US" sz="2800" b="1">
                <a:solidFill>
                  <a:schemeClr val="tx2"/>
                </a:solidFill>
              </a:rPr>
              <a:t>★★★</a:t>
            </a:r>
            <a:endParaRPr lang="en-US" altLang="ko-KR" sz="2800" b="1">
              <a:solidFill>
                <a:schemeClr val="tx2"/>
              </a:solidFill>
              <a:latin typeface="맑은 고딕" pitchFamily="50" charset="-127"/>
              <a:ea typeface="맑은 고딕" pitchFamily="50" charset="-127"/>
            </a:endParaRPr>
          </a:p>
        </p:txBody>
      </p:sp>
      <p:sp>
        <p:nvSpPr>
          <p:cNvPr id="3" name="슬라이드 번호 개체 틀 2">
            <a:extLst>
              <a:ext uri="{FF2B5EF4-FFF2-40B4-BE49-F238E27FC236}">
                <a16:creationId xmlns:a16="http://schemas.microsoft.com/office/drawing/2014/main" xmlns="" id="{76DE50DC-B285-7E71-F6DE-EDD5D7C1E87D}"/>
              </a:ext>
            </a:extLst>
          </p:cNvPr>
          <p:cNvSpPr>
            <a:spLocks noGrp="1"/>
          </p:cNvSpPr>
          <p:nvPr>
            <p:ph type="sldNum" sz="quarter" idx="12"/>
          </p:nvPr>
        </p:nvSpPr>
        <p:spPr/>
        <p:txBody>
          <a:bodyPr/>
          <a:lstStyle/>
          <a:p>
            <a:fld id="{18CC7079-95A2-4860-A138-51A9FC969471}" type="slidenum">
              <a:rPr lang="ko-KR" altLang="en-US" smtClean="0"/>
              <a:t>148</a:t>
            </a:fld>
            <a:endParaRPr lang="ko-KR" altLang="en-US"/>
          </a:p>
        </p:txBody>
      </p:sp>
    </p:spTree>
    <p:extLst>
      <p:ext uri="{BB962C8B-B14F-4D97-AF65-F5344CB8AC3E}">
        <p14:creationId xmlns:p14="http://schemas.microsoft.com/office/powerpoint/2010/main" val="293457171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149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은행 지점에 가서 창구 직원에게 은행 계좌 개설 문의</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나는 너에게 상황을 주고 그것을 행동으로 보여 달라고 부탁하고 싶습니다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새로운 은행 계좌를 개설해야 합니다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은행에 가서 은행 직원에게 </a:t>
            </a:r>
            <a:r>
              <a:rPr lang="en-US" altLang="ko-KR" sz="1100" b="0" i="0" kern="1200" dirty="0">
                <a:solidFill>
                  <a:srgbClr val="0070C0"/>
                </a:solidFill>
                <a:effectLst/>
                <a:latin typeface="+mn-lt"/>
                <a:ea typeface="+mn-ea"/>
                <a:cs typeface="+mn-cs"/>
              </a:rPr>
              <a:t>3~4</a:t>
            </a:r>
            <a:r>
              <a:rPr lang="ko-KR" altLang="en-US" sz="1100" b="0" i="0" kern="1200" dirty="0">
                <a:solidFill>
                  <a:srgbClr val="0070C0"/>
                </a:solidFill>
                <a:effectLst/>
                <a:latin typeface="+mn-lt"/>
                <a:ea typeface="+mn-ea"/>
                <a:cs typeface="+mn-cs"/>
              </a:rPr>
              <a:t>가지 질문을 해서 계좌를 개설하기 위해 필요한 모든 것을 배우세요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새로운 계좌를 오픈하기를 원합니다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계좌가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예금계좌나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체킹</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계좌들을 가지고 있나요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어떤것을</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추천할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새로운 계좌를 열기 위해 어떤 수수료가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그러다면</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그것은 얼마인가요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직불카드를 받기를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그것을 하나 받기 위해 얼만 오래 걸리나요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은행 지점에 가서 창구 직원에게 은행 계좌 개설 문의</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need to open a new bank account.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Go to the bank and ask the bank representative three or four questions to learn everything about you need to do to open an account.</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want to open a new account.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accounts are there?</a:t>
            </a:r>
          </a:p>
          <a:p>
            <a:pPr>
              <a:lnSpc>
                <a:spcPct val="150000"/>
              </a:lnSpc>
            </a:pPr>
            <a:r>
              <a:rPr lang="en-US" altLang="ko-KR" sz="1100" b="0" i="0" u="none" strike="noStrike" kern="1200" spc="-30" dirty="0">
                <a:solidFill>
                  <a:schemeClr val="tx1"/>
                </a:solidFill>
                <a:latin typeface="맑은 고딕" panose="020B0503020000020004" pitchFamily="50" charset="-127"/>
                <a:ea typeface="맑은 고딕" panose="020B0503020000020004" pitchFamily="50" charset="-127"/>
                <a:cs typeface="+mn-cs"/>
              </a:rPr>
              <a:t>Do you have savings accounts or checking accounts?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fees to open a new account?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how much is it?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want to get a debit card.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will it take to get one?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카드를 음식점에 두고 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전화로 도움 요청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당신은 저녁을 먹은 식당에 새 은행 카드를 두고 왔습니다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식당에 전화해서 무슨 일이 있었는지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카드를 설명하고 카드를 돌려받을 수 있는 제안을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레스토랑에 갔던 사람입니다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너의 레스토랑에 나의 카드를 놓고 왔다고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빨간 마스터 카드입니다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너는 제발 체크해줄 수 있나요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너가 나의 카드를 가졌는지</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만약 그렇다면</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나는 당장 그것을 가지러 거기에 갈 것입니다</a:t>
            </a:r>
            <a:r>
              <a:rPr lang="en-US" altLang="ko-KR" sz="1000" b="0" i="0" u="none" strike="noStrike" kern="1200" spc="-6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가게에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방문할수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카드를 음식점에 두고 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전화로 도움 요청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left your new bank card at the restaurant where you had dinner.</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restaurant and explain what happened.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your card and make suggestions to get the card back.</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am a person who went to your restaurant.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left my credit card at your restaurant.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It’s a red Master card.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Could you please check if you have my card?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I’ll go there to get it right away.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restaurant?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63048871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150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512550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은행 계좌나 신용카드 사용 중 문제 설명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은행 계좌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신용카드</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또는 </a:t>
            </a:r>
            <a:r>
              <a:rPr lang="en-US" altLang="ko-KR" sz="1000" b="0" i="0" kern="1200" dirty="0">
                <a:solidFill>
                  <a:srgbClr val="0070C0"/>
                </a:solidFill>
                <a:effectLst/>
                <a:latin typeface="+mn-lt"/>
                <a:ea typeface="+mn-ea"/>
                <a:cs typeface="+mn-cs"/>
              </a:rPr>
              <a:t>ATM </a:t>
            </a:r>
            <a:r>
              <a:rPr lang="ko-KR" altLang="en-US" sz="1000" b="0" i="0" kern="1200" dirty="0">
                <a:solidFill>
                  <a:srgbClr val="0070C0"/>
                </a:solidFill>
                <a:effectLst/>
                <a:latin typeface="+mn-lt"/>
                <a:ea typeface="+mn-ea"/>
                <a:cs typeface="+mn-cs"/>
              </a:rPr>
              <a:t>카드에 문제가 있었던 때를 기억할 수 있습니까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140" dirty="0">
                <a:solidFill>
                  <a:srgbClr val="0070C0"/>
                </a:solidFill>
                <a:effectLst/>
                <a:latin typeface="+mn-lt"/>
                <a:ea typeface="+mn-ea"/>
                <a:cs typeface="+mn-cs"/>
              </a:rPr>
              <a:t>아마도 당신은 카드를 잃어버렸거나 카드가 작동하지 않을 것입니다</a:t>
            </a:r>
            <a:r>
              <a:rPr lang="en-US" altLang="ko-KR" sz="1000" b="0" i="0" kern="1200" spc="-14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당신이 겪었던 그 경험에 대해 가능한 한 자세히 말해주세요</a:t>
            </a:r>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800" b="0" baseline="0" dirty="0">
              <a:solidFill>
                <a:srgbClr val="0070C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계좌</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사용 문제 </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승인 거부</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한도 초과</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손상</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분실</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카드와 함께 몇몇 문제들을 가지고 있던 것을 기억이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한번은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카드가 거부 되었습니다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그것은 내가 나의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카드를 한도초과 했기 때문입니다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IC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카드가 손상되었을 때를 기억이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카드를 받아야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카드를 잃어 버렸을 때가 기억에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카드를 취소해야 했고 새로운 하나를 받아야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카드와 함께 가졌던 문제들입니다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은행 계좌나 신용카드 사용 중 문제 설명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Can you remember a time when you had problems with a bank account, a credit card, or an ATM card?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Perhaps, you lost your card or the card would not work.</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about that experience you had in as much detail as you can.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계좌</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사용 문제 </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승인 거부</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한도 초과</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손상</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분실</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having some problems with my credit card.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my credit card was rejected.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That was because I maxed out my credit card.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remember when the IC card was damaged.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get a new card.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remember when I lost my credit card.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cancel my credit card and get a new one.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problems I had with my credit card.</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740785"/>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은행에 전화해서 계좌 개설 관련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새로운 은행 계좌를 개설해야 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70" dirty="0">
                <a:solidFill>
                  <a:srgbClr val="0070C0"/>
                </a:solidFill>
                <a:effectLst/>
                <a:latin typeface="+mn-lt"/>
                <a:ea typeface="+mn-ea"/>
                <a:cs typeface="+mn-cs"/>
              </a:rPr>
              <a:t>은행에 전화해서 새 계좌 개설에 대해 </a:t>
            </a:r>
            <a:r>
              <a:rPr lang="en-US" altLang="ko-KR" sz="1000" b="0" i="0" kern="1200" spc="-70" dirty="0">
                <a:solidFill>
                  <a:srgbClr val="0070C0"/>
                </a:solidFill>
                <a:effectLst/>
                <a:latin typeface="+mn-lt"/>
                <a:ea typeface="+mn-ea"/>
                <a:cs typeface="+mn-cs"/>
              </a:rPr>
              <a:t>3~4</a:t>
            </a:r>
            <a:r>
              <a:rPr lang="ko-KR" altLang="en-US" sz="1000" b="0" i="0" kern="1200" spc="-70" dirty="0">
                <a:solidFill>
                  <a:srgbClr val="0070C0"/>
                </a:solidFill>
                <a:effectLst/>
                <a:latin typeface="+mn-lt"/>
                <a:ea typeface="+mn-ea"/>
                <a:cs typeface="+mn-cs"/>
              </a:rPr>
              <a:t>가지 질문을 하세요</a:t>
            </a:r>
            <a:r>
              <a:rPr lang="en-US" altLang="ko-KR" sz="1000" b="0" i="0" kern="1200" spc="-70" dirty="0">
                <a:solidFill>
                  <a:srgbClr val="0070C0"/>
                </a:solidFill>
                <a:effectLst/>
                <a:latin typeface="+mn-lt"/>
                <a:ea typeface="+mn-ea"/>
                <a:cs typeface="+mn-cs"/>
              </a:rPr>
              <a:t>.</a:t>
            </a:r>
            <a:endParaRPr lang="en-US" altLang="ko-KR" sz="1000" b="0" spc="-7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은행 계좌에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계좌를 오픈하기를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계좌가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예금계좌나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체킹계좌들을</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가지고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추천할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새로운 계좌를 열기 위해 어떤 수수료가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그러다면</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그것은 얼마인가요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직불카드를 받기를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그것을 하나 받기 위해 얼만 오래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35606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은행에 전화해서 계좌 개설 관련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need to open a new bank account.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bank and ask the teller three to four questions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about opening a new account.</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bank accounts.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open a new account.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accounts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have savings accounts or checking accounts?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fees to open a new account?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how much is it?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want to get a debit card.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will it take to get one?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50089140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151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카드 받았는데 문제가 있음</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전화해서 해결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방금 신용카드를 받았는데</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뭔가 잘못된 게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은행에 전화해서 상황을 설명하고 문제를 해결하세요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은행으로부터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크래딧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카드를 받았던 사람입니다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카드에 무엇인가 잘못이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잘못된 카드를 받았었다고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카드를 받기를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은행에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740785"/>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카드 받았는데 문제가 있음</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전화해서 해결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just got your credit card, but found out that there is something wrong with it.</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Call the bank, explain the situation and solve the problem.</a:t>
            </a:r>
            <a:endParaRPr lang="en-US" altLang="ko-KR" sz="1000" b="0" spc="-3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got a credit card from your bank.</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credit card.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got the wrong card.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 new card.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bank?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863896"/>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13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카드나 </a:t>
            </a:r>
            <a:r>
              <a:rPr lang="en-US" altLang="ko-KR" sz="1000" b="1" spc="-50" baseline="0" dirty="0">
                <a:solidFill>
                  <a:srgbClr val="FF0000"/>
                </a:solidFill>
                <a:latin typeface="맑은 고딕" pitchFamily="50" charset="-127"/>
                <a:ea typeface="맑은 고딕" pitchFamily="50" charset="-127"/>
              </a:rPr>
              <a:t>ATM </a:t>
            </a:r>
            <a:r>
              <a:rPr lang="ko-KR" altLang="en-US" sz="1000" b="1" spc="-50" baseline="0" dirty="0">
                <a:solidFill>
                  <a:srgbClr val="FF0000"/>
                </a:solidFill>
                <a:latin typeface="맑은 고딕" pitchFamily="50" charset="-127"/>
                <a:ea typeface="맑은 고딕" pitchFamily="50" charset="-127"/>
              </a:rPr>
              <a:t>사용 중 문제가 생겼던 에피소드 설명  </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끝이다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은행카드에 문제가 있거나 은행 기계나 </a:t>
            </a:r>
            <a:r>
              <a:rPr lang="en-US" altLang="ko-KR" sz="1000" b="0" i="0" kern="1200" dirty="0">
                <a:solidFill>
                  <a:srgbClr val="0070C0"/>
                </a:solidFill>
                <a:effectLst/>
                <a:latin typeface="+mn-lt"/>
                <a:ea typeface="+mn-ea"/>
                <a:cs typeface="+mn-cs"/>
              </a:rPr>
              <a:t>ATM</a:t>
            </a:r>
            <a:r>
              <a:rPr lang="ko-KR" altLang="en-US" sz="1000" b="0" i="0" kern="1200" dirty="0">
                <a:solidFill>
                  <a:srgbClr val="0070C0"/>
                </a:solidFill>
                <a:effectLst/>
                <a:latin typeface="+mn-lt"/>
                <a:ea typeface="+mn-ea"/>
                <a:cs typeface="+mn-cs"/>
              </a:rPr>
              <a:t>을 사용하는 동안 문제가 있었던 적이 있습니까</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겪었던 문제를 자세히 묘사하세요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8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8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계좌</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사용 문제 </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승인 거부</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한도 초과</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손상</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분실</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카드와 함께 몇몇 문제들을 가지고 있던 것을 기억이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한번은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카드가 거부 되었습니다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그것은 내가 나의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카드를 한도초과 했기 때문입니다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IC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카드가 손상되었을 때를 기억이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카드를 받아야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내가 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카드를 잃어 버렸을 때가 기억에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카드를 취소해야 했고 새로운 하나를 받아야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이것들은 내가 나의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크리딧</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카드와 함께 가졌던 문제들입니다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94509"/>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13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카드나 </a:t>
            </a:r>
            <a:r>
              <a:rPr lang="en-US" altLang="ko-KR" sz="1000" b="1" spc="-50" baseline="0" dirty="0">
                <a:solidFill>
                  <a:srgbClr val="FF0000"/>
                </a:solidFill>
                <a:latin typeface="맑은 고딕" pitchFamily="50" charset="-127"/>
                <a:ea typeface="맑은 고딕" pitchFamily="50" charset="-127"/>
              </a:rPr>
              <a:t>ATM </a:t>
            </a:r>
            <a:r>
              <a:rPr lang="ko-KR" altLang="en-US" sz="1000" b="1" spc="-50" baseline="0" dirty="0">
                <a:solidFill>
                  <a:srgbClr val="FF0000"/>
                </a:solidFill>
                <a:latin typeface="맑은 고딕" pitchFamily="50" charset="-127"/>
                <a:ea typeface="맑은 고딕" pitchFamily="50" charset="-127"/>
              </a:rPr>
              <a:t>사용 중 문제가 생겼던 에피소드 설명  </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had any problems with your bank card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or had trouble while using banking machines or ATMs?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the problem you had in detail.</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계좌</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사용 문제 </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승인 거부</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한도 초과</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손상</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카드 분실</a:t>
            </a:r>
            <a:r>
              <a:rPr lang="en-US" altLang="ko-KR" sz="1000" b="0" i="0" u="none" strike="noStrike" kern="1200" spc="-11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having some problems with my credit card.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my credit card was rejected.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That was because I maxed out my credit card.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remember when the IC card was damaged.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get a new card.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I remember when I lost my credit card.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cancel my credit card and get a new one.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are the problems I had with my credit card.</a:t>
            </a:r>
          </a:p>
        </p:txBody>
      </p:sp>
    </p:spTree>
    <p:extLst>
      <p:ext uri="{BB962C8B-B14F-4D97-AF65-F5344CB8AC3E}">
        <p14:creationId xmlns:p14="http://schemas.microsoft.com/office/powerpoint/2010/main" val="385295746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152</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병원 진료 예약 전화 문의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진료 예약을 하고 </a:t>
            </a:r>
            <a:r>
              <a:rPr lang="ko-KR" altLang="en-US" sz="1000" b="0" i="0" kern="1200" dirty="0" err="1">
                <a:solidFill>
                  <a:srgbClr val="0070C0"/>
                </a:solidFill>
                <a:effectLst/>
                <a:latin typeface="+mn-lt"/>
                <a:ea typeface="+mn-ea"/>
                <a:cs typeface="+mn-cs"/>
              </a:rPr>
              <a:t>싶으시군요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병원에 전화해서 알아야 할 것들에 대해 서너 가지 질문을 하세요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그리고 나서</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병원에 갈 시간을 정하세요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의사 예약을 하기 위해 전화하고 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의사를 보기를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무언가 잘못 먹었는 것을</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mn-lt"/>
                <a:ea typeface="+mn-ea"/>
                <a:cs typeface="+mn-cs"/>
              </a:rPr>
              <a:t>나는 식중독에 걸렸고 그것은 매우 나빴습니다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속이 뒤집혔습니다</a:t>
            </a:r>
            <a:r>
              <a:rPr lang="en-US" altLang="ko-KR" sz="1000" b="0" i="0" u="none" strike="noStrike" kern="1200" baseline="0" dirty="0">
                <a:solidFill>
                  <a:schemeClr val="tx1"/>
                </a:solidFill>
                <a:latin typeface="+mn-lt"/>
                <a:ea typeface="+mn-ea"/>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mn-lt"/>
                <a:ea typeface="+mn-ea"/>
                <a:cs typeface="+mn-cs"/>
              </a:rPr>
              <a:t>나는 화장실에 다시 또 다시 갔습니다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설사를 했기 때문에</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클리닉에 가는 방향을 나에게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줄수</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지하철역과 가깝습니까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663841"/>
          </a:xfrm>
          <a:prstGeom prst="rect">
            <a:avLst/>
          </a:prstGeom>
          <a:noFill/>
        </p:spPr>
        <p:txBody>
          <a:bodyPr wrap="square" rtlCol="0">
            <a:spAutoFit/>
          </a:bodyPr>
          <a:lstStyle/>
          <a:p>
            <a:pPr latinLnBrk="1">
              <a:lnSpc>
                <a:spcPct val="100000"/>
              </a:lnSpc>
            </a:pPr>
            <a:r>
              <a:rPr lang="en-US" altLang="ko-KR" sz="900" b="1" dirty="0">
                <a:solidFill>
                  <a:schemeClr val="tx2"/>
                </a:solidFill>
                <a:latin typeface="맑은 고딕" pitchFamily="50" charset="-127"/>
                <a:ea typeface="맑은 고딕" pitchFamily="50" charset="-127"/>
              </a:rPr>
              <a:t>11 [Int]</a:t>
            </a:r>
            <a:r>
              <a:rPr lang="en-US" altLang="ko-KR" sz="900" b="1" baseline="0" dirty="0">
                <a:solidFill>
                  <a:schemeClr val="tx2"/>
                </a:solidFill>
                <a:latin typeface="맑은 고딕" pitchFamily="50" charset="-127"/>
                <a:ea typeface="맑은 고딕" pitchFamily="50" charset="-127"/>
              </a:rPr>
              <a:t> </a:t>
            </a:r>
            <a:r>
              <a:rPr lang="ko-KR" altLang="en-US" sz="900" b="1" baseline="0" dirty="0">
                <a:solidFill>
                  <a:srgbClr val="FF0000"/>
                </a:solidFill>
                <a:latin typeface="맑은 고딕" pitchFamily="50" charset="-127"/>
                <a:ea typeface="맑은 고딕" pitchFamily="50" charset="-127"/>
              </a:rPr>
              <a:t>병원 진료 예약 전화 문의</a:t>
            </a:r>
            <a:endParaRPr lang="en-US" altLang="ko-KR" sz="9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You would like to make an appointment to see the doctor.</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doctor's office and ask three or four questions</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about things you need to know. And then, set a time to go see the doctor.</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make a doctor appointment.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see the doctor.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ate something wrong.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food poisoning and it was pretty bad.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go to the bathroom again and again because I had the runs.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give me directions to your clinic?</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병원 진료 예약 전화로 변경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병원에 가는 것을 방해하는 일이 생겼습니다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진료실에 전화하세요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그리고 상황을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의사와 새로운 약속을 하기 위해 </a:t>
            </a:r>
            <a:r>
              <a:rPr lang="en-US" altLang="ko-KR" sz="1000" b="0" i="0" kern="1200" dirty="0">
                <a:solidFill>
                  <a:srgbClr val="0070C0"/>
                </a:solidFill>
                <a:effectLst/>
                <a:latin typeface="+mn-lt"/>
                <a:ea typeface="+mn-ea"/>
                <a:cs typeface="+mn-cs"/>
              </a:rPr>
              <a:t>2~3</a:t>
            </a:r>
            <a:r>
              <a:rPr lang="ko-KR" altLang="en-US" sz="1000" b="0" i="0" kern="1200" dirty="0">
                <a:solidFill>
                  <a:srgbClr val="0070C0"/>
                </a:solidFill>
                <a:effectLst/>
                <a:latin typeface="+mn-lt"/>
                <a:ea typeface="+mn-ea"/>
                <a:cs typeface="+mn-cs"/>
              </a:rPr>
              <a:t>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mn-ea"/>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약속을 한 사람입니다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약속을 못 갈 것 같습니다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 무슨 일이 생겼습니다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약속을 다시 잡기를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클리닉에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638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병원 진료 예약 전화로 변경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mn-ea"/>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mn-ea"/>
                <a:cs typeface="+mn-cs"/>
              </a:rPr>
              <a:t>Something has come up that prevents you from going in to see the doctor.</a:t>
            </a:r>
          </a:p>
          <a:p>
            <a:r>
              <a:rPr lang="en-US" altLang="ko-KR" sz="1000" b="0" i="0" u="none" strike="noStrike" kern="1200" baseline="0" dirty="0">
                <a:solidFill>
                  <a:srgbClr val="FF0000"/>
                </a:solidFill>
                <a:latin typeface="맑은 고딕" panose="020B0503020000020004" pitchFamily="50" charset="-127"/>
                <a:ea typeface="+mn-ea"/>
                <a:cs typeface="+mn-cs"/>
              </a:rPr>
              <a:t>Call the doctor's office. And explain the situation.</a:t>
            </a:r>
          </a:p>
          <a:p>
            <a:r>
              <a:rPr lang="en-US" altLang="ko-KR" sz="1000" b="0" i="0" u="none" strike="noStrike" kern="1200" baseline="0" dirty="0">
                <a:solidFill>
                  <a:srgbClr val="FF0000"/>
                </a:solidFill>
                <a:latin typeface="맑은 고딕" panose="020B0503020000020004" pitchFamily="50" charset="-127"/>
                <a:ea typeface="+mn-ea"/>
                <a:cs typeface="+mn-cs"/>
              </a:rPr>
              <a:t>Give two to three alternatives to make a new appointment with the doctor.</a:t>
            </a:r>
            <a:endParaRPr lang="en-US" altLang="ko-KR" sz="1000" b="0" baseline="0" dirty="0">
              <a:solidFill>
                <a:srgbClr val="FF0000"/>
              </a:solidFill>
              <a:latin typeface="맑은 고딕" pitchFamily="50" charset="-127"/>
              <a:ea typeface="+mn-ea"/>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made an appointment.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DON'T think I can make it to my appointment.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Something came up suddenly.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reschedule my appointment.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clinic?</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61195846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153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529812"/>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13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중요한 예약을 놓치거나 혹은 늦은 경험 묘사  </a:t>
            </a:r>
            <a:endParaRPr lang="en-US" altLang="ko-KR" sz="1100" b="1" spc="-50"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중요한 약속을 놓치거나 늦은 적이 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무슨 일이 일어났고 당신은 무엇을 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dirty="0">
                <a:solidFill>
                  <a:srgbClr val="0070C0"/>
                </a:solidFill>
                <a:effectLst/>
                <a:latin typeface="+mn-lt"/>
                <a:ea typeface="+mn-ea"/>
                <a:cs typeface="+mn-cs"/>
              </a:rPr>
              <a:t>나에게 그 경험에 대한 모든 세부 사항을 말해주세요</a:t>
            </a:r>
            <a:r>
              <a:rPr lang="en-US" altLang="ko-KR" sz="1100" b="0" i="0" kern="1200" spc="-50" dirty="0">
                <a:solidFill>
                  <a:srgbClr val="0070C0"/>
                </a:solidFill>
                <a:effectLst/>
                <a:latin typeface="+mn-lt"/>
                <a:ea typeface="+mn-ea"/>
                <a:cs typeface="+mn-cs"/>
              </a:rPr>
              <a:t>.</a:t>
            </a:r>
            <a:endParaRPr lang="en-US" altLang="ko-KR" sz="1100" b="0" spc="-50" baseline="0" dirty="0">
              <a:solidFill>
                <a:srgbClr val="0070C0"/>
              </a:solidFill>
              <a:latin typeface="맑은 고딕" pitchFamily="50" charset="-127"/>
              <a:ea typeface="맑은 고딕" pitchFamily="50" charset="-127"/>
            </a:endParaRPr>
          </a:p>
          <a:p>
            <a:r>
              <a:rPr lang="en-US" altLang="ko-KR" sz="1100" b="0" i="0" kern="1200" spc="-50" dirty="0">
                <a:solidFill>
                  <a:schemeClr val="lt1"/>
                </a:solidFill>
                <a:effectLst/>
                <a:latin typeface="+mn-lt"/>
                <a:ea typeface="+mn-ea"/>
                <a:cs typeface="+mn-cs"/>
              </a:rPr>
              <a:t>.</a:t>
            </a:r>
            <a:endParaRPr lang="en-US" altLang="ko-KR" sz="1100" b="0" spc="-50" baseline="0" dirty="0">
              <a:solidFill>
                <a:srgbClr val="FF0000"/>
              </a:solidFill>
              <a:latin typeface="맑은 고딕" pitchFamily="50" charset="-127"/>
              <a:ea typeface="맑은 고딕" pitchFamily="50" charset="-127"/>
            </a:endParaRPr>
          </a:p>
          <a:p>
            <a:endParaRPr lang="en-US" altLang="ko-KR" sz="1100" b="0" baseline="0" dirty="0">
              <a:solidFill>
                <a:srgbClr val="0070C0"/>
              </a:solidFill>
              <a:latin typeface="맑은 고딕" pitchFamily="50" charset="-127"/>
              <a:ea typeface="맑은 고딕"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최근에 헤어 약속을 한 것이 기억에 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갑자기 무슨 일이 생겼습니다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약속을 못 갈 것 같습니다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헤어 </a:t>
            </a:r>
            <a:r>
              <a:rPr lang="ko-KR" altLang="en-US" sz="11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샬롱에</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전화했고 그들에게 말했습니다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갈수 없다고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결국</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약속을 만들었고 다른 시간에 갔습니다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3699090"/>
          </a:xfrm>
          <a:prstGeom prst="rect">
            <a:avLst/>
          </a:prstGeom>
          <a:noFill/>
        </p:spPr>
        <p:txBody>
          <a:bodyPr wrap="square" rtlCol="0">
            <a:spAutoFit/>
          </a:bodyPr>
          <a:lstStyle/>
          <a:p>
            <a:pPr latinLnBrk="1">
              <a:lnSpc>
                <a:spcPct val="100000"/>
              </a:lnSpc>
            </a:pPr>
            <a:r>
              <a:rPr lang="en-US" altLang="ko-KR" sz="1100" b="1" spc="-50" dirty="0">
                <a:solidFill>
                  <a:schemeClr val="tx2"/>
                </a:solidFill>
                <a:latin typeface="맑은 고딕" pitchFamily="50" charset="-127"/>
                <a:ea typeface="맑은 고딕" pitchFamily="50" charset="-127"/>
              </a:rPr>
              <a:t>13 [Adv]</a:t>
            </a:r>
            <a:r>
              <a:rPr lang="en-US" altLang="ko-KR" sz="1100" b="1" spc="-50" baseline="0" dirty="0">
                <a:solidFill>
                  <a:schemeClr val="tx2"/>
                </a:solidFill>
                <a:latin typeface="맑은 고딕" pitchFamily="50" charset="-127"/>
                <a:ea typeface="맑은 고딕" pitchFamily="50" charset="-127"/>
              </a:rPr>
              <a:t> </a:t>
            </a:r>
            <a:r>
              <a:rPr lang="ko-KR" altLang="en-US" sz="1100" b="1" spc="-50" baseline="0" dirty="0">
                <a:solidFill>
                  <a:srgbClr val="FF0000"/>
                </a:solidFill>
                <a:latin typeface="맑은 고딕" pitchFamily="50" charset="-127"/>
                <a:ea typeface="맑은 고딕" pitchFamily="50" charset="-127"/>
              </a:rPr>
              <a:t>중요한 예약을 놓치거나 혹은 늦은 경험 묘사  </a:t>
            </a:r>
            <a:endParaRPr lang="en-US" altLang="ko-KR" sz="1100" b="1" spc="-50"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missed an important appointment or was late for it?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happened and what did you do?</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me all the details about that experience.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making a hair appointment recently.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However, something came up suddenly.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could NOT make it to my appointment.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called the hair salon and told them that I could NOT go.</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 the end, I made a new appointment and went another time.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가구점 직원에게 사고 싶은 가구에 대해 현장 문의</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나는 너에게 상황을 주고 그것을 행동으로 보여 달라고 부탁하고 싶습니다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spc="-50" baseline="0" dirty="0">
                <a:solidFill>
                  <a:srgbClr val="0070C0"/>
                </a:solidFill>
                <a:effectLst/>
                <a:latin typeface="+mn-lt"/>
                <a:ea typeface="+mn-ea"/>
                <a:cs typeface="+mn-cs"/>
              </a:rPr>
              <a:t>당신은 가게에 있고 당신이 좋아하는 가구들을 볼 수 있습니다</a:t>
            </a:r>
            <a:r>
              <a:rPr lang="en-US" altLang="ko-KR" sz="1100" b="0" i="0" kern="1200" spc="-50" baseline="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점원에게 가서 사고 싶은 가구에 대해 서너 가지 질문을 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몇몇 새로운 가구를 사기를 원합니다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침대를 사기를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침대들이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얼마입니까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037644"/>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11 [Int]</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가구점 직원에게 사고 싶은 가구에 대해 현장 문의</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are at a store and you see a piece of furniture that you like.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Go to the clerk and ask three or four questions about the furniture you want to buy.</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 want to get some new furniture.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 new bed.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beds are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p:txBody>
      </p:sp>
    </p:spTree>
    <p:extLst>
      <p:ext uri="{BB962C8B-B14F-4D97-AF65-F5344CB8AC3E}">
        <p14:creationId xmlns:p14="http://schemas.microsoft.com/office/powerpoint/2010/main" val="91036960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154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가구 도착했는데 마음 들지 않음</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문제해결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집에서 가구를 받을 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그것에 심각한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매장에 전화를 걸어 상황을 설명하고 </a:t>
            </a:r>
            <a:r>
              <a:rPr lang="en-US" altLang="ko-KR" sz="1000" b="0" i="0" kern="1200" dirty="0">
                <a:solidFill>
                  <a:srgbClr val="0070C0"/>
                </a:solidFill>
                <a:effectLst/>
                <a:latin typeface="+mn-lt"/>
                <a:ea typeface="+mn-ea"/>
                <a:cs typeface="+mn-cs"/>
              </a:rPr>
              <a:t>2~3</a:t>
            </a:r>
            <a:r>
              <a:rPr lang="ko-KR" altLang="en-US" sz="1000" b="0" i="0" kern="1200" dirty="0">
                <a:solidFill>
                  <a:srgbClr val="0070C0"/>
                </a:solidFill>
                <a:effectLst/>
                <a:latin typeface="+mn-lt"/>
                <a:ea typeface="+mn-ea"/>
                <a:cs typeface="+mn-cs"/>
              </a:rPr>
              <a:t>가지 대안을 제시해 문제를 해결하세요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가게에서 몇몇 새로운 가구를 샀는 사람입니다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침대에 무엇인가 문제가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침대를 잘못 샀다고 생각합니다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교환을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환불을 받을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내가 원한다면</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가능한가요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폐를 끼쳐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너의 가게에 방문할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너의 업무 시간은 무엇인가요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몇 시까지 영업을 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가구 도착했는데 마음 들지 않음</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문제해결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you receive the furniture at home, there is a serious problem with it.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store, explain the situation and offer two to three alternatives to solve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got some new furniture at your store.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There is something wrong with my bed.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got the wrong bed.</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an exchange.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get a refund if I want to?</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Would that be possible?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sorry for the trouble.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visit your store?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your business hours? How late are you open?</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292964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주문한 가구에 문제가 있었던 경험 설명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가구를 샀지만 그것을 받았을 때 문제가 있었던 적이 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무엇이 문제였고 당신은 그 상황을 어떻게 처리했습니까</a:t>
            </a:r>
            <a:r>
              <a:rPr lang="en-US" altLang="ko-KR" sz="1100" b="0" i="0" kern="1200" dirty="0">
                <a:solidFill>
                  <a:schemeClr val="lt1"/>
                </a:solidFill>
                <a:effectLst/>
                <a:latin typeface="+mn-lt"/>
                <a:ea typeface="+mn-ea"/>
                <a:cs typeface="+mn-cs"/>
              </a:rPr>
              <a:t>?</a:t>
            </a:r>
            <a:endParaRPr lang="en-US" altLang="ko-KR" sz="1100" b="0" baseline="0" dirty="0">
              <a:solidFill>
                <a:srgbClr val="FF0000"/>
              </a:solidFill>
              <a:latin typeface="맑은 고딕" pitchFamily="50" charset="-127"/>
              <a:ea typeface="맑은 고딕" pitchFamily="50" charset="-127"/>
            </a:endParaRPr>
          </a:p>
          <a:p>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솔직히 나는 그런 경험의 종류를 절대 가지고 있지 않습니다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생각합니다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행운이라고</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그래서</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정말 이 토픽에 관하여 말할 것이 별로 없습니다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267573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주문한 가구에 문제가 있었던 경험 설명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bought furniture but had a problem when you got it?</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the problem and how did you deal with the situation?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Frankly, I have never had that kind of experience.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think I was lucky.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I really don’t have much to say about this topic.</a:t>
            </a:r>
          </a:p>
        </p:txBody>
      </p:sp>
    </p:spTree>
    <p:extLst>
      <p:ext uri="{BB962C8B-B14F-4D97-AF65-F5344CB8AC3E}">
        <p14:creationId xmlns:p14="http://schemas.microsoft.com/office/powerpoint/2010/main" val="190167510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720753"/>
            <a:ext cx="6858000" cy="3924151"/>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29 ROLE PLAY</a:t>
            </a: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ko-KR" altLang="en-US" sz="2800" b="1">
                <a:solidFill>
                  <a:schemeClr val="tx2"/>
                </a:solidFill>
                <a:latin typeface="맑은 고딕" pitchFamily="50" charset="-127"/>
                <a:ea typeface="맑은 고딕" pitchFamily="50" charset="-127"/>
              </a:rPr>
              <a:t>부동산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친척집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재활용 </a:t>
            </a:r>
            <a:r>
              <a:rPr lang="ko-KR" altLang="en-US" sz="2800" b="1">
                <a:solidFill>
                  <a:schemeClr val="tx2"/>
                </a:solidFill>
              </a:rPr>
              <a:t>★</a:t>
            </a:r>
            <a:endParaRPr lang="en-US" altLang="ko-KR" sz="2800" b="1">
              <a:solidFill>
                <a:schemeClr val="tx2"/>
              </a:solidFill>
              <a:latin typeface="맑은 고딕" pitchFamily="50" charset="-127"/>
              <a:ea typeface="맑은 고딕" pitchFamily="50" charset="-127"/>
            </a:endParaRPr>
          </a:p>
        </p:txBody>
      </p:sp>
      <p:sp>
        <p:nvSpPr>
          <p:cNvPr id="3" name="슬라이드 번호 개체 틀 2">
            <a:extLst>
              <a:ext uri="{FF2B5EF4-FFF2-40B4-BE49-F238E27FC236}">
                <a16:creationId xmlns:a16="http://schemas.microsoft.com/office/drawing/2014/main" xmlns="" id="{6E0BEE3A-7263-B040-E02D-4C62961A14A7}"/>
              </a:ext>
            </a:extLst>
          </p:cNvPr>
          <p:cNvSpPr>
            <a:spLocks noGrp="1"/>
          </p:cNvSpPr>
          <p:nvPr>
            <p:ph type="sldNum" sz="quarter" idx="12"/>
          </p:nvPr>
        </p:nvSpPr>
        <p:spPr/>
        <p:txBody>
          <a:bodyPr/>
          <a:lstStyle/>
          <a:p>
            <a:fld id="{18CC7079-95A2-4860-A138-51A9FC969471}" type="slidenum">
              <a:rPr lang="ko-KR" altLang="en-US" smtClean="0"/>
              <a:t>155</a:t>
            </a:fld>
            <a:endParaRPr lang="ko-KR" altLang="en-US"/>
          </a:p>
        </p:txBody>
      </p:sp>
    </p:spTree>
    <p:extLst>
      <p:ext uri="{BB962C8B-B14F-4D97-AF65-F5344CB8AC3E}">
        <p14:creationId xmlns:p14="http://schemas.microsoft.com/office/powerpoint/2010/main" val="327710647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156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8700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부동산에 구하고 싶은 집에 대한 문의</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살 집을 찾고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관리사무소에 전화해서 살 집을 구하는 것에 대해 서너 가지 질문을 하세요</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아파트 사는 것에 관하여 물어보기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방 </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3</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개 아파트를 사기를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아파트들이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얼마입니까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어떤 것을 추천해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볼 수 있는 웹사이트가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어떤 프로모션이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게다가</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너의 사무실로 가는 방향을 나에게 줄 수 있습니까</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지하철역과 가깝습니까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걸어서 얼마나 걸리나요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756174"/>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부동산에 구하고 싶은 집에 대한 문의</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would like to find a house to live in.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a management office and ask three or four questions about getting a house to live in.</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calling to ask about getting an apartment.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get a three-bedroom apartment.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apartments are there?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recommend anything?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there a website I can see?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Are there any promotions?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can you give me directions to your office?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Is it close to the subway station?</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long does it take on foot?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입주했는데 창문 깨져 있음</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수리점에 수리 요청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죄송하지만</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당신이 해결해야 할 문제가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당신은 새 집으로 이사했는데 아파트 유리창 하나가 깨진 것을 발견했습니다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수리점에 전화해서 가능한 한 빨리 새 창문을 받아야 하는 이유를 설명하세요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단지 이사 왔는 사람입니다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하지만</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창문이 </a:t>
            </a:r>
            <a:r>
              <a:rPr lang="ko-KR" altLang="en-US" sz="11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깨졌는</a:t>
            </a:r>
            <a:r>
              <a:rPr lang="ko-KR" altLang="en-US"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 것의 하나를 찾았습니다</a:t>
            </a: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새로운 창문을 사기를 원합니다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모기들이</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창문을 통해서 들어오고 있습니다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바람은 불어 오고 그것은 아주 춥습니다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밤에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거기에 무슨 종류의 창문들이 있습니까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그들은 얼마입니까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376198"/>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12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입주했는데 창문 깨져 있음</a:t>
            </a:r>
            <a:r>
              <a:rPr lang="en-US" altLang="ko-KR" sz="1100" b="1" baseline="0" dirty="0">
                <a:solidFill>
                  <a:srgbClr val="FF0000"/>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수리점에 수리 요청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moved in to the new house but found </a:t>
            </a:r>
            <a:r>
              <a:rPr lang="en-US" altLang="ko-KR" sz="1100" b="0" i="0" u="none" strike="noStrike" kern="1200" spc="-70" dirty="0">
                <a:solidFill>
                  <a:srgbClr val="FF0000"/>
                </a:solidFill>
                <a:latin typeface="맑은 고딕" panose="020B0503020000020004" pitchFamily="50" charset="-127"/>
                <a:ea typeface="맑은 고딕" panose="020B0503020000020004" pitchFamily="50" charset="-127"/>
                <a:cs typeface="+mn-cs"/>
              </a:rPr>
              <a:t>out that one of the windows in your apartment is broken. </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repair shop and explain why you have to get a new window as soon as possible.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who just moved in.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70" dirty="0">
                <a:solidFill>
                  <a:schemeClr val="tx1"/>
                </a:solidFill>
                <a:latin typeface="맑은 고딕" panose="020B0503020000020004" pitchFamily="50" charset="-127"/>
                <a:ea typeface="맑은 고딕" panose="020B0503020000020004" pitchFamily="50" charset="-127"/>
                <a:cs typeface="+mn-cs"/>
              </a:rPr>
              <a:t>However, I found out that one of the windows is broken.</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need to get a new window.</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Mosquitoes is coming in through the window.</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wind is coming in and it’s quite cold at night.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kinds of windows are there?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are they?</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394516784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157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3306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집에 뭔가 깨져 이거나</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깨 본 경험 설명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집에서 무언가를 망가뜨렸을 때를 말해 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정확히 무슨 일이 일어났고 그 문제를 어떻게 해결했나요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처음부터 끝까지 모든 세부 사항을 알려 주세요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집에서 컵을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깨드린</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것이 기억에 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사고에 의해 컵을 떨어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뜨렸습니다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미끄러웠기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나의 그립을 놓쳤습니다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컵은 여러 조각으로 깨어졌습니다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유리를 청소해야만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큰 조각을 주웠고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작은 조각들은 진공 청소를 하였습니다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주의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노력하였습니다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그러나 나는 유리의 조각에 나의 손가락을 베었습니다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피가 났고</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조금 아팠습니다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 이후</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좀 더 주의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할려고</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노력 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3714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집에 뭔가 깨져 이거나</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깨 본 경험 설명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Tell me about a time when you broke something at home.</a:t>
            </a:r>
          </a:p>
          <a:p>
            <a:r>
              <a:rPr lang="en-US" altLang="ko-KR" sz="1000" b="0" i="0" u="none" strike="noStrike" kern="1200" spc="-50" dirty="0">
                <a:solidFill>
                  <a:srgbClr val="FF0000"/>
                </a:solidFill>
                <a:latin typeface="맑은 고딕" panose="020B0503020000020004" pitchFamily="50" charset="-127"/>
                <a:ea typeface="맑은 고딕" panose="020B0503020000020004" pitchFamily="50" charset="-127"/>
                <a:cs typeface="+mn-cs"/>
              </a:rPr>
              <a:t>What exactly happened and how did you solve the problem?</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me all the details from beginning to end.</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breaking a cup at home.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dropped the cup by accident because it was slippery.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lost my grip.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cup broke into several pieces.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clean the glass.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picked up the big pieces and vacuumed up the small pieces.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tried to be careful, but I cut my finger on a piece of glass.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was bleeding and it was a little sore.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휴가 가는 친척집 봐주기 해서 전화로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여러분의 가족 중 누군가가 휴가를 가고 있고 여러분은 집에서 그 또는 그녀의 책임을 돌보기로 동의했습니다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친척에게 전화해서 필요한 모든 정보를 얻기 위해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조 삼촌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집에서 본 것에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재활용품을 내다 놓기를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재활용해야 하는 물건들은 무엇입니까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재활용품을 어디에 내다 놓아야 하나요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나에게 조금의 방향을 줄 수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 재활용품을 내다 놓을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그것을 언제든지 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나에게 전화 주세요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이것을 받을 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감사합니다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휴가 가는 친척집 봐주기 해서 전화로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Someone in your family is going on a vacation and you have agreed to take care of his or her responsibilities at home.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relative and ask three or four questions to get all the information you need.</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uncle Joe.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watching your house.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take out the recycling.</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the things I should recycle?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can I take out the recycling?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give me some directions?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take out the recycling?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do that anytime?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169355469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158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친척집에 도착했는데 문 잠겨 있고</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열쇠를 못 찾겠음</a:t>
            </a:r>
            <a:r>
              <a:rPr lang="en-US" altLang="ko-KR" sz="1000" b="1" baseline="0" dirty="0">
                <a:solidFill>
                  <a:srgbClr val="FF0000"/>
                </a:solidFill>
                <a:latin typeface="맑은 고딕" pitchFamily="50" charset="-127"/>
                <a:ea typeface="맑은 고딕" pitchFamily="50" charset="-127"/>
              </a:rPr>
              <a:t>.</a:t>
            </a:r>
          </a:p>
          <a:p>
            <a:pPr latinLnBrk="1">
              <a:lnSpc>
                <a:spcPct val="100000"/>
              </a:lnSpc>
            </a:pPr>
            <a:r>
              <a:rPr lang="ko-KR" altLang="en-US" sz="1000" b="1" baseline="0" dirty="0">
                <a:solidFill>
                  <a:srgbClr val="FF0000"/>
                </a:solidFill>
                <a:latin typeface="맑은 고딕" pitchFamily="50" charset="-127"/>
                <a:ea typeface="맑은 고딕" pitchFamily="50" charset="-127"/>
              </a:rPr>
              <a:t>             </a:t>
            </a:r>
            <a:r>
              <a:rPr lang="ko-KR" altLang="en-US" sz="1000" b="1" spc="-30" baseline="0" dirty="0">
                <a:solidFill>
                  <a:srgbClr val="FF0000"/>
                </a:solidFill>
                <a:latin typeface="맑은 고딕" pitchFamily="50" charset="-127"/>
                <a:ea typeface="맑은 고딕" pitchFamily="50" charset="-127"/>
              </a:rPr>
              <a:t>친척이 머물고 있는 호텔에 전화로 상황 설명하고 도움 요청</a:t>
            </a:r>
            <a:endParaRPr lang="en-US" altLang="ko-KR" sz="1000" b="1" spc="-3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친척집에 도착하면 문이 잠겨 있고 열쇠는 원래 있어야 할 곳에 있지 않습니다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친척의 호텔에 전화해서 상황을 설명하는 메시지를 </a:t>
            </a:r>
            <a:r>
              <a:rPr lang="ko-KR" altLang="en-US" sz="1000" b="0" i="0" kern="1200" dirty="0" err="1">
                <a:solidFill>
                  <a:srgbClr val="0070C0"/>
                </a:solidFill>
                <a:effectLst/>
                <a:latin typeface="+mn-lt"/>
                <a:ea typeface="+mn-ea"/>
                <a:cs typeface="+mn-cs"/>
              </a:rPr>
              <a:t>남기시오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문제를 해결하기 위해 두세 가지 옵션을 제공하십시오</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조 삼촌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집에서 키를 찾을 수가 없습니다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나는 들어갈 수 없습니다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어딘가에</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여분의 열쇠를 가지고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그렇지 않다면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잠기지 않은 문이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혹은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잠기지 않은 창문이 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그렇다면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 창문을 통해서 들어갈 수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있을것</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같습니다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mn-ea"/>
                <a:cs typeface="+mn-cs"/>
              </a:rPr>
              <a:t>너는 이것을 받을 때 나에게 전화를 주세요</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감사합니다</a:t>
            </a:r>
            <a:r>
              <a:rPr lang="en-US" altLang="ko-KR" sz="1000" b="0" i="0" u="none" strike="noStrike" kern="1200" baseline="0" dirty="0">
                <a:solidFill>
                  <a:schemeClr val="tx1"/>
                </a:solidFill>
                <a:latin typeface="맑은 고딕" panose="020B0503020000020004" pitchFamily="50" charset="-127"/>
                <a:ea typeface="+mn-ea"/>
                <a:cs typeface="+mn-cs"/>
              </a:rPr>
              <a:t>.</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친척집에 도착했는데 문 잠겨 있고</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열쇠를 못 찾겠음</a:t>
            </a:r>
            <a:r>
              <a:rPr lang="en-US" altLang="ko-KR" sz="1000" b="1" baseline="0" dirty="0">
                <a:solidFill>
                  <a:srgbClr val="FF0000"/>
                </a:solidFill>
                <a:latin typeface="맑은 고딕" pitchFamily="50" charset="-127"/>
                <a:ea typeface="맑은 고딕" pitchFamily="50" charset="-127"/>
              </a:rPr>
              <a:t>.</a:t>
            </a:r>
          </a:p>
          <a:p>
            <a:pPr latinLnBrk="1">
              <a:lnSpc>
                <a:spcPct val="100000"/>
              </a:lnSpc>
            </a:pPr>
            <a:r>
              <a:rPr lang="ko-KR" altLang="en-US" sz="1000" b="1" baseline="0" dirty="0">
                <a:solidFill>
                  <a:srgbClr val="FF0000"/>
                </a:solidFill>
                <a:latin typeface="맑은 고딕" pitchFamily="50" charset="-127"/>
                <a:ea typeface="맑은 고딕" pitchFamily="50" charset="-127"/>
              </a:rPr>
              <a:t>             </a:t>
            </a:r>
            <a:r>
              <a:rPr lang="ko-KR" altLang="en-US" sz="1000" b="1" spc="-30" baseline="0" dirty="0">
                <a:solidFill>
                  <a:srgbClr val="FF0000"/>
                </a:solidFill>
                <a:latin typeface="맑은 고딕" pitchFamily="50" charset="-127"/>
                <a:ea typeface="맑은 고딕" pitchFamily="50" charset="-127"/>
              </a:rPr>
              <a:t>친척이 머물고 있는 호텔에 전화로 상황 설명하고 도움 요청</a:t>
            </a:r>
            <a:endParaRPr lang="en-US" altLang="ko-KR" sz="1000" b="1" spc="-3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When you arrive at your relative’s house, the door is locked and the key is not where it is supposed to be.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relative’s hotel and leave a message explaining the situation. Give two or three options to resolve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uncle Joe.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cannot find the keys to the house and I cannot get in.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have a spare key somewhere?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not, is there a door that’s NOT locked?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is there a window that’s NOT locked?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so, maybe I could get in through the window.</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91006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가족이나 친구와의 약속 못 지켰던 경험 묘사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그것으로 상황은 끝입니다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여러분은 친구나 가족을 위해 무언가를 하기로 동의하고 나서 그것을 할 수 없는 상황에 처한 적이 있나요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동의한 일</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무슨 일이 일어났는지</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그리고 그 상황이 어떻게 해결되었는지에 대한 모든 세부 사항을 내게 말하세요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나의 침구들과 함께 모임을 가지기로 한 때가 기억 납니다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mn-ea"/>
                <a:cs typeface="+mn-cs"/>
              </a:rPr>
              <a:t>하지만</a:t>
            </a:r>
            <a:r>
              <a:rPr lang="en-US" altLang="ko-KR" sz="1000" b="0" i="0" u="none" strike="noStrike" kern="1200" spc="-50" dirty="0">
                <a:solidFill>
                  <a:schemeClr val="tx1"/>
                </a:solidFill>
                <a:latin typeface="맑은 고딕" panose="020B0503020000020004" pitchFamily="50" charset="-127"/>
                <a:ea typeface="+mn-ea"/>
                <a:cs typeface="+mn-cs"/>
              </a:rPr>
              <a:t>, </a:t>
            </a:r>
            <a:r>
              <a:rPr lang="ko-KR" altLang="en-US" sz="1000" b="0" i="0" u="none" strike="noStrike" kern="1200" spc="-50" dirty="0">
                <a:solidFill>
                  <a:schemeClr val="tx1"/>
                </a:solidFill>
                <a:latin typeface="맑은 고딕" panose="020B0503020000020004" pitchFamily="50" charset="-127"/>
                <a:ea typeface="+mn-ea"/>
                <a:cs typeface="+mn-cs"/>
              </a:rPr>
              <a:t>나는 아팠습니다</a:t>
            </a:r>
            <a:r>
              <a:rPr lang="en-US" altLang="ko-KR" sz="1000" b="0" i="0" u="none" strike="noStrike" kern="1200" spc="-50" dirty="0">
                <a:solidFill>
                  <a:schemeClr val="tx1"/>
                </a:solidFill>
                <a:latin typeface="맑은 고딕" panose="020B0503020000020004" pitchFamily="50" charset="-127"/>
                <a:ea typeface="+mn-ea"/>
                <a:cs typeface="+mn-cs"/>
              </a:rPr>
              <a:t>. </a:t>
            </a:r>
            <a:r>
              <a:rPr lang="ko-KR" altLang="en-US" sz="1000" b="0" i="0" u="none" strike="noStrike" kern="1200" spc="-50" dirty="0">
                <a:solidFill>
                  <a:schemeClr val="tx1"/>
                </a:solidFill>
                <a:latin typeface="맑은 고딕" panose="020B0503020000020004" pitchFamily="50" charset="-127"/>
                <a:ea typeface="+mn-ea"/>
                <a:cs typeface="+mn-cs"/>
              </a:rPr>
              <a:t>내가 상한 어떤 것을 먹었기 때문에</a:t>
            </a:r>
            <a:endParaRPr lang="en-US" altLang="ko-KR" sz="1000" b="0" i="0" u="none" strike="noStrike" kern="1200" spc="-5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mn-lt"/>
                <a:ea typeface="+mn-ea"/>
                <a:cs typeface="+mn-cs"/>
              </a:rPr>
              <a:t>나는 식중독에 걸렸습니다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속이 뒤집혔습니다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화장실에 다시 또 다시 갔습니다</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나는 설사를 했기 때문에</a:t>
            </a:r>
            <a:endParaRPr lang="en-US" altLang="ko-KR" sz="1000" b="0" i="0" u="none" strike="noStrike" kern="1200" baseline="0" dirty="0">
              <a:solidFill>
                <a:schemeClr val="tx1"/>
              </a:solidFill>
              <a:latin typeface="+mn-lt"/>
              <a:ea typeface="+mn-ea"/>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모임을 놓친 것에 관하여 나쁜 감정을 느꼈습니다</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그러나 나는 아무 것도 </a:t>
            </a:r>
            <a:r>
              <a:rPr lang="ko-KR" altLang="en-US" sz="1000" b="0" i="0" u="none" strike="noStrike" kern="1200" baseline="0" dirty="0" err="1">
                <a:solidFill>
                  <a:schemeClr val="tx1"/>
                </a:solidFill>
                <a:latin typeface="맑은 고딕" panose="020B0503020000020004" pitchFamily="50" charset="-127"/>
                <a:ea typeface="+mn-ea"/>
                <a:cs typeface="+mn-cs"/>
              </a:rPr>
              <a:t>할수</a:t>
            </a:r>
            <a:r>
              <a:rPr lang="ko-KR" altLang="en-US" sz="1000" b="0" i="0" u="none" strike="noStrike" kern="1200" baseline="0" dirty="0">
                <a:solidFill>
                  <a:schemeClr val="tx1"/>
                </a:solidFill>
                <a:latin typeface="맑은 고딕" panose="020B0503020000020004" pitchFamily="50" charset="-127"/>
                <a:ea typeface="+mn-ea"/>
                <a:cs typeface="+mn-cs"/>
              </a:rPr>
              <a:t> 없었습니다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나의 친구들에게 말했습니다</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갈수 없고 나는 미안하다고</a:t>
            </a: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mn-ea"/>
                <a:cs typeface="+mn-cs"/>
              </a:rPr>
              <a:t>돌이켜 보면</a:t>
            </a:r>
            <a:r>
              <a:rPr lang="en-US" altLang="ko-KR" sz="1000" b="0" i="0" u="none" strike="noStrike" kern="1200" spc="-50" dirty="0">
                <a:solidFill>
                  <a:schemeClr val="tx1"/>
                </a:solidFill>
                <a:latin typeface="맑은 고딕" panose="020B0503020000020004" pitchFamily="50" charset="-127"/>
                <a:ea typeface="+mn-ea"/>
                <a:cs typeface="+mn-cs"/>
              </a:rPr>
              <a:t>, </a:t>
            </a:r>
            <a:r>
              <a:rPr lang="ko-KR" altLang="en-US" sz="1000" b="0" i="0" u="none" strike="noStrike" kern="1200" spc="-50" dirty="0">
                <a:solidFill>
                  <a:schemeClr val="tx1"/>
                </a:solidFill>
                <a:latin typeface="맑은 고딕" panose="020B0503020000020004" pitchFamily="50" charset="-127"/>
                <a:ea typeface="+mn-ea"/>
                <a:cs typeface="+mn-cs"/>
              </a:rPr>
              <a:t>나는 그 시간에 모임을 놓친 것을 후회합니다</a:t>
            </a:r>
            <a:r>
              <a:rPr lang="en-US" altLang="ko-KR" sz="1000" b="0" i="0" u="none" strike="noStrike" kern="1200" spc="-50" dirty="0">
                <a:solidFill>
                  <a:schemeClr val="tx1"/>
                </a:solidFill>
                <a:latin typeface="맑은 고딕" panose="020B0503020000020004" pitchFamily="50" charset="-127"/>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67923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가족이나 친구와의 약속 못 지켰던 경험 묘사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Have you ever been in a situation where you agreed to do something for friends or family members and then couldn’t do it?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me all the details about what you agreed to do, what happened, and how the situation resolved.</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was supposed to have a gathering with my friends.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However, I got sick because I ate something that went bad.</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the bathroom again and again because I had the runs.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felt bad about missing the gathering, but there was nothing I could do.</a:t>
            </a: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I told my friends that I could NOT go and said I was sorry.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Looking back, I regret missing the gathering that time.</a:t>
            </a:r>
          </a:p>
        </p:txBody>
      </p:sp>
    </p:spTree>
    <p:extLst>
      <p:ext uri="{BB962C8B-B14F-4D97-AF65-F5344CB8AC3E}">
        <p14:creationId xmlns:p14="http://schemas.microsoft.com/office/powerpoint/2010/main" val="35151023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159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79284"/>
          </a:xfrm>
          <a:prstGeom prst="rect">
            <a:avLst/>
          </a:prstGeom>
          <a:noFill/>
        </p:spPr>
        <p:txBody>
          <a:bodyPr wrap="square" rtlCol="0">
            <a:spAutoFit/>
          </a:bodyPr>
          <a:lstStyle/>
          <a:p>
            <a:pPr latinLnBrk="1">
              <a:lnSpc>
                <a:spcPct val="100000"/>
              </a:lnSpc>
            </a:pPr>
            <a:r>
              <a:rPr lang="en-US" altLang="ko-KR" sz="1000" b="1" spc="-70" dirty="0">
                <a:solidFill>
                  <a:schemeClr val="tx2"/>
                </a:solidFill>
                <a:latin typeface="맑은 고딕" pitchFamily="50" charset="-127"/>
                <a:ea typeface="맑은 고딕" pitchFamily="50" charset="-127"/>
              </a:rPr>
              <a:t>11 [Int]</a:t>
            </a:r>
            <a:r>
              <a:rPr lang="en-US" altLang="ko-KR" sz="1000" b="1" spc="-70" baseline="0" dirty="0">
                <a:solidFill>
                  <a:schemeClr val="tx2"/>
                </a:solidFill>
                <a:latin typeface="맑은 고딕" pitchFamily="50" charset="-127"/>
                <a:ea typeface="맑은 고딕" pitchFamily="50" charset="-127"/>
              </a:rPr>
              <a:t> </a:t>
            </a:r>
            <a:r>
              <a:rPr lang="ko-KR" altLang="en-US" sz="1000" b="1" spc="-70" baseline="0" dirty="0">
                <a:solidFill>
                  <a:srgbClr val="FF0000"/>
                </a:solidFill>
                <a:latin typeface="맑은 고딕" pitchFamily="50" charset="-127"/>
                <a:ea typeface="맑은 고딕" pitchFamily="50" charset="-127"/>
              </a:rPr>
              <a:t>새로 입주한 건물에 재활용 방법 관리인에게 전화문의</a:t>
            </a:r>
            <a:endParaRPr lang="en-US" altLang="ko-KR" sz="1000" b="1" spc="-70"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spc="-70" baseline="0" dirty="0">
                <a:solidFill>
                  <a:srgbClr val="FF0000"/>
                </a:solidFill>
                <a:latin typeface="맑은 고딕" pitchFamily="50" charset="-127"/>
                <a:ea typeface="맑은 고딕" pitchFamily="50" charset="-127"/>
              </a:rPr>
              <a:t>    </a:t>
            </a:r>
            <a:r>
              <a:rPr lang="en-US" altLang="ko-KR" sz="1000" b="1" spc="-70" dirty="0">
                <a:solidFill>
                  <a:schemeClr val="tx2"/>
                </a:solidFill>
                <a:latin typeface="맑은 고딕" pitchFamily="50" charset="-127"/>
                <a:ea typeface="맑은 고딕" pitchFamily="50" charset="-127"/>
              </a:rPr>
              <a:t>[Int]</a:t>
            </a:r>
            <a:r>
              <a:rPr lang="en-US" altLang="ko-KR" sz="1000" b="1" spc="-70" baseline="0" dirty="0">
                <a:solidFill>
                  <a:schemeClr val="tx2"/>
                </a:solidFill>
                <a:latin typeface="맑은 고딕" pitchFamily="50" charset="-127"/>
                <a:ea typeface="맑은 고딕" pitchFamily="50" charset="-127"/>
              </a:rPr>
              <a:t> </a:t>
            </a:r>
            <a:r>
              <a:rPr lang="ko-KR" altLang="en-US" sz="1000" b="1" spc="-70" baseline="0" dirty="0">
                <a:solidFill>
                  <a:srgbClr val="FF0000"/>
                </a:solidFill>
                <a:latin typeface="맑은 고딕" pitchFamily="50" charset="-127"/>
                <a:ea typeface="맑은 고딕" pitchFamily="50" charset="-127"/>
              </a:rPr>
              <a:t>새로 입주한 아파트에 재활용 방법 관리실에 전화문의</a:t>
            </a:r>
            <a:endParaRPr lang="en-US" altLang="ko-KR" sz="1000" b="1" spc="-7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당신이 새 건물로 이사했다고 가정해 보세요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건물 관리자에게 전화해서 재활용에 대해 서너 가지 질문을 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큰 아파트로 이사했다고 가정해 보세요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프런트에 있는 사람에게 전화를 걸어 건물의 재활용 정책에 대해 </a:t>
            </a:r>
            <a:r>
              <a:rPr lang="en-US" altLang="ko-KR" sz="1000" b="0" i="0" kern="1200" dirty="0">
                <a:solidFill>
                  <a:srgbClr val="0070C0"/>
                </a:solidFill>
                <a:effectLst/>
                <a:latin typeface="+mn-lt"/>
                <a:ea typeface="+mn-ea"/>
                <a:cs typeface="+mn-cs"/>
              </a:rPr>
              <a:t>3~4</a:t>
            </a:r>
            <a:r>
              <a:rPr lang="ko-KR" altLang="en-US" sz="1000" b="0" i="0" kern="1200" dirty="0">
                <a:solidFill>
                  <a:srgbClr val="0070C0"/>
                </a:solidFill>
                <a:effectLst/>
                <a:latin typeface="+mn-lt"/>
                <a:ea typeface="+mn-ea"/>
                <a:cs typeface="+mn-cs"/>
              </a:rPr>
              <a:t>가지 질문을 합니다</a:t>
            </a:r>
            <a:r>
              <a:rPr lang="en-US" altLang="ko-KR" sz="1000" b="0" i="0" u="none" strike="noStrike" kern="1200" baseline="0" dirty="0">
                <a:solidFill>
                  <a:srgbClr val="0070C0"/>
                </a:solidFill>
                <a:latin typeface="맑은 고딕" panose="020B0503020000020004" pitchFamily="50" charset="-127"/>
                <a:ea typeface="맑은 고딕" panose="020B0503020000020004" pitchFamily="50" charset="-127"/>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8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건물안에 재활용에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mn-ea"/>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재활용품을 꺼내고 싶습니다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재활용 해야 하는 것은 무엇입니까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재활용품을 어디로 꺼내 놓을까요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나에게 조금의 방향을 주실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재활용품을 언제 꺼내 놓을까요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언제든지 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mn-ea"/>
                <a:cs typeface="+mn-cs"/>
              </a:rPr>
              <a:t>너는 이것을 받을 때 나에게 전화를 주세요</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감사합니다</a:t>
            </a:r>
            <a:r>
              <a:rPr lang="en-US" altLang="ko-KR" sz="1000" b="0" i="0" u="none" strike="noStrike" kern="1200" baseline="0" dirty="0">
                <a:solidFill>
                  <a:schemeClr val="tx1"/>
                </a:solidFill>
                <a:latin typeface="맑은 고딕" panose="020B0503020000020004" pitchFamily="50" charset="-127"/>
                <a:ea typeface="+mn-ea"/>
                <a:cs typeface="+mn-cs"/>
              </a:rPr>
              <a:t>.</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756174"/>
          </a:xfrm>
          <a:prstGeom prst="rect">
            <a:avLst/>
          </a:prstGeom>
          <a:noFill/>
        </p:spPr>
        <p:txBody>
          <a:bodyPr wrap="square" rtlCol="0">
            <a:spAutoFit/>
          </a:bodyPr>
          <a:lstStyle/>
          <a:p>
            <a:pPr latinLnBrk="1">
              <a:lnSpc>
                <a:spcPct val="100000"/>
              </a:lnSpc>
            </a:pPr>
            <a:r>
              <a:rPr lang="en-US" altLang="ko-KR" sz="1000" b="1" spc="-70" dirty="0">
                <a:solidFill>
                  <a:schemeClr val="tx2"/>
                </a:solidFill>
                <a:latin typeface="맑은 고딕" pitchFamily="50" charset="-127"/>
                <a:ea typeface="맑은 고딕" pitchFamily="50" charset="-127"/>
              </a:rPr>
              <a:t>11 [Int]</a:t>
            </a:r>
            <a:r>
              <a:rPr lang="en-US" altLang="ko-KR" sz="1000" b="1" spc="-70" baseline="0" dirty="0">
                <a:solidFill>
                  <a:schemeClr val="tx2"/>
                </a:solidFill>
                <a:latin typeface="맑은 고딕" pitchFamily="50" charset="-127"/>
                <a:ea typeface="맑은 고딕" pitchFamily="50" charset="-127"/>
              </a:rPr>
              <a:t> </a:t>
            </a:r>
            <a:r>
              <a:rPr lang="ko-KR" altLang="en-US" sz="1000" b="1" spc="-70" baseline="0" dirty="0">
                <a:solidFill>
                  <a:srgbClr val="FF0000"/>
                </a:solidFill>
                <a:latin typeface="맑은 고딕" pitchFamily="50" charset="-127"/>
                <a:ea typeface="맑은 고딕" pitchFamily="50" charset="-127"/>
              </a:rPr>
              <a:t>새로 입주한 건물에 재활용 방법 관리인에게 전화문의</a:t>
            </a:r>
            <a:endParaRPr lang="en-US" altLang="ko-KR" sz="1000" b="1" spc="-70" baseline="0" dirty="0">
              <a:solidFill>
                <a:srgbClr val="FF0000"/>
              </a:solidFill>
              <a:latin typeface="맑은 고딕" pitchFamily="50" charset="-127"/>
              <a:ea typeface="맑은 고딕" pitchFamily="50" charset="-127"/>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spc="-70" baseline="0" dirty="0">
                <a:solidFill>
                  <a:srgbClr val="FF0000"/>
                </a:solidFill>
                <a:latin typeface="맑은 고딕" pitchFamily="50" charset="-127"/>
                <a:ea typeface="맑은 고딕" pitchFamily="50" charset="-127"/>
              </a:rPr>
              <a:t>    </a:t>
            </a:r>
            <a:r>
              <a:rPr lang="en-US" altLang="ko-KR" sz="1000" b="1" spc="-70" dirty="0">
                <a:solidFill>
                  <a:schemeClr val="tx2"/>
                </a:solidFill>
                <a:latin typeface="맑은 고딕" pitchFamily="50" charset="-127"/>
                <a:ea typeface="맑은 고딕" pitchFamily="50" charset="-127"/>
              </a:rPr>
              <a:t>[Int]</a:t>
            </a:r>
            <a:r>
              <a:rPr lang="en-US" altLang="ko-KR" sz="1000" b="1" spc="-70" baseline="0" dirty="0">
                <a:solidFill>
                  <a:schemeClr val="tx2"/>
                </a:solidFill>
                <a:latin typeface="맑은 고딕" pitchFamily="50" charset="-127"/>
                <a:ea typeface="맑은 고딕" pitchFamily="50" charset="-127"/>
              </a:rPr>
              <a:t> </a:t>
            </a:r>
            <a:r>
              <a:rPr lang="ko-KR" altLang="en-US" sz="1000" b="1" spc="-70" baseline="0" dirty="0">
                <a:solidFill>
                  <a:srgbClr val="FF0000"/>
                </a:solidFill>
                <a:latin typeface="맑은 고딕" pitchFamily="50" charset="-127"/>
                <a:ea typeface="맑은 고딕" pitchFamily="50" charset="-127"/>
              </a:rPr>
              <a:t>새로 입주한 아파트에 재활용 방법 관리실에 전화문의</a:t>
            </a:r>
            <a:endParaRPr lang="en-US" altLang="ko-KR" sz="1000" b="1" spc="-7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Suppose that you have moved into a new building.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manager of the building and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ask three or four questions about recycling.</a:t>
            </a:r>
          </a:p>
          <a:p>
            <a:endParaRPr lang="en-US" altLang="ko-KR" sz="800" b="0" i="0" u="none" strike="noStrike" kern="1200" baseline="0" dirty="0">
              <a:solidFill>
                <a:srgbClr val="FF0000"/>
              </a:solidFill>
              <a:latin typeface="맑은 고딕" panose="020B0503020000020004" pitchFamily="50" charset="-127"/>
              <a:ea typeface="맑은 고딕" panose="020B0503020000020004" pitchFamily="50" charset="-127"/>
              <a:cs typeface="+mn-cs"/>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Suppose you just moved to a big apartment building.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the person at the front desk and ask three to four questions about the building's recycling policy.</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800" b="0" spc="-10" dirty="0">
              <a:solidFill>
                <a:srgbClr val="FF0000"/>
              </a:solidFill>
              <a:latin typeface="맑은 고딕" pitchFamily="50" charset="-127"/>
              <a:ea typeface="맑은 고딕" pitchFamily="50" charset="-127"/>
            </a:endParaRPr>
          </a:p>
          <a:p>
            <a:pPr latinLnBrk="1">
              <a:lnSpc>
                <a:spcPct val="100000"/>
              </a:lnSpc>
            </a:pPr>
            <a:endParaRPr lang="en-US" altLang="ko-KR" sz="8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Hi, there. I’m calling to ask about recycling in the building.</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take out the recycling.</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are the things I should recycle?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can I take out the recycling?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you give me some directions?</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take out the recycling?</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do that anytime?</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3714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해외에서 온 새 입주자가 재활용 수거함에 쓰레기 투척</a:t>
            </a:r>
            <a:r>
              <a:rPr lang="en-US" altLang="ko-KR" sz="1000" b="1" baseline="0" dirty="0">
                <a:solidFill>
                  <a:srgbClr val="FF0000"/>
                </a:solidFill>
                <a:latin typeface="맑은 고딕" pitchFamily="50" charset="-127"/>
                <a:ea typeface="맑은 고딕" pitchFamily="50" charset="-127"/>
              </a:rPr>
              <a:t>.</a:t>
            </a:r>
          </a:p>
          <a:p>
            <a:pPr latinLnBrk="1">
              <a:lnSpc>
                <a:spcPct val="100000"/>
              </a:lnSpc>
            </a:pPr>
            <a:r>
              <a:rPr lang="ko-KR" altLang="en-US" sz="1000" b="1" baseline="0" dirty="0">
                <a:solidFill>
                  <a:srgbClr val="FF0000"/>
                </a:solidFill>
                <a:latin typeface="맑은 고딕" pitchFamily="50" charset="-127"/>
                <a:ea typeface="맑은 고딕" pitchFamily="50" charset="-127"/>
              </a:rPr>
              <a:t>             </a:t>
            </a:r>
            <a:r>
              <a:rPr lang="ko-KR" altLang="en-US" sz="1000" b="1" spc="-50" dirty="0">
                <a:solidFill>
                  <a:srgbClr val="FF0000"/>
                </a:solidFill>
                <a:latin typeface="맑은 고딕" pitchFamily="50" charset="-127"/>
                <a:ea typeface="맑은 고딕" pitchFamily="50" charset="-127"/>
              </a:rPr>
              <a:t>주민들 불만</a:t>
            </a:r>
            <a:r>
              <a:rPr lang="en-US" altLang="ko-KR" sz="1000" b="1" spc="-50" dirty="0">
                <a:solidFill>
                  <a:srgbClr val="FF0000"/>
                </a:solidFill>
                <a:latin typeface="맑은 고딕" pitchFamily="50" charset="-127"/>
                <a:ea typeface="맑은 고딕" pitchFamily="50" charset="-127"/>
              </a:rPr>
              <a:t>. </a:t>
            </a:r>
            <a:r>
              <a:rPr lang="ko-KR" altLang="en-US" sz="1000" b="1" spc="-50" dirty="0">
                <a:solidFill>
                  <a:srgbClr val="FF0000"/>
                </a:solidFill>
                <a:latin typeface="맑은 고딕" pitchFamily="50" charset="-127"/>
                <a:ea typeface="맑은 고딕" pitchFamily="50" charset="-127"/>
              </a:rPr>
              <a:t>그 사람에게 가서 재활용 정책 설명</a:t>
            </a:r>
            <a:endParaRPr lang="en-US" altLang="ko-KR" sz="1000" b="1" spc="-5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외국에서 온 새 주민이 막 이사를 왔습니다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하지만</a:t>
            </a:r>
            <a:r>
              <a:rPr lang="en-US" altLang="ko-KR" sz="1000" b="0" i="0" kern="1200" spc="-50" dirty="0">
                <a:solidFill>
                  <a:srgbClr val="0070C0"/>
                </a:solidFill>
                <a:effectLst/>
                <a:latin typeface="+mn-lt"/>
                <a:ea typeface="+mn-ea"/>
                <a:cs typeface="+mn-cs"/>
              </a:rPr>
              <a:t>, </a:t>
            </a:r>
            <a:r>
              <a:rPr lang="ko-KR" altLang="en-US" sz="1000" b="0" i="0" kern="1200" spc="-50" dirty="0">
                <a:solidFill>
                  <a:srgbClr val="0070C0"/>
                </a:solidFill>
                <a:effectLst/>
                <a:latin typeface="+mn-lt"/>
                <a:ea typeface="+mn-ea"/>
                <a:cs typeface="+mn-cs"/>
              </a:rPr>
              <a:t>그는 재활용 쓰레기통에 쓰레기를 버리고 있습니다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다른 주민들은 그것에 대해 매우 화가 나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새 거주자에게 가서 상황을 설명하고 재활용 정책에 대해 자세히 말해보세요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옆집에 사는 사람입니다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사람들이 매우 화가 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재활용을 제대로 하지 않았기 때문에</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쓰레기를 재활용통에 버렸습니다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dirty="0">
                <a:solidFill>
                  <a:schemeClr val="tx1"/>
                </a:solidFill>
                <a:latin typeface="맑은 고딕" panose="020B0503020000020004" pitchFamily="50" charset="-127"/>
                <a:ea typeface="맑은 고딕" panose="020B0503020000020004" pitchFamily="50" charset="-127"/>
                <a:cs typeface="+mn-cs"/>
              </a:rPr>
              <a:t>너는 플라스틱</a:t>
            </a:r>
            <a:r>
              <a:rPr lang="en-US" altLang="ko-KR" sz="1000" b="0" i="0" u="none" strike="noStrike" kern="120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dirty="0">
                <a:solidFill>
                  <a:schemeClr val="tx1"/>
                </a:solidFill>
                <a:latin typeface="맑은 고딕" panose="020B0503020000020004" pitchFamily="50" charset="-127"/>
                <a:ea typeface="맑은 고딕" panose="020B0503020000020004" pitchFamily="50" charset="-127"/>
                <a:cs typeface="+mn-cs"/>
              </a:rPr>
              <a:t>병</a:t>
            </a:r>
            <a:r>
              <a:rPr lang="en-US" altLang="ko-KR" sz="1000" b="0" i="0" u="none" strike="noStrike" kern="120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dirty="0">
                <a:solidFill>
                  <a:schemeClr val="tx1"/>
                </a:solidFill>
                <a:latin typeface="맑은 고딕" panose="020B0503020000020004" pitchFamily="50" charset="-127"/>
                <a:ea typeface="맑은 고딕" panose="020B0503020000020004" pitchFamily="50" charset="-127"/>
                <a:cs typeface="+mn-cs"/>
              </a:rPr>
              <a:t>종이</a:t>
            </a:r>
            <a:r>
              <a:rPr lang="en-US" altLang="ko-KR" sz="1000" b="0" i="0" u="none" strike="noStrike" kern="120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dirty="0">
                <a:solidFill>
                  <a:schemeClr val="tx1"/>
                </a:solidFill>
                <a:latin typeface="맑은 고딕" panose="020B0503020000020004" pitchFamily="50" charset="-127"/>
                <a:ea typeface="맑은 고딕" panose="020B0503020000020004" pitchFamily="50" charset="-127"/>
                <a:cs typeface="+mn-cs"/>
              </a:rPr>
              <a:t>그리고 유리를 모아야 합니다</a:t>
            </a:r>
            <a:r>
              <a:rPr lang="en-US" altLang="ko-KR" sz="1000" b="0" i="0" u="none" strike="noStrike" kern="120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나서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그것들을 따로 꺼내 놓아야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수요일에 그것을 해야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다시 한번</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제대로 재활용을 해야 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371453"/>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해외에서 온 새 입주자가 재활용 수거함에 쓰레기 투척</a:t>
            </a:r>
            <a:r>
              <a:rPr lang="en-US" altLang="ko-KR" sz="1000" b="1" baseline="0" dirty="0">
                <a:solidFill>
                  <a:srgbClr val="FF0000"/>
                </a:solidFill>
                <a:latin typeface="맑은 고딕" pitchFamily="50" charset="-127"/>
                <a:ea typeface="맑은 고딕" pitchFamily="50" charset="-127"/>
              </a:rPr>
              <a:t>.</a:t>
            </a:r>
          </a:p>
          <a:p>
            <a:pPr latinLnBrk="1">
              <a:lnSpc>
                <a:spcPct val="100000"/>
              </a:lnSpc>
            </a:pPr>
            <a:r>
              <a:rPr lang="ko-KR" altLang="en-US" sz="1000" b="1" baseline="0" dirty="0">
                <a:solidFill>
                  <a:srgbClr val="FF0000"/>
                </a:solidFill>
                <a:latin typeface="맑은 고딕" pitchFamily="50" charset="-127"/>
                <a:ea typeface="맑은 고딕" pitchFamily="50" charset="-127"/>
              </a:rPr>
              <a:t>             </a:t>
            </a:r>
            <a:r>
              <a:rPr lang="ko-KR" altLang="en-US" sz="1000" b="1" spc="-50" dirty="0">
                <a:solidFill>
                  <a:srgbClr val="FF0000"/>
                </a:solidFill>
                <a:latin typeface="맑은 고딕" pitchFamily="50" charset="-127"/>
                <a:ea typeface="맑은 고딕" pitchFamily="50" charset="-127"/>
              </a:rPr>
              <a:t>주민들 불만</a:t>
            </a:r>
            <a:r>
              <a:rPr lang="en-US" altLang="ko-KR" sz="1000" b="1" spc="-50" dirty="0">
                <a:solidFill>
                  <a:srgbClr val="FF0000"/>
                </a:solidFill>
                <a:latin typeface="맑은 고딕" pitchFamily="50" charset="-127"/>
                <a:ea typeface="맑은 고딕" pitchFamily="50" charset="-127"/>
              </a:rPr>
              <a:t>. </a:t>
            </a:r>
            <a:r>
              <a:rPr lang="ko-KR" altLang="en-US" sz="1000" b="1" spc="-50" dirty="0">
                <a:solidFill>
                  <a:srgbClr val="FF0000"/>
                </a:solidFill>
                <a:latin typeface="맑은 고딕" pitchFamily="50" charset="-127"/>
                <a:ea typeface="맑은 고딕" pitchFamily="50" charset="-127"/>
              </a:rPr>
              <a:t>그 사람에게 가서 재활용 정책 설명</a:t>
            </a:r>
            <a:endParaRPr lang="en-US" altLang="ko-KR" sz="1000" b="1" spc="-5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 new resident from abroad has just moved in.</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However, he is throwing away garbage in the recycling bin.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Other residents are very upset about that.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Go to the new resident and explain the situation and tell him in detail about the recycling policy.</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I’m a person living next door.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People are very upset because you are NOT recycling properly.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You threw away garbage in the recycling bin.</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spc="-30" dirty="0">
                <a:solidFill>
                  <a:schemeClr val="tx1"/>
                </a:solidFill>
                <a:latin typeface="맑은 고딕" panose="020B0503020000020004" pitchFamily="50" charset="-127"/>
                <a:ea typeface="맑은 고딕" panose="020B0503020000020004" pitchFamily="50" charset="-127"/>
                <a:cs typeface="+mn-cs"/>
              </a:rPr>
              <a:t>You have to gather plastics, bottles, cans, paper and glass.</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And then, you have to take them out separately.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You have to do that on Wednesdays.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Once again, you have to recycle properly.</a:t>
            </a:r>
          </a:p>
        </p:txBody>
      </p:sp>
    </p:spTree>
    <p:extLst>
      <p:ext uri="{BB962C8B-B14F-4D97-AF65-F5344CB8AC3E}">
        <p14:creationId xmlns:p14="http://schemas.microsoft.com/office/powerpoint/2010/main" val="82165367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160</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파티를 한 후 쓰레기 처리 관련하여 주민들에게 항의 들어옴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항의 온 주민에게 대안제시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당신은 종종 큰 파티를 열고 다음날 대부분의 재활용과 쓰레기를 치웁니다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하지만</a:t>
            </a:r>
            <a:r>
              <a:rPr lang="en-US" altLang="ko-KR" sz="1000" b="0" i="0" kern="1200" spc="-50" dirty="0">
                <a:solidFill>
                  <a:srgbClr val="0070C0"/>
                </a:solidFill>
                <a:effectLst/>
                <a:latin typeface="+mn-lt"/>
                <a:ea typeface="+mn-ea"/>
                <a:cs typeface="+mn-cs"/>
              </a:rPr>
              <a:t>, </a:t>
            </a:r>
            <a:r>
              <a:rPr lang="ko-KR" altLang="en-US" sz="1000" b="0" i="0" kern="1200" spc="-50" dirty="0">
                <a:solidFill>
                  <a:srgbClr val="0070C0"/>
                </a:solidFill>
                <a:effectLst/>
                <a:latin typeface="+mn-lt"/>
                <a:ea typeface="+mn-ea"/>
                <a:cs typeface="+mn-cs"/>
              </a:rPr>
              <a:t>당신 건물의 다른 거주자들은 그것에 대해 달가워하지 않고</a:t>
            </a:r>
            <a:r>
              <a:rPr lang="en-US" altLang="ko-KR" sz="1000" b="0" i="0" kern="1200" spc="-50" dirty="0">
                <a:solidFill>
                  <a:srgbClr val="0070C0"/>
                </a:solidFill>
                <a:effectLst/>
                <a:latin typeface="+mn-lt"/>
                <a:ea typeface="+mn-ea"/>
                <a:cs typeface="+mn-cs"/>
              </a:rPr>
              <a:t>, </a:t>
            </a:r>
            <a:r>
              <a:rPr lang="ko-KR" altLang="en-US" sz="1000" b="0" i="0" kern="1200" spc="-50" dirty="0">
                <a:solidFill>
                  <a:srgbClr val="0070C0"/>
                </a:solidFill>
                <a:effectLst/>
                <a:latin typeface="+mn-lt"/>
                <a:ea typeface="+mn-ea"/>
                <a:cs typeface="+mn-cs"/>
              </a:rPr>
              <a:t>그들 중 한 명이 당신에게 불평하러 왔습니다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상황을 설명하고 문제를 해결하기 위한 몇 가지 제안을 합니다</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사람들이 화난 것을 이해합니다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나의 쓰레기 때문에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r>
            <a:b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b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많은 쓰레기를 가집니다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나의 장소에서 큰 파티를 가질 때</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밤에 쓰레기를 꺼내 놓는 건 어떻습니까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내가 나의 쓰레기를 각기 나누어서 꺼내 놓는 건 어떻습니까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나는 쓰레기의 양을 줄이려고 노력할 수도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본인이 파티를 한 후 쓰레기 처리 관련하여 주민들에게 항의 들어옴</a:t>
            </a: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항의 온 주민에게 대안제시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often host large parties and take out most of the recycling and garbage the next day. </a:t>
            </a:r>
          </a:p>
          <a:p>
            <a:r>
              <a:rPr lang="en-US" altLang="ko-KR" sz="1000" b="0" i="0" u="none" strike="noStrike" kern="1200" spc="-30" dirty="0">
                <a:solidFill>
                  <a:srgbClr val="FF0000"/>
                </a:solidFill>
                <a:latin typeface="맑은 고딕" panose="020B0503020000020004" pitchFamily="50" charset="-127"/>
                <a:ea typeface="맑은 고딕" panose="020B0503020000020004" pitchFamily="50" charset="-127"/>
                <a:cs typeface="+mn-cs"/>
              </a:rPr>
              <a:t>However, other residents in your building are not happy about it, and one of them has come to complain to you.</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Explain the situation and offer some suggestions to resolve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understand that some people are upset because of my garbage.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a lot of garbage when I have large parties at my place.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I take out the garbage at night?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I divide my garbage and take them out separately?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I could try to reduce the amount of garbage.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fine with whatever you decide.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386836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재활용 경험 묘사</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spc="-30" dirty="0">
                <a:solidFill>
                  <a:srgbClr val="0070C0"/>
                </a:solidFill>
                <a:effectLst/>
                <a:latin typeface="+mn-lt"/>
                <a:ea typeface="+mn-ea"/>
                <a:cs typeface="+mn-cs"/>
              </a:rPr>
              <a:t>네가 어렸을 때 재활용이 어땠는지 내게 말해 주세요</a:t>
            </a:r>
            <a:r>
              <a:rPr lang="en-US" altLang="ko-KR" sz="1100" b="0" i="0" kern="1200" spc="-3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재활용품을 꺼낸 장소가 따로 있었나요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당시 재활용은 지금과 어떻게 달랐나요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내가 어렸을 때</a:t>
            </a:r>
            <a:r>
              <a:rPr lang="en-US" altLang="ko-KR" sz="1100" b="0" i="0" u="none" strike="noStrike" kern="1200" baseline="0" dirty="0">
                <a:solidFill>
                  <a:schemeClr val="tx1"/>
                </a:solidFill>
                <a:latin typeface="맑은 고딕" panose="020B0503020000020004" pitchFamily="50" charset="-127"/>
                <a:ea typeface="+mn-ea"/>
                <a:cs typeface="+mn-cs"/>
              </a:rPr>
              <a:t>, </a:t>
            </a:r>
            <a:r>
              <a:rPr lang="ko-KR" altLang="en-US" sz="1100" b="0" i="0" u="none" strike="noStrike" kern="1200" baseline="0" dirty="0">
                <a:solidFill>
                  <a:schemeClr val="tx1"/>
                </a:solidFill>
                <a:latin typeface="맑은 고딕" panose="020B0503020000020004" pitchFamily="50" charset="-127"/>
                <a:ea typeface="+mn-ea"/>
                <a:cs typeface="+mn-cs"/>
              </a:rPr>
              <a:t>사람들은 그들의 집에서 재활용을 하지 않았습니다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대신에</a:t>
            </a:r>
            <a:r>
              <a:rPr lang="en-US" altLang="ko-KR" sz="1100" b="0" i="0" u="none" strike="noStrike" kern="1200" baseline="0" dirty="0">
                <a:solidFill>
                  <a:schemeClr val="tx1"/>
                </a:solidFill>
                <a:latin typeface="맑은 고딕" panose="020B0503020000020004" pitchFamily="50" charset="-127"/>
                <a:ea typeface="+mn-ea"/>
                <a:cs typeface="+mn-cs"/>
              </a:rPr>
              <a:t>, </a:t>
            </a:r>
            <a:r>
              <a:rPr lang="ko-KR" altLang="en-US" sz="1100" b="0" i="0" u="none" strike="noStrike" kern="1200" baseline="0" dirty="0">
                <a:solidFill>
                  <a:schemeClr val="tx1"/>
                </a:solidFill>
                <a:latin typeface="맑은 고딕" panose="020B0503020000020004" pitchFamily="50" charset="-127"/>
                <a:ea typeface="+mn-ea"/>
                <a:cs typeface="+mn-cs"/>
              </a:rPr>
              <a:t>학교에서 재활용하는 날들이 있곤 했습니다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학생들은 학교에 폐휴지를 가지고 가곤 했습니다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나는 나 자신도 그것을 한 것을 기억 납니다</a:t>
            </a:r>
            <a:r>
              <a:rPr lang="en-US" altLang="ko-KR" sz="1100" b="0" i="0" u="none" strike="noStrike" kern="1200" baseline="0" dirty="0">
                <a:solidFill>
                  <a:schemeClr val="tx1"/>
                </a:solidFill>
                <a:latin typeface="맑은 고딕" panose="020B0503020000020004" pitchFamily="50" charset="-127"/>
                <a:ea typeface="+mn-ea"/>
                <a:cs typeface="+mn-cs"/>
              </a:rPr>
              <a:t>. </a:t>
            </a:r>
            <a:r>
              <a:rPr lang="ko-KR" altLang="en-US" sz="1100" b="0" i="0" u="none" strike="noStrike" kern="1200" baseline="0" dirty="0">
                <a:solidFill>
                  <a:schemeClr val="tx1"/>
                </a:solidFill>
                <a:latin typeface="맑은 고딕" panose="020B0503020000020004" pitchFamily="50" charset="-127"/>
                <a:ea typeface="+mn-ea"/>
                <a:cs typeface="+mn-cs"/>
              </a:rPr>
              <a:t>내가 어렸을 때</a:t>
            </a: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그러나 요즈음</a:t>
            </a:r>
            <a:r>
              <a:rPr lang="en-US" altLang="ko-KR" sz="1100" b="0" i="0" u="none" strike="noStrike" kern="1200" baseline="0" dirty="0">
                <a:solidFill>
                  <a:schemeClr val="tx1"/>
                </a:solidFill>
                <a:latin typeface="맑은 고딕" panose="020B0503020000020004" pitchFamily="50" charset="-127"/>
                <a:ea typeface="+mn-ea"/>
                <a:cs typeface="+mn-cs"/>
              </a:rPr>
              <a:t>, </a:t>
            </a:r>
            <a:r>
              <a:rPr lang="ko-KR" altLang="en-US" sz="1100" b="0" i="0" u="none" strike="noStrike" kern="1200" baseline="0" dirty="0">
                <a:solidFill>
                  <a:schemeClr val="tx1"/>
                </a:solidFill>
                <a:latin typeface="맑은 고딕" panose="020B0503020000020004" pitchFamily="50" charset="-127"/>
                <a:ea typeface="+mn-ea"/>
                <a:cs typeface="+mn-cs"/>
              </a:rPr>
              <a:t>재활용은 사람들의 집에서 흔한 관행입니다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그것은 사람들의 삶에서 일상적인 루틴입니다</a:t>
            </a:r>
            <a:r>
              <a:rPr lang="en-US" altLang="ko-KR" sz="1100" b="0" i="0" u="none" strike="noStrike" kern="1200" baseline="0" dirty="0">
                <a:solidFill>
                  <a:schemeClr val="tx1"/>
                </a:solidFill>
                <a:latin typeface="맑은 고딕" panose="020B0503020000020004" pitchFamily="50" charset="-127"/>
                <a:ea typeface="+mn-ea"/>
                <a:cs typeface="+mn-cs"/>
              </a:rPr>
              <a:t>.</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95300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어렸을 때 재활용 경험 묘사</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what recycling was like when you were a child.</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Was there a particular place you took out the recyclables to?</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How was recycling back then different from what you are doing now?</a:t>
            </a:r>
            <a:r>
              <a:rPr lang="ko-KR" altLang="en-US" sz="1100" b="0" baseline="0" dirty="0">
                <a:solidFill>
                  <a:srgbClr val="FF0000"/>
                </a:solidFill>
                <a:latin typeface="맑은 고딕" pitchFamily="50" charset="-127"/>
                <a:ea typeface="맑은 고딕" pitchFamily="50" charset="-127"/>
              </a:rPr>
              <a:t>  </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I was a kid, people did NOT recycle at their homes.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Instead, there used to be recycling days at schools.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Students used to take scrap paper to school.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doing that myself when I was a kid.</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these days, recycling is a common practice at people’s homes.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is a daily routine in people’s lives.</a:t>
            </a:r>
          </a:p>
        </p:txBody>
      </p:sp>
    </p:spTree>
    <p:extLst>
      <p:ext uri="{BB962C8B-B14F-4D97-AF65-F5344CB8AC3E}">
        <p14:creationId xmlns:p14="http://schemas.microsoft.com/office/powerpoint/2010/main" val="372302416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161</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352981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재활용 중 있었던 문제 설명</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재활용에 문제가 있었던 특정 시간을 설명하십시오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새로운 곳으로 이사를 가서 규칙을 잘 모르거나</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쓰레기를 잘못 넣은 상황이었을 수도 있습니다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처음부터 끝까지 무슨 일이 일어났는지 묘사하세요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r>
              <a:rPr lang="en-US" altLang="ko-KR" sz="1100" b="0" i="0" kern="1200" spc="-50" dirty="0">
                <a:solidFill>
                  <a:schemeClr val="lt1"/>
                </a:solidFill>
                <a:effectLst/>
                <a:latin typeface="+mn-lt"/>
                <a:ea typeface="+mn-ea"/>
                <a:cs typeface="+mn-cs"/>
              </a:rPr>
              <a:t>.</a:t>
            </a:r>
            <a:endParaRPr lang="en-US" altLang="ko-KR" sz="1100" b="0" spc="-50" baseline="0" dirty="0">
              <a:solidFill>
                <a:srgbClr val="FF0000"/>
              </a:solidFill>
              <a:latin typeface="맑은 고딕" pitchFamily="50" charset="-127"/>
              <a:ea typeface="맑은 고딕" pitchFamily="50" charset="-127"/>
            </a:endParaRPr>
          </a:p>
          <a:p>
            <a:endParaRPr lang="en-US" altLang="ko-KR" sz="1100" b="0" baseline="0" dirty="0">
              <a:solidFill>
                <a:srgbClr val="0070C0"/>
              </a:solidFill>
              <a:latin typeface="맑은 고딕" pitchFamily="50" charset="-127"/>
              <a:ea typeface="맑은 고딕"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mn-ea"/>
                <a:cs typeface="+mn-cs"/>
              </a:rPr>
              <a:t>나는 최근에 재활용품을 꺼내 놓은 것을 기억 납니다</a:t>
            </a:r>
            <a:r>
              <a:rPr lang="en-US" altLang="ko-KR" sz="1100" b="0" i="0" u="none" strike="noStrike" kern="1200" spc="-5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그러나</a:t>
            </a:r>
            <a:r>
              <a:rPr lang="en-US" altLang="ko-KR" sz="1100" b="0" i="0" u="none" strike="noStrike" kern="1200" baseline="0" dirty="0">
                <a:solidFill>
                  <a:schemeClr val="tx1"/>
                </a:solidFill>
                <a:latin typeface="맑은 고딕" panose="020B0503020000020004" pitchFamily="50" charset="-127"/>
                <a:ea typeface="+mn-ea"/>
                <a:cs typeface="+mn-cs"/>
              </a:rPr>
              <a:t>, </a:t>
            </a:r>
            <a:r>
              <a:rPr lang="ko-KR" altLang="en-US" sz="1100" b="0" i="0" u="none" strike="noStrike" kern="1200" baseline="0" dirty="0">
                <a:solidFill>
                  <a:schemeClr val="tx1"/>
                </a:solidFill>
                <a:latin typeface="맑은 고딕" panose="020B0503020000020004" pitchFamily="50" charset="-127"/>
                <a:ea typeface="+mn-ea"/>
                <a:cs typeface="+mn-cs"/>
              </a:rPr>
              <a:t>캔으로부터 조금의 남은 맥주가 새어 나왔습니다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나의 손은 끈적거리고 더러워졌습니다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그들은 또한 꽤 나쁜 냄새를 풍겼습니다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나는 나의 손을 씻어야 했습니다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그 이후로</a:t>
            </a:r>
            <a:r>
              <a:rPr lang="en-US" altLang="ko-KR" sz="1100" b="0" i="0" u="none" strike="noStrike" kern="1200" baseline="0" dirty="0">
                <a:solidFill>
                  <a:schemeClr val="tx1"/>
                </a:solidFill>
                <a:latin typeface="맑은 고딕" panose="020B0503020000020004" pitchFamily="50" charset="-127"/>
                <a:ea typeface="+mn-ea"/>
                <a:cs typeface="+mn-cs"/>
              </a:rPr>
              <a:t>, </a:t>
            </a:r>
            <a:r>
              <a:rPr lang="ko-KR" altLang="en-US" sz="1100" b="0" i="0" u="none" strike="noStrike" kern="1200" baseline="0" dirty="0">
                <a:solidFill>
                  <a:schemeClr val="tx1"/>
                </a:solidFill>
                <a:latin typeface="맑은 고딕" panose="020B0503020000020004" pitchFamily="50" charset="-127"/>
                <a:ea typeface="+mn-ea"/>
                <a:cs typeface="+mn-cs"/>
              </a:rPr>
              <a:t>나는 더 조심하려고 노력합니다</a:t>
            </a:r>
            <a:r>
              <a:rPr lang="en-US" altLang="ko-KR" sz="1100" b="0" i="0" u="none" strike="noStrike" kern="1200" baseline="0" dirty="0">
                <a:solidFill>
                  <a:schemeClr val="tx1"/>
                </a:solidFill>
                <a:latin typeface="맑은 고딕" panose="020B0503020000020004" pitchFamily="50" charset="-127"/>
                <a:ea typeface="+mn-ea"/>
                <a:cs typeface="+mn-cs"/>
              </a:rPr>
              <a:t>.</a:t>
            </a: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3614451"/>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본인이 재활용 중 있었던 문제 설명</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a specific time in which you had trouble with recycling.</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It may have been a situation where you moved to a new place and did not know the rules, or you put the materials in the wrong containers.</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Describe what happened from beginning to end.</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taking out the recycling recently.</a:t>
            </a:r>
          </a:p>
          <a:p>
            <a:pPr>
              <a:lnSpc>
                <a:spcPct val="150000"/>
              </a:lnSpc>
            </a:pPr>
            <a:r>
              <a:rPr lang="en-US" altLang="ko-KR" sz="1100" b="0" i="0" u="none" strike="noStrike" kern="1200" spc="-30" dirty="0">
                <a:solidFill>
                  <a:schemeClr val="tx1"/>
                </a:solidFill>
                <a:latin typeface="맑은 고딕" panose="020B0503020000020004" pitchFamily="50" charset="-127"/>
                <a:ea typeface="맑은 고딕" panose="020B0503020000020004" pitchFamily="50" charset="-127"/>
                <a:cs typeface="+mn-cs"/>
              </a:rPr>
              <a:t>However, some leftover beer from a can leaked out.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My hands became sticky and dirty.</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They also smelled pretty bad.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wash my hands.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Tree>
    <p:extLst>
      <p:ext uri="{BB962C8B-B14F-4D97-AF65-F5344CB8AC3E}">
        <p14:creationId xmlns:p14="http://schemas.microsoft.com/office/powerpoint/2010/main" val="391665931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648744"/>
            <a:ext cx="6858000" cy="4570482"/>
          </a:xfrm>
          <a:prstGeom prst="rect">
            <a:avLst/>
          </a:prstGeom>
          <a:noFill/>
        </p:spPr>
        <p:txBody>
          <a:bodyPr wrap="square" rtlCol="0">
            <a:spAutoFit/>
          </a:bodyPr>
          <a:lstStyle/>
          <a:p>
            <a:pPr algn="ctr">
              <a:lnSpc>
                <a:spcPct val="150000"/>
              </a:lnSpc>
            </a:pPr>
            <a:r>
              <a:rPr lang="en-US" altLang="ko-KR" sz="5400" b="1">
                <a:solidFill>
                  <a:srgbClr val="FF0000"/>
                </a:solidFill>
                <a:latin typeface="맑은 고딕" pitchFamily="50" charset="-127"/>
                <a:ea typeface="맑은 고딕" pitchFamily="50" charset="-127"/>
              </a:rPr>
              <a:t>30 ROLE PLAY</a:t>
            </a:r>
          </a:p>
          <a:p>
            <a:pPr algn="ctr">
              <a:lnSpc>
                <a:spcPct val="150000"/>
              </a:lnSpc>
            </a:pPr>
            <a:endParaRPr lang="en-US" altLang="ko-KR" sz="2800" b="1">
              <a:solidFill>
                <a:schemeClr val="tx2"/>
              </a:solidFill>
              <a:latin typeface="맑은 고딕" pitchFamily="50" charset="-127"/>
              <a:ea typeface="맑은 고딕" pitchFamily="50" charset="-127"/>
            </a:endParaRPr>
          </a:p>
          <a:p>
            <a:pPr algn="ctr">
              <a:lnSpc>
                <a:spcPct val="150000"/>
              </a:lnSpc>
            </a:pPr>
            <a:r>
              <a:rPr lang="en-US" altLang="ko-KR" sz="2800" b="1">
                <a:solidFill>
                  <a:schemeClr val="tx2"/>
                </a:solidFill>
                <a:latin typeface="맑은 고딕" pitchFamily="50" charset="-127"/>
                <a:ea typeface="맑은 고딕" pitchFamily="50" charset="-127"/>
              </a:rPr>
              <a:t>MP3 </a:t>
            </a:r>
            <a:r>
              <a:rPr lang="ko-KR" altLang="en-US" sz="2800" b="1">
                <a:solidFill>
                  <a:schemeClr val="tx2"/>
                </a:solidFill>
                <a:latin typeface="맑은 고딕" pitchFamily="50" charset="-127"/>
                <a:ea typeface="맑은 고딕" pitchFamily="50" charset="-127"/>
              </a:rPr>
              <a:t>플레이어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자전거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해변 </a:t>
            </a:r>
            <a:r>
              <a:rPr lang="ko-KR" altLang="en-US" sz="2800" b="1">
                <a:solidFill>
                  <a:schemeClr val="tx2"/>
                </a:solidFill>
              </a:rPr>
              <a:t>★</a:t>
            </a:r>
            <a:endParaRPr lang="en-US" altLang="ko-KR" sz="2800" b="1">
              <a:solidFill>
                <a:schemeClr val="tx2"/>
              </a:solidFill>
            </a:endParaRPr>
          </a:p>
          <a:p>
            <a:pPr algn="ctr">
              <a:lnSpc>
                <a:spcPct val="150000"/>
              </a:lnSpc>
            </a:pPr>
            <a:r>
              <a:rPr lang="ko-KR" altLang="en-US" sz="2800" b="1">
                <a:solidFill>
                  <a:schemeClr val="tx2"/>
                </a:solidFill>
                <a:latin typeface="맑은 고딕" pitchFamily="50" charset="-127"/>
                <a:ea typeface="맑은 고딕" pitchFamily="50" charset="-127"/>
              </a:rPr>
              <a:t>공원 </a:t>
            </a:r>
            <a:r>
              <a:rPr lang="ko-KR" altLang="en-US" sz="2800" b="1">
                <a:solidFill>
                  <a:schemeClr val="tx2"/>
                </a:solidFill>
              </a:rPr>
              <a:t>★</a:t>
            </a:r>
            <a:endParaRPr lang="en-US" altLang="ko-KR" sz="2800" b="1">
              <a:solidFill>
                <a:schemeClr val="tx2"/>
              </a:solidFill>
              <a:latin typeface="맑은 고딕" pitchFamily="50" charset="-127"/>
              <a:ea typeface="맑은 고딕" pitchFamily="50" charset="-127"/>
            </a:endParaRPr>
          </a:p>
        </p:txBody>
      </p:sp>
      <p:sp>
        <p:nvSpPr>
          <p:cNvPr id="3" name="슬라이드 번호 개체 틀 2">
            <a:extLst>
              <a:ext uri="{FF2B5EF4-FFF2-40B4-BE49-F238E27FC236}">
                <a16:creationId xmlns:a16="http://schemas.microsoft.com/office/drawing/2014/main" xmlns="" id="{4B249F02-DB2C-60A9-957E-93ED7C780BFB}"/>
              </a:ext>
            </a:extLst>
          </p:cNvPr>
          <p:cNvSpPr>
            <a:spLocks noGrp="1"/>
          </p:cNvSpPr>
          <p:nvPr>
            <p:ph type="sldNum" sz="quarter" idx="12"/>
          </p:nvPr>
        </p:nvSpPr>
        <p:spPr/>
        <p:txBody>
          <a:bodyPr/>
          <a:lstStyle/>
          <a:p>
            <a:fld id="{18CC7079-95A2-4860-A138-51A9FC969471}" type="slidenum">
              <a:rPr lang="ko-KR" altLang="en-US" smtClean="0"/>
              <a:t>162</a:t>
            </a:fld>
            <a:endParaRPr lang="ko-KR" altLang="en-US"/>
          </a:p>
        </p:txBody>
      </p:sp>
    </p:spTree>
    <p:extLst>
      <p:ext uri="{BB962C8B-B14F-4D97-AF65-F5344CB8AC3E}">
        <p14:creationId xmlns:p14="http://schemas.microsoft.com/office/powerpoint/2010/main" val="383155399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163</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친구가 쓰는 </a:t>
            </a:r>
            <a:r>
              <a:rPr lang="en-US" altLang="ko-KR" sz="1000" b="1" baseline="0" dirty="0">
                <a:solidFill>
                  <a:srgbClr val="FF0000"/>
                </a:solidFill>
                <a:latin typeface="맑은 고딕" pitchFamily="50" charset="-127"/>
                <a:ea typeface="맑은 고딕" pitchFamily="50" charset="-127"/>
              </a:rPr>
              <a:t>MP3 </a:t>
            </a:r>
            <a:r>
              <a:rPr lang="ko-KR" altLang="en-US" sz="1000" b="1" baseline="0" dirty="0">
                <a:solidFill>
                  <a:srgbClr val="FF0000"/>
                </a:solidFill>
                <a:latin typeface="맑은 고딕" pitchFamily="50" charset="-127"/>
                <a:ea typeface="맑은 고딕" pitchFamily="50" charset="-127"/>
              </a:rPr>
              <a:t>플레이어에 대해 전화로 질문</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a:t>
            </a:r>
            <a:r>
              <a:rPr lang="en-US" altLang="ko-KR" sz="1000" b="0" i="0" kern="1200" dirty="0">
                <a:solidFill>
                  <a:srgbClr val="0070C0"/>
                </a:solidFill>
                <a:effectLst/>
                <a:latin typeface="+mn-lt"/>
                <a:ea typeface="+mn-ea"/>
                <a:cs typeface="+mn-cs"/>
              </a:rPr>
              <a:t>MP3 </a:t>
            </a:r>
            <a:r>
              <a:rPr lang="ko-KR" altLang="en-US" sz="1000" b="0" i="0" kern="1200" dirty="0">
                <a:solidFill>
                  <a:srgbClr val="0070C0"/>
                </a:solidFill>
                <a:effectLst/>
                <a:latin typeface="+mn-lt"/>
                <a:ea typeface="+mn-ea"/>
                <a:cs typeface="+mn-cs"/>
              </a:rPr>
              <a:t>플레이어를 사고 싶습니다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친구에게 전화해서 그가 사용하는 </a:t>
            </a:r>
            <a:r>
              <a:rPr lang="en-US" altLang="ko-KR" sz="1000" b="0" i="0" kern="1200" dirty="0">
                <a:solidFill>
                  <a:srgbClr val="0070C0"/>
                </a:solidFill>
                <a:effectLst/>
                <a:latin typeface="+mn-lt"/>
                <a:ea typeface="+mn-ea"/>
                <a:cs typeface="+mn-cs"/>
              </a:rPr>
              <a:t>MP3 </a:t>
            </a:r>
            <a:r>
              <a:rPr lang="ko-KR" altLang="en-US" sz="1000" b="0" i="0" kern="1200" dirty="0">
                <a:solidFill>
                  <a:srgbClr val="0070C0"/>
                </a:solidFill>
                <a:effectLst/>
                <a:latin typeface="+mn-lt"/>
                <a:ea typeface="+mn-ea"/>
                <a:cs typeface="+mn-cs"/>
              </a:rPr>
              <a:t>플레이어에 대해 물어보세요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친구가 사용하고 있는 제품을 구매하고 싶은 지 결정하는 데 도움이 되는 질문을 서너 개 하세요</a:t>
            </a:r>
            <a:r>
              <a:rPr lang="en-US" altLang="ko-KR" sz="1000" b="0" i="0" kern="1200" dirty="0">
                <a:solidFill>
                  <a:schemeClr val="lt1"/>
                </a:solidFill>
                <a:effectLst/>
                <a:latin typeface="+mn-lt"/>
                <a:ea typeface="+mn-ea"/>
                <a:cs typeface="+mn-cs"/>
              </a:rPr>
              <a:t>.</a:t>
            </a:r>
            <a:endParaRPr lang="en-US" altLang="ko-KR" sz="1000" b="0" baseline="0" dirty="0">
              <a:solidFill>
                <a:srgbClr val="FF000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8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spc="-100" dirty="0">
                <a:solidFill>
                  <a:schemeClr val="tx1"/>
                </a:solidFill>
                <a:latin typeface="맑은 고딕" panose="020B0503020000020004" pitchFamily="50" charset="-127"/>
                <a:ea typeface="+mn-ea"/>
                <a:cs typeface="+mn-cs"/>
              </a:rPr>
              <a:t>나는 너의 </a:t>
            </a:r>
            <a:r>
              <a:rPr lang="en-US" altLang="ko-KR" sz="1000" b="0" i="0" u="none" strike="noStrike" kern="1200" spc="-100" dirty="0">
                <a:solidFill>
                  <a:schemeClr val="tx1"/>
                </a:solidFill>
                <a:latin typeface="맑은 고딕" panose="020B0503020000020004" pitchFamily="50" charset="-127"/>
                <a:ea typeface="+mn-ea"/>
                <a:cs typeface="+mn-cs"/>
              </a:rPr>
              <a:t>MP3 </a:t>
            </a:r>
            <a:r>
              <a:rPr lang="ko-KR" altLang="en-US" sz="1000" b="0" i="0" u="none" strike="noStrike" kern="1200" spc="-100" dirty="0">
                <a:solidFill>
                  <a:schemeClr val="tx1"/>
                </a:solidFill>
                <a:latin typeface="맑은 고딕" panose="020B0503020000020004" pitchFamily="50" charset="-127"/>
                <a:ea typeface="+mn-ea"/>
                <a:cs typeface="+mn-cs"/>
              </a:rPr>
              <a:t>플레이어에 관하여 묻기 위해 전화하고 있습니다</a:t>
            </a:r>
            <a:r>
              <a:rPr lang="en-US" altLang="ko-KR" sz="1000" b="0" i="0" u="none" strike="noStrike" kern="1200" spc="-100" dirty="0">
                <a:solidFill>
                  <a:schemeClr val="tx1"/>
                </a:solidFill>
                <a:latin typeface="맑은 고딕" panose="020B0503020000020004" pitchFamily="50" charset="-127"/>
                <a:ea typeface="+mn-ea"/>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얼마였나요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비쌌나요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그것을 언제 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더불어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그것을 어디서 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그것을 온라인 또는 오프라인에서 샀나요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너가 그것을 온라인으로 샀다면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어느 사이트였습니까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만약 너가 그것을 오프라인으로 샀다면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매장은 어디에 있었습니까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8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mn-ea"/>
                <a:cs typeface="+mn-cs"/>
              </a:rPr>
              <a:t>너는 이것을 받을 때 나에게 전화를 주세요</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감사합니다</a:t>
            </a:r>
            <a:r>
              <a:rPr lang="en-US" altLang="ko-KR" sz="1000" b="0" i="0" u="none" strike="noStrike" kern="1200" baseline="0" dirty="0">
                <a:solidFill>
                  <a:schemeClr val="tx1"/>
                </a:solidFill>
                <a:latin typeface="맑은 고딕" panose="020B0503020000020004" pitchFamily="50" charset="-127"/>
                <a:ea typeface="+mn-ea"/>
                <a:cs typeface="+mn-cs"/>
              </a:rPr>
              <a:t>.</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43300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친구가 쓰는 </a:t>
            </a:r>
            <a:r>
              <a:rPr lang="en-US" altLang="ko-KR" sz="1000" b="1" baseline="0" dirty="0">
                <a:solidFill>
                  <a:srgbClr val="FF0000"/>
                </a:solidFill>
                <a:latin typeface="맑은 고딕" pitchFamily="50" charset="-127"/>
                <a:ea typeface="맑은 고딕" pitchFamily="50" charset="-127"/>
              </a:rPr>
              <a:t>MP3 </a:t>
            </a:r>
            <a:r>
              <a:rPr lang="ko-KR" altLang="en-US" sz="1000" b="1" baseline="0" dirty="0">
                <a:solidFill>
                  <a:srgbClr val="FF0000"/>
                </a:solidFill>
                <a:latin typeface="맑은 고딕" pitchFamily="50" charset="-127"/>
                <a:ea typeface="맑은 고딕" pitchFamily="50" charset="-127"/>
              </a:rPr>
              <a:t>플레이어에 대해 전화로 질문</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would like to buy an MP3 Player. Call your friend and ask about the MP3 Player he/she is using.</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Ask three or four questions that will help you decide whether you want to buy the product your friend is using.</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your MP3 Player.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much was it? Was it expensive?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when did you buy it?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Plus, where did you buy it?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Did you buy it online or offline?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you got it online, which site was it?</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you got it offline, where was the store?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5063950"/>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친구의 </a:t>
            </a:r>
            <a:r>
              <a:rPr lang="en-US" altLang="ko-KR" sz="1000" b="1" spc="-50" baseline="0" dirty="0">
                <a:solidFill>
                  <a:srgbClr val="FF0000"/>
                </a:solidFill>
                <a:latin typeface="맑은 고딕" pitchFamily="50" charset="-127"/>
                <a:ea typeface="맑은 고딕" pitchFamily="50" charset="-127"/>
              </a:rPr>
              <a:t>MP3 </a:t>
            </a:r>
            <a:r>
              <a:rPr lang="ko-KR" altLang="en-US" sz="1000" b="1" spc="-50" baseline="0" dirty="0">
                <a:solidFill>
                  <a:srgbClr val="FF0000"/>
                </a:solidFill>
                <a:latin typeface="맑은 고딕" pitchFamily="50" charset="-127"/>
                <a:ea typeface="맑은 고딕" pitchFamily="50" charset="-127"/>
              </a:rPr>
              <a:t>플레이어 빌렸다가 고장</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대안제시  </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spc="-50" dirty="0">
                <a:solidFill>
                  <a:srgbClr val="0070C0"/>
                </a:solidFill>
                <a:effectLst/>
                <a:latin typeface="+mn-lt"/>
                <a:ea typeface="+mn-ea"/>
                <a:cs typeface="+mn-cs"/>
              </a:rPr>
              <a:t>친구의 </a:t>
            </a:r>
            <a:r>
              <a:rPr lang="en-US" altLang="ko-KR" sz="1000" b="0" i="0" kern="1200" spc="-50" dirty="0">
                <a:solidFill>
                  <a:srgbClr val="0070C0"/>
                </a:solidFill>
                <a:effectLst/>
                <a:latin typeface="+mn-lt"/>
                <a:ea typeface="+mn-ea"/>
                <a:cs typeface="+mn-cs"/>
              </a:rPr>
              <a:t>MP3 </a:t>
            </a:r>
            <a:r>
              <a:rPr lang="ko-KR" altLang="en-US" sz="1000" b="0" i="0" kern="1200" spc="-50" dirty="0">
                <a:solidFill>
                  <a:srgbClr val="0070C0"/>
                </a:solidFill>
                <a:effectLst/>
                <a:latin typeface="+mn-lt"/>
                <a:ea typeface="+mn-ea"/>
                <a:cs typeface="+mn-cs"/>
              </a:rPr>
              <a:t>플레이어를 빌렸는데 실수로 망가뜨렸습니다</a:t>
            </a:r>
            <a:r>
              <a:rPr lang="en-US" altLang="ko-KR" sz="1000" b="0" i="0" kern="1200" spc="-5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어떻게 망가졌는지</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현재 상태가 </a:t>
            </a:r>
            <a:r>
              <a:rPr lang="ko-KR" altLang="en-US" sz="1000" b="0" i="0" kern="1200" dirty="0" err="1">
                <a:solidFill>
                  <a:srgbClr val="0070C0"/>
                </a:solidFill>
                <a:effectLst/>
                <a:latin typeface="+mn-lt"/>
                <a:ea typeface="+mn-ea"/>
                <a:cs typeface="+mn-cs"/>
              </a:rPr>
              <a:t>어떤지</a:t>
            </a:r>
            <a:r>
              <a:rPr lang="ko-KR" altLang="en-US" sz="1000" b="0" i="0" kern="1200" dirty="0">
                <a:solidFill>
                  <a:srgbClr val="0070C0"/>
                </a:solidFill>
                <a:effectLst/>
                <a:latin typeface="+mn-lt"/>
                <a:ea typeface="+mn-ea"/>
                <a:cs typeface="+mn-cs"/>
              </a:rPr>
              <a:t>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그리고 나서</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당신의 친구를 위해 작동하는 다른 </a:t>
            </a:r>
            <a:r>
              <a:rPr lang="en-US" altLang="ko-KR" sz="1000" b="0" i="0" kern="1200" dirty="0">
                <a:solidFill>
                  <a:srgbClr val="0070C0"/>
                </a:solidFill>
                <a:effectLst/>
                <a:latin typeface="+mn-lt"/>
                <a:ea typeface="+mn-ea"/>
                <a:cs typeface="+mn-cs"/>
              </a:rPr>
              <a:t>MP3 </a:t>
            </a:r>
            <a:r>
              <a:rPr lang="ko-KR" altLang="en-US" sz="1000" b="0" i="0" kern="1200" dirty="0">
                <a:solidFill>
                  <a:srgbClr val="0070C0"/>
                </a:solidFill>
                <a:effectLst/>
                <a:latin typeface="+mn-lt"/>
                <a:ea typeface="+mn-ea"/>
                <a:cs typeface="+mn-cs"/>
              </a:rPr>
              <a:t>플레이어를 사기 위해 두세 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나쁜 소식들을 가지고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나는 너의 </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MP3 </a:t>
            </a:r>
            <a:r>
              <a:rPr lang="ko-KR" altLang="en-US"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플레이어를 나의 실수로 인해 </a:t>
            </a:r>
            <a:r>
              <a:rPr lang="ko-KR" altLang="en-US" sz="1000" b="0" i="0" u="none" strike="noStrike" kern="1200" spc="-50" dirty="0" err="1">
                <a:solidFill>
                  <a:schemeClr val="tx1"/>
                </a:solidFill>
                <a:latin typeface="맑은 고딕" panose="020B0503020000020004" pitchFamily="50" charset="-127"/>
                <a:ea typeface="맑은 고딕" panose="020B0503020000020004" pitchFamily="50" charset="-127"/>
                <a:cs typeface="+mn-cs"/>
              </a:rPr>
              <a:t>고장냈습니다</a:t>
            </a:r>
            <a:r>
              <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그것은 길에 떨어뜨렸습니다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그리고 트럭은 그것을 넘어갔습니다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정말 미안합니다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일어난 일에 관하여</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너에게 새로운 하나를 사는게 어떻습니까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너에게 대신 돈을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주는게</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어떻습니까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너가 어떤 결정을 하든</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spc="-50" dirty="0">
                <a:solidFill>
                  <a:schemeClr val="tx1"/>
                </a:solidFill>
                <a:latin typeface="맑은 고딕" panose="020B0503020000020004" pitchFamily="50" charset="-127"/>
                <a:ea typeface="+mn-ea"/>
                <a:cs typeface="+mn-cs"/>
              </a:rPr>
              <a:t>너는 이것을 받을 때 나에게 다시 전화를 주세요</a:t>
            </a:r>
            <a:r>
              <a:rPr lang="en-US" altLang="ko-KR" sz="1000" b="0" i="0" u="none" strike="noStrike" kern="1200" spc="-50" dirty="0">
                <a:solidFill>
                  <a:schemeClr val="tx1"/>
                </a:solidFill>
                <a:latin typeface="맑은 고딕" panose="020B0503020000020004" pitchFamily="50" charset="-127"/>
                <a:ea typeface="+mn-ea"/>
                <a:cs typeface="+mn-cs"/>
              </a:rPr>
              <a:t>. </a:t>
            </a:r>
            <a:r>
              <a:rPr lang="ko-KR" altLang="en-US" sz="1000" b="0" i="0" u="none" strike="noStrike" kern="1200" spc="-50" dirty="0">
                <a:solidFill>
                  <a:schemeClr val="tx1"/>
                </a:solidFill>
                <a:latin typeface="맑은 고딕" panose="020B0503020000020004" pitchFamily="50" charset="-127"/>
                <a:ea typeface="+mn-ea"/>
                <a:cs typeface="+mn-cs"/>
              </a:rPr>
              <a:t>감사합니다</a:t>
            </a:r>
            <a:r>
              <a:rPr lang="en-US" altLang="ko-KR" sz="1000" b="0" i="0" u="none" strike="noStrike" kern="1200" spc="-50" dirty="0">
                <a:solidFill>
                  <a:schemeClr val="tx1"/>
                </a:solidFill>
                <a:latin typeface="맑은 고딕" panose="020B0503020000020004" pitchFamily="50" charset="-127"/>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756174"/>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친구의 </a:t>
            </a:r>
            <a:r>
              <a:rPr lang="en-US" altLang="ko-KR" sz="1000" b="1" spc="-50" baseline="0" dirty="0">
                <a:solidFill>
                  <a:srgbClr val="FF0000"/>
                </a:solidFill>
                <a:latin typeface="맑은 고딕" pitchFamily="50" charset="-127"/>
                <a:ea typeface="맑은 고딕" pitchFamily="50" charset="-127"/>
              </a:rPr>
              <a:t>MP3 </a:t>
            </a:r>
            <a:r>
              <a:rPr lang="ko-KR" altLang="en-US" sz="1000" b="1" spc="-50" baseline="0" dirty="0">
                <a:solidFill>
                  <a:srgbClr val="FF0000"/>
                </a:solidFill>
                <a:latin typeface="맑은 고딕" pitchFamily="50" charset="-127"/>
                <a:ea typeface="맑은 고딕" pitchFamily="50" charset="-127"/>
              </a:rPr>
              <a:t>플레이어 빌렸다가 고장</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대안제시  </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have borrowed your friend’s MP3 Player but broke it by accident.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explain how you broke it and what its current condition is like.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And then, give two or three alternatives in order to get another working MP3 player for your friend.</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broke your MP3 player by mistake.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dropped it on the street and a truck ran over it.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so sorry about what happened.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I buy you a new one?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why DON'T I pay you money instead?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Tree>
    <p:extLst>
      <p:ext uri="{BB962C8B-B14F-4D97-AF65-F5344CB8AC3E}">
        <p14:creationId xmlns:p14="http://schemas.microsoft.com/office/powerpoint/2010/main" val="255873508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164</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14752"/>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본인의 기계</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기기 고장 경험 설명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장비가 고장 났을 때를 말해 주세요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정확히 무슨 일이 일어났고 어떻게 문제를 해결했습니까</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그 경험의 모든 것을 말해 주세요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r>
              <a:rPr lang="en-US" altLang="ko-KR" sz="1100" b="0" i="0" kern="1200" spc="-50" dirty="0">
                <a:solidFill>
                  <a:schemeClr val="lt1"/>
                </a:solidFill>
                <a:effectLst/>
                <a:latin typeface="+mn-lt"/>
                <a:ea typeface="+mn-ea"/>
                <a:cs typeface="+mn-cs"/>
              </a:rPr>
              <a:t>.</a:t>
            </a:r>
            <a:endParaRPr lang="en-US" altLang="ko-KR" sz="1100" b="0" spc="-50" baseline="0" dirty="0">
              <a:solidFill>
                <a:srgbClr val="FF0000"/>
              </a:solidFill>
              <a:latin typeface="맑은 고딕" pitchFamily="50" charset="-127"/>
              <a:ea typeface="맑은 고딕" pitchFamily="50" charset="-127"/>
            </a:endParaRPr>
          </a:p>
          <a:p>
            <a:endParaRPr lang="en-US" altLang="ko-KR" sz="1100" b="0" baseline="0" dirty="0">
              <a:solidFill>
                <a:srgbClr val="0070C0"/>
              </a:solidFill>
              <a:latin typeface="맑은 고딕" pitchFamily="50" charset="-127"/>
              <a:ea typeface="맑은 고딕" pitchFamily="50" charset="-127"/>
            </a:endParaRPr>
          </a:p>
          <a:p>
            <a:pPr>
              <a:lnSpc>
                <a:spcPct val="150000"/>
              </a:lnSpc>
            </a:pPr>
            <a:r>
              <a:rPr lang="ko-KR" altLang="en-US" sz="1100" b="0" i="0" u="none" strike="noStrike" kern="1200" spc="-50" dirty="0">
                <a:solidFill>
                  <a:schemeClr val="tx1"/>
                </a:solidFill>
                <a:latin typeface="맑은 고딕" panose="020B0503020000020004" pitchFamily="50" charset="-127"/>
                <a:ea typeface="+mn-ea"/>
                <a:cs typeface="+mn-cs"/>
              </a:rPr>
              <a:t>나는 몇 년 전 텔레비전이 </a:t>
            </a:r>
            <a:r>
              <a:rPr lang="ko-KR" altLang="en-US" sz="1100" b="0" i="0" u="none" strike="noStrike" kern="1200" spc="-50" dirty="0" err="1">
                <a:solidFill>
                  <a:schemeClr val="tx1"/>
                </a:solidFill>
                <a:latin typeface="맑은 고딕" panose="020B0503020000020004" pitchFamily="50" charset="-127"/>
                <a:ea typeface="+mn-ea"/>
                <a:cs typeface="+mn-cs"/>
              </a:rPr>
              <a:t>고장났을</a:t>
            </a:r>
            <a:r>
              <a:rPr lang="ko-KR" altLang="en-US" sz="1100" b="0" i="0" u="none" strike="noStrike" kern="1200" spc="-50" dirty="0">
                <a:solidFill>
                  <a:schemeClr val="tx1"/>
                </a:solidFill>
                <a:latin typeface="맑은 고딕" panose="020B0503020000020004" pitchFamily="50" charset="-127"/>
                <a:ea typeface="+mn-ea"/>
                <a:cs typeface="+mn-cs"/>
              </a:rPr>
              <a:t> 때가 기억 납니다</a:t>
            </a:r>
            <a:r>
              <a:rPr lang="en-US" altLang="ko-KR" sz="1100" b="0" i="0" u="none" strike="noStrike" kern="1200" spc="-5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나는 텔레비전을 </a:t>
            </a:r>
            <a:r>
              <a:rPr lang="ko-KR" altLang="en-US" sz="1100" b="0" i="0" u="none" strike="noStrike" kern="1200" baseline="0" dirty="0" err="1">
                <a:solidFill>
                  <a:schemeClr val="tx1"/>
                </a:solidFill>
                <a:latin typeface="맑은 고딕" panose="020B0503020000020004" pitchFamily="50" charset="-127"/>
                <a:ea typeface="+mn-ea"/>
                <a:cs typeface="+mn-cs"/>
              </a:rPr>
              <a:t>볼수</a:t>
            </a:r>
            <a:r>
              <a:rPr lang="ko-KR" altLang="en-US" sz="1100" b="0" i="0" u="none" strike="noStrike" kern="1200" baseline="0" dirty="0">
                <a:solidFill>
                  <a:schemeClr val="tx1"/>
                </a:solidFill>
                <a:latin typeface="맑은 고딕" panose="020B0503020000020004" pitchFamily="50" charset="-127"/>
                <a:ea typeface="+mn-ea"/>
                <a:cs typeface="+mn-cs"/>
              </a:rPr>
              <a:t> 없었습니다</a:t>
            </a:r>
            <a:r>
              <a:rPr lang="en-US" altLang="ko-KR" sz="1100" b="0" i="0" u="none" strike="noStrike" kern="1200" baseline="0" dirty="0">
                <a:solidFill>
                  <a:schemeClr val="tx1"/>
                </a:solidFill>
                <a:latin typeface="맑은 고딕" panose="020B0503020000020004" pitchFamily="50" charset="-127"/>
                <a:ea typeface="+mn-ea"/>
                <a:cs typeface="+mn-cs"/>
              </a:rPr>
              <a:t>. </a:t>
            </a:r>
            <a:r>
              <a:rPr lang="ko-KR" altLang="en-US" sz="1100" b="0" i="0" u="none" strike="noStrike" kern="1200" baseline="0" dirty="0">
                <a:solidFill>
                  <a:schemeClr val="tx1"/>
                </a:solidFill>
                <a:latin typeface="맑은 고딕" panose="020B0503020000020004" pitchFamily="50" charset="-127"/>
                <a:ea typeface="+mn-ea"/>
                <a:cs typeface="+mn-cs"/>
              </a:rPr>
              <a:t>그것은 동작하지 않았기 때문에</a:t>
            </a: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나는 그 문제를 고치기 위해 사람을 불렸습니다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게다가</a:t>
            </a:r>
            <a:r>
              <a:rPr lang="en-US" altLang="ko-KR" sz="1100" b="0" i="0" u="none" strike="noStrike" kern="1200" baseline="0" dirty="0">
                <a:solidFill>
                  <a:schemeClr val="tx1"/>
                </a:solidFill>
                <a:latin typeface="맑은 고딕" panose="020B0503020000020004" pitchFamily="50" charset="-127"/>
                <a:ea typeface="+mn-ea"/>
                <a:cs typeface="+mn-cs"/>
              </a:rPr>
              <a:t>, </a:t>
            </a:r>
            <a:r>
              <a:rPr lang="ko-KR" altLang="en-US" sz="1100" b="0" i="0" u="none" strike="noStrike" kern="1200" baseline="0" dirty="0">
                <a:solidFill>
                  <a:schemeClr val="tx1"/>
                </a:solidFill>
                <a:latin typeface="맑은 고딕" panose="020B0503020000020004" pitchFamily="50" charset="-127"/>
                <a:ea typeface="+mn-ea"/>
                <a:cs typeface="+mn-cs"/>
              </a:rPr>
              <a:t>나는 시계가 잘 작동하지 않았던 때가 기억 납니다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나는 시계를 위해 건전지를 교체 해야 했습니다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spc="-60" dirty="0">
                <a:solidFill>
                  <a:schemeClr val="tx1"/>
                </a:solidFill>
                <a:latin typeface="맑은 고딕" panose="020B0503020000020004" pitchFamily="50" charset="-127"/>
                <a:ea typeface="+mn-ea"/>
                <a:cs typeface="+mn-cs"/>
              </a:rPr>
              <a:t>또한</a:t>
            </a:r>
            <a:r>
              <a:rPr lang="en-US" altLang="ko-KR" sz="1100" b="0" i="0" u="none" strike="noStrike" kern="1200" spc="-60" dirty="0">
                <a:solidFill>
                  <a:schemeClr val="tx1"/>
                </a:solidFill>
                <a:latin typeface="맑은 고딕" panose="020B0503020000020004" pitchFamily="50" charset="-127"/>
                <a:ea typeface="+mn-ea"/>
                <a:cs typeface="+mn-cs"/>
              </a:rPr>
              <a:t>, </a:t>
            </a:r>
            <a:r>
              <a:rPr lang="ko-KR" altLang="en-US" sz="1100" b="0" i="0" u="none" strike="noStrike" kern="1200" spc="-60" dirty="0">
                <a:solidFill>
                  <a:schemeClr val="tx1"/>
                </a:solidFill>
                <a:latin typeface="맑은 고딕" panose="020B0503020000020004" pitchFamily="50" charset="-127"/>
                <a:ea typeface="+mn-ea"/>
                <a:cs typeface="+mn-cs"/>
              </a:rPr>
              <a:t>나는 </a:t>
            </a:r>
            <a:r>
              <a:rPr lang="ko-KR" altLang="en-US" sz="1100" b="0" i="0" u="none" strike="noStrike" kern="1200" spc="-60" dirty="0" err="1">
                <a:solidFill>
                  <a:schemeClr val="tx1"/>
                </a:solidFill>
                <a:latin typeface="맑은 고딕" panose="020B0503020000020004" pitchFamily="50" charset="-127"/>
                <a:ea typeface="+mn-ea"/>
                <a:cs typeface="+mn-cs"/>
              </a:rPr>
              <a:t>물냉각기로부터</a:t>
            </a:r>
            <a:r>
              <a:rPr lang="ko-KR" altLang="en-US" sz="1100" b="0" i="0" u="none" strike="noStrike" kern="1200" spc="-60" dirty="0">
                <a:solidFill>
                  <a:schemeClr val="tx1"/>
                </a:solidFill>
                <a:latin typeface="맑은 고딕" panose="020B0503020000020004" pitchFamily="50" charset="-127"/>
                <a:ea typeface="+mn-ea"/>
                <a:cs typeface="+mn-cs"/>
              </a:rPr>
              <a:t> 물이 새던 때가 기억 납니다</a:t>
            </a:r>
            <a:r>
              <a:rPr lang="en-US" altLang="ko-KR" sz="1100" b="0" i="0" u="none" strike="noStrike" kern="1200" spc="-6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나는 바닥에서 물을 닦아 </a:t>
            </a:r>
            <a:r>
              <a:rPr lang="ko-KR" altLang="en-US" sz="1100" b="0" i="0" u="none" strike="noStrike" kern="1200" baseline="0" dirty="0" err="1">
                <a:solidFill>
                  <a:schemeClr val="tx1"/>
                </a:solidFill>
                <a:latin typeface="맑은 고딕" panose="020B0503020000020004" pitchFamily="50" charset="-127"/>
                <a:ea typeface="+mn-ea"/>
                <a:cs typeface="+mn-cs"/>
              </a:rPr>
              <a:t>내어야</a:t>
            </a:r>
            <a:r>
              <a:rPr lang="ko-KR" altLang="en-US" sz="1100" b="0" i="0" u="none" strike="noStrike" kern="1200" baseline="0" dirty="0">
                <a:solidFill>
                  <a:schemeClr val="tx1"/>
                </a:solidFill>
                <a:latin typeface="맑은 고딕" panose="020B0503020000020004" pitchFamily="50" charset="-127"/>
                <a:ea typeface="+mn-ea"/>
                <a:cs typeface="+mn-cs"/>
              </a:rPr>
              <a:t> 했습니다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spc="-70" dirty="0">
                <a:solidFill>
                  <a:schemeClr val="tx1"/>
                </a:solidFill>
                <a:latin typeface="맑은 고딕" panose="020B0503020000020004" pitchFamily="50" charset="-127"/>
                <a:ea typeface="+mn-ea"/>
                <a:cs typeface="+mn-cs"/>
              </a:rPr>
              <a:t>그래서</a:t>
            </a:r>
            <a:r>
              <a:rPr lang="en-US" altLang="ko-KR" sz="1100" b="0" i="0" u="none" strike="noStrike" kern="1200" spc="-70" dirty="0">
                <a:solidFill>
                  <a:schemeClr val="tx1"/>
                </a:solidFill>
                <a:latin typeface="맑은 고딕" panose="020B0503020000020004" pitchFamily="50" charset="-127"/>
                <a:ea typeface="+mn-ea"/>
                <a:cs typeface="+mn-cs"/>
              </a:rPr>
              <a:t>, </a:t>
            </a:r>
            <a:r>
              <a:rPr lang="ko-KR" altLang="en-US" sz="1100" b="0" i="0" u="none" strike="noStrike" kern="1200" spc="-70" dirty="0">
                <a:solidFill>
                  <a:schemeClr val="tx1"/>
                </a:solidFill>
                <a:latin typeface="맑은 고딕" panose="020B0503020000020004" pitchFamily="50" charset="-127"/>
                <a:ea typeface="+mn-ea"/>
                <a:cs typeface="+mn-cs"/>
              </a:rPr>
              <a:t>이것들은 내가 집에서 가졌던 문제들이었습니다</a:t>
            </a:r>
            <a:r>
              <a:rPr lang="en-US" altLang="ko-KR" sz="1100" b="0" i="0" u="none" strike="noStrike" kern="1200" spc="-70" dirty="0">
                <a:solidFill>
                  <a:schemeClr val="tx1"/>
                </a:solidFill>
                <a:latin typeface="맑은 고딕" panose="020B0503020000020004" pitchFamily="50" charset="-127"/>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46083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본인의 기계</a:t>
            </a:r>
            <a:r>
              <a:rPr lang="en-US" altLang="ko-KR" sz="1100" b="1" baseline="0" dirty="0">
                <a:solidFill>
                  <a:srgbClr val="FF0000"/>
                </a:solidFill>
                <a:latin typeface="맑은 고딕" pitchFamily="50" charset="-127"/>
                <a:ea typeface="맑은 고딕" pitchFamily="50" charset="-127"/>
              </a:rPr>
              <a:t>/</a:t>
            </a:r>
            <a:r>
              <a:rPr lang="ko-KR" altLang="en-US" sz="1100" b="1" baseline="0" dirty="0">
                <a:solidFill>
                  <a:srgbClr val="FF0000"/>
                </a:solidFill>
                <a:latin typeface="맑은 고딕" pitchFamily="50" charset="-127"/>
                <a:ea typeface="맑은 고딕" pitchFamily="50" charset="-127"/>
              </a:rPr>
              <a:t>기기 고장 경험 설명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Tell me about a time when a piece of equipment broke.</a:t>
            </a:r>
          </a:p>
          <a:p>
            <a:r>
              <a:rPr lang="en-US" altLang="ko-KR" sz="1100" b="0" i="0" u="none" strike="noStrike" kern="1200" dirty="0">
                <a:solidFill>
                  <a:srgbClr val="FF0000"/>
                </a:solidFill>
                <a:latin typeface="맑은 고딕" panose="020B0503020000020004" pitchFamily="50" charset="-127"/>
                <a:ea typeface="맑은 고딕" panose="020B0503020000020004" pitchFamily="50" charset="-127"/>
                <a:cs typeface="+mn-cs"/>
              </a:rPr>
              <a:t>What exactly happened and how did you fix the problem?</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everything about that experience.</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spc="-50" dirty="0">
                <a:solidFill>
                  <a:schemeClr val="tx1"/>
                </a:solidFill>
                <a:latin typeface="맑은 고딕" panose="020B0503020000020004" pitchFamily="50" charset="-127"/>
                <a:ea typeface="맑은 고딕" panose="020B0503020000020004" pitchFamily="50" charset="-127"/>
                <a:cs typeface="+mn-cs"/>
              </a:rPr>
              <a:t>I remember when the TV broke down a few years ago.</a:t>
            </a:r>
          </a:p>
          <a:p>
            <a:pPr>
              <a:lnSpc>
                <a:spcPct val="150000"/>
              </a:lnSpc>
            </a:pPr>
            <a:r>
              <a:rPr lang="en-US" altLang="ko-KR" sz="1100" b="0" i="0" u="none" strike="noStrike" kern="1200" spc="-30" dirty="0">
                <a:solidFill>
                  <a:schemeClr val="tx1"/>
                </a:solidFill>
                <a:latin typeface="맑은 고딕" panose="020B0503020000020004" pitchFamily="50" charset="-127"/>
                <a:ea typeface="맑은 고딕" panose="020B0503020000020004" pitchFamily="50" charset="-127"/>
                <a:cs typeface="+mn-cs"/>
              </a:rPr>
              <a:t>I could NOT watch TV because it was NOT working.</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called a person to fix the problem.</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spc="-30" dirty="0">
                <a:solidFill>
                  <a:schemeClr val="tx1"/>
                </a:solidFill>
                <a:latin typeface="맑은 고딕" panose="020B0503020000020004" pitchFamily="50" charset="-127"/>
                <a:ea typeface="맑은 고딕" panose="020B0503020000020004" pitchFamily="50" charset="-127"/>
                <a:cs typeface="+mn-cs"/>
              </a:rPr>
              <a:t>Plus, I remember when the clock did NOT work well.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replace the batteries for the clock.</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I remember when water leaked from the water cooler.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wipe off the water from the floor.</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these were the problems I had at home.</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43300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쇼핑몰에 가기 위해 친구 자전거 빌리는 전화</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쇼핑몰에 가기 위해 친구에게 자전거를 빌리고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전화를 걸어 자전거를 빌릴 수 있는지에 대해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 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너에게 부탁을 요청하기 위해 전화하고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자전거를 빌릴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쇼핑몰에 가기를 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언제 나는 너의 자전거를 픽업할 수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그것은 어디에 주차되었나요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또한</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그것을 언제 돌려 받을 필요가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그것을 월요일에 다시 갖다 줘도 될까요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lvl="0" indent="0" algn="l" defTabSz="914400" rtl="0" eaLnBrk="1" fontAlgn="auto" latinLnBrk="1" hangingPunct="1">
              <a:lnSpc>
                <a:spcPct val="150000"/>
              </a:lnSpc>
              <a:spcBef>
                <a:spcPts val="0"/>
              </a:spcBef>
              <a:spcAft>
                <a:spcPts val="0"/>
              </a:spcAft>
              <a:buClrTx/>
              <a:buSzTx/>
              <a:buFontTx/>
              <a:buNone/>
              <a:tabLst/>
              <a:defRPr/>
            </a:pPr>
            <a:endParaRPr lang="en-US" altLang="ko-KR" sz="1000" b="0" i="0" u="none" strike="noStrike" kern="1200" baseline="0" dirty="0">
              <a:solidFill>
                <a:schemeClr val="tx1"/>
              </a:solidFill>
              <a:latin typeface="맑은 고딕" panose="020B0503020000020004" pitchFamily="50" charset="-127"/>
              <a:ea typeface="+mn-ea"/>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mn-ea"/>
                <a:cs typeface="+mn-cs"/>
              </a:rPr>
              <a:t>너는 이것을 받을 때 나에게 전화를 주세요</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감사합니다</a:t>
            </a:r>
            <a:r>
              <a:rPr lang="en-US" altLang="ko-KR" sz="1000" b="0" i="0" u="none" strike="noStrike" kern="1200" baseline="0" dirty="0">
                <a:solidFill>
                  <a:schemeClr val="tx1"/>
                </a:solidFill>
                <a:latin typeface="맑은 고딕" panose="020B0503020000020004" pitchFamily="50" charset="-127"/>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7912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쇼핑몰에 가기 위해 친구 자전거 빌리는 전화</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want to borrow a bike from your friend to go to a shopping mall.</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three or four questions as to whether you can borrow the bike.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Tim.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you a favor.</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borrow your bike?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want to go to the shopping mall.</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can I pick up your bike?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Where is it parked?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Also, when do you need it back?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Can I bring it back on Monday?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Tree>
    <p:extLst>
      <p:ext uri="{BB962C8B-B14F-4D97-AF65-F5344CB8AC3E}">
        <p14:creationId xmlns:p14="http://schemas.microsoft.com/office/powerpoint/2010/main" val="258408880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165</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525341"/>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자전거 쇼핑몰에 주차했는데 트럭에 치여 고장</a:t>
            </a:r>
            <a:r>
              <a:rPr lang="en-US" altLang="ko-KR" sz="1000" b="1" baseline="0" dirty="0">
                <a:solidFill>
                  <a:srgbClr val="FF0000"/>
                </a:solidFill>
                <a:latin typeface="맑은 고딕" pitchFamily="50" charset="-127"/>
                <a:ea typeface="맑은 고딕" pitchFamily="50" charset="-127"/>
              </a:rPr>
              <a:t>.</a:t>
            </a:r>
          </a:p>
          <a:p>
            <a:pPr latinLnBrk="1">
              <a:lnSpc>
                <a:spcPct val="100000"/>
              </a:lnSpc>
            </a:pP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친구한테 전화해서 상황 설명 후 대안제시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빌린 자전거를 쇼핑몰 밖에 주차했는데</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트럭에 치였어요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친구들에게 두세 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 팀</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나쁜 소식들을 가지고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너의 자전거를 쇼핑몰에 주차하였습니다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그러나 트럭은 그것을 넘어갔습니다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정말 미안합니다</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일어난 일에 관하여</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너에게 새로운 하나를 사는 게 어떻습니까</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아니면</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너에게 대신 돈을 주는 게 어떻습니까</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괜찮습니다</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너가 어떤 결정을 하든</a:t>
            </a:r>
            <a:endParaRPr lang="en-US" altLang="ko-KR" sz="1000" b="0" i="0" u="none" strike="noStrike" kern="1200" baseline="0" dirty="0">
              <a:solidFill>
                <a:schemeClr val="tx1"/>
              </a:solidFill>
              <a:latin typeface="맑은 고딕" panose="020B0503020000020004" pitchFamily="50" charset="-127"/>
              <a:ea typeface="+mn-ea"/>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spc="-50" dirty="0">
                <a:solidFill>
                  <a:schemeClr val="tx1"/>
                </a:solidFill>
                <a:latin typeface="맑은 고딕" panose="020B0503020000020004" pitchFamily="50" charset="-127"/>
                <a:ea typeface="+mn-ea"/>
                <a:cs typeface="+mn-cs"/>
              </a:rPr>
              <a:t>너는 이것을 받을 때 나에게 다시 전화를 주세요</a:t>
            </a:r>
            <a:r>
              <a:rPr lang="en-US" altLang="ko-KR" sz="1000" b="0" i="0" u="none" strike="noStrike" kern="1200" spc="-50" dirty="0">
                <a:solidFill>
                  <a:schemeClr val="tx1"/>
                </a:solidFill>
                <a:latin typeface="맑은 고딕" panose="020B0503020000020004" pitchFamily="50" charset="-127"/>
                <a:ea typeface="+mn-ea"/>
                <a:cs typeface="+mn-cs"/>
              </a:rPr>
              <a:t>. </a:t>
            </a:r>
            <a:r>
              <a:rPr lang="ko-KR" altLang="en-US" sz="1000" b="0" i="0" u="none" strike="noStrike" kern="1200" spc="-50" dirty="0">
                <a:solidFill>
                  <a:schemeClr val="tx1"/>
                </a:solidFill>
                <a:latin typeface="맑은 고딕" panose="020B0503020000020004" pitchFamily="50" charset="-127"/>
                <a:ea typeface="+mn-ea"/>
                <a:cs typeface="+mn-cs"/>
              </a:rPr>
              <a:t>감사합니다</a:t>
            </a:r>
            <a:r>
              <a:rPr lang="en-US" altLang="ko-KR" sz="1000" b="0" i="0" u="none" strike="noStrike" kern="1200" spc="-50" dirty="0">
                <a:solidFill>
                  <a:schemeClr val="tx1"/>
                </a:solidFill>
                <a:latin typeface="맑은 고딕" panose="020B0503020000020004" pitchFamily="50" charset="-127"/>
                <a:ea typeface="+mn-ea"/>
                <a:cs typeface="+mn-cs"/>
              </a:rPr>
              <a:t>.</a:t>
            </a:r>
            <a:endParaRPr lang="en-US" altLang="ko-KR" sz="1000" b="0" i="0" u="none" strike="noStrike" kern="1200" spc="-50" dirty="0">
              <a:solidFill>
                <a:schemeClr val="tx1"/>
              </a:solidFill>
              <a:latin typeface="맑은 고딕" panose="020B0503020000020004" pitchFamily="50" charset="-127"/>
              <a:ea typeface="맑은 고딕" panose="020B0503020000020004" pitchFamily="50" charset="-127"/>
              <a:cs typeface="+mn-cs"/>
            </a:endParaRP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448397"/>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자전거 쇼핑몰에 주차했는데 트럭에 치여 고장</a:t>
            </a:r>
            <a:r>
              <a:rPr lang="en-US" altLang="ko-KR" sz="1000" b="1" baseline="0" dirty="0">
                <a:solidFill>
                  <a:srgbClr val="FF0000"/>
                </a:solidFill>
                <a:latin typeface="맑은 고딕" pitchFamily="50" charset="-127"/>
                <a:ea typeface="맑은 고딕" pitchFamily="50" charset="-127"/>
              </a:rPr>
              <a:t>.</a:t>
            </a:r>
          </a:p>
          <a:p>
            <a:pPr latinLnBrk="1">
              <a:lnSpc>
                <a:spcPct val="100000"/>
              </a:lnSpc>
            </a:pPr>
            <a:r>
              <a:rPr lang="en-US" altLang="ko-KR" sz="1000" b="1" baseline="0" dirty="0">
                <a:solidFill>
                  <a:srgbClr val="FF0000"/>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친구한테 전화해서 상황 설명 후 대안제시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parked the bike that you borrowed outside the shopping mall, but the bike was run over by a truck.</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explain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Give two or three alternatives to your friends.</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Tim.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parked your bike at the shopping mall, but a truck ran over it.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am so sorry about what happened.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I buy you a new one?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why DON'T I pay you money instead?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3953005"/>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자전거나 다른 교통수단 관련 겪은 어려움 묘사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이제</a:t>
            </a:r>
            <a:r>
              <a:rPr lang="en-US" altLang="ko-KR" sz="1100" b="0" i="0" kern="1200" dirty="0">
                <a:solidFill>
                  <a:srgbClr val="0070C0"/>
                </a:solidFill>
                <a:effectLst/>
                <a:latin typeface="+mn-lt"/>
                <a:ea typeface="+mn-ea"/>
                <a:cs typeface="+mn-cs"/>
              </a:rPr>
              <a:t>, </a:t>
            </a:r>
            <a:r>
              <a:rPr lang="ko-KR" altLang="en-US" sz="1100" b="0" i="0" kern="1200" dirty="0">
                <a:solidFill>
                  <a:srgbClr val="0070C0"/>
                </a:solidFill>
                <a:effectLst/>
                <a:latin typeface="+mn-lt"/>
                <a:ea typeface="+mn-ea"/>
                <a:cs typeface="+mn-cs"/>
              </a:rPr>
              <a:t>당신이 자전거나 다른 종류의 교통수단을 이용하다가 문제가 생겼던 때를 말해보세요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무슨 일이 일어났고 그 문제를 어떻게 처리했나요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endParaRPr lang="en-US" altLang="ko-KR" sz="11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1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나는 내가 연휴동안 교통체증에 시달렸던 때가 기억 납니다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나는 나의 조부모님 댁으로 향하고 있었습니다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평소 보다 나에게 훨씬 오래 걸렸습니다</a:t>
            </a:r>
            <a:r>
              <a:rPr lang="en-US" altLang="ko-KR" sz="1100" b="0" i="0" u="none" strike="noStrike" kern="1200" baseline="0" dirty="0">
                <a:solidFill>
                  <a:schemeClr val="tx1"/>
                </a:solidFill>
                <a:latin typeface="맑은 고딕" panose="020B0503020000020004" pitchFamily="50" charset="-127"/>
                <a:ea typeface="+mn-ea"/>
                <a:cs typeface="+mn-cs"/>
              </a:rPr>
              <a:t>.</a:t>
            </a:r>
            <a:r>
              <a:rPr lang="ko-KR" altLang="en-US" sz="1100" b="0" i="0" u="none" strike="noStrike" kern="1200" baseline="0" dirty="0">
                <a:solidFill>
                  <a:schemeClr val="tx1"/>
                </a:solidFill>
                <a:latin typeface="맑은 고딕" panose="020B0503020000020004" pitchFamily="50" charset="-127"/>
                <a:ea typeface="+mn-ea"/>
                <a:cs typeface="+mn-cs"/>
              </a:rPr>
              <a:t> </a:t>
            </a: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나의 목적지에 도착하기 위해 거의 </a:t>
            </a:r>
            <a:r>
              <a:rPr lang="en-US" altLang="ko-KR" sz="1100" b="0" i="0" u="none" strike="noStrike" kern="1200" baseline="0" dirty="0">
                <a:solidFill>
                  <a:schemeClr val="tx1"/>
                </a:solidFill>
                <a:latin typeface="맑은 고딕" panose="020B0503020000020004" pitchFamily="50" charset="-127"/>
                <a:ea typeface="+mn-ea"/>
                <a:cs typeface="+mn-cs"/>
              </a:rPr>
              <a:t>5</a:t>
            </a:r>
            <a:r>
              <a:rPr lang="ko-KR" altLang="en-US" sz="1100" b="0" i="0" u="none" strike="noStrike" kern="1200" baseline="0" dirty="0">
                <a:solidFill>
                  <a:schemeClr val="tx1"/>
                </a:solidFill>
                <a:latin typeface="맑은 고딕" panose="020B0503020000020004" pitchFamily="50" charset="-127"/>
                <a:ea typeface="+mn-ea"/>
                <a:cs typeface="+mn-cs"/>
              </a:rPr>
              <a:t>시간이 걸렸습니다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그 이후로</a:t>
            </a:r>
            <a:r>
              <a:rPr lang="en-US" altLang="ko-KR" sz="1100" b="0" i="0" u="none" strike="noStrike" kern="1200" baseline="0" dirty="0">
                <a:solidFill>
                  <a:schemeClr val="tx1"/>
                </a:solidFill>
                <a:latin typeface="맑은 고딕" panose="020B0503020000020004" pitchFamily="50" charset="-127"/>
                <a:ea typeface="+mn-ea"/>
                <a:cs typeface="+mn-cs"/>
              </a:rPr>
              <a:t>, </a:t>
            </a:r>
            <a:r>
              <a:rPr lang="ko-KR" altLang="en-US" sz="1100" b="0" i="0" u="none" strike="noStrike" kern="1200" baseline="0" dirty="0">
                <a:solidFill>
                  <a:schemeClr val="tx1"/>
                </a:solidFill>
                <a:latin typeface="맑은 고딕" panose="020B0503020000020004" pitchFamily="50" charset="-127"/>
                <a:ea typeface="+mn-ea"/>
                <a:cs typeface="+mn-cs"/>
              </a:rPr>
              <a:t>나는 항상 연휴동안 교통량 업데이트를 체크합니다</a:t>
            </a:r>
            <a:r>
              <a:rPr lang="en-US" altLang="ko-KR" sz="1100" b="0" i="0" u="none" strike="noStrike" kern="1200" baseline="0" dirty="0">
                <a:solidFill>
                  <a:schemeClr val="tx1"/>
                </a:solidFill>
                <a:latin typeface="맑은 고딕" panose="020B0503020000020004" pitchFamily="50" charset="-127"/>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3699090"/>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자전거나 다른 교통수단 관련 겪은 어려움 묘사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spc="-50" baseline="0" dirty="0">
                <a:solidFill>
                  <a:srgbClr val="FF0000"/>
                </a:solidFill>
                <a:latin typeface="맑은 고딕" panose="020B0503020000020004" pitchFamily="50" charset="-127"/>
                <a:ea typeface="맑은 고딕" panose="020B0503020000020004" pitchFamily="50" charset="-127"/>
                <a:cs typeface="+mn-cs"/>
              </a:rPr>
              <a:t>Now, tell me about a time when you had a </a:t>
            </a:r>
            <a:r>
              <a:rPr lang="en-US" altLang="ko-KR" sz="1100" b="0" i="0" u="none" strike="noStrike" kern="1200" spc="-50" dirty="0">
                <a:solidFill>
                  <a:srgbClr val="FF0000"/>
                </a:solidFill>
                <a:latin typeface="맑은 고딕" panose="020B0503020000020004" pitchFamily="50" charset="-127"/>
                <a:ea typeface="맑은 고딕" panose="020B0503020000020004" pitchFamily="50" charset="-127"/>
                <a:cs typeface="+mn-cs"/>
              </a:rPr>
              <a:t>problem while using a bike or any other type of transportation.</a:t>
            </a:r>
          </a:p>
          <a:p>
            <a:r>
              <a:rPr lang="en-US" altLang="ko-KR" sz="1100" b="0" i="0" u="none" strike="noStrike" kern="1200" spc="-60" dirty="0">
                <a:solidFill>
                  <a:srgbClr val="FF0000"/>
                </a:solidFill>
                <a:latin typeface="맑은 고딕" panose="020B0503020000020004" pitchFamily="50" charset="-127"/>
                <a:ea typeface="맑은 고딕" panose="020B0503020000020004" pitchFamily="50" charset="-127"/>
                <a:cs typeface="+mn-cs"/>
              </a:rPr>
              <a:t>What happened and how did you deal with the problem?</a:t>
            </a:r>
            <a:endParaRPr lang="en-US" altLang="ko-KR" sz="1100" b="0" spc="-6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when I was stuck in traffic during the holidays.</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heading to my grandparents’ place.</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took me much longer than usual.</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It took almost five hours to get to my destination.</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always check traffic updates during the holidays.</a:t>
            </a:r>
          </a:p>
        </p:txBody>
      </p:sp>
    </p:spTree>
    <p:extLst>
      <p:ext uri="{BB962C8B-B14F-4D97-AF65-F5344CB8AC3E}">
        <p14:creationId xmlns:p14="http://schemas.microsoft.com/office/powerpoint/2010/main" val="298704596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166</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740785"/>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친구에게 해변에 가자고 전화로 제안</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당신의 친구를 해변에 초대하고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당신이 계획하고 있는 여행에 대해 </a:t>
            </a:r>
            <a:r>
              <a:rPr lang="en-US" altLang="ko-KR" sz="1000" b="0" i="0" kern="1200" dirty="0">
                <a:solidFill>
                  <a:srgbClr val="0070C0"/>
                </a:solidFill>
                <a:effectLst/>
                <a:latin typeface="+mn-lt"/>
                <a:ea typeface="+mn-ea"/>
                <a:cs typeface="+mn-cs"/>
              </a:rPr>
              <a:t>3~4</a:t>
            </a:r>
            <a:r>
              <a:rPr lang="ko-KR" altLang="en-US" sz="1000" b="0" i="0" kern="1200" dirty="0">
                <a:solidFill>
                  <a:srgbClr val="0070C0"/>
                </a:solidFill>
                <a:effectLst/>
                <a:latin typeface="+mn-lt"/>
                <a:ea typeface="+mn-ea"/>
                <a:cs typeface="+mn-cs"/>
              </a:rPr>
              <a:t>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안녕하세요 짐</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피터입니다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해변에 가는 것에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언제 가기를 원하세요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토요일에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프리합니다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그날에 시간을 가지고 있나요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그렇지 않다면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일요일에 조금의 시간을 만들 수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다음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a:t>
            </a:r>
            <a:r>
              <a:rPr lang="ko-KR" altLang="en-US" sz="10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히기를</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원하세요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해변 근처에서 점심 먹는 게 어때요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조금의 샌드위치를 사는 게 어떻습니까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mn-ea"/>
                <a:cs typeface="+mn-cs"/>
              </a:rPr>
              <a:t>너는 이것을 받을 때 나에게 전화를 주세요</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감사합니다</a:t>
            </a:r>
            <a:r>
              <a:rPr lang="en-US" altLang="ko-KR" sz="1000" b="0" i="0" u="none" strike="noStrike" kern="1200" baseline="0" dirty="0">
                <a:solidFill>
                  <a:schemeClr val="tx1"/>
                </a:solidFill>
                <a:latin typeface="맑은 고딕" panose="020B0503020000020004" pitchFamily="50" charset="-127"/>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12523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친구에게 해변에 가자고 전화로 제안</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 want to invite your friend to the beach.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ask three to four questions regarding the trip you are planning.</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calling to ask about going to the beach.</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When do you want to go?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I’m free on Saturday.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Do you have time that 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If not, I can make some time on Sunday.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Next, 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have lunch near the beach?</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get some sandwiches?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Give me a call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525341"/>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날씨 때문에 해변 계획 다음으로 연기</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대안제시  </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당신이 해변 여행을 하는 날</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날씨는 끔찍합니다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그리고 나서</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가까운 미래에 언제 여행을 할 수 있는지에 대해 몇 가지 제안을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안녕하세요 짐</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피터입니다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몇몇 나쁜 소식들을 가지고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오늘은 날씨가 나쁠 것입니다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일기예보에서 말합니다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주일에 비가 올 것입니다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하기를 원하나요</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다음번에 가는게 어떻습니까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우리는 다음주에 가는게 어떻습니까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아니면</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아마 우리는 또 다른 시간에 갈수도 있습니다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a:t>
            </a:r>
            <a:r>
              <a:rPr lang="ko-KR" altLang="en-US"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나는 너가 어떤 결정을 내리던 괜찮습니다</a:t>
            </a: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spc="-60" dirty="0">
                <a:solidFill>
                  <a:schemeClr val="tx1"/>
                </a:solidFill>
                <a:latin typeface="맑은 고딕" panose="020B0503020000020004" pitchFamily="50" charset="-127"/>
                <a:ea typeface="+mn-ea"/>
                <a:cs typeface="+mn-cs"/>
              </a:rPr>
              <a:t>너는 이것을 받을 때 나에게 다시 전화를 주세요</a:t>
            </a:r>
            <a:r>
              <a:rPr lang="en-US" altLang="ko-KR" sz="1000" b="0" i="0" u="none" strike="noStrike" kern="1200" spc="-60" dirty="0">
                <a:solidFill>
                  <a:schemeClr val="tx1"/>
                </a:solidFill>
                <a:latin typeface="맑은 고딕" panose="020B0503020000020004" pitchFamily="50" charset="-127"/>
                <a:ea typeface="+mn-ea"/>
                <a:cs typeface="+mn-cs"/>
              </a:rPr>
              <a:t>. </a:t>
            </a:r>
            <a:r>
              <a:rPr lang="ko-KR" altLang="en-US" sz="1000" b="0" i="0" u="none" strike="noStrike" kern="1200" spc="-60" dirty="0">
                <a:solidFill>
                  <a:schemeClr val="tx1"/>
                </a:solidFill>
                <a:latin typeface="맑은 고딕" panose="020B0503020000020004" pitchFamily="50" charset="-127"/>
                <a:ea typeface="+mn-ea"/>
                <a:cs typeface="+mn-cs"/>
              </a:rPr>
              <a:t>감사합니다</a:t>
            </a:r>
            <a:r>
              <a:rPr lang="en-US" altLang="ko-KR" sz="1000" b="0" i="0" u="none" strike="noStrike" kern="1200" spc="-60" dirty="0">
                <a:solidFill>
                  <a:schemeClr val="tx1"/>
                </a:solidFill>
                <a:latin typeface="맑은 고딕" panose="020B0503020000020004" pitchFamily="50" charset="-127"/>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448397"/>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날씨 때문에 해변 계획 다음으로 연기</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대안제시  </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On the day of your beach trip, the weather is terrible.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explain the situation.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And then, offer several suggestions as to when you can make your trip in near future.</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Jim.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weather will be bad today.</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The weather forecast says it will rain on the weekend.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go next time?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go next week?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go another time.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Tree>
    <p:extLst>
      <p:ext uri="{BB962C8B-B14F-4D97-AF65-F5344CB8AC3E}">
        <p14:creationId xmlns:p14="http://schemas.microsoft.com/office/powerpoint/2010/main" val="225587298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167</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291559"/>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해변에서 예기치 않았던 사건 묘사  </a:t>
            </a:r>
            <a:endParaRPr lang="en-US" altLang="ko-KR" sz="1100" b="1" baseline="0" dirty="0">
              <a:solidFill>
                <a:srgbClr val="FF0000"/>
              </a:solidFill>
              <a:latin typeface="맑은 고딕" pitchFamily="50" charset="-127"/>
              <a:ea typeface="맑은 고딕" pitchFamily="50" charset="-127"/>
            </a:endParaRPr>
          </a:p>
          <a:p>
            <a:r>
              <a:rPr lang="ko-KR" altLang="en-US" sz="1100" b="0" i="0" kern="1200" dirty="0">
                <a:solidFill>
                  <a:srgbClr val="0070C0"/>
                </a:solidFill>
                <a:effectLst/>
                <a:latin typeface="+mn-lt"/>
                <a:ea typeface="+mn-ea"/>
                <a:cs typeface="+mn-cs"/>
              </a:rPr>
              <a:t>그것으로 상황은 끝입니다</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날씨가 안 좋아서 해변으로 여행을 못 간 적이 있었나요</a:t>
            </a:r>
            <a:r>
              <a:rPr lang="en-US" altLang="ko-KR" sz="1100" b="0" i="0" kern="1200" dirty="0">
                <a:solidFill>
                  <a:srgbClr val="0070C0"/>
                </a:solidFill>
                <a:effectLst/>
                <a:latin typeface="+mn-lt"/>
                <a:ea typeface="+mn-ea"/>
                <a:cs typeface="+mn-cs"/>
              </a:rPr>
              <a:t>?</a:t>
            </a:r>
            <a:r>
              <a:rPr lang="ko-KR" altLang="en-US" sz="1100" dirty="0">
                <a:solidFill>
                  <a:srgbClr val="0070C0"/>
                </a:solidFill>
              </a:rPr>
              <a:t/>
            </a:r>
            <a:br>
              <a:rPr lang="ko-KR" altLang="en-US" sz="1100" dirty="0">
                <a:solidFill>
                  <a:srgbClr val="0070C0"/>
                </a:solidFill>
              </a:rPr>
            </a:br>
            <a:r>
              <a:rPr lang="ko-KR" altLang="en-US" sz="1100" b="0" i="0" kern="1200" dirty="0">
                <a:solidFill>
                  <a:srgbClr val="0070C0"/>
                </a:solidFill>
                <a:effectLst/>
                <a:latin typeface="+mn-lt"/>
                <a:ea typeface="+mn-ea"/>
                <a:cs typeface="+mn-cs"/>
              </a:rPr>
              <a:t>날씨는 어땠고 그 상황에 대한 대안은 무엇이었나요</a:t>
            </a:r>
            <a:r>
              <a:rPr lang="en-US" altLang="ko-KR" sz="1100" b="0" i="0" kern="1200" dirty="0">
                <a:solidFill>
                  <a:srgbClr val="0070C0"/>
                </a:solidFill>
                <a:effectLst/>
                <a:latin typeface="+mn-lt"/>
                <a:ea typeface="+mn-ea"/>
                <a:cs typeface="+mn-cs"/>
              </a:rPr>
              <a:t>?</a:t>
            </a:r>
            <a:endParaRPr lang="en-US" altLang="ko-KR" sz="1100" b="0" baseline="0" dirty="0">
              <a:solidFill>
                <a:srgbClr val="0070C0"/>
              </a:solidFill>
              <a:latin typeface="맑은 고딕" pitchFamily="50" charset="-127"/>
              <a:ea typeface="맑은 고딕" pitchFamily="50" charset="-127"/>
            </a:endParaRPr>
          </a:p>
          <a:p>
            <a:r>
              <a:rPr lang="en-US" altLang="ko-KR" sz="1100" b="0" i="0" kern="1200" spc="-50" dirty="0">
                <a:solidFill>
                  <a:schemeClr val="lt1"/>
                </a:solidFill>
                <a:effectLst/>
                <a:latin typeface="+mn-lt"/>
                <a:ea typeface="+mn-ea"/>
                <a:cs typeface="+mn-cs"/>
              </a:rPr>
              <a:t>.</a:t>
            </a:r>
            <a:endParaRPr lang="en-US" altLang="ko-KR" sz="1100" b="0" spc="-50" baseline="0" dirty="0">
              <a:solidFill>
                <a:srgbClr val="FF0000"/>
              </a:solidFill>
              <a:latin typeface="맑은 고딕" pitchFamily="50" charset="-127"/>
              <a:ea typeface="맑은 고딕" pitchFamily="50" charset="-127"/>
            </a:endParaRPr>
          </a:p>
          <a:p>
            <a:endParaRPr lang="en-US" altLang="ko-KR" sz="1100" b="0" baseline="0" dirty="0">
              <a:solidFill>
                <a:srgbClr val="0070C0"/>
              </a:solidFill>
              <a:latin typeface="맑은 고딕" pitchFamily="50" charset="-127"/>
              <a:ea typeface="맑은 고딕"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때문에 고생한 경험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술에 취한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ko-KR" altLang="en-US" sz="1100" b="0" i="0" u="none" strike="noStrike" kern="1200" baseline="0" dirty="0">
                <a:solidFill>
                  <a:schemeClr val="tx1"/>
                </a:solidFill>
                <a:latin typeface="맑은 고딕" panose="020B0503020000020004" pitchFamily="50" charset="-127"/>
                <a:ea typeface="+mn-ea"/>
                <a:cs typeface="+mn-cs"/>
              </a:rPr>
              <a:t>나는 해변에서 휴가동안 상한 음식을 먹은 것이 기억에 납니다</a:t>
            </a:r>
            <a:r>
              <a:rPr lang="en-US" altLang="ko-KR" sz="11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나는 식중독에 걸렸고 그것은 매우 나빴습니다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속이 뒤집혔습니다</a:t>
            </a:r>
            <a:r>
              <a:rPr lang="en-US" altLang="ko-KR" sz="1100" b="0" i="0" u="none" strike="noStrike" kern="1200" baseline="0" dirty="0">
                <a:solidFill>
                  <a:schemeClr val="tx1"/>
                </a:solidFill>
                <a:latin typeface="+mn-lt"/>
                <a:ea typeface="+mn-ea"/>
                <a:cs typeface="+mn-cs"/>
              </a:rPr>
              <a:t>.</a:t>
            </a: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100" b="0" i="0" u="none" strike="noStrike" kern="1200" baseline="0" dirty="0">
                <a:solidFill>
                  <a:schemeClr val="tx1"/>
                </a:solidFill>
                <a:latin typeface="+mn-lt"/>
                <a:ea typeface="+mn-ea"/>
                <a:cs typeface="+mn-cs"/>
              </a:rPr>
              <a:t>나는 화장실에 다시 또 다시 갔습니다</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설사를 했기 때문에</a:t>
            </a: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나는 나아지기 위해 조금의 약을 먹었습니다</a:t>
            </a:r>
            <a:r>
              <a:rPr lang="en-US" altLang="ko-KR" sz="1100" b="0" i="0" u="none" strike="noStrike" kern="1200" baseline="0" dirty="0">
                <a:solidFill>
                  <a:schemeClr val="tx1"/>
                </a:solidFill>
                <a:latin typeface="+mn-lt"/>
                <a:ea typeface="+mn-ea"/>
                <a:cs typeface="+mn-cs"/>
              </a:rPr>
              <a:t>.</a:t>
            </a:r>
          </a:p>
          <a:p>
            <a:pPr>
              <a:lnSpc>
                <a:spcPct val="150000"/>
              </a:lnSpc>
            </a:pPr>
            <a:r>
              <a:rPr lang="ko-KR" altLang="en-US" sz="1100" b="0" i="0" u="none" strike="noStrike" kern="1200" baseline="0" dirty="0">
                <a:solidFill>
                  <a:schemeClr val="tx1"/>
                </a:solidFill>
                <a:latin typeface="+mn-lt"/>
                <a:ea typeface="+mn-ea"/>
                <a:cs typeface="+mn-cs"/>
              </a:rPr>
              <a:t>나는 안에 머물고 많은 휴식을 취해야 했습니다</a:t>
            </a:r>
            <a:r>
              <a:rPr lang="en-US" altLang="ko-KR" sz="1100" b="0" i="0" u="none" strike="noStrike" kern="1200" baseline="0" dirty="0">
                <a:solidFill>
                  <a:schemeClr val="tx1"/>
                </a:solidFill>
                <a:latin typeface="+mn-lt"/>
                <a:ea typeface="+mn-ea"/>
                <a:cs typeface="+mn-cs"/>
              </a:rPr>
              <a:t>.</a:t>
            </a:r>
          </a:p>
          <a:p>
            <a:pPr>
              <a:lnSpc>
                <a:spcPct val="150000"/>
              </a:lnSpc>
            </a:pPr>
            <a:endParaRPr lang="en-US" altLang="ko-KR" sz="1100" b="0" i="0" u="none" strike="noStrike" kern="1200" baseline="0" dirty="0">
              <a:solidFill>
                <a:schemeClr val="tx1"/>
              </a:solidFill>
              <a:latin typeface="+mn-lt"/>
              <a:ea typeface="+mn-ea"/>
              <a:cs typeface="+mn-cs"/>
            </a:endParaRPr>
          </a:p>
          <a:p>
            <a:pPr>
              <a:lnSpc>
                <a:spcPct val="150000"/>
              </a:lnSpc>
            </a:pPr>
            <a:r>
              <a:rPr lang="ko-KR" altLang="en-US" sz="1100" b="0" i="0" u="none" strike="noStrike" kern="1200" baseline="0" dirty="0">
                <a:solidFill>
                  <a:schemeClr val="tx1"/>
                </a:solidFill>
                <a:latin typeface="+mn-lt"/>
                <a:ea typeface="+mn-ea"/>
                <a:cs typeface="+mn-cs"/>
              </a:rPr>
              <a:t>그 이후로</a:t>
            </a:r>
            <a:r>
              <a:rPr lang="en-US" altLang="ko-KR" sz="1100" b="0" i="0" u="none" strike="noStrike" kern="1200" baseline="0" dirty="0">
                <a:solidFill>
                  <a:schemeClr val="tx1"/>
                </a:solidFill>
                <a:latin typeface="+mn-lt"/>
                <a:ea typeface="+mn-ea"/>
                <a:cs typeface="+mn-cs"/>
              </a:rPr>
              <a:t>, </a:t>
            </a:r>
            <a:r>
              <a:rPr lang="ko-KR" altLang="en-US" sz="1100" b="0" i="0" u="none" strike="noStrike" kern="1200" baseline="0" dirty="0">
                <a:solidFill>
                  <a:schemeClr val="tx1"/>
                </a:solidFill>
                <a:latin typeface="+mn-lt"/>
                <a:ea typeface="+mn-ea"/>
                <a:cs typeface="+mn-cs"/>
              </a:rPr>
              <a:t>나는 더 조심하려고 노력했습니다</a:t>
            </a:r>
            <a:r>
              <a:rPr lang="en-US" altLang="ko-KR" sz="1100" b="0" i="0" u="none" strike="noStrike" kern="1200" baseline="0" dirty="0">
                <a:solidFill>
                  <a:schemeClr val="tx1"/>
                </a:solidFill>
                <a:latin typeface="+mn-lt"/>
                <a:ea typeface="+mn-ea"/>
                <a:cs typeface="+mn-cs"/>
              </a:rPr>
              <a:t>. </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460837"/>
          </a:xfrm>
          <a:prstGeom prst="rect">
            <a:avLst/>
          </a:prstGeom>
          <a:noFill/>
        </p:spPr>
        <p:txBody>
          <a:bodyPr wrap="square" rtlCol="0">
            <a:spAutoFit/>
          </a:bodyPr>
          <a:lstStyle/>
          <a:p>
            <a:pPr latinLnBrk="1">
              <a:lnSpc>
                <a:spcPct val="100000"/>
              </a:lnSpc>
            </a:pPr>
            <a:r>
              <a:rPr lang="en-US" altLang="ko-KR" sz="1100" b="1" dirty="0">
                <a:solidFill>
                  <a:schemeClr val="tx2"/>
                </a:solidFill>
                <a:latin typeface="맑은 고딕" pitchFamily="50" charset="-127"/>
                <a:ea typeface="맑은 고딕" pitchFamily="50" charset="-127"/>
              </a:rPr>
              <a:t>13 [Adv]</a:t>
            </a:r>
            <a:r>
              <a:rPr lang="en-US" altLang="ko-KR" sz="1100" b="1" baseline="0" dirty="0">
                <a:solidFill>
                  <a:schemeClr val="tx2"/>
                </a:solidFill>
                <a:latin typeface="맑은 고딕" pitchFamily="50" charset="-127"/>
                <a:ea typeface="맑은 고딕" pitchFamily="50" charset="-127"/>
              </a:rPr>
              <a:t> </a:t>
            </a:r>
            <a:r>
              <a:rPr lang="ko-KR" altLang="en-US" sz="1100" b="1" baseline="0" dirty="0">
                <a:solidFill>
                  <a:srgbClr val="FF0000"/>
                </a:solidFill>
                <a:latin typeface="맑은 고딕" pitchFamily="50" charset="-127"/>
                <a:ea typeface="맑은 고딕" pitchFamily="50" charset="-127"/>
              </a:rPr>
              <a:t>해변에서 예기치 않았던 사건 묘사  </a:t>
            </a:r>
            <a:endParaRPr lang="en-US" altLang="ko-KR" sz="1100" b="1" baseline="0" dirty="0">
              <a:solidFill>
                <a:srgbClr val="FF0000"/>
              </a:solidFill>
              <a:latin typeface="맑은 고딕" pitchFamily="50" charset="-127"/>
              <a:ea typeface="맑은 고딕" pitchFamily="50" charset="-127"/>
            </a:endParaRP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Was there a time when you couldn't make to a trip to the beach because of the bad weather?</a:t>
            </a:r>
          </a:p>
          <a:p>
            <a:r>
              <a:rPr lang="en-US" altLang="ko-KR" sz="11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What was the weather like and what was the alternative to the situation?</a:t>
            </a:r>
            <a:endParaRPr lang="en-US" altLang="ko-KR" sz="1100" b="0" baseline="0" dirty="0">
              <a:solidFill>
                <a:srgbClr val="FF0000"/>
              </a:solidFill>
              <a:latin typeface="맑은 고딕" pitchFamily="50" charset="-127"/>
              <a:ea typeface="맑은 고딕" pitchFamily="50" charset="-127"/>
            </a:endParaRPr>
          </a:p>
          <a:p>
            <a:pPr latinLnBrk="1">
              <a:lnSpc>
                <a:spcPct val="100000"/>
              </a:lnSpc>
            </a:pPr>
            <a:endParaRPr lang="en-US" altLang="ko-KR" sz="1100" b="0" spc="-10" dirty="0">
              <a:solidFill>
                <a:srgbClr val="FF0000"/>
              </a:solidFill>
              <a:latin typeface="맑은 고딕" pitchFamily="50" charset="-127"/>
              <a:ea typeface="맑은 고딕" pitchFamily="50" charset="-127"/>
            </a:endParaRPr>
          </a:p>
          <a:p>
            <a:pPr latinLnBrk="1">
              <a:lnSpc>
                <a:spcPct val="100000"/>
              </a:lnSpc>
            </a:pPr>
            <a:endParaRPr lang="en-US" altLang="ko-KR" sz="11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음식 때문에 고생한 경험 </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a:t>
            </a:r>
            <a:r>
              <a:rPr lang="ko-KR" altLang="en-US"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술에 취한 경험</a:t>
            </a: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eating something that went bad during a vacation at the beach.</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got food poisoning and it was pretty bad.</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an upset stomach.</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went to the bathroom again and again because I had the runs.</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took some medicine to get better.</a:t>
            </a: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had to stay inside and get a lot of rest.</a:t>
            </a:r>
          </a:p>
          <a:p>
            <a:pPr>
              <a:lnSpc>
                <a:spcPct val="150000"/>
              </a:lnSpc>
            </a:pPr>
            <a:endPar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1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Since then, I try to be more careful.</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740785"/>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친구에게 이번 주말에 공원 가는 것에 대한 질문</a:t>
            </a:r>
            <a:endParaRPr lang="en-US" altLang="ko-KR" sz="1000" b="1" baseline="0" dirty="0">
              <a:solidFill>
                <a:srgbClr val="FF0000"/>
              </a:solidFill>
              <a:latin typeface="맑은 고딕" pitchFamily="50" charset="-127"/>
              <a:ea typeface="맑은 고딕" pitchFamily="50" charset="-127"/>
            </a:endParaRPr>
          </a:p>
          <a:p>
            <a:pPr>
              <a:lnSpc>
                <a:spcPct val="100000"/>
              </a:lnSpc>
            </a:pPr>
            <a:r>
              <a:rPr lang="ko-KR" altLang="en-US" sz="1000" b="0" i="0" kern="1200" dirty="0">
                <a:solidFill>
                  <a:srgbClr val="0070C0"/>
                </a:solidFill>
                <a:effectLst/>
                <a:latin typeface="+mn-lt"/>
                <a:ea typeface="+mn-ea"/>
                <a:cs typeface="+mn-cs"/>
              </a:rPr>
              <a:t>나는 너에게 상황을 주고 그것을 행동으로 보여 달라고 부탁하고 싶습니다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친구가 이번 주말에 너와 공원에 가고 싶어 합니다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여러분이 알아야 할 모든 것을 알아내기 위해 서너 가지 질문을 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안녕하세요 제이크</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피터입니다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이번 주 공원 가는 것에 관하여 묻기 위해 전화하고 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너는 언제 가기를 원하세요</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토요일에 </a:t>
            </a:r>
            <a:r>
              <a:rPr lang="ko-KR" altLang="en-US" sz="1000" b="0" i="0" u="none" strike="noStrike" kern="1200" baseline="0" dirty="0" err="1">
                <a:solidFill>
                  <a:schemeClr val="tx1"/>
                </a:solidFill>
                <a:latin typeface="맑은 고딕" panose="020B0503020000020004" pitchFamily="50" charset="-127"/>
                <a:ea typeface="+mn-ea"/>
                <a:cs typeface="+mn-cs"/>
              </a:rPr>
              <a:t>프리합니다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너는 그날에 시간을 가지고 있나요</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그렇지 않다면</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일요일에 조금의 시간을 만들 수 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다음</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너는 무엇을 </a:t>
            </a:r>
            <a:r>
              <a:rPr lang="ko-KR" altLang="en-US" sz="1000" b="0" i="0" u="none" strike="noStrike" kern="1200" baseline="0" dirty="0" err="1">
                <a:solidFill>
                  <a:schemeClr val="tx1"/>
                </a:solidFill>
                <a:latin typeface="맑은 고딕" panose="020B0503020000020004" pitchFamily="50" charset="-127"/>
                <a:ea typeface="+mn-ea"/>
                <a:cs typeface="+mn-cs"/>
              </a:rPr>
              <a:t>히기를</a:t>
            </a:r>
            <a:r>
              <a:rPr lang="ko-KR" altLang="en-US" sz="1000" b="0" i="0" u="none" strike="noStrike" kern="1200" baseline="0" dirty="0">
                <a:solidFill>
                  <a:schemeClr val="tx1"/>
                </a:solidFill>
                <a:latin typeface="맑은 고딕" panose="020B0503020000020004" pitchFamily="50" charset="-127"/>
                <a:ea typeface="+mn-ea"/>
                <a:cs typeface="+mn-cs"/>
              </a:rPr>
              <a:t> 원하세요</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우리는 공원 근처에서 점심 먹는게 어때요</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우리는 조금의 샌드위치를 사는게 어떻습니까</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i="0" u="none" strike="noStrike" kern="1200" baseline="0" dirty="0">
                <a:solidFill>
                  <a:schemeClr val="tx1"/>
                </a:solidFill>
                <a:latin typeface="맑은 고딕" panose="020B0503020000020004" pitchFamily="50" charset="-127"/>
                <a:ea typeface="+mn-ea"/>
                <a:cs typeface="+mn-cs"/>
              </a:rPr>
              <a:t>너는 이것을 받을 때 나에게 전화를 주세요</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감사합니다</a:t>
            </a:r>
            <a:r>
              <a:rPr lang="en-US" altLang="ko-KR" sz="1000" b="0" i="0" u="none" strike="noStrike" kern="1200" baseline="0" dirty="0">
                <a:solidFill>
                  <a:schemeClr val="tx1"/>
                </a:solidFill>
                <a:latin typeface="맑은 고딕" panose="020B0503020000020004" pitchFamily="50" charset="-127"/>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125232"/>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11 [Int]</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친구에게 이번 주말에 공원 가는 것에 대한 질문</a:t>
            </a:r>
            <a:endParaRPr lang="en-US" altLang="ko-KR" sz="1000" b="1" baseline="0" dirty="0">
              <a:solidFill>
                <a:srgbClr val="FF0000"/>
              </a:solidFill>
              <a:latin typeface="맑은 고딕" pitchFamily="50" charset="-127"/>
              <a:ea typeface="맑은 고딕" pitchFamily="50" charset="-127"/>
            </a:endParaRPr>
          </a:p>
          <a:p>
            <a:pPr>
              <a:lnSpc>
                <a:spcPct val="100000"/>
              </a:lnSpc>
            </a:pPr>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I’d like to give you a situation and ask you to act it out.</a:t>
            </a:r>
          </a:p>
          <a:p>
            <a:pPr>
              <a:lnSpc>
                <a:spcPct val="100000"/>
              </a:lnSpc>
            </a:pPr>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A friend wants to go to the park with you this weekend.</a:t>
            </a:r>
          </a:p>
          <a:p>
            <a:pPr>
              <a:lnSpc>
                <a:spcPct val="100000"/>
              </a:lnSpc>
            </a:pPr>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and ask three or four questions to find out all you need to know.</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Hello, Jake.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I’m calling to ask about going to the park this weekend.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When do you want to go?</a:t>
            </a: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I’m free on Saturday.</a:t>
            </a: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Do you have time that day?</a:t>
            </a: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If not, I can make some time on Sunday.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Next, 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Why DON'T we have lunch near the park?</a:t>
            </a: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How about we get some sandwiches?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mn-ea"/>
                <a:cs typeface="+mn-cs"/>
              </a:rPr>
              <a:t>Give me a call when you get this. Thanks.</a:t>
            </a:r>
          </a:p>
        </p:txBody>
      </p:sp>
    </p:spTree>
    <p:extLst>
      <p:ext uri="{BB962C8B-B14F-4D97-AF65-F5344CB8AC3E}">
        <p14:creationId xmlns:p14="http://schemas.microsoft.com/office/powerpoint/2010/main" val="155630263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168</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83311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 픽업하기로 했는데 공원 못 가게 되어 전화로 설명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한 시간 후에 친구를 데리러 공원에 같이 가기로 되어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당신은 문제가 있어서 공원에 갈 수 없습니다</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친구에게 전화해서 상황을 설명하세요</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무엇을 해야 할지 두세 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 제이크</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피터입니다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공원에 못 갈 것 같습니다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갑자기 무슨 일이 생겼습니다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너는 무엇을 하기를 원하나요</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우리는 다음번에 가는게 어떻습니까</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우리는 다음주에 가는게 어떻습니까</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아니면</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아마 우리는 또 다른 시간에 갈수도 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en-US" altLang="ko-KR" sz="1000" b="0" i="0" u="none" strike="noStrike" kern="1200" baseline="0" dirty="0">
                <a:solidFill>
                  <a:schemeClr val="tx1"/>
                </a:solidFill>
                <a:latin typeface="+mn-lt"/>
                <a:ea typeface="+mn-ea"/>
                <a:cs typeface="+mn-cs"/>
              </a:rPr>
              <a:t/>
            </a:r>
            <a:br>
              <a:rPr lang="en-US" altLang="ko-KR" sz="1000" b="0" i="0" u="none" strike="noStrike" kern="1200" baseline="0" dirty="0">
                <a:solidFill>
                  <a:schemeClr val="tx1"/>
                </a:solidFill>
                <a:latin typeface="+mn-lt"/>
                <a:ea typeface="+mn-ea"/>
                <a:cs typeface="+mn-cs"/>
              </a:rPr>
            </a:br>
            <a:r>
              <a:rPr lang="ko-KR" altLang="en-US" sz="1000" b="0" i="0" u="none" strike="noStrike" kern="1200" baseline="0" dirty="0">
                <a:solidFill>
                  <a:schemeClr val="tx1"/>
                </a:solidFill>
                <a:latin typeface="맑은 고딕" panose="020B0503020000020004" pitchFamily="50" charset="-127"/>
                <a:ea typeface="+mn-ea"/>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괜찮습니다</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spc="-50" dirty="0">
                <a:solidFill>
                  <a:schemeClr val="tx1"/>
                </a:solidFill>
                <a:latin typeface="맑은 고딕" panose="020B0503020000020004" pitchFamily="50" charset="-127"/>
                <a:ea typeface="+mn-ea"/>
                <a:cs typeface="+mn-cs"/>
              </a:rPr>
              <a:t>나에게 다시 전화주세요</a:t>
            </a:r>
            <a:r>
              <a:rPr lang="en-US" altLang="ko-KR" sz="1000" b="0" i="0" u="none" strike="noStrike" kern="1200" spc="-50" dirty="0">
                <a:solidFill>
                  <a:schemeClr val="tx1"/>
                </a:solidFill>
                <a:latin typeface="맑은 고딕" panose="020B0503020000020004" pitchFamily="50" charset="-127"/>
                <a:ea typeface="+mn-ea"/>
                <a:cs typeface="+mn-cs"/>
              </a:rPr>
              <a:t>. </a:t>
            </a:r>
            <a:r>
              <a:rPr lang="ko-KR" altLang="en-US" sz="1000" b="0" i="0" u="none" strike="noStrike" kern="1200" spc="-50" dirty="0">
                <a:solidFill>
                  <a:schemeClr val="tx1"/>
                </a:solidFill>
                <a:latin typeface="맑은 고딕" panose="020B0503020000020004" pitchFamily="50" charset="-127"/>
                <a:ea typeface="+mn-ea"/>
                <a:cs typeface="+mn-cs"/>
              </a:rPr>
              <a:t>너가 이것을 받았을 때</a:t>
            </a:r>
            <a:r>
              <a:rPr lang="en-US" altLang="ko-KR" sz="1000" b="0" i="0" u="none" strike="noStrike" kern="1200" spc="-50" dirty="0">
                <a:solidFill>
                  <a:schemeClr val="tx1"/>
                </a:solidFill>
                <a:latin typeface="맑은 고딕" panose="020B0503020000020004" pitchFamily="50" charset="-127"/>
                <a:ea typeface="+mn-ea"/>
                <a:cs typeface="+mn-cs"/>
              </a:rPr>
              <a:t>. </a:t>
            </a:r>
            <a:r>
              <a:rPr lang="ko-KR" altLang="en-US" sz="1000" b="0" i="0" u="none" strike="noStrike" kern="1200" spc="-50" dirty="0">
                <a:solidFill>
                  <a:schemeClr val="tx1"/>
                </a:solidFill>
                <a:latin typeface="맑은 고딕" panose="020B0503020000020004" pitchFamily="50" charset="-127"/>
                <a:ea typeface="+mn-ea"/>
                <a:cs typeface="+mn-cs"/>
              </a:rPr>
              <a:t>감사합니다</a:t>
            </a:r>
            <a:r>
              <a:rPr lang="en-US" altLang="ko-KR" sz="1000" b="0" i="0" u="none" strike="noStrike" kern="1200" spc="-50" dirty="0">
                <a:solidFill>
                  <a:schemeClr val="tx1"/>
                </a:solidFill>
                <a:latin typeface="맑은 고딕" panose="020B0503020000020004" pitchFamily="50" charset="-127"/>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602286"/>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12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친구 픽업하기로 했는데 공원 못 가게 되어 전화로 설명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mn-ea"/>
                <a:cs typeface="+mn-cs"/>
              </a:rPr>
              <a:t>I’m sorry, but there is a problem I need you to resolve. </a:t>
            </a:r>
          </a:p>
          <a:p>
            <a:r>
              <a:rPr lang="en-US" altLang="ko-KR" sz="1000" b="0" i="0" u="none" strike="noStrike" kern="1200" baseline="0" dirty="0">
                <a:solidFill>
                  <a:srgbClr val="FF0000"/>
                </a:solidFill>
                <a:latin typeface="맑은 고딕" panose="020B0503020000020004" pitchFamily="50" charset="-127"/>
                <a:ea typeface="+mn-ea"/>
                <a:cs typeface="+mn-cs"/>
              </a:rPr>
              <a:t>You are supposed to pick your friend up in an hour to go to the park together. </a:t>
            </a:r>
          </a:p>
          <a:p>
            <a:r>
              <a:rPr lang="en-US" altLang="ko-KR" sz="1000" b="0" i="0" u="none" strike="noStrike" kern="1200" baseline="0" dirty="0">
                <a:solidFill>
                  <a:srgbClr val="FF0000"/>
                </a:solidFill>
                <a:latin typeface="맑은 고딕" panose="020B0503020000020004" pitchFamily="50" charset="-127"/>
                <a:ea typeface="+mn-ea"/>
                <a:cs typeface="+mn-cs"/>
              </a:rPr>
              <a:t>However, you have a problem and cannot go to the park. Call your friend and explain the situation. Give two or three alternatives about what to do. </a:t>
            </a: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Jake.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DON'T think I can make it to the park.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Something came up suddenly.</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go next time?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go next week?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go another time.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448397"/>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공원 폐쇄되어 못 감</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친구한테 상황 설명 대안제시  </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방금 뉴스에서 당신이 방문할 예정인 공원이 이번 주말에 문을 닫는다는 것을 알게 되었습니다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설명하고 그 문제에 대한 두세 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 제이크</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피터입니다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이번 주에 공원이 문을 닫는다고 들었습니다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너는 무엇을 하기를 원하나요</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우리는 다음번에 가는게 어떻습니까</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우리는 다음주에 가는게 어떻습니까</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아니면</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아마 우리는 또 다른 시간에 갈수도 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en-US" altLang="ko-KR" sz="1000" b="0" i="0" u="none" strike="noStrike" kern="1200" baseline="0" dirty="0">
                <a:solidFill>
                  <a:schemeClr val="tx1"/>
                </a:solidFill>
                <a:latin typeface="+mn-lt"/>
                <a:ea typeface="+mn-ea"/>
                <a:cs typeface="+mn-cs"/>
              </a:rPr>
              <a:t/>
            </a:r>
            <a:br>
              <a:rPr lang="en-US" altLang="ko-KR" sz="1000" b="0" i="0" u="none" strike="noStrike" kern="1200" baseline="0" dirty="0">
                <a:solidFill>
                  <a:schemeClr val="tx1"/>
                </a:solidFill>
                <a:latin typeface="+mn-lt"/>
                <a:ea typeface="+mn-ea"/>
                <a:cs typeface="+mn-cs"/>
              </a:rPr>
            </a:br>
            <a:r>
              <a:rPr lang="ko-KR" altLang="en-US" sz="1000" b="0" i="0" u="none" strike="noStrike" kern="1200" baseline="0" dirty="0">
                <a:solidFill>
                  <a:schemeClr val="tx1"/>
                </a:solidFill>
                <a:latin typeface="맑은 고딕" panose="020B0503020000020004" pitchFamily="50" charset="-127"/>
                <a:ea typeface="+mn-ea"/>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괜찮습니다</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나에게 전화주세요</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감사합니다</a:t>
            </a:r>
            <a:r>
              <a:rPr lang="en-US" altLang="ko-KR" sz="1000" b="0" i="0" u="none" strike="noStrike" kern="1200" baseline="0" dirty="0">
                <a:solidFill>
                  <a:schemeClr val="tx1"/>
                </a:solidFill>
                <a:latin typeface="맑은 고딕" panose="020B0503020000020004" pitchFamily="50" charset="-127"/>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17565"/>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공원 폐쇄되어 못 감</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친구한테 상황 설명 대안제시  </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You’ve just learned on the news that the park you are planning to visit will be closed this weekend.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explain the situation, and offer two or three alternatives to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Jake.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heard the park will be closed this weekend.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go next time?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go next week?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go another time.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Tree>
    <p:extLst>
      <p:ext uri="{BB962C8B-B14F-4D97-AF65-F5344CB8AC3E}">
        <p14:creationId xmlns:p14="http://schemas.microsoft.com/office/powerpoint/2010/main" val="262797724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직선 연결선 14">
            <a:extLst>
              <a:ext uri="{FF2B5EF4-FFF2-40B4-BE49-F238E27FC236}">
                <a16:creationId xmlns:a16="http://schemas.microsoft.com/office/drawing/2014/main" xmlns="" id="{1FF390A1-45A4-75BA-5CCC-39D81ECA1862}"/>
              </a:ext>
            </a:extLst>
          </p:cNvPr>
          <p:cNvCxnSpPr/>
          <p:nvPr/>
        </p:nvCxnSpPr>
        <p:spPr>
          <a:xfrm>
            <a:off x="0" y="4953000"/>
            <a:ext cx="685800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xmlns="" id="{1A3E2B75-BAA2-7016-A0F1-D680D3767543}"/>
              </a:ext>
            </a:extLst>
          </p:cNvPr>
          <p:cNvCxnSpPr/>
          <p:nvPr/>
        </p:nvCxnSpPr>
        <p:spPr>
          <a:xfrm>
            <a:off x="3429000" y="0"/>
            <a:ext cx="0" cy="990600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xmlns="" id="{FFEE6AC5-48F4-6790-5ED4-1938A2EDEEB2}"/>
              </a:ext>
            </a:extLst>
          </p:cNvPr>
          <p:cNvSpPr/>
          <p:nvPr/>
        </p:nvSpPr>
        <p:spPr>
          <a:xfrm>
            <a:off x="0" y="0"/>
            <a:ext cx="6858000" cy="9906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슬라이드 번호 개체 틀 1">
            <a:extLst>
              <a:ext uri="{FF2B5EF4-FFF2-40B4-BE49-F238E27FC236}">
                <a16:creationId xmlns:a16="http://schemas.microsoft.com/office/drawing/2014/main" xmlns="" id="{8A4F71C6-641F-49E8-AB4B-F8228A82F8AD}"/>
              </a:ext>
            </a:extLst>
          </p:cNvPr>
          <p:cNvSpPr>
            <a:spLocks noGrp="1"/>
          </p:cNvSpPr>
          <p:nvPr>
            <p:ph type="sldNum" sz="quarter" idx="12"/>
          </p:nvPr>
        </p:nvSpPr>
        <p:spPr/>
        <p:txBody>
          <a:bodyPr/>
          <a:lstStyle/>
          <a:p>
            <a:fld id="{18CC7079-95A2-4860-A138-51A9FC969471}" type="slidenum">
              <a:rPr lang="ko-KR" altLang="en-US" smtClean="0"/>
              <a:t>169</a:t>
            </a:fld>
            <a:endParaRPr lang="ko-KR" altLang="en-US" dirty="0"/>
          </a:p>
        </p:txBody>
      </p:sp>
      <p:sp>
        <p:nvSpPr>
          <p:cNvPr id="20" name="TextBox 19">
            <a:extLst>
              <a:ext uri="{FF2B5EF4-FFF2-40B4-BE49-F238E27FC236}">
                <a16:creationId xmlns:a16="http://schemas.microsoft.com/office/drawing/2014/main" xmlns="" id="{293FFD09-34E8-9DED-B6E3-D55074BE4656}"/>
              </a:ext>
            </a:extLst>
          </p:cNvPr>
          <p:cNvSpPr txBox="1"/>
          <p:nvPr/>
        </p:nvSpPr>
        <p:spPr>
          <a:xfrm>
            <a:off x="0" y="1700"/>
            <a:ext cx="3429000" cy="4279120"/>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공원에서 있었던 에피소드 묘사  </a:t>
            </a:r>
            <a:endParaRPr lang="en-US" altLang="ko-KR" sz="1000" b="1"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당신이 공원을 방문했을 때 매우 기억에 남는 경험의 이야기를 들려주세요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아마 웃기거나</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예상치 못한</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또는 멋진 일이 일어났을 것입니다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언제 어디서 이런 일이 일어났는지에 대한 배경을 설명해주는 것부터 시작하세요</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그리고 나서</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왜 그것이 그렇게 잊을 수 없거나 특별한지 말해보세요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r>
              <a:rPr lang="en-US" altLang="ko-KR" sz="1000" b="0" i="0" kern="1200" spc="-50" dirty="0">
                <a:solidFill>
                  <a:schemeClr val="lt1"/>
                </a:solidFill>
                <a:effectLst/>
                <a:latin typeface="+mn-lt"/>
                <a:ea typeface="+mn-ea"/>
                <a:cs typeface="+mn-cs"/>
              </a:rPr>
              <a:t>.</a:t>
            </a:r>
            <a:endParaRPr lang="en-US" altLang="ko-KR" sz="1000" b="0" spc="-50" baseline="0" dirty="0">
              <a:solidFill>
                <a:srgbClr val="FF0000"/>
              </a:solidFill>
              <a:latin typeface="맑은 고딕" pitchFamily="50" charset="-127"/>
              <a:ea typeface="맑은 고딕" pitchFamily="50" charset="-127"/>
            </a:endParaRPr>
          </a:p>
          <a:p>
            <a:endParaRPr lang="en-US" altLang="ko-KR" sz="1000" b="0" baseline="0" dirty="0">
              <a:solidFill>
                <a:srgbClr val="0070C0"/>
              </a:solidFill>
              <a:latin typeface="맑은 고딕" pitchFamily="50" charset="-127"/>
              <a:ea typeface="맑은 고딕" pitchFamily="50" charset="-127"/>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공원에서 나의 이웃과 마주친 것을 기억 납니다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조금의 운동을 하기 위해 산책을 하고 있었습니다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갑자기</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거기서 나의 이웃을 보았습니다</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그에게 갔고 </a:t>
            </a:r>
            <a:r>
              <a:rPr lang="en-US" altLang="ko-KR" sz="1000" b="0" i="0" u="none" strike="noStrike" kern="1200" baseline="0" dirty="0">
                <a:solidFill>
                  <a:schemeClr val="tx1"/>
                </a:solidFill>
                <a:latin typeface="맑은 고딕" panose="020B0503020000020004" pitchFamily="50" charset="-127"/>
                <a:ea typeface="+mn-ea"/>
                <a:cs typeface="+mn-cs"/>
              </a:rPr>
              <a:t>hi</a:t>
            </a:r>
            <a:r>
              <a:rPr lang="ko-KR" altLang="en-US" sz="1000" b="0" i="0" u="none" strike="noStrike" kern="1200" baseline="0" dirty="0">
                <a:solidFill>
                  <a:schemeClr val="tx1"/>
                </a:solidFill>
                <a:latin typeface="맑은 고딕" panose="020B0503020000020004" pitchFamily="50" charset="-127"/>
                <a:ea typeface="+mn-ea"/>
                <a:cs typeface="+mn-cs"/>
              </a:rPr>
              <a:t>라고 말했습니다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그를 보게 되어서 매우 행복했습니다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우리는 서로 어떻게 </a:t>
            </a:r>
            <a:r>
              <a:rPr lang="ko-KR" altLang="en-US" sz="1000" b="0" i="0" u="none" strike="noStrike" kern="1200" baseline="0" dirty="0" err="1">
                <a:solidFill>
                  <a:schemeClr val="tx1"/>
                </a:solidFill>
                <a:latin typeface="맑은 고딕" panose="020B0503020000020004" pitchFamily="50" charset="-127"/>
                <a:ea typeface="+mn-ea"/>
                <a:cs typeface="+mn-cs"/>
              </a:rPr>
              <a:t>지내냐고</a:t>
            </a:r>
            <a:r>
              <a:rPr lang="ko-KR" altLang="en-US" sz="1000" b="0" i="0" u="none" strike="noStrike" kern="1200" baseline="0" dirty="0">
                <a:solidFill>
                  <a:schemeClr val="tx1"/>
                </a:solidFill>
                <a:latin typeface="맑은 고딕" panose="020B0503020000020004" pitchFamily="50" charset="-127"/>
                <a:ea typeface="+mn-ea"/>
                <a:cs typeface="+mn-cs"/>
              </a:rPr>
              <a:t> 물어 보았고</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조금의 밀린 이야기를 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그래서</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이것은 내가 기억하는 사건이었습니다</a:t>
            </a:r>
            <a:r>
              <a:rPr lang="en-US" altLang="ko-KR" sz="1000" b="0" i="0" u="none" strike="noStrike" kern="1200" baseline="0" dirty="0">
                <a:solidFill>
                  <a:schemeClr val="tx1"/>
                </a:solidFill>
                <a:latin typeface="맑은 고딕" panose="020B0503020000020004" pitchFamily="50" charset="-127"/>
                <a:ea typeface="+mn-ea"/>
                <a:cs typeface="+mn-cs"/>
              </a:rPr>
              <a:t>.</a:t>
            </a:r>
          </a:p>
        </p:txBody>
      </p:sp>
      <p:sp>
        <p:nvSpPr>
          <p:cNvPr id="21" name="TextBox 20">
            <a:extLst>
              <a:ext uri="{FF2B5EF4-FFF2-40B4-BE49-F238E27FC236}">
                <a16:creationId xmlns:a16="http://schemas.microsoft.com/office/drawing/2014/main" xmlns="" id="{A5D64C62-0C67-D892-23A9-7D3775C116B0}"/>
              </a:ext>
            </a:extLst>
          </p:cNvPr>
          <p:cNvSpPr txBox="1"/>
          <p:nvPr/>
        </p:nvSpPr>
        <p:spPr>
          <a:xfrm>
            <a:off x="3426603" y="0"/>
            <a:ext cx="3429000" cy="4433008"/>
          </a:xfrm>
          <a:prstGeom prst="rect">
            <a:avLst/>
          </a:prstGeom>
          <a:noFill/>
        </p:spPr>
        <p:txBody>
          <a:bodyPr wrap="square" rtlCol="0">
            <a:spAutoFit/>
          </a:bodyPr>
          <a:lstStyle/>
          <a:p>
            <a:pPr latinLnBrk="1">
              <a:lnSpc>
                <a:spcPct val="100000"/>
              </a:lnSpc>
            </a:pPr>
            <a:r>
              <a:rPr lang="en-US" altLang="ko-KR" sz="1000" b="1" dirty="0">
                <a:solidFill>
                  <a:schemeClr val="tx2"/>
                </a:solidFill>
                <a:latin typeface="맑은 고딕" pitchFamily="50" charset="-127"/>
                <a:ea typeface="맑은 고딕" pitchFamily="50" charset="-127"/>
              </a:rPr>
              <a:t>13 [Adv]</a:t>
            </a:r>
            <a:r>
              <a:rPr lang="en-US" altLang="ko-KR" sz="1000" b="1" baseline="0" dirty="0">
                <a:solidFill>
                  <a:schemeClr val="tx2"/>
                </a:solidFill>
                <a:latin typeface="맑은 고딕" pitchFamily="50" charset="-127"/>
                <a:ea typeface="맑은 고딕" pitchFamily="50" charset="-127"/>
              </a:rPr>
              <a:t> </a:t>
            </a:r>
            <a:r>
              <a:rPr lang="ko-KR" altLang="en-US" sz="1000" b="1" baseline="0" dirty="0">
                <a:solidFill>
                  <a:srgbClr val="FF0000"/>
                </a:solidFill>
                <a:latin typeface="맑은 고딕" pitchFamily="50" charset="-127"/>
                <a:ea typeface="맑은 고딕" pitchFamily="50" charset="-127"/>
              </a:rPr>
              <a:t>공원에서 있었던 에피소드 묘사  </a:t>
            </a:r>
            <a:endParaRPr lang="en-US" altLang="ko-KR" sz="1000" b="1"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That’s the end of the situation.</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Tell me the story of one very memorable experience you had while visiting a park. </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Maybe something funny, unexpected, or wonderful happened.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Start by giving me some background about when and where this took place.</a:t>
            </a:r>
          </a:p>
          <a:p>
            <a:r>
              <a:rPr lang="en-US" altLang="ko-KR" sz="1000" b="0" i="0" u="none" strike="noStrike" kern="1200" spc="-20" dirty="0">
                <a:solidFill>
                  <a:srgbClr val="FF0000"/>
                </a:solidFill>
                <a:latin typeface="맑은 고딕" panose="020B0503020000020004" pitchFamily="50" charset="-127"/>
                <a:ea typeface="맑은 고딕" panose="020B0503020000020004" pitchFamily="50" charset="-127"/>
                <a:cs typeface="+mn-cs"/>
              </a:rPr>
              <a:t>And then, tell me why it was so unforgettable or special.</a:t>
            </a:r>
            <a:endParaRPr lang="en-US" altLang="ko-KR" sz="1000" b="0" spc="-20" dirty="0">
              <a:solidFill>
                <a:srgbClr val="FF0000"/>
              </a:solidFill>
              <a:latin typeface="맑은 고딕" pitchFamily="50" charset="-127"/>
              <a:ea typeface="맑은 고딕" pitchFamily="50" charset="-127"/>
            </a:endParaRPr>
          </a:p>
          <a:p>
            <a:pPr latinLnBrk="1">
              <a:lnSpc>
                <a:spcPct val="100000"/>
              </a:lnSpc>
            </a:pPr>
            <a:endParaRPr lang="en-US" altLang="ko-KR" sz="1000" b="0" spc="-1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remember bumping into my neighbor at a park.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taking a walk to get some exercise.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Suddenly, I saw my neighbor there. I went to him and said hi.</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was very happy to see him.</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We asked how each other was doing and did some catching up.</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So, this was the incident I remember.</a:t>
            </a:r>
          </a:p>
        </p:txBody>
      </p:sp>
      <p:sp>
        <p:nvSpPr>
          <p:cNvPr id="3" name="TextBox 2">
            <a:extLst>
              <a:ext uri="{FF2B5EF4-FFF2-40B4-BE49-F238E27FC236}">
                <a16:creationId xmlns:a16="http://schemas.microsoft.com/office/drawing/2014/main" xmlns="" id="{EDE54AB8-2E6C-69A3-EDB7-07E544E5F02A}"/>
              </a:ext>
            </a:extLst>
          </p:cNvPr>
          <p:cNvSpPr txBox="1"/>
          <p:nvPr/>
        </p:nvSpPr>
        <p:spPr>
          <a:xfrm>
            <a:off x="0" y="4953000"/>
            <a:ext cx="3429000" cy="4448397"/>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공원 폐쇄되어 못 감</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친구한테 상황 설명 대안제시  </a:t>
            </a:r>
            <a:endParaRPr lang="en-US" altLang="ko-KR" sz="1000" b="1" spc="-50" baseline="0" dirty="0">
              <a:solidFill>
                <a:srgbClr val="FF0000"/>
              </a:solidFill>
              <a:latin typeface="맑은 고딕" pitchFamily="50" charset="-127"/>
              <a:ea typeface="맑은 고딕" pitchFamily="50" charset="-127"/>
            </a:endParaRPr>
          </a:p>
          <a:p>
            <a:r>
              <a:rPr lang="ko-KR" altLang="en-US" sz="1000" b="0" i="0" kern="1200" dirty="0">
                <a:solidFill>
                  <a:srgbClr val="0070C0"/>
                </a:solidFill>
                <a:effectLst/>
                <a:latin typeface="+mn-lt"/>
                <a:ea typeface="+mn-ea"/>
                <a:cs typeface="+mn-cs"/>
              </a:rPr>
              <a:t>죄송하지만</a:t>
            </a:r>
            <a:r>
              <a:rPr lang="en-US" altLang="ko-KR" sz="1000" b="0" i="0" kern="1200" dirty="0">
                <a:solidFill>
                  <a:srgbClr val="0070C0"/>
                </a:solidFill>
                <a:effectLst/>
                <a:latin typeface="+mn-lt"/>
                <a:ea typeface="+mn-ea"/>
                <a:cs typeface="+mn-cs"/>
              </a:rPr>
              <a:t>, </a:t>
            </a:r>
            <a:r>
              <a:rPr lang="ko-KR" altLang="en-US" sz="1000" b="0" i="0" kern="1200" dirty="0">
                <a:solidFill>
                  <a:srgbClr val="0070C0"/>
                </a:solidFill>
                <a:effectLst/>
                <a:latin typeface="+mn-lt"/>
                <a:ea typeface="+mn-ea"/>
                <a:cs typeface="+mn-cs"/>
              </a:rPr>
              <a:t>당신이 해결해야 할 문제가 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당신은 방금 뉴스에서 당신이 방문할 예정인 공원이 이번 주말에 문을 닫는다는 것을 알게 되었습니다</a:t>
            </a:r>
            <a:r>
              <a:rPr lang="en-US" altLang="ko-KR" sz="1000" b="0" i="0" kern="1200" dirty="0">
                <a:solidFill>
                  <a:srgbClr val="0070C0"/>
                </a:solidFill>
                <a:effectLst/>
                <a:latin typeface="+mn-lt"/>
                <a:ea typeface="+mn-ea"/>
                <a:cs typeface="+mn-cs"/>
              </a:rPr>
              <a:t>.</a:t>
            </a:r>
            <a:r>
              <a:rPr lang="ko-KR" altLang="en-US" sz="1000" dirty="0">
                <a:solidFill>
                  <a:srgbClr val="0070C0"/>
                </a:solidFill>
              </a:rPr>
              <a:t/>
            </a:r>
            <a:br>
              <a:rPr lang="ko-KR" altLang="en-US" sz="1000" dirty="0">
                <a:solidFill>
                  <a:srgbClr val="0070C0"/>
                </a:solidFill>
              </a:rPr>
            </a:br>
            <a:r>
              <a:rPr lang="ko-KR" altLang="en-US" sz="1000" b="0" i="0" kern="1200" dirty="0">
                <a:solidFill>
                  <a:srgbClr val="0070C0"/>
                </a:solidFill>
                <a:effectLst/>
                <a:latin typeface="+mn-lt"/>
                <a:ea typeface="+mn-ea"/>
                <a:cs typeface="+mn-cs"/>
              </a:rPr>
              <a:t>친구에게 전화해서 상황을 설명하고 그 문제에 대한 두세 가지 대안을 제시하세요</a:t>
            </a:r>
            <a:r>
              <a:rPr lang="en-US" altLang="ko-KR" sz="1000" b="0" i="0" kern="1200" dirty="0">
                <a:solidFill>
                  <a:srgbClr val="0070C0"/>
                </a:solidFill>
                <a:effectLst/>
                <a:latin typeface="+mn-lt"/>
                <a:ea typeface="+mn-ea"/>
                <a:cs typeface="+mn-cs"/>
              </a:rPr>
              <a:t>.</a:t>
            </a:r>
            <a:endParaRPr lang="en-US" altLang="ko-KR" sz="1000" b="0" baseline="0" dirty="0">
              <a:solidFill>
                <a:srgbClr val="0070C0"/>
              </a:solidFill>
              <a:latin typeface="맑은 고딕" pitchFamily="50" charset="-127"/>
              <a:ea typeface="맑은 고딕" pitchFamily="50" charset="-127"/>
            </a:endParaRPr>
          </a:p>
          <a:p>
            <a:endParaRPr lang="en-US" altLang="ko-KR" sz="1000" b="0" spc="-50" baseline="0" dirty="0">
              <a:solidFill>
                <a:srgbClr val="0070C0"/>
              </a:solidFill>
              <a:latin typeface="맑은 고딕" pitchFamily="50" charset="-127"/>
              <a:ea typeface="맑은 고딕" pitchFamily="50" charset="-127"/>
            </a:endParaRPr>
          </a:p>
          <a:p>
            <a:pPr latinLnBrk="1">
              <a:lnSpc>
                <a:spcPct val="100000"/>
              </a:lnSpc>
            </a:pPr>
            <a:endParaRPr lang="en-US" altLang="ko-KR" sz="1000" b="1" spc="-70"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ko-KR" altLang="en-US" sz="1000" b="0" i="0" u="none" strike="noStrike" kern="1200" baseline="0" dirty="0">
                <a:solidFill>
                  <a:schemeClr val="tx1"/>
                </a:solidFill>
                <a:latin typeface="+mn-lt"/>
                <a:ea typeface="+mn-ea"/>
                <a:cs typeface="+mn-cs"/>
              </a:rPr>
              <a:t>안녕하세요 제이크</a:t>
            </a:r>
            <a:r>
              <a:rPr lang="en-US" altLang="ko-KR" sz="1000" b="0" i="0" u="none" strike="noStrike" kern="1200" baseline="0" dirty="0">
                <a:solidFill>
                  <a:schemeClr val="tx1"/>
                </a:solidFill>
                <a:latin typeface="+mn-lt"/>
                <a:ea typeface="+mn-ea"/>
                <a:cs typeface="+mn-cs"/>
              </a:rPr>
              <a:t>. </a:t>
            </a:r>
            <a:r>
              <a:rPr lang="ko-KR" altLang="en-US" sz="1000" b="0" i="0" u="none" strike="noStrike" kern="1200" baseline="0" dirty="0">
                <a:solidFill>
                  <a:schemeClr val="tx1"/>
                </a:solidFill>
                <a:latin typeface="+mn-lt"/>
                <a:ea typeface="+mn-ea"/>
                <a:cs typeface="+mn-cs"/>
              </a:rPr>
              <a:t>피터입니다</a:t>
            </a:r>
            <a:r>
              <a:rPr lang="en-US" altLang="ko-KR" sz="1000" b="0" i="0" u="none" strike="noStrike" kern="1200" baseline="0" dirty="0">
                <a:solidFill>
                  <a:schemeClr val="tx1"/>
                </a:solidFill>
                <a:latin typeface="+mn-lt"/>
                <a:ea typeface="+mn-ea"/>
                <a:cs typeface="+mn-cs"/>
              </a:rPr>
              <a:t>.</a:t>
            </a:r>
          </a:p>
          <a:p>
            <a:pPr>
              <a:lnSpc>
                <a:spcPct val="150000"/>
              </a:lnSpc>
            </a:pPr>
            <a:r>
              <a:rPr lang="ko-KR" altLang="en-US" sz="1000" b="0" i="0" u="none" strike="noStrike" kern="1200" baseline="0" dirty="0">
                <a:solidFill>
                  <a:schemeClr val="tx1"/>
                </a:solidFill>
                <a:latin typeface="+mn-lt"/>
                <a:ea typeface="+mn-ea"/>
                <a:cs typeface="+mn-cs"/>
              </a:rPr>
              <a:t>나는 몇몇 나쁜 뉴스들을 가지고 있습니다</a:t>
            </a:r>
            <a:r>
              <a:rPr lang="en-US" altLang="ko-KR" sz="1000" b="0" i="0" u="none" strike="noStrike" kern="1200" baseline="0" dirty="0">
                <a:solidFill>
                  <a:schemeClr val="tx1"/>
                </a:solidFill>
                <a:latin typeface="+mn-lt"/>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나는 이번 주에 공원이 문을 닫는다고 들었습니다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endParaRPr lang="en-US" altLang="ko-KR" sz="1000" b="0" i="0" u="none" strike="noStrike" kern="1200" baseline="0" dirty="0">
              <a:solidFill>
                <a:schemeClr val="tx1"/>
              </a:solidFill>
              <a:latin typeface="+mn-lt"/>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너는 무엇을 하기를 원하나요</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우리는 다음번에 가는게 어떻습니까</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우리는 다음주에 가는게 어떻습니까</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아니면</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아마 우리는 또 다른 시간에 갈수도 있습니다</a:t>
            </a:r>
            <a:r>
              <a:rPr lang="en-US" altLang="ko-KR" sz="1000" b="0" i="0" u="none" strike="noStrike" kern="1200" baseline="0" dirty="0">
                <a:solidFill>
                  <a:schemeClr val="tx1"/>
                </a:solidFill>
                <a:latin typeface="맑은 고딕" panose="020B0503020000020004" pitchFamily="50" charset="-127"/>
                <a:ea typeface="+mn-ea"/>
                <a:cs typeface="+mn-cs"/>
              </a:rPr>
              <a:t>.</a:t>
            </a:r>
          </a:p>
          <a:p>
            <a:pPr>
              <a:lnSpc>
                <a:spcPct val="150000"/>
              </a:lnSpc>
            </a:pPr>
            <a:r>
              <a:rPr lang="en-US" altLang="ko-KR" sz="1000" b="0" i="0" u="none" strike="noStrike" kern="1200" baseline="0" dirty="0">
                <a:solidFill>
                  <a:schemeClr val="tx1"/>
                </a:solidFill>
                <a:latin typeface="+mn-lt"/>
                <a:ea typeface="+mn-ea"/>
                <a:cs typeface="+mn-cs"/>
              </a:rPr>
              <a:t/>
            </a:r>
            <a:br>
              <a:rPr lang="en-US" altLang="ko-KR" sz="1000" b="0" i="0" u="none" strike="noStrike" kern="1200" baseline="0" dirty="0">
                <a:solidFill>
                  <a:schemeClr val="tx1"/>
                </a:solidFill>
                <a:latin typeface="+mn-lt"/>
                <a:ea typeface="+mn-ea"/>
                <a:cs typeface="+mn-cs"/>
              </a:rPr>
            </a:br>
            <a:r>
              <a:rPr lang="ko-KR" altLang="en-US" sz="1000" b="0" i="0" u="none" strike="noStrike" kern="1200" baseline="0" dirty="0">
                <a:solidFill>
                  <a:schemeClr val="tx1"/>
                </a:solidFill>
                <a:latin typeface="맑은 고딕" panose="020B0503020000020004" pitchFamily="50" charset="-127"/>
                <a:ea typeface="+mn-ea"/>
                <a:cs typeface="+mn-cs"/>
              </a:rPr>
              <a:t>너는 무엇을 생각합니까</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나는 괜찮습니다</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너가 어떤 결정을 내리든</a:t>
            </a:r>
            <a:endParaRPr lang="en-US" altLang="ko-KR" sz="1000" b="0" i="0" u="none" strike="noStrike" kern="1200" baseline="0" dirty="0">
              <a:solidFill>
                <a:schemeClr val="tx1"/>
              </a:solidFill>
              <a:latin typeface="맑은 고딕" panose="020B0503020000020004" pitchFamily="50" charset="-127"/>
              <a:ea typeface="+mn-ea"/>
              <a:cs typeface="+mn-cs"/>
            </a:endParaRPr>
          </a:p>
          <a:p>
            <a:pPr>
              <a:lnSpc>
                <a:spcPct val="150000"/>
              </a:lnSpc>
            </a:pPr>
            <a:r>
              <a:rPr lang="ko-KR" altLang="en-US" sz="1000" b="0" i="0" u="none" strike="noStrike" kern="1200" baseline="0" dirty="0">
                <a:solidFill>
                  <a:schemeClr val="tx1"/>
                </a:solidFill>
                <a:latin typeface="맑은 고딕" panose="020B0503020000020004" pitchFamily="50" charset="-127"/>
                <a:ea typeface="+mn-ea"/>
                <a:cs typeface="+mn-cs"/>
              </a:rPr>
              <a:t>나에게 전화주세요</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너가 이것을 받았을 때</a:t>
            </a:r>
            <a:r>
              <a:rPr lang="en-US" altLang="ko-KR" sz="1000" b="0" i="0" u="none" strike="noStrike" kern="1200" baseline="0" dirty="0">
                <a:solidFill>
                  <a:schemeClr val="tx1"/>
                </a:solidFill>
                <a:latin typeface="맑은 고딕" panose="020B0503020000020004" pitchFamily="50" charset="-127"/>
                <a:ea typeface="+mn-ea"/>
                <a:cs typeface="+mn-cs"/>
              </a:rPr>
              <a:t>. </a:t>
            </a:r>
            <a:r>
              <a:rPr lang="ko-KR" altLang="en-US" sz="1000" b="0" i="0" u="none" strike="noStrike" kern="1200" baseline="0" dirty="0">
                <a:solidFill>
                  <a:schemeClr val="tx1"/>
                </a:solidFill>
                <a:latin typeface="맑은 고딕" panose="020B0503020000020004" pitchFamily="50" charset="-127"/>
                <a:ea typeface="+mn-ea"/>
                <a:cs typeface="+mn-cs"/>
              </a:rPr>
              <a:t>감사합니다</a:t>
            </a:r>
            <a:r>
              <a:rPr lang="en-US" altLang="ko-KR" sz="1000" b="0" i="0" u="none" strike="noStrike" kern="1200" baseline="0" dirty="0">
                <a:solidFill>
                  <a:schemeClr val="tx1"/>
                </a:solidFill>
                <a:latin typeface="맑은 고딕" panose="020B0503020000020004" pitchFamily="50" charset="-127"/>
                <a:ea typeface="+mn-ea"/>
                <a:cs typeface="+mn-cs"/>
              </a:rPr>
              <a:t>.</a:t>
            </a:r>
          </a:p>
        </p:txBody>
      </p:sp>
      <p:sp>
        <p:nvSpPr>
          <p:cNvPr id="4" name="TextBox 3">
            <a:extLst>
              <a:ext uri="{FF2B5EF4-FFF2-40B4-BE49-F238E27FC236}">
                <a16:creationId xmlns:a16="http://schemas.microsoft.com/office/drawing/2014/main" xmlns="" id="{D152A6CD-0373-77E0-DF2D-B23D6820B3C4}"/>
              </a:ext>
            </a:extLst>
          </p:cNvPr>
          <p:cNvSpPr txBox="1"/>
          <p:nvPr/>
        </p:nvSpPr>
        <p:spPr>
          <a:xfrm>
            <a:off x="3429000" y="4953000"/>
            <a:ext cx="3429000" cy="4217565"/>
          </a:xfrm>
          <a:prstGeom prst="rect">
            <a:avLst/>
          </a:prstGeom>
          <a:noFill/>
        </p:spPr>
        <p:txBody>
          <a:bodyPr wrap="square" rtlCol="0">
            <a:spAutoFit/>
          </a:bodyPr>
          <a:lstStyle/>
          <a:p>
            <a:pPr latinLnBrk="1">
              <a:lnSpc>
                <a:spcPct val="100000"/>
              </a:lnSpc>
            </a:pPr>
            <a:r>
              <a:rPr lang="en-US" altLang="ko-KR" sz="1000" b="1" spc="-50" dirty="0">
                <a:solidFill>
                  <a:schemeClr val="tx2"/>
                </a:solidFill>
                <a:latin typeface="맑은 고딕" pitchFamily="50" charset="-127"/>
                <a:ea typeface="맑은 고딕" pitchFamily="50" charset="-127"/>
              </a:rPr>
              <a:t>12 [Adv]</a:t>
            </a:r>
            <a:r>
              <a:rPr lang="en-US" altLang="ko-KR" sz="1000" b="1" spc="-50" baseline="0" dirty="0">
                <a:solidFill>
                  <a:schemeClr val="tx2"/>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공원 폐쇄되어 못 감</a:t>
            </a:r>
            <a:r>
              <a:rPr lang="en-US" altLang="ko-KR" sz="1000" b="1" spc="-50" baseline="0" dirty="0">
                <a:solidFill>
                  <a:srgbClr val="FF0000"/>
                </a:solidFill>
                <a:latin typeface="맑은 고딕" pitchFamily="50" charset="-127"/>
                <a:ea typeface="맑은 고딕" pitchFamily="50" charset="-127"/>
              </a:rPr>
              <a:t>. </a:t>
            </a:r>
            <a:r>
              <a:rPr lang="ko-KR" altLang="en-US" sz="1000" b="1" spc="-50" baseline="0" dirty="0">
                <a:solidFill>
                  <a:srgbClr val="FF0000"/>
                </a:solidFill>
                <a:latin typeface="맑은 고딕" pitchFamily="50" charset="-127"/>
                <a:ea typeface="맑은 고딕" pitchFamily="50" charset="-127"/>
              </a:rPr>
              <a:t>친구한테 상황 설명 대안제시  </a:t>
            </a:r>
            <a:endParaRPr lang="en-US" altLang="ko-KR" sz="1000" b="1" spc="-50" baseline="0" dirty="0">
              <a:solidFill>
                <a:srgbClr val="FF0000"/>
              </a:solidFill>
              <a:latin typeface="맑은 고딕" pitchFamily="50" charset="-127"/>
              <a:ea typeface="맑은 고딕" pitchFamily="50" charset="-127"/>
            </a:endParaRP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I’m sorry, but there is a problem I need you to resolve.</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You’ve just learned on the news that the park you are planning to visit will be closed this weekend.</a:t>
            </a:r>
          </a:p>
          <a:p>
            <a:r>
              <a:rPr lang="en-US" altLang="ko-KR" sz="1000" b="0" i="0" u="none" strike="noStrike" kern="1200" baseline="0" dirty="0">
                <a:solidFill>
                  <a:srgbClr val="FF0000"/>
                </a:solidFill>
                <a:latin typeface="맑은 고딕" panose="020B0503020000020004" pitchFamily="50" charset="-127"/>
                <a:ea typeface="맑은 고딕" panose="020B0503020000020004" pitchFamily="50" charset="-127"/>
                <a:cs typeface="+mn-cs"/>
              </a:rPr>
              <a:t>Call your friend, explain the situation, and offer two or three alternatives to the problem.</a:t>
            </a:r>
            <a:endParaRPr lang="en-US" altLang="ko-KR" sz="1000" b="0" baseline="0" dirty="0">
              <a:solidFill>
                <a:srgbClr val="FF0000"/>
              </a:solidFill>
              <a:latin typeface="맑은 고딕" pitchFamily="50" charset="-127"/>
              <a:ea typeface="맑은 고딕"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latinLnBrk="1">
              <a:lnSpc>
                <a:spcPct val="100000"/>
              </a:lnSpc>
            </a:pPr>
            <a:endParaRPr lang="en-US" altLang="ko-KR" sz="1000" b="1" dirty="0">
              <a:solidFill>
                <a:srgbClr val="FF0000"/>
              </a:solidFill>
              <a:latin typeface="맑은 고딕" panose="020B0503020000020004" pitchFamily="50" charset="-127"/>
              <a:ea typeface="맑은 고딕" panose="020B0503020000020004" pitchFamily="50" charset="-127"/>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Hello, Jake. This is Peter.</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have some bad news.</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I heard the park will be closed this weekend.</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want to do?</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Why DON'T we go next time?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How about we go next week?</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Or, maybe we could go another time.</a:t>
            </a:r>
          </a:p>
          <a:p>
            <a:pPr>
              <a:lnSpc>
                <a:spcPct val="150000"/>
              </a:lnSpc>
            </a:pPr>
            <a:endPar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endParaRP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What do you think? I’m fine with whatever you decide.</a:t>
            </a:r>
          </a:p>
          <a:p>
            <a:pPr>
              <a:lnSpc>
                <a:spcPct val="150000"/>
              </a:lnSpc>
            </a:pPr>
            <a:r>
              <a:rPr lang="en-US" altLang="ko-KR" sz="1000" b="0" i="0" u="none" strike="noStrike" kern="1200" baseline="0" dirty="0">
                <a:solidFill>
                  <a:schemeClr val="tx1"/>
                </a:solidFill>
                <a:latin typeface="맑은 고딕" panose="020B0503020000020004" pitchFamily="50" charset="-127"/>
                <a:ea typeface="맑은 고딕" panose="020B0503020000020004" pitchFamily="50" charset="-127"/>
                <a:cs typeface="+mn-cs"/>
              </a:rPr>
              <a:t>Call me back when you get this. Thanks.</a:t>
            </a:r>
          </a:p>
        </p:txBody>
      </p:sp>
    </p:spTree>
    <p:extLst>
      <p:ext uri="{BB962C8B-B14F-4D97-AF65-F5344CB8AC3E}">
        <p14:creationId xmlns:p14="http://schemas.microsoft.com/office/powerpoint/2010/main" val="3616831516"/>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7419</TotalTime>
  <Words>40126</Words>
  <Application>Microsoft Office PowerPoint</Application>
  <PresentationFormat>A4 용지(210x297mm)</PresentationFormat>
  <Paragraphs>8765</Paragraphs>
  <Slides>169</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169</vt:i4>
      </vt:variant>
    </vt:vector>
  </HeadingPairs>
  <TitlesOfParts>
    <vt:vector size="172" baseType="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Samsung Electronics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Administrator</dc:creator>
  <cp:lastModifiedBy>user</cp:lastModifiedBy>
  <cp:revision>1112</cp:revision>
  <cp:lastPrinted>2020-02-02T08:40:28Z</cp:lastPrinted>
  <dcterms:created xsi:type="dcterms:W3CDTF">2019-02-04T02:45:01Z</dcterms:created>
  <dcterms:modified xsi:type="dcterms:W3CDTF">2022-10-13T05:49:44Z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